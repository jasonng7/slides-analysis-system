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2107" y="914400"/>
            <a:ext cx="83909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b="1" spc="108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43000" y="5772150"/>
            <a:ext cx="914400" cy="5715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6172200"/>
            <a:ext cx="16482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REVIEW · FY2026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" y="6496050"/>
            <a:ext cx="13735050" cy="173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b="1" spc="-13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[Presentation title goes here in two lines]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143000" y="8458200"/>
            <a:ext cx="88296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[One-sentence framing that previews the answer the audience will hear. Keep it under 25 words.]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8924925"/>
            <a:ext cx="21908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8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9134475"/>
            <a:ext cx="219089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08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[Audience / Committee]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07311" y="8924925"/>
            <a:ext cx="16454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8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07311" y="9134475"/>
            <a:ext cx="164544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08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/ Function]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26167" y="8924925"/>
            <a:ext cx="13285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8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26167" y="9134475"/>
            <a:ext cx="1328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08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[Month YYYY]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28168" y="8924925"/>
            <a:ext cx="25930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8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628168" y="9134475"/>
            <a:ext cx="259303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108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— Draft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3552825"/>
            <a:ext cx="171884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— PLEASE READ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00100" y="3933825"/>
            <a:ext cx="1373505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spc="-4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is confidential and prepared solely for the named recipients.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800100" y="5457825"/>
            <a:ext cx="1079182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standard legal language: distribution restrictions, forward-looking statements, data sources, and disclaimers. Replace with the wording approved by Legal for this audience.]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00100" y="6581775"/>
            <a:ext cx="18503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0100" y="6791325"/>
            <a:ext cx="18503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3031480" y="6581775"/>
            <a:ext cx="13049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031480" y="6791325"/>
            <a:ext cx="13049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[v0.1 — Draft]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717405" y="6581775"/>
            <a:ext cx="17706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717405" y="6791325"/>
            <a:ext cx="17706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[Document owner]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64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75708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 in the next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[45]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328612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" y="2809875"/>
            <a:ext cx="647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spc="162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76400" y="2705100"/>
            <a:ext cx="84229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158859" y="2809875"/>
            <a:ext cx="68675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are here and what has changed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7131159" y="2828925"/>
            <a:ext cx="432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07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0100" y="408622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" y="3609975"/>
            <a:ext cx="647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spc="162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676400" y="3505200"/>
            <a:ext cx="84229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0158859" y="3609975"/>
            <a:ext cx="68675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revealed about the root cause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7131159" y="3629025"/>
            <a:ext cx="432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14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" y="488632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7" name="Text 14"/>
          <p:cNvSpPr/>
          <p:nvPr/>
        </p:nvSpPr>
        <p:spPr>
          <a:xfrm>
            <a:off x="800100" y="4410075"/>
            <a:ext cx="647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spc="162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676400" y="4305300"/>
            <a:ext cx="84229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Options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0158859" y="4410075"/>
            <a:ext cx="68675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choice set and how we evaluated them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7131159" y="4429125"/>
            <a:ext cx="432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00100" y="568642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2" name="Text 19"/>
          <p:cNvSpPr/>
          <p:nvPr/>
        </p:nvSpPr>
        <p:spPr>
          <a:xfrm>
            <a:off x="800100" y="5210175"/>
            <a:ext cx="647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spc="162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676400" y="5105400"/>
            <a:ext cx="84229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0158859" y="5210175"/>
            <a:ext cx="68675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propose, why, and the expected impact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7131159" y="5229225"/>
            <a:ext cx="432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26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00100" y="648652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800100" y="6010275"/>
            <a:ext cx="647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spc="162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676400" y="5905500"/>
            <a:ext cx="84229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10158859" y="6010275"/>
            <a:ext cx="68675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will execute over the next four quarters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7131159" y="6029325"/>
            <a:ext cx="432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32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0100" y="728662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2" name="Text 29"/>
          <p:cNvSpPr/>
          <p:nvPr/>
        </p:nvSpPr>
        <p:spPr>
          <a:xfrm>
            <a:off x="800100" y="6810375"/>
            <a:ext cx="647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spc="162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1676400" y="6705600"/>
            <a:ext cx="84229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Required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10158859" y="6810375"/>
            <a:ext cx="68675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asks of the leadership team today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17131159" y="6829425"/>
            <a:ext cx="432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39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7" name="Text 34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64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90827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[State the answer in one sentence — what you want them to decide, believe, or do]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2838450"/>
            <a:ext cx="609600" cy="381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" y="3219450"/>
            <a:ext cx="87156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REASONS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0100" y="4476750"/>
            <a:ext cx="846177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" y="3676650"/>
            <a:ext cx="419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314450" y="3676650"/>
            <a:ext cx="664831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[First reason — the most important driver of the recommendation.]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supporting fact or proof point with a number.]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800100" y="5457825"/>
            <a:ext cx="846177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" y="4657725"/>
            <a:ext cx="419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314450" y="4657725"/>
            <a:ext cx="692317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[Second reason — supporting evidence the audience will care about.]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[Supporting proof point.]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00100" y="5638800"/>
            <a:ext cx="419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314450" y="5638800"/>
            <a:ext cx="574496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[Third reason — what makes acting now the right choice.]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[Supporting proof point.]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9795272" y="3219450"/>
            <a:ext cx="7692628" cy="81915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17" name="Shape 14"/>
          <p:cNvSpPr/>
          <p:nvPr/>
        </p:nvSpPr>
        <p:spPr>
          <a:xfrm>
            <a:off x="9795272" y="3219450"/>
            <a:ext cx="38100" cy="81915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8" name="Text 15"/>
          <p:cNvSpPr/>
          <p:nvPr/>
        </p:nvSpPr>
        <p:spPr>
          <a:xfrm>
            <a:off x="10042922" y="3390900"/>
            <a:ext cx="745249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REQUIRED TODAY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042922" y="3629025"/>
            <a:ext cx="71467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[State the single, specific decision the leadership team needs to make in this meeting.]</a:t>
            </a:r>
            <a:endParaRPr lang="en-US" sz="1425" dirty="0"/>
          </a:p>
        </p:txBody>
      </p:sp>
      <p:sp>
        <p:nvSpPr>
          <p:cNvPr id="20" name="Shape 17"/>
          <p:cNvSpPr/>
          <p:nvPr/>
        </p:nvSpPr>
        <p:spPr>
          <a:xfrm>
            <a:off x="9795272" y="4267200"/>
            <a:ext cx="7692628" cy="819150"/>
          </a:xfrm>
          <a:prstGeom prst="rect">
            <a:avLst/>
          </a:prstGeom>
          <a:solidFill>
            <a:srgbClr val="F4F2F7"/>
          </a:solidFill>
          <a:ln/>
        </p:spPr>
      </p:sp>
      <p:sp>
        <p:nvSpPr>
          <p:cNvPr id="21" name="Shape 18"/>
          <p:cNvSpPr/>
          <p:nvPr/>
        </p:nvSpPr>
        <p:spPr>
          <a:xfrm>
            <a:off x="9795272" y="4267200"/>
            <a:ext cx="38100" cy="819150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2" name="Text 19"/>
          <p:cNvSpPr/>
          <p:nvPr/>
        </p:nvSpPr>
        <p:spPr>
          <a:xfrm>
            <a:off x="10042922" y="4438650"/>
            <a:ext cx="745249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DON'T ACT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042922" y="4676775"/>
            <a:ext cx="62870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[Concrete consequence of inaction — what is lost, when, and at what scale.]</a:t>
            </a:r>
            <a:endParaRPr lang="en-US" sz="1425" dirty="0"/>
          </a:p>
        </p:txBody>
      </p:sp>
      <p:sp>
        <p:nvSpPr>
          <p:cNvPr id="24" name="Shape 21"/>
          <p:cNvSpPr/>
          <p:nvPr/>
        </p:nvSpPr>
        <p:spPr>
          <a:xfrm>
            <a:off x="9795272" y="5314950"/>
            <a:ext cx="7692628" cy="819150"/>
          </a:xfrm>
          <a:prstGeom prst="rect">
            <a:avLst/>
          </a:prstGeom>
          <a:solidFill>
            <a:srgbClr val="F0F6F4"/>
          </a:solidFill>
          <a:ln/>
        </p:spPr>
      </p:sp>
      <p:sp>
        <p:nvSpPr>
          <p:cNvPr id="25" name="Shape 22"/>
          <p:cNvSpPr/>
          <p:nvPr/>
        </p:nvSpPr>
        <p:spPr>
          <a:xfrm>
            <a:off x="9795272" y="5314950"/>
            <a:ext cx="38100" cy="819150"/>
          </a:xfrm>
          <a:prstGeom prst="rect">
            <a:avLst/>
          </a:prstGeom>
          <a:solidFill>
            <a:srgbClr val="97BCB4"/>
          </a:solidFill>
          <a:ln/>
        </p:spPr>
      </p:sp>
      <p:sp>
        <p:nvSpPr>
          <p:cNvPr id="26" name="Text 23"/>
          <p:cNvSpPr/>
          <p:nvPr/>
        </p:nvSpPr>
        <p:spPr>
          <a:xfrm>
            <a:off x="10042922" y="5486400"/>
            <a:ext cx="745249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2E6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042922" y="5724525"/>
            <a:ext cx="6348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[Concrete outcome of acting now — impact, timing, and order of magnitude.]</a:t>
            </a:r>
            <a:endParaRPr lang="en-US" sz="1425" dirty="0"/>
          </a:p>
        </p:txBody>
      </p:sp>
      <p:sp>
        <p:nvSpPr>
          <p:cNvPr id="28" name="Shape 25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Text 26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64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90827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to take away — even if you remember nothing else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2457450"/>
            <a:ext cx="4000500" cy="691515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6325" y="2733675"/>
            <a:ext cx="35514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6325" y="3028950"/>
            <a:ext cx="355149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has changed in our market or business]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76325" y="3657600"/>
            <a:ext cx="355149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[Single supporting fact with a number and time frame.]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5029200" y="2457450"/>
            <a:ext cx="4000500" cy="691515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5425" y="2733675"/>
            <a:ext cx="35514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305425" y="3028950"/>
            <a:ext cx="35514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root cause we identified]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305425" y="3400425"/>
            <a:ext cx="355149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sentence on the evidence behind it.]</a:t>
            </a:r>
            <a:endParaRPr lang="en-US" sz="1275" dirty="0"/>
          </a:p>
        </p:txBody>
      </p:sp>
      <p:sp>
        <p:nvSpPr>
          <p:cNvPr id="14" name="Shape 11"/>
          <p:cNvSpPr/>
          <p:nvPr/>
        </p:nvSpPr>
        <p:spPr>
          <a:xfrm>
            <a:off x="9258300" y="2457450"/>
            <a:ext cx="4000500" cy="691515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34525" y="2733675"/>
            <a:ext cx="35514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RECOMMENDATION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534525" y="3028950"/>
            <a:ext cx="35514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action we propose]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9534525" y="3400425"/>
            <a:ext cx="355149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[Expected impact and time to value.]</a:t>
            </a:r>
            <a:endParaRPr lang="en-US" sz="1275" dirty="0"/>
          </a:p>
        </p:txBody>
      </p:sp>
      <p:sp>
        <p:nvSpPr>
          <p:cNvPr id="18" name="Shape 15"/>
          <p:cNvSpPr/>
          <p:nvPr/>
        </p:nvSpPr>
        <p:spPr>
          <a:xfrm>
            <a:off x="13487400" y="2457450"/>
            <a:ext cx="4000500" cy="6915150"/>
          </a:xfrm>
          <a:prstGeom prst="roundRect">
            <a:avLst>
              <a:gd name="adj" fmla="val 1429"/>
            </a:avLst>
          </a:prstGeom>
          <a:solidFill>
            <a:srgbClr val="12102C"/>
          </a:solidFill>
          <a:ln w="9525">
            <a:solidFill>
              <a:srgbClr val="1210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63625" y="2733675"/>
            <a:ext cx="35514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ASK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3763625" y="3028950"/>
            <a:ext cx="355149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specific decision needed today]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3763625" y="3657600"/>
            <a:ext cx="355149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[Owner and deadline.]</a:t>
            </a:r>
            <a:endParaRPr lang="en-US" sz="1275" dirty="0"/>
          </a:p>
        </p:txBody>
      </p:sp>
      <p:sp>
        <p:nvSpPr>
          <p:cNvPr id="22" name="Shape 19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3" name="Text 20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64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543300"/>
            <a:ext cx="1648206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562600"/>
            <a:ext cx="1275397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6429375"/>
            <a:ext cx="88296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are here, what has changed, and what is at stake if we do nothing.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9191625"/>
            <a:ext cx="12200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58343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25043" y="9191625"/>
            <a:ext cx="132159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41887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08587" y="9191625"/>
            <a:ext cx="11599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OPTIONS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3803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30503" y="9191625"/>
            <a:ext cx="19576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RECOMMENDATION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83438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50138" y="9191625"/>
            <a:ext cx="12273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ROADMAP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72774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39474" y="9191625"/>
            <a:ext cx="7603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ASK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64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439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GOT HERE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[Three structural shifts have reshaped the business since FY2023]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3676650"/>
            <a:ext cx="16687800" cy="1905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" y="3028950"/>
            <a:ext cx="32491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 Q1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0100" y="3733800"/>
            <a:ext cx="32491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[Starting position]</a:t>
            </a:r>
            <a:endParaRPr lang="en-US" sz="1425" dirty="0"/>
          </a:p>
        </p:txBody>
      </p:sp>
      <p:sp>
        <p:nvSpPr>
          <p:cNvPr id="9" name="Text 6"/>
          <p:cNvSpPr/>
          <p:nvPr/>
        </p:nvSpPr>
        <p:spPr>
          <a:xfrm>
            <a:off x="800100" y="4038600"/>
            <a:ext cx="324919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[State of the business at the start of the period — one fact.]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83261" y="3028950"/>
            <a:ext cx="32493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 Q4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83261" y="3733800"/>
            <a:ext cx="324935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[Inflection event #1]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4183261" y="4038600"/>
            <a:ext cx="32493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changed — market, regulatory, internal.]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66571" y="3028950"/>
            <a:ext cx="32493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FY2024 Q3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66571" y="3733800"/>
            <a:ext cx="324935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[Inflection event #2]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7566571" y="4038600"/>
            <a:ext cx="324935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[Second meaningful shift in the period.]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949880" y="3028950"/>
            <a:ext cx="32493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Q2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49880" y="3733800"/>
            <a:ext cx="324935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[Inflection event #3]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10949880" y="4038600"/>
            <a:ext cx="324935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[Most recent and most consequential event.]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4333190" y="3028950"/>
            <a:ext cx="32491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4333190" y="3733800"/>
            <a:ext cx="32491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[Where we stand]</a:t>
            </a:r>
            <a:endParaRPr lang="en-US" sz="1425" dirty="0"/>
          </a:p>
        </p:txBody>
      </p:sp>
      <p:sp>
        <p:nvSpPr>
          <p:cNvPr id="21" name="Text 18"/>
          <p:cNvSpPr/>
          <p:nvPr/>
        </p:nvSpPr>
        <p:spPr>
          <a:xfrm>
            <a:off x="14333190" y="4038600"/>
            <a:ext cx="324919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[Current state in one line — sets up the diagnosis.]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3" name="Text 20"/>
          <p:cNvSpPr/>
          <p:nvPr/>
        </p:nvSpPr>
        <p:spPr>
          <a:xfrm>
            <a:off x="800100" y="9410700"/>
            <a:ext cx="42198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[Internal analysis, FY2026]. Periods aligned to fiscal-year reporting.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64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439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 make this the decision year — not next year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2247900"/>
            <a:ext cx="127539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moving independently. Together they compress the window to act.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800100" y="3095625"/>
            <a:ext cx="5384750" cy="6276975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14425" y="3438525"/>
            <a:ext cx="95250" cy="95250"/>
          </a:xfrm>
          <a:prstGeom prst="ellipse">
            <a:avLst/>
          </a:prstGeom>
          <a:solidFill>
            <a:srgbClr val="A27C49"/>
          </a:solidFill>
          <a:ln/>
        </p:spPr>
      </p:sp>
      <p:sp>
        <p:nvSpPr>
          <p:cNvPr id="9" name="Text 6"/>
          <p:cNvSpPr/>
          <p:nvPr/>
        </p:nvSpPr>
        <p:spPr>
          <a:xfrm>
            <a:off x="1343025" y="3409950"/>
            <a:ext cx="7557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4425" y="3676650"/>
            <a:ext cx="48987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[Market shift]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114425" y="4095750"/>
            <a:ext cx="489878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is changing in the market — single sentence with a number and a date.]</a:t>
            </a:r>
            <a:endParaRPr lang="en-US" sz="1275" dirty="0"/>
          </a:p>
        </p:txBody>
      </p:sp>
      <p:sp>
        <p:nvSpPr>
          <p:cNvPr id="12" name="Shape 9"/>
          <p:cNvSpPr/>
          <p:nvPr/>
        </p:nvSpPr>
        <p:spPr>
          <a:xfrm>
            <a:off x="1114425" y="8162925"/>
            <a:ext cx="47561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" name="Text 10"/>
          <p:cNvSpPr/>
          <p:nvPr/>
        </p:nvSpPr>
        <p:spPr>
          <a:xfrm>
            <a:off x="1114425" y="8467725"/>
            <a:ext cx="7801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4425" y="8686800"/>
            <a:ext cx="489878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[+XX%]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451550" y="3095625"/>
            <a:ext cx="5384750" cy="6276975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65875" y="3438525"/>
            <a:ext cx="95250" cy="95250"/>
          </a:xfrm>
          <a:prstGeom prst="ellipse">
            <a:avLst/>
          </a:prstGeom>
          <a:solidFill>
            <a:srgbClr val="A27C49"/>
          </a:solidFill>
          <a:ln/>
        </p:spPr>
      </p:sp>
      <p:sp>
        <p:nvSpPr>
          <p:cNvPr id="17" name="Text 14"/>
          <p:cNvSpPr/>
          <p:nvPr/>
        </p:nvSpPr>
        <p:spPr>
          <a:xfrm>
            <a:off x="6994475" y="3409950"/>
            <a:ext cx="7710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02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65875" y="3676650"/>
            <a:ext cx="48987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shift]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6765875" y="4095750"/>
            <a:ext cx="489878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customer behaviour is changing and why it matters.]</a:t>
            </a:r>
            <a:endParaRPr lang="en-US" sz="1275" dirty="0"/>
          </a:p>
        </p:txBody>
      </p:sp>
      <p:sp>
        <p:nvSpPr>
          <p:cNvPr id="20" name="Shape 17"/>
          <p:cNvSpPr/>
          <p:nvPr/>
        </p:nvSpPr>
        <p:spPr>
          <a:xfrm>
            <a:off x="6765875" y="8162925"/>
            <a:ext cx="47561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1" name="Text 18"/>
          <p:cNvSpPr/>
          <p:nvPr/>
        </p:nvSpPr>
        <p:spPr>
          <a:xfrm>
            <a:off x="6765875" y="8467725"/>
            <a:ext cx="7801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65875" y="8686800"/>
            <a:ext cx="489878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[X.X×]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3 years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12103001" y="3095625"/>
            <a:ext cx="5384899" cy="6276975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2417326" y="3438525"/>
            <a:ext cx="95250" cy="95250"/>
          </a:xfrm>
          <a:prstGeom prst="ellipse">
            <a:avLst/>
          </a:prstGeom>
          <a:solidFill>
            <a:srgbClr val="A27C49"/>
          </a:solidFill>
          <a:ln/>
        </p:spPr>
      </p:sp>
      <p:sp>
        <p:nvSpPr>
          <p:cNvPr id="25" name="Text 22"/>
          <p:cNvSpPr/>
          <p:nvPr/>
        </p:nvSpPr>
        <p:spPr>
          <a:xfrm>
            <a:off x="12645926" y="3409950"/>
            <a:ext cx="7734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03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2417326" y="3676650"/>
            <a:ext cx="48989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[Internal shift]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2417326" y="4095750"/>
            <a:ext cx="489893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[An internal capability, cost, or constraint that has changed.]</a:t>
            </a:r>
            <a:endParaRPr lang="en-US" sz="1275" dirty="0"/>
          </a:p>
        </p:txBody>
      </p:sp>
      <p:sp>
        <p:nvSpPr>
          <p:cNvPr id="28" name="Shape 25"/>
          <p:cNvSpPr/>
          <p:nvPr/>
        </p:nvSpPr>
        <p:spPr>
          <a:xfrm>
            <a:off x="12417326" y="8162925"/>
            <a:ext cx="475624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Text 26"/>
          <p:cNvSpPr/>
          <p:nvPr/>
        </p:nvSpPr>
        <p:spPr>
          <a:xfrm>
            <a:off x="12417326" y="8467725"/>
            <a:ext cx="7801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2417326" y="8686800"/>
            <a:ext cx="489893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 bps]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compression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2" name="Text 29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64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439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[Market is growing at ~XX% — and we are losing ground to two players]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2247900"/>
            <a:ext cx="127539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[Top-5 share of [Segment] in [Region], FY2021 – FY2025.]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00100" y="3095625"/>
            <a:ext cx="13730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0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SHARE, %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473357" y="3095625"/>
            <a:ext cx="13440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FY2021 → FY2025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324225"/>
            <a:ext cx="9941123" cy="5791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0100" y="9191625"/>
            <a:ext cx="74443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FY2021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696938" y="9191625"/>
            <a:ext cx="76497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614315" y="9191625"/>
            <a:ext cx="10364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position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1274623" y="3095625"/>
            <a:ext cx="6213128" cy="107632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14" name="Shape 10"/>
          <p:cNvSpPr/>
          <p:nvPr/>
        </p:nvSpPr>
        <p:spPr>
          <a:xfrm>
            <a:off x="11274623" y="3095625"/>
            <a:ext cx="38100" cy="1076325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5" name="Text 11"/>
          <p:cNvSpPr/>
          <p:nvPr/>
        </p:nvSpPr>
        <p:spPr>
          <a:xfrm>
            <a:off x="11522273" y="3267075"/>
            <a:ext cx="592860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522273" y="3505200"/>
            <a:ext cx="587228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[Headline implication of the chart in one sentence — what the audience should conclude.]</a:t>
            </a:r>
            <a:endParaRPr lang="en-US" sz="1425" dirty="0"/>
          </a:p>
        </p:txBody>
      </p:sp>
      <p:sp>
        <p:nvSpPr>
          <p:cNvPr id="17" name="Text 13"/>
          <p:cNvSpPr/>
          <p:nvPr/>
        </p:nvSpPr>
        <p:spPr>
          <a:xfrm>
            <a:off x="11274623" y="4381500"/>
            <a:ext cx="639952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NOTICE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7488" y="4629150"/>
            <a:ext cx="63303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46685" indent="-146685">
              <a:lnSpc>
                <a:spcPct val="150000"/>
              </a:lnSpc>
              <a:buSzPct val="100000"/>
              <a:buChar char="•"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[Pattern #1]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[evidence].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11337488" y="5019675"/>
            <a:ext cx="63303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46685" indent="-146685">
              <a:lnSpc>
                <a:spcPct val="150000"/>
              </a:lnSpc>
              <a:buSzPct val="100000"/>
              <a:buChar char="•"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[Pattern #2]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[evidence].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11337488" y="5410200"/>
            <a:ext cx="63303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46685" indent="-146685">
              <a:lnSpc>
                <a:spcPct val="150000"/>
              </a:lnSpc>
              <a:buSzPct val="100000"/>
              <a:buChar char="•"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[Pattern #3]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[evidence].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2" name="Text 18"/>
          <p:cNvSpPr/>
          <p:nvPr/>
        </p:nvSpPr>
        <p:spPr>
          <a:xfrm>
            <a:off x="800100" y="9410700"/>
            <a:ext cx="4824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[Market intelligence provider, FY2025]; OSK analysis. Shares rebased to top-5.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64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439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 single number, in plain language, with the implication]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4324350"/>
            <a:ext cx="8592224" cy="2028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500" b="1" spc="-66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pPr algn="l" indent="0" marL="0">
              <a:lnSpc>
                <a:spcPct val="95000"/>
              </a:lnSpc>
              <a:buNone/>
            </a:pPr>
            <a:r>
              <a:rPr lang="en-US" sz="6750" b="1" spc="-66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6500" dirty="0"/>
          </a:p>
        </p:txBody>
      </p:sp>
      <p:sp>
        <p:nvSpPr>
          <p:cNvPr id="7" name="Text 4"/>
          <p:cNvSpPr/>
          <p:nvPr/>
        </p:nvSpPr>
        <p:spPr>
          <a:xfrm>
            <a:off x="800100" y="6467475"/>
            <a:ext cx="74561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[Plain-language statement of what this number represents in this business.]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00100" y="7267575"/>
            <a:ext cx="859222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[Definition · period · scope]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904065" y="3871913"/>
            <a:ext cx="95250" cy="95250"/>
          </a:xfrm>
          <a:prstGeom prst="ellipse">
            <a:avLst/>
          </a:prstGeom>
          <a:solidFill>
            <a:srgbClr val="A27C49"/>
          </a:solidFill>
          <a:ln/>
        </p:spPr>
      </p:sp>
      <p:sp>
        <p:nvSpPr>
          <p:cNvPr id="10" name="Text 7"/>
          <p:cNvSpPr/>
          <p:nvPr/>
        </p:nvSpPr>
        <p:spPr>
          <a:xfrm>
            <a:off x="10151715" y="3852863"/>
            <a:ext cx="24382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INTERNAL TARGET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151715" y="4024313"/>
            <a:ext cx="243825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[−X.X pts]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151715" y="4443413"/>
            <a:ext cx="24382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 was XX% by end of FY25.]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904065" y="4862513"/>
            <a:ext cx="95250" cy="95250"/>
          </a:xfrm>
          <a:prstGeom prst="ellipse">
            <a:avLst/>
          </a:prstGeom>
          <a:solidFill>
            <a:srgbClr val="A27C49"/>
          </a:solidFill>
          <a:ln/>
        </p:spPr>
      </p:sp>
      <p:sp>
        <p:nvSpPr>
          <p:cNvPr id="14" name="Text 11"/>
          <p:cNvSpPr/>
          <p:nvPr/>
        </p:nvSpPr>
        <p:spPr>
          <a:xfrm>
            <a:off x="10151715" y="4843463"/>
            <a:ext cx="20974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PEER BENCHMARK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151715" y="5014913"/>
            <a:ext cx="209743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[~XX%]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0151715" y="5434013"/>
            <a:ext cx="20974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[Median of [3 named peers].]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904065" y="5853113"/>
            <a:ext cx="95250" cy="95250"/>
          </a:xfrm>
          <a:prstGeom prst="ellipse">
            <a:avLst/>
          </a:prstGeom>
          <a:solidFill>
            <a:srgbClr val="A27C49"/>
          </a:solidFill>
          <a:ln/>
        </p:spPr>
      </p:sp>
      <p:sp>
        <p:nvSpPr>
          <p:cNvPr id="18" name="Text 15"/>
          <p:cNvSpPr/>
          <p:nvPr/>
        </p:nvSpPr>
        <p:spPr>
          <a:xfrm>
            <a:off x="10151715" y="5834063"/>
            <a:ext cx="36816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HISTORICAL TREND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151715" y="6005513"/>
            <a:ext cx="368163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[reversal of X-year trend]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0151715" y="6424613"/>
            <a:ext cx="36816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[Was improving until FY2024.]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904065" y="6900863"/>
            <a:ext cx="7583835" cy="107632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22" name="Shape 19"/>
          <p:cNvSpPr/>
          <p:nvPr/>
        </p:nvSpPr>
        <p:spPr>
          <a:xfrm>
            <a:off x="9904065" y="6900863"/>
            <a:ext cx="38100" cy="1076325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23" name="Text 20"/>
          <p:cNvSpPr/>
          <p:nvPr/>
        </p:nvSpPr>
        <p:spPr>
          <a:xfrm>
            <a:off x="10151715" y="7072313"/>
            <a:ext cx="73404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151715" y="7310438"/>
            <a:ext cx="704895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decision-relevant implication of this number — what changes in the business if it stays at this level.]</a:t>
            </a:r>
            <a:endParaRPr lang="en-US" sz="1425" dirty="0"/>
          </a:p>
        </p:txBody>
      </p:sp>
      <p:sp>
        <p:nvSpPr>
          <p:cNvPr id="25" name="Shape 22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6" name="Text 23"/>
          <p:cNvSpPr/>
          <p:nvPr/>
        </p:nvSpPr>
        <p:spPr>
          <a:xfrm>
            <a:off x="800100" y="9410700"/>
            <a:ext cx="494155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[Internal management accounts, FY2025]. Peer set: [Comp A, Comp B, Comp C].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64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439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CONSTRAINTS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decision covers — and what it does not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2457450"/>
            <a:ext cx="843724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82968" y="2743200"/>
            <a:ext cx="83480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6683" indent="-126683">
              <a:lnSpc>
                <a:spcPct val="150000"/>
              </a:lnSpc>
              <a:buSzPct val="100000"/>
              <a:buChar char="•"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[Decision area #1]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[what is being decided].</a:t>
            </a:r>
            <a:endParaRPr lang="en-US" sz="1425" dirty="0"/>
          </a:p>
        </p:txBody>
      </p:sp>
      <p:sp>
        <p:nvSpPr>
          <p:cNvPr id="8" name="Text 5"/>
          <p:cNvSpPr/>
          <p:nvPr/>
        </p:nvSpPr>
        <p:spPr>
          <a:xfrm>
            <a:off x="882968" y="3086100"/>
            <a:ext cx="83480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6683" indent="-126683">
              <a:lnSpc>
                <a:spcPct val="150000"/>
              </a:lnSpc>
              <a:buSzPct val="100000"/>
              <a:buChar char="•"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[Decision area #2]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[what is being decided].</a:t>
            </a:r>
            <a:endParaRPr lang="en-US" sz="1425" dirty="0"/>
          </a:p>
        </p:txBody>
      </p:sp>
      <p:sp>
        <p:nvSpPr>
          <p:cNvPr id="9" name="Text 6"/>
          <p:cNvSpPr/>
          <p:nvPr/>
        </p:nvSpPr>
        <p:spPr>
          <a:xfrm>
            <a:off x="882968" y="3429000"/>
            <a:ext cx="83480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6683" indent="-126683">
              <a:lnSpc>
                <a:spcPct val="150000"/>
              </a:lnSpc>
              <a:buSzPct val="100000"/>
              <a:buChar char="•"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[Decision area #3]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[what is being decided].</a:t>
            </a:r>
            <a:endParaRPr lang="en-US" sz="1425" dirty="0"/>
          </a:p>
        </p:txBody>
      </p:sp>
      <p:sp>
        <p:nvSpPr>
          <p:cNvPr id="10" name="Text 7"/>
          <p:cNvSpPr/>
          <p:nvPr/>
        </p:nvSpPr>
        <p:spPr>
          <a:xfrm>
            <a:off x="882968" y="3771900"/>
            <a:ext cx="83480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6683" indent="-126683">
              <a:lnSpc>
                <a:spcPct val="150000"/>
              </a:lnSpc>
              <a:buSzPct val="100000"/>
              <a:buChar char="•"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[Decision area #4]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[what is being decided].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9296400" y="2457450"/>
            <a:ext cx="843724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⊘ OUT OF SCOPE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379268" y="2743200"/>
            <a:ext cx="83480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6683" indent="-126683">
              <a:lnSpc>
                <a:spcPct val="150000"/>
              </a:lnSpc>
              <a:buSzPct val="100000"/>
              <a:buChar char="•"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[Adjacent topic #1]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[why excluded; where it will be handled].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9379268" y="3086100"/>
            <a:ext cx="83480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6683" indent="-126683">
              <a:lnSpc>
                <a:spcPct val="150000"/>
              </a:lnSpc>
              <a:buSzPct val="100000"/>
              <a:buChar char="•"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[Adjacent topic #2]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[why excluded].</a:t>
            </a:r>
            <a:endParaRPr lang="en-US" sz="1425" dirty="0"/>
          </a:p>
        </p:txBody>
      </p:sp>
      <p:sp>
        <p:nvSpPr>
          <p:cNvPr id="14" name="Text 11"/>
          <p:cNvSpPr/>
          <p:nvPr/>
        </p:nvSpPr>
        <p:spPr>
          <a:xfrm>
            <a:off x="9379268" y="3429000"/>
            <a:ext cx="83480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6683" indent="-126683">
              <a:lnSpc>
                <a:spcPct val="150000"/>
              </a:lnSpc>
              <a:buSzPct val="100000"/>
              <a:buChar char="•"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[Adjacent topic #3]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[why excluded].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800100" y="5457825"/>
            <a:ext cx="171884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CONSTRAINTS WE MUST HONOUR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00100" y="6224588"/>
            <a:ext cx="2438549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7" name="Text 14"/>
          <p:cNvSpPr/>
          <p:nvPr/>
        </p:nvSpPr>
        <p:spPr>
          <a:xfrm>
            <a:off x="971550" y="5895975"/>
            <a:ext cx="217184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38649" y="6224588"/>
            <a:ext cx="6899821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9" name="Text 16"/>
          <p:cNvSpPr/>
          <p:nvPr/>
        </p:nvSpPr>
        <p:spPr>
          <a:xfrm>
            <a:off x="3410099" y="5895975"/>
            <a:ext cx="676391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0138470" y="6224588"/>
            <a:ext cx="7349728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1" name="Text 18"/>
          <p:cNvSpPr/>
          <p:nvPr/>
        </p:nvSpPr>
        <p:spPr>
          <a:xfrm>
            <a:off x="10309920" y="5895975"/>
            <a:ext cx="72273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0100" y="6777038"/>
            <a:ext cx="243854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3" name="Text 20"/>
          <p:cNvSpPr/>
          <p:nvPr/>
        </p:nvSpPr>
        <p:spPr>
          <a:xfrm>
            <a:off x="971550" y="6386513"/>
            <a:ext cx="217184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3238649" y="6777038"/>
            <a:ext cx="689982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2"/>
          <p:cNvSpPr/>
          <p:nvPr/>
        </p:nvSpPr>
        <p:spPr>
          <a:xfrm>
            <a:off x="3410099" y="6386513"/>
            <a:ext cx="676391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[Max approved envelope]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0138470" y="6777038"/>
            <a:ext cx="734972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10309920" y="6386513"/>
            <a:ext cx="72273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 shapes the option set.]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800100" y="7329488"/>
            <a:ext cx="243854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Text 26"/>
          <p:cNvSpPr/>
          <p:nvPr/>
        </p:nvSpPr>
        <p:spPr>
          <a:xfrm>
            <a:off x="971550" y="6938963"/>
            <a:ext cx="217184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3238649" y="7329488"/>
            <a:ext cx="689982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1" name="Text 28"/>
          <p:cNvSpPr/>
          <p:nvPr/>
        </p:nvSpPr>
        <p:spPr>
          <a:xfrm>
            <a:off x="3410099" y="6938963"/>
            <a:ext cx="676391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[Latest acceptable launch window]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10138470" y="7329488"/>
            <a:ext cx="734972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3" name="Text 30"/>
          <p:cNvSpPr/>
          <p:nvPr/>
        </p:nvSpPr>
        <p:spPr>
          <a:xfrm>
            <a:off x="10309920" y="6938963"/>
            <a:ext cx="72273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[Phases that must complete by Q3.]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800100" y="7881937"/>
            <a:ext cx="243854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5" name="Text 32"/>
          <p:cNvSpPr/>
          <p:nvPr/>
        </p:nvSpPr>
        <p:spPr>
          <a:xfrm>
            <a:off x="971550" y="7491412"/>
            <a:ext cx="217184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3238649" y="7881937"/>
            <a:ext cx="689982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7" name="Text 34"/>
          <p:cNvSpPr/>
          <p:nvPr/>
        </p:nvSpPr>
        <p:spPr>
          <a:xfrm>
            <a:off x="3410099" y="7491412"/>
            <a:ext cx="676391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[Approval bodies and dependencies]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10138470" y="7881937"/>
            <a:ext cx="734972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9" name="Text 36"/>
          <p:cNvSpPr/>
          <p:nvPr/>
        </p:nvSpPr>
        <p:spPr>
          <a:xfrm>
            <a:off x="10309920" y="7491412"/>
            <a:ext cx="72273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[Gates that block subsequent work.]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800100" y="8434388"/>
            <a:ext cx="243854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1" name="Text 38"/>
          <p:cNvSpPr/>
          <p:nvPr/>
        </p:nvSpPr>
        <p:spPr>
          <a:xfrm>
            <a:off x="971550" y="8043863"/>
            <a:ext cx="217184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tolerance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3238649" y="8434388"/>
            <a:ext cx="689982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3" name="Text 40"/>
          <p:cNvSpPr/>
          <p:nvPr/>
        </p:nvSpPr>
        <p:spPr>
          <a:xfrm>
            <a:off x="3410099" y="8043863"/>
            <a:ext cx="676391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[Board-approved appetite statement]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10138470" y="8434388"/>
            <a:ext cx="734972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5" name="Text 42"/>
          <p:cNvSpPr/>
          <p:nvPr/>
        </p:nvSpPr>
        <p:spPr>
          <a:xfrm>
            <a:off x="10309920" y="8043863"/>
            <a:ext cx="72273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[Options outside appetite are excluded.]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7" name="Text 44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64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439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[Four stakeholder groups will determine whether this lands]</a:t>
            </a:r>
            <a:endParaRPr lang="en-US" sz="3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457450"/>
            <a:ext cx="9423350" cy="7391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756850" y="2457450"/>
            <a:ext cx="69329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PLAN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0756850" y="2819400"/>
            <a:ext cx="673105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75925" y="3095625"/>
            <a:ext cx="95250" cy="95250"/>
          </a:xfrm>
          <a:prstGeom prst="ellipse">
            <a:avLst/>
          </a:prstGeom>
          <a:solidFill>
            <a:srgbClr val="A27C49"/>
          </a:solidFill>
          <a:ln/>
        </p:spPr>
      </p:sp>
      <p:sp>
        <p:nvSpPr>
          <p:cNvPr id="10" name="Text 6"/>
          <p:cNvSpPr/>
          <p:nvPr/>
        </p:nvSpPr>
        <p:spPr>
          <a:xfrm>
            <a:off x="11166425" y="3000375"/>
            <a:ext cx="8218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[Board]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0975925" y="3324225"/>
            <a:ext cx="64816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[Pre-read 5 days out · 1:1 with chair · written Q&amp;A pack.]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0756850" y="3905250"/>
            <a:ext cx="673105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0975925" y="4181475"/>
            <a:ext cx="95250" cy="95250"/>
          </a:xfrm>
          <a:prstGeom prst="ellipse">
            <a:avLst/>
          </a:prstGeom>
          <a:solidFill>
            <a:srgbClr val="A27C49"/>
          </a:solidFill>
          <a:ln/>
        </p:spPr>
      </p:sp>
      <p:sp>
        <p:nvSpPr>
          <p:cNvPr id="14" name="Text 10"/>
          <p:cNvSpPr/>
          <p:nvPr/>
        </p:nvSpPr>
        <p:spPr>
          <a:xfrm>
            <a:off x="11166425" y="4086225"/>
            <a:ext cx="11936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[Regulator]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0975925" y="4410075"/>
            <a:ext cx="64816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[Quarterly briefing · advance disclosure of milestones.]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0756850" y="4991100"/>
            <a:ext cx="673105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975925" y="5267325"/>
            <a:ext cx="95250" cy="95250"/>
          </a:xfrm>
          <a:prstGeom prst="ellipse">
            <a:avLst/>
          </a:prstGeom>
          <a:solidFill>
            <a:srgbClr val="A27C49"/>
          </a:solidFill>
          <a:ln/>
        </p:spPr>
      </p:sp>
      <p:sp>
        <p:nvSpPr>
          <p:cNvPr id="18" name="Text 14"/>
          <p:cNvSpPr/>
          <p:nvPr/>
        </p:nvSpPr>
        <p:spPr>
          <a:xfrm>
            <a:off x="11166425" y="5172075"/>
            <a:ext cx="13163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[Customers]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10975925" y="5495925"/>
            <a:ext cx="64816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[Segment-specific messaging · NPS read pre- and post-launch.]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10756850" y="6076950"/>
            <a:ext cx="673105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975925" y="6353175"/>
            <a:ext cx="95250" cy="95250"/>
          </a:xfrm>
          <a:prstGeom prst="ellipse">
            <a:avLst/>
          </a:prstGeom>
          <a:solidFill>
            <a:srgbClr val="A27C49"/>
          </a:solidFill>
          <a:ln/>
        </p:spPr>
      </p:sp>
      <p:sp>
        <p:nvSpPr>
          <p:cNvPr id="22" name="Text 18"/>
          <p:cNvSpPr/>
          <p:nvPr/>
        </p:nvSpPr>
        <p:spPr>
          <a:xfrm>
            <a:off x="11166425" y="6257925"/>
            <a:ext cx="13064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[Employees]</a:t>
            </a:r>
            <a:endParaRPr lang="en-US" sz="1650" dirty="0"/>
          </a:p>
        </p:txBody>
      </p:sp>
      <p:sp>
        <p:nvSpPr>
          <p:cNvPr id="23" name="Text 19"/>
          <p:cNvSpPr/>
          <p:nvPr/>
        </p:nvSpPr>
        <p:spPr>
          <a:xfrm>
            <a:off x="10975925" y="6581775"/>
            <a:ext cx="64816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[Town hall in week of decision · weekly cascade thereafter.]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1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64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543300"/>
            <a:ext cx="1648206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562600"/>
            <a:ext cx="1275397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6429375"/>
            <a:ext cx="88296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revealed about root cause, drivers, and the size of the gap.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9191625"/>
            <a:ext cx="11799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18159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4859" y="9191625"/>
            <a:ext cx="137651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56621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23321" y="9191625"/>
            <a:ext cx="11599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OPTIONS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78537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5237" y="9191625"/>
            <a:ext cx="19576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RECOMMENDATION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98172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64872" y="9191625"/>
            <a:ext cx="12273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ROADMAP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87508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54208" y="9191625"/>
            <a:ext cx="7603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ASK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64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39615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single most important thing we learned — stated as an implication, not a fact]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2724150"/>
            <a:ext cx="127539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[Subhead: one sentence on the evidence that supports the insight.]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800100" y="3571875"/>
            <a:ext cx="7023646" cy="107632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3571875"/>
            <a:ext cx="38100" cy="1076325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3743325"/>
            <a:ext cx="67634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47750" y="3981450"/>
            <a:ext cx="625623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[Restate the insight in plain language — what changes about how we should think.]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800100" y="4857750"/>
            <a:ext cx="72343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PIECES OF EVIDENCE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8188" y="5191125"/>
            <a:ext cx="72899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71463" indent="-271463">
              <a:lnSpc>
                <a:spcPct val="155000"/>
              </a:lnSpc>
              <a:buSzPct val="100000"/>
              <a:buFont typeface="+mj-lt"/>
              <a:buAutoNum type="arabicPeriod" startAt="1"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[Evidence #1]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[observation + number].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738188" y="5467350"/>
            <a:ext cx="72899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71463" indent="-271463">
              <a:lnSpc>
                <a:spcPct val="155000"/>
              </a:lnSpc>
              <a:buSzPct val="100000"/>
              <a:buFont typeface="+mj-lt"/>
              <a:buAutoNum type="arabicPeriod" startAt="2"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[Evidence #2]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[observation + number].</a:t>
            </a:r>
            <a:endParaRPr lang="en-US" sz="1425" dirty="0"/>
          </a:p>
        </p:txBody>
      </p:sp>
      <p:sp>
        <p:nvSpPr>
          <p:cNvPr id="14" name="Text 11"/>
          <p:cNvSpPr/>
          <p:nvPr/>
        </p:nvSpPr>
        <p:spPr>
          <a:xfrm>
            <a:off x="738188" y="5743575"/>
            <a:ext cx="72899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71463" indent="-271463">
              <a:lnSpc>
                <a:spcPct val="155000"/>
              </a:lnSpc>
              <a:buSzPct val="100000"/>
              <a:buFont typeface="+mj-lt"/>
              <a:buAutoNum type="arabicPeriod" startAt="3"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[Evidence #3] 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[observation + number].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800100" y="6410325"/>
            <a:ext cx="72343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IMPLIES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0100" y="6743700"/>
            <a:ext cx="72343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sentence on what the insight means for the recommendation we will land on.]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8357146" y="3571875"/>
            <a:ext cx="9130754" cy="5800725"/>
          </a:xfrm>
          <a:prstGeom prst="roundRect">
            <a:avLst>
              <a:gd name="adj" fmla="val 657"/>
            </a:avLst>
          </a:prstGeom>
          <a:solidFill>
            <a:srgbClr val="FAFAF8"/>
          </a:solidFill>
          <a:ln w="9525">
            <a:solidFill>
              <a:srgbClr val="C9C3B5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8229709" y="3581400"/>
            <a:ext cx="9385627" cy="5819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spc="144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[INSIGHT VISUAL · CHART, MAP, OR DIAGRAM]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0" name="Text 17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64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39615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[Performance gap decomposes into four drivers — two account for ~80%]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" y="9410700"/>
            <a:ext cx="505682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[Internal driver-tree analysis, FY2025]. Contributions sum to ~100% with rounding.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64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39615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[We trail the peer median on the metric that matters most]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2247900"/>
            <a:ext cx="127539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[Metric] across [N] named peers, FY2025. Sorted high → low.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095625"/>
            <a:ext cx="10171212" cy="62769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504712" y="3095625"/>
            <a:ext cx="5983039" cy="107632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9" name="Shape 5"/>
          <p:cNvSpPr/>
          <p:nvPr/>
        </p:nvSpPr>
        <p:spPr>
          <a:xfrm>
            <a:off x="11504712" y="3095625"/>
            <a:ext cx="38100" cy="1076325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0" name="Text 6"/>
          <p:cNvSpPr/>
          <p:nvPr/>
        </p:nvSpPr>
        <p:spPr>
          <a:xfrm>
            <a:off x="11752362" y="3267075"/>
            <a:ext cx="56916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752362" y="3505200"/>
            <a:ext cx="558570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gap is not a fluke — it has persisted for [N] periods, even when we adjust for [scale / mix / geography].]</a:t>
            </a:r>
            <a:endParaRPr lang="en-US" sz="1425" dirty="0"/>
          </a:p>
        </p:txBody>
      </p:sp>
      <p:sp>
        <p:nvSpPr>
          <p:cNvPr id="12" name="Text 8"/>
          <p:cNvSpPr/>
          <p:nvPr/>
        </p:nvSpPr>
        <p:spPr>
          <a:xfrm>
            <a:off x="11504712" y="4381500"/>
            <a:ext cx="61625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IT IS WORTH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04712" y="4629150"/>
            <a:ext cx="61625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[≈ RM XXm]</a:t>
            </a:r>
            <a:endParaRPr lang="en-US" sz="4200" dirty="0"/>
          </a:p>
        </p:txBody>
      </p:sp>
      <p:sp>
        <p:nvSpPr>
          <p:cNvPr id="14" name="Text 10"/>
          <p:cNvSpPr/>
          <p:nvPr/>
        </p:nvSpPr>
        <p:spPr>
          <a:xfrm>
            <a:off x="11504712" y="5219700"/>
            <a:ext cx="61625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 annualised [revenue/EBITDA/cost] if we move to peer-median performance.]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6" name="Text 12"/>
          <p:cNvSpPr/>
          <p:nvPr/>
        </p:nvSpPr>
        <p:spPr>
          <a:xfrm>
            <a:off x="800100" y="9410700"/>
            <a:ext cx="49223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[Annual reports, broker estimates]. Peer set: [list]. Metric defined as [definition].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64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39615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[Our trajectory diverged from the market in FY2024 — and the gap is widening]</a:t>
            </a:r>
            <a:endParaRPr lang="en-US" sz="3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933700"/>
            <a:ext cx="16687800" cy="64389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" name="Text 4"/>
          <p:cNvSpPr/>
          <p:nvPr/>
        </p:nvSpPr>
        <p:spPr>
          <a:xfrm>
            <a:off x="800100" y="9410700"/>
            <a:ext cx="61272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[Bursa filings, OSK analysis]. Index FY2021 = 100. Forecast based on current run-rate; no intervention.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64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39615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DECOMPOSITION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[Three buckets explain ~85% of the gap between target and actual]</a:t>
            </a:r>
            <a:endParaRPr lang="en-US" sz="3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457450"/>
            <a:ext cx="16687800" cy="69151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" name="Text 4"/>
          <p:cNvSpPr/>
          <p:nvPr/>
        </p:nvSpPr>
        <p:spPr>
          <a:xfrm>
            <a:off x="800100" y="9410700"/>
            <a:ext cx="73051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[Internal P&amp;L analysis, FY2025]. Negative bars indicate adverse contribution to the gap; offset is the single favourable item.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64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39615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[Three areas where we and the market are not aligned — and one where we lead]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3414713"/>
            <a:ext cx="4672608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7" name="Text 4"/>
          <p:cNvSpPr/>
          <p:nvPr/>
        </p:nvSpPr>
        <p:spPr>
          <a:xfrm>
            <a:off x="971550" y="3086100"/>
            <a:ext cx="446988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72708" y="3414713"/>
            <a:ext cx="4005114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9" name="Text 6"/>
          <p:cNvSpPr/>
          <p:nvPr/>
        </p:nvSpPr>
        <p:spPr>
          <a:xfrm>
            <a:off x="5644158" y="3086100"/>
            <a:ext cx="378236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OSK IS TODAY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477821" y="3414713"/>
            <a:ext cx="4005114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1" name="Text 8"/>
          <p:cNvSpPr/>
          <p:nvPr/>
        </p:nvSpPr>
        <p:spPr>
          <a:xfrm>
            <a:off x="9649271" y="3086100"/>
            <a:ext cx="378236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/ PEER NORM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3482935" y="3414713"/>
            <a:ext cx="2336304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3" name="Text 10"/>
          <p:cNvSpPr/>
          <p:nvPr/>
        </p:nvSpPr>
        <p:spPr>
          <a:xfrm>
            <a:off x="13654385" y="3086100"/>
            <a:ext cx="206960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5819239" y="3414713"/>
            <a:ext cx="166881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5" name="Text 12"/>
          <p:cNvSpPr/>
          <p:nvPr/>
        </p:nvSpPr>
        <p:spPr>
          <a:xfrm>
            <a:off x="15914489" y="3086100"/>
            <a:ext cx="14021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0100" y="4224338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7" name="Text 14"/>
          <p:cNvSpPr/>
          <p:nvPr/>
        </p:nvSpPr>
        <p:spPr>
          <a:xfrm>
            <a:off x="971550" y="3576637"/>
            <a:ext cx="446988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[Dimension 1]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[definition]</a:t>
            </a:r>
            <a:endParaRPr lang="en-US" sz="1425" dirty="0"/>
          </a:p>
        </p:txBody>
      </p:sp>
      <p:sp>
        <p:nvSpPr>
          <p:cNvPr id="18" name="Shape 15"/>
          <p:cNvSpPr/>
          <p:nvPr/>
        </p:nvSpPr>
        <p:spPr>
          <a:xfrm>
            <a:off x="5472708" y="4224338"/>
            <a:ext cx="400511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9" name="Text 16"/>
          <p:cNvSpPr/>
          <p:nvPr/>
        </p:nvSpPr>
        <p:spPr>
          <a:xfrm>
            <a:off x="5644158" y="3576637"/>
            <a:ext cx="3782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[Our position in one phrase]</a:t>
            </a:r>
            <a:endParaRPr lang="en-US" sz="1425" dirty="0"/>
          </a:p>
        </p:txBody>
      </p:sp>
      <p:sp>
        <p:nvSpPr>
          <p:cNvPr id="20" name="Shape 17"/>
          <p:cNvSpPr/>
          <p:nvPr/>
        </p:nvSpPr>
        <p:spPr>
          <a:xfrm>
            <a:off x="9477821" y="4224338"/>
            <a:ext cx="400511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1" name="Text 18"/>
          <p:cNvSpPr/>
          <p:nvPr/>
        </p:nvSpPr>
        <p:spPr>
          <a:xfrm>
            <a:off x="9649271" y="3576637"/>
            <a:ext cx="3782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[Peer norm in one phrase]</a:t>
            </a:r>
            <a:endParaRPr lang="en-US" sz="1425" dirty="0"/>
          </a:p>
        </p:txBody>
      </p:sp>
      <p:sp>
        <p:nvSpPr>
          <p:cNvPr id="22" name="Shape 19"/>
          <p:cNvSpPr/>
          <p:nvPr/>
        </p:nvSpPr>
        <p:spPr>
          <a:xfrm>
            <a:off x="13482935" y="4224338"/>
            <a:ext cx="233630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3" name="Text 20"/>
          <p:cNvSpPr/>
          <p:nvPr/>
        </p:nvSpPr>
        <p:spPr>
          <a:xfrm>
            <a:off x="13654385" y="3576637"/>
            <a:ext cx="206960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[Widening / Narrowing]</a:t>
            </a:r>
            <a:endParaRPr lang="en-US" sz="1425" dirty="0"/>
          </a:p>
        </p:txBody>
      </p:sp>
      <p:sp>
        <p:nvSpPr>
          <p:cNvPr id="24" name="Shape 21"/>
          <p:cNvSpPr/>
          <p:nvPr/>
        </p:nvSpPr>
        <p:spPr>
          <a:xfrm>
            <a:off x="15819239" y="42243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Shape 22"/>
          <p:cNvSpPr/>
          <p:nvPr/>
        </p:nvSpPr>
        <p:spPr>
          <a:xfrm>
            <a:off x="16565166" y="3581400"/>
            <a:ext cx="751433" cy="314325"/>
          </a:xfrm>
          <a:prstGeom prst="roundRect">
            <a:avLst>
              <a:gd name="adj" fmla="val 50000"/>
            </a:avLst>
          </a:prstGeom>
          <a:solidFill>
            <a:srgbClr val="F8E6E3"/>
          </a:solidFill>
          <a:ln w="9525">
            <a:solidFill>
              <a:srgbClr val="ECCA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708041" y="3690937"/>
            <a:ext cx="95250" cy="95250"/>
          </a:xfrm>
          <a:prstGeom prst="ellipse">
            <a:avLst/>
          </a:prstGeom>
          <a:solidFill>
            <a:srgbClr val="C44536"/>
          </a:solidFill>
          <a:ln/>
        </p:spPr>
      </p:sp>
      <p:sp>
        <p:nvSpPr>
          <p:cNvPr id="27" name="Text 24"/>
          <p:cNvSpPr/>
          <p:nvPr/>
        </p:nvSpPr>
        <p:spPr>
          <a:xfrm>
            <a:off x="16879634" y="3657600"/>
            <a:ext cx="370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8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00100" y="5033963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Text 26"/>
          <p:cNvSpPr/>
          <p:nvPr/>
        </p:nvSpPr>
        <p:spPr>
          <a:xfrm>
            <a:off x="971550" y="4386263"/>
            <a:ext cx="446988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[Dimension 2]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[definition]</a:t>
            </a:r>
            <a:endParaRPr lang="en-US" sz="1425" dirty="0"/>
          </a:p>
        </p:txBody>
      </p:sp>
      <p:sp>
        <p:nvSpPr>
          <p:cNvPr id="30" name="Shape 27"/>
          <p:cNvSpPr/>
          <p:nvPr/>
        </p:nvSpPr>
        <p:spPr>
          <a:xfrm>
            <a:off x="5472708" y="5033963"/>
            <a:ext cx="400511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1" name="Text 28"/>
          <p:cNvSpPr/>
          <p:nvPr/>
        </p:nvSpPr>
        <p:spPr>
          <a:xfrm>
            <a:off x="5644158" y="4386263"/>
            <a:ext cx="3782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[Our position]</a:t>
            </a:r>
            <a:endParaRPr lang="en-US" sz="1425" dirty="0"/>
          </a:p>
        </p:txBody>
      </p:sp>
      <p:sp>
        <p:nvSpPr>
          <p:cNvPr id="32" name="Shape 29"/>
          <p:cNvSpPr/>
          <p:nvPr/>
        </p:nvSpPr>
        <p:spPr>
          <a:xfrm>
            <a:off x="9477821" y="5033963"/>
            <a:ext cx="400511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3" name="Text 30"/>
          <p:cNvSpPr/>
          <p:nvPr/>
        </p:nvSpPr>
        <p:spPr>
          <a:xfrm>
            <a:off x="9649271" y="4386263"/>
            <a:ext cx="3782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[Peer norm]</a:t>
            </a:r>
            <a:endParaRPr lang="en-US" sz="1425" dirty="0"/>
          </a:p>
        </p:txBody>
      </p:sp>
      <p:sp>
        <p:nvSpPr>
          <p:cNvPr id="34" name="Shape 31"/>
          <p:cNvSpPr/>
          <p:nvPr/>
        </p:nvSpPr>
        <p:spPr>
          <a:xfrm>
            <a:off x="13482935" y="5033963"/>
            <a:ext cx="233630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5" name="Text 32"/>
          <p:cNvSpPr/>
          <p:nvPr/>
        </p:nvSpPr>
        <p:spPr>
          <a:xfrm>
            <a:off x="13654385" y="4386263"/>
            <a:ext cx="206960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[Widening]</a:t>
            </a:r>
            <a:endParaRPr lang="en-US" sz="1425" dirty="0"/>
          </a:p>
        </p:txBody>
      </p:sp>
      <p:sp>
        <p:nvSpPr>
          <p:cNvPr id="36" name="Shape 33"/>
          <p:cNvSpPr/>
          <p:nvPr/>
        </p:nvSpPr>
        <p:spPr>
          <a:xfrm>
            <a:off x="15819239" y="503396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7" name="Shape 34"/>
          <p:cNvSpPr/>
          <p:nvPr/>
        </p:nvSpPr>
        <p:spPr>
          <a:xfrm>
            <a:off x="16565166" y="4391025"/>
            <a:ext cx="751433" cy="314325"/>
          </a:xfrm>
          <a:prstGeom prst="roundRect">
            <a:avLst>
              <a:gd name="adj" fmla="val 50000"/>
            </a:avLst>
          </a:prstGeom>
          <a:solidFill>
            <a:srgbClr val="F8E6E3"/>
          </a:solidFill>
          <a:ln w="9525">
            <a:solidFill>
              <a:srgbClr val="ECCA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6708041" y="4500563"/>
            <a:ext cx="95250" cy="95250"/>
          </a:xfrm>
          <a:prstGeom prst="ellipse">
            <a:avLst/>
          </a:prstGeom>
          <a:solidFill>
            <a:srgbClr val="C44536"/>
          </a:solidFill>
          <a:ln/>
        </p:spPr>
      </p:sp>
      <p:sp>
        <p:nvSpPr>
          <p:cNvPr id="39" name="Text 36"/>
          <p:cNvSpPr/>
          <p:nvPr/>
        </p:nvSpPr>
        <p:spPr>
          <a:xfrm>
            <a:off x="16879634" y="4467225"/>
            <a:ext cx="370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8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00100" y="5843588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1" name="Text 38"/>
          <p:cNvSpPr/>
          <p:nvPr/>
        </p:nvSpPr>
        <p:spPr>
          <a:xfrm>
            <a:off x="971550" y="5195888"/>
            <a:ext cx="446988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[Dimension 3]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[definition]</a:t>
            </a:r>
            <a:endParaRPr lang="en-US" sz="1425" dirty="0"/>
          </a:p>
        </p:txBody>
      </p:sp>
      <p:sp>
        <p:nvSpPr>
          <p:cNvPr id="42" name="Shape 39"/>
          <p:cNvSpPr/>
          <p:nvPr/>
        </p:nvSpPr>
        <p:spPr>
          <a:xfrm>
            <a:off x="5472708" y="5843588"/>
            <a:ext cx="400511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3" name="Text 40"/>
          <p:cNvSpPr/>
          <p:nvPr/>
        </p:nvSpPr>
        <p:spPr>
          <a:xfrm>
            <a:off x="5644158" y="5195888"/>
            <a:ext cx="3782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[Our position]</a:t>
            </a:r>
            <a:endParaRPr lang="en-US" sz="1425" dirty="0"/>
          </a:p>
        </p:txBody>
      </p:sp>
      <p:sp>
        <p:nvSpPr>
          <p:cNvPr id="44" name="Shape 41"/>
          <p:cNvSpPr/>
          <p:nvPr/>
        </p:nvSpPr>
        <p:spPr>
          <a:xfrm>
            <a:off x="9477821" y="5843588"/>
            <a:ext cx="400511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5" name="Text 42"/>
          <p:cNvSpPr/>
          <p:nvPr/>
        </p:nvSpPr>
        <p:spPr>
          <a:xfrm>
            <a:off x="9649271" y="5195888"/>
            <a:ext cx="3782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[Peer norm]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3482935" y="5843588"/>
            <a:ext cx="233630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7" name="Text 44"/>
          <p:cNvSpPr/>
          <p:nvPr/>
        </p:nvSpPr>
        <p:spPr>
          <a:xfrm>
            <a:off x="13654385" y="5195888"/>
            <a:ext cx="206960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[Stable]</a:t>
            </a:r>
            <a:endParaRPr lang="en-US" sz="1425" dirty="0"/>
          </a:p>
        </p:txBody>
      </p:sp>
      <p:sp>
        <p:nvSpPr>
          <p:cNvPr id="48" name="Shape 45"/>
          <p:cNvSpPr/>
          <p:nvPr/>
        </p:nvSpPr>
        <p:spPr>
          <a:xfrm>
            <a:off x="15819239" y="58435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9" name="Shape 46"/>
          <p:cNvSpPr/>
          <p:nvPr/>
        </p:nvSpPr>
        <p:spPr>
          <a:xfrm>
            <a:off x="16426160" y="5200650"/>
            <a:ext cx="890439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6569035" y="5310188"/>
            <a:ext cx="95250" cy="9525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1" name="Text 48"/>
          <p:cNvSpPr/>
          <p:nvPr/>
        </p:nvSpPr>
        <p:spPr>
          <a:xfrm>
            <a:off x="16740515" y="5276850"/>
            <a:ext cx="509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00100" y="6653213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3" name="Text 50"/>
          <p:cNvSpPr/>
          <p:nvPr/>
        </p:nvSpPr>
        <p:spPr>
          <a:xfrm>
            <a:off x="971550" y="6005513"/>
            <a:ext cx="446988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[Dimension 4]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[definition]</a:t>
            </a:r>
            <a:endParaRPr lang="en-US" sz="1425" dirty="0"/>
          </a:p>
        </p:txBody>
      </p:sp>
      <p:sp>
        <p:nvSpPr>
          <p:cNvPr id="54" name="Shape 51"/>
          <p:cNvSpPr/>
          <p:nvPr/>
        </p:nvSpPr>
        <p:spPr>
          <a:xfrm>
            <a:off x="5472708" y="6653213"/>
            <a:ext cx="400511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5" name="Text 52"/>
          <p:cNvSpPr/>
          <p:nvPr/>
        </p:nvSpPr>
        <p:spPr>
          <a:xfrm>
            <a:off x="5644158" y="6005513"/>
            <a:ext cx="3782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[Our position]</a:t>
            </a:r>
            <a:endParaRPr lang="en-US" sz="1425" dirty="0"/>
          </a:p>
        </p:txBody>
      </p:sp>
      <p:sp>
        <p:nvSpPr>
          <p:cNvPr id="56" name="Shape 53"/>
          <p:cNvSpPr/>
          <p:nvPr/>
        </p:nvSpPr>
        <p:spPr>
          <a:xfrm>
            <a:off x="9477821" y="6653213"/>
            <a:ext cx="400511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7" name="Text 54"/>
          <p:cNvSpPr/>
          <p:nvPr/>
        </p:nvSpPr>
        <p:spPr>
          <a:xfrm>
            <a:off x="9649271" y="6005513"/>
            <a:ext cx="3782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[Peer norm]</a:t>
            </a:r>
            <a:endParaRPr lang="en-US" sz="1425" dirty="0"/>
          </a:p>
        </p:txBody>
      </p:sp>
      <p:sp>
        <p:nvSpPr>
          <p:cNvPr id="58" name="Shape 55"/>
          <p:cNvSpPr/>
          <p:nvPr/>
        </p:nvSpPr>
        <p:spPr>
          <a:xfrm>
            <a:off x="13482935" y="6653213"/>
            <a:ext cx="233630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9" name="Text 56"/>
          <p:cNvSpPr/>
          <p:nvPr/>
        </p:nvSpPr>
        <p:spPr>
          <a:xfrm>
            <a:off x="13654385" y="6005513"/>
            <a:ext cx="206960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[Narrowing]</a:t>
            </a:r>
            <a:endParaRPr lang="en-US" sz="1425" dirty="0"/>
          </a:p>
        </p:txBody>
      </p:sp>
      <p:sp>
        <p:nvSpPr>
          <p:cNvPr id="60" name="Shape 57"/>
          <p:cNvSpPr/>
          <p:nvPr/>
        </p:nvSpPr>
        <p:spPr>
          <a:xfrm>
            <a:off x="15819239" y="665321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1" name="Shape 58"/>
          <p:cNvSpPr/>
          <p:nvPr/>
        </p:nvSpPr>
        <p:spPr>
          <a:xfrm>
            <a:off x="16426160" y="6010275"/>
            <a:ext cx="890439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6569035" y="6119813"/>
            <a:ext cx="95250" cy="9525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3" name="Text 60"/>
          <p:cNvSpPr/>
          <p:nvPr/>
        </p:nvSpPr>
        <p:spPr>
          <a:xfrm>
            <a:off x="16740515" y="6086475"/>
            <a:ext cx="509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800100" y="7462838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5" name="Text 62"/>
          <p:cNvSpPr/>
          <p:nvPr/>
        </p:nvSpPr>
        <p:spPr>
          <a:xfrm>
            <a:off x="971550" y="6815138"/>
            <a:ext cx="446988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[Dimension 5]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[definition]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5472708" y="7462838"/>
            <a:ext cx="400511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7" name="Text 64"/>
          <p:cNvSpPr/>
          <p:nvPr/>
        </p:nvSpPr>
        <p:spPr>
          <a:xfrm>
            <a:off x="5644158" y="6815138"/>
            <a:ext cx="3782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[Our advantage]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9477821" y="7462838"/>
            <a:ext cx="400511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9" name="Text 66"/>
          <p:cNvSpPr/>
          <p:nvPr/>
        </p:nvSpPr>
        <p:spPr>
          <a:xfrm>
            <a:off x="9649271" y="6815138"/>
            <a:ext cx="3782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[Peer norm]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3482935" y="7462838"/>
            <a:ext cx="233630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1" name="Text 68"/>
          <p:cNvSpPr/>
          <p:nvPr/>
        </p:nvSpPr>
        <p:spPr>
          <a:xfrm>
            <a:off x="13654385" y="6815138"/>
            <a:ext cx="206960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[Improving]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5819239" y="74628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3" name="Shape 70"/>
          <p:cNvSpPr/>
          <p:nvPr/>
        </p:nvSpPr>
        <p:spPr>
          <a:xfrm>
            <a:off x="16252924" y="6819900"/>
            <a:ext cx="1063675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6395799" y="6929438"/>
            <a:ext cx="95250" cy="95250"/>
          </a:xfrm>
          <a:prstGeom prst="ellipse">
            <a:avLst/>
          </a:prstGeom>
          <a:solidFill>
            <a:srgbClr val="2F8F5F"/>
          </a:solidFill>
          <a:ln/>
        </p:spPr>
      </p:sp>
      <p:sp>
        <p:nvSpPr>
          <p:cNvPr id="75" name="Text 72"/>
          <p:cNvSpPr/>
          <p:nvPr/>
        </p:nvSpPr>
        <p:spPr>
          <a:xfrm>
            <a:off x="16567355" y="6896100"/>
            <a:ext cx="682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7" name="Text 74"/>
          <p:cNvSpPr/>
          <p:nvPr/>
        </p:nvSpPr>
        <p:spPr>
          <a:xfrm>
            <a:off x="800100" y="9410700"/>
            <a:ext cx="49228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[Internal benchmarking, FY2025]. Direction reflects 3-year trend in gap-to-peer.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64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386138"/>
            <a:ext cx="1648206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405438"/>
            <a:ext cx="1275397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Options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6272213"/>
            <a:ext cx="88296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choice set we evaluated, the criteria we used, and the tradeoffs the leadership team should weigh.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9191625"/>
            <a:ext cx="11799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18159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4859" y="9191625"/>
            <a:ext cx="132159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01703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68403" y="9191625"/>
            <a:ext cx="12001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OPTIONS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3803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30503" y="9191625"/>
            <a:ext cx="19576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RECOMMENDATION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83438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50138" y="9191625"/>
            <a:ext cx="12273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ROADMAP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72774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39474" y="9191625"/>
            <a:ext cx="7603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ASK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64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239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OPTIONS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SET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credible options — each with a different risk-return profile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2247900"/>
            <a:ext cx="127539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other paths considered were eliminated against the criteria on the next page.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800100" y="3095625"/>
            <a:ext cx="5384750" cy="6276975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9363075"/>
            <a:ext cx="538475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3095625"/>
            <a:ext cx="5384750" cy="57150"/>
          </a:xfrm>
          <a:prstGeom prst="rect">
            <a:avLst/>
          </a:prstGeom>
          <a:solidFill>
            <a:srgbClr val="BFC0BE"/>
          </a:solidFill>
          <a:ln/>
        </p:spPr>
      </p:sp>
      <p:sp>
        <p:nvSpPr>
          <p:cNvPr id="10" name="Shape 7"/>
          <p:cNvSpPr/>
          <p:nvPr/>
        </p:nvSpPr>
        <p:spPr>
          <a:xfrm>
            <a:off x="800100" y="3095625"/>
            <a:ext cx="9525" cy="627697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" name="Shape 8"/>
          <p:cNvSpPr/>
          <p:nvPr/>
        </p:nvSpPr>
        <p:spPr>
          <a:xfrm>
            <a:off x="6175325" y="3095625"/>
            <a:ext cx="9525" cy="627697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" name="Text 9"/>
          <p:cNvSpPr/>
          <p:nvPr/>
        </p:nvSpPr>
        <p:spPr>
          <a:xfrm>
            <a:off x="1152525" y="3495675"/>
            <a:ext cx="482029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525" y="3762375"/>
            <a:ext cx="482029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[Hold &amp; optimise]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152525" y="4229100"/>
            <a:ext cx="48202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description: what we would do, where we would do it, who would lead.]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1152525" y="5372100"/>
            <a:ext cx="46799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6" name="Text 13"/>
          <p:cNvSpPr/>
          <p:nvPr/>
        </p:nvSpPr>
        <p:spPr>
          <a:xfrm>
            <a:off x="1152525" y="5572125"/>
            <a:ext cx="23589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525" y="5743575"/>
            <a:ext cx="23589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[RM XXm]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3549551" y="5572125"/>
            <a:ext cx="23590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549551" y="5743575"/>
            <a:ext cx="2359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 yrs]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152525" y="6143625"/>
            <a:ext cx="23589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3-YR NPV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525" y="6315075"/>
            <a:ext cx="23589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[RM XXm]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3549551" y="6143625"/>
            <a:ext cx="23590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549551" y="6315075"/>
            <a:ext cx="2359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2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6451550" y="3095625"/>
            <a:ext cx="5384750" cy="6276975"/>
          </a:xfrm>
          <a:prstGeom prst="roundRect">
            <a:avLst>
              <a:gd name="adj" fmla="val 1061"/>
            </a:avLst>
          </a:prstGeom>
          <a:solidFill>
            <a:srgbClr val="FAF7F1"/>
          </a:solidFill>
          <a:ln/>
        </p:spPr>
      </p:sp>
      <p:sp>
        <p:nvSpPr>
          <p:cNvPr id="25" name="Shape 22"/>
          <p:cNvSpPr/>
          <p:nvPr/>
        </p:nvSpPr>
        <p:spPr>
          <a:xfrm>
            <a:off x="6451550" y="9363075"/>
            <a:ext cx="538475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6" name="Shape 23"/>
          <p:cNvSpPr/>
          <p:nvPr/>
        </p:nvSpPr>
        <p:spPr>
          <a:xfrm>
            <a:off x="6451550" y="3095625"/>
            <a:ext cx="5384750" cy="5715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27" name="Shape 24"/>
          <p:cNvSpPr/>
          <p:nvPr/>
        </p:nvSpPr>
        <p:spPr>
          <a:xfrm>
            <a:off x="6451550" y="3095625"/>
            <a:ext cx="9525" cy="627697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8" name="Shape 25"/>
          <p:cNvSpPr/>
          <p:nvPr/>
        </p:nvSpPr>
        <p:spPr>
          <a:xfrm>
            <a:off x="11826776" y="3095625"/>
            <a:ext cx="9525" cy="627697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Shape 26"/>
          <p:cNvSpPr/>
          <p:nvPr/>
        </p:nvSpPr>
        <p:spPr>
          <a:xfrm>
            <a:off x="10193834" y="3019425"/>
            <a:ext cx="1404342" cy="314325"/>
          </a:xfrm>
          <a:prstGeom prst="roundRect">
            <a:avLst>
              <a:gd name="adj" fmla="val 50000"/>
            </a:avLst>
          </a:prstGeom>
          <a:solidFill>
            <a:srgbClr val="F1E8DA"/>
          </a:solidFill>
          <a:ln w="9525">
            <a:solidFill>
              <a:srgbClr val="E2D3B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336709" y="3086100"/>
            <a:ext cx="11947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803975" y="3495675"/>
            <a:ext cx="482029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803975" y="3762375"/>
            <a:ext cx="482029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[Reposition &amp; invest]</a:t>
            </a:r>
            <a:endParaRPr lang="en-US" sz="2250" dirty="0"/>
          </a:p>
        </p:txBody>
      </p:sp>
      <p:sp>
        <p:nvSpPr>
          <p:cNvPr id="33" name="Text 30"/>
          <p:cNvSpPr/>
          <p:nvPr/>
        </p:nvSpPr>
        <p:spPr>
          <a:xfrm>
            <a:off x="6803975" y="4229100"/>
            <a:ext cx="48202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description: the proposed path.]</a:t>
            </a:r>
            <a:endParaRPr lang="en-US" sz="1275" dirty="0"/>
          </a:p>
        </p:txBody>
      </p:sp>
      <p:sp>
        <p:nvSpPr>
          <p:cNvPr id="34" name="Shape 31"/>
          <p:cNvSpPr/>
          <p:nvPr/>
        </p:nvSpPr>
        <p:spPr>
          <a:xfrm>
            <a:off x="6803975" y="5372100"/>
            <a:ext cx="4679900" cy="9525"/>
          </a:xfrm>
          <a:prstGeom prst="rect">
            <a:avLst/>
          </a:prstGeom>
          <a:solidFill>
            <a:srgbClr val="E2D3B6"/>
          </a:solidFill>
          <a:ln/>
        </p:spPr>
      </p:sp>
      <p:sp>
        <p:nvSpPr>
          <p:cNvPr id="35" name="Text 32"/>
          <p:cNvSpPr/>
          <p:nvPr/>
        </p:nvSpPr>
        <p:spPr>
          <a:xfrm>
            <a:off x="6803975" y="5572125"/>
            <a:ext cx="23589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803975" y="5743575"/>
            <a:ext cx="23589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[RM XXm]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9201001" y="5572125"/>
            <a:ext cx="23590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9201001" y="5743575"/>
            <a:ext cx="2359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 yrs]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6803975" y="6143625"/>
            <a:ext cx="23589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3-YR NPV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803975" y="6315075"/>
            <a:ext cx="23589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[RM XXXm]</a:t>
            </a:r>
            <a:endParaRPr lang="en-US" sz="1650" dirty="0"/>
          </a:p>
        </p:txBody>
      </p:sp>
      <p:sp>
        <p:nvSpPr>
          <p:cNvPr id="41" name="Text 38"/>
          <p:cNvSpPr/>
          <p:nvPr/>
        </p:nvSpPr>
        <p:spPr>
          <a:xfrm>
            <a:off x="9201001" y="6143625"/>
            <a:ext cx="23590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9201001" y="6315075"/>
            <a:ext cx="2359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650" dirty="0"/>
          </a:p>
        </p:txBody>
      </p:sp>
      <p:sp>
        <p:nvSpPr>
          <p:cNvPr id="43" name="Shape 40"/>
          <p:cNvSpPr/>
          <p:nvPr/>
        </p:nvSpPr>
        <p:spPr>
          <a:xfrm>
            <a:off x="12103001" y="3095625"/>
            <a:ext cx="5384899" cy="6276975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/>
        </p:spPr>
      </p:sp>
      <p:sp>
        <p:nvSpPr>
          <p:cNvPr id="44" name="Shape 41"/>
          <p:cNvSpPr/>
          <p:nvPr/>
        </p:nvSpPr>
        <p:spPr>
          <a:xfrm>
            <a:off x="12103001" y="9363075"/>
            <a:ext cx="538489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5" name="Shape 42"/>
          <p:cNvSpPr/>
          <p:nvPr/>
        </p:nvSpPr>
        <p:spPr>
          <a:xfrm>
            <a:off x="12103001" y="3095625"/>
            <a:ext cx="5384899" cy="57150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46" name="Shape 43"/>
          <p:cNvSpPr/>
          <p:nvPr/>
        </p:nvSpPr>
        <p:spPr>
          <a:xfrm>
            <a:off x="12103001" y="3095625"/>
            <a:ext cx="9525" cy="627697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7" name="Shape 44"/>
          <p:cNvSpPr/>
          <p:nvPr/>
        </p:nvSpPr>
        <p:spPr>
          <a:xfrm>
            <a:off x="17478375" y="3095625"/>
            <a:ext cx="9525" cy="627697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8" name="Text 45"/>
          <p:cNvSpPr/>
          <p:nvPr/>
        </p:nvSpPr>
        <p:spPr>
          <a:xfrm>
            <a:off x="12455426" y="3495675"/>
            <a:ext cx="48204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2455426" y="3762375"/>
            <a:ext cx="482045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[Transformative bet]</a:t>
            </a:r>
            <a:endParaRPr lang="en-US" sz="2250" dirty="0"/>
          </a:p>
        </p:txBody>
      </p:sp>
      <p:sp>
        <p:nvSpPr>
          <p:cNvPr id="50" name="Text 47"/>
          <p:cNvSpPr/>
          <p:nvPr/>
        </p:nvSpPr>
        <p:spPr>
          <a:xfrm>
            <a:off x="12455426" y="4229100"/>
            <a:ext cx="482045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description: the boldest path on the table.]</a:t>
            </a:r>
            <a:endParaRPr lang="en-US" sz="1275" dirty="0"/>
          </a:p>
        </p:txBody>
      </p:sp>
      <p:sp>
        <p:nvSpPr>
          <p:cNvPr id="51" name="Shape 48"/>
          <p:cNvSpPr/>
          <p:nvPr/>
        </p:nvSpPr>
        <p:spPr>
          <a:xfrm>
            <a:off x="12455426" y="5372100"/>
            <a:ext cx="468004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2" name="Text 49"/>
          <p:cNvSpPr/>
          <p:nvPr/>
        </p:nvSpPr>
        <p:spPr>
          <a:xfrm>
            <a:off x="12455426" y="5572125"/>
            <a:ext cx="23590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2455426" y="5743575"/>
            <a:ext cx="2359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[RM XXXm]</a:t>
            </a:r>
            <a:endParaRPr lang="en-US" sz="1650" dirty="0"/>
          </a:p>
        </p:txBody>
      </p:sp>
      <p:sp>
        <p:nvSpPr>
          <p:cNvPr id="54" name="Text 51"/>
          <p:cNvSpPr/>
          <p:nvPr/>
        </p:nvSpPr>
        <p:spPr>
          <a:xfrm>
            <a:off x="14852600" y="5572125"/>
            <a:ext cx="23590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14852600" y="5743575"/>
            <a:ext cx="2359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[X+ yrs]</a:t>
            </a:r>
            <a:endParaRPr lang="en-US" sz="1650" dirty="0"/>
          </a:p>
        </p:txBody>
      </p:sp>
      <p:sp>
        <p:nvSpPr>
          <p:cNvPr id="56" name="Text 53"/>
          <p:cNvSpPr/>
          <p:nvPr/>
        </p:nvSpPr>
        <p:spPr>
          <a:xfrm>
            <a:off x="12455426" y="6143625"/>
            <a:ext cx="23590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3-YR NPV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2455426" y="6315075"/>
            <a:ext cx="2359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[RM XXXm]</a:t>
            </a:r>
            <a:endParaRPr lang="en-US" sz="1650" dirty="0"/>
          </a:p>
        </p:txBody>
      </p:sp>
      <p:sp>
        <p:nvSpPr>
          <p:cNvPr id="58" name="Text 55"/>
          <p:cNvSpPr/>
          <p:nvPr/>
        </p:nvSpPr>
        <p:spPr>
          <a:xfrm>
            <a:off x="14852600" y="6143625"/>
            <a:ext cx="23590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14852600" y="6315075"/>
            <a:ext cx="2359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650" dirty="0"/>
          </a:p>
        </p:txBody>
      </p:sp>
      <p:sp>
        <p:nvSpPr>
          <p:cNvPr id="60" name="Shape 57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1" name="Text 58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64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239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OPTIONS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scores highest on the criteria we agreed up front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2247900"/>
            <a:ext cx="127539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[Scoring: ●●● strong · ●● adequate · ● weak. Weights set with the steering committee on [date].]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800100" y="3576638"/>
            <a:ext cx="4672608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8" name="Text 5"/>
          <p:cNvSpPr/>
          <p:nvPr/>
        </p:nvSpPr>
        <p:spPr>
          <a:xfrm>
            <a:off x="971550" y="3248025"/>
            <a:ext cx="446988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72708" y="3576638"/>
            <a:ext cx="1335137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0" name="Text 7"/>
          <p:cNvSpPr/>
          <p:nvPr/>
        </p:nvSpPr>
        <p:spPr>
          <a:xfrm>
            <a:off x="5606058" y="3248025"/>
            <a:ext cx="106843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07845" y="3576638"/>
            <a:ext cx="3003947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2" name="Text 9"/>
          <p:cNvSpPr/>
          <p:nvPr/>
        </p:nvSpPr>
        <p:spPr>
          <a:xfrm>
            <a:off x="6934236" y="3248025"/>
            <a:ext cx="275116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HOLD &amp; OPTIMISE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811792" y="3095625"/>
            <a:ext cx="3003947" cy="490538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14" name="Shape 11"/>
          <p:cNvSpPr/>
          <p:nvPr/>
        </p:nvSpPr>
        <p:spPr>
          <a:xfrm>
            <a:off x="9811792" y="3576638"/>
            <a:ext cx="3003947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5" name="Text 12"/>
          <p:cNvSpPr/>
          <p:nvPr/>
        </p:nvSpPr>
        <p:spPr>
          <a:xfrm>
            <a:off x="9938183" y="3248025"/>
            <a:ext cx="275116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REPOSITION &amp; INVEST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2815739" y="3576638"/>
            <a:ext cx="3003947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7" name="Text 14"/>
          <p:cNvSpPr/>
          <p:nvPr/>
        </p:nvSpPr>
        <p:spPr>
          <a:xfrm>
            <a:off x="12942129" y="3248025"/>
            <a:ext cx="275116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TRANSFORMATIVE BET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5819686" y="3576638"/>
            <a:ext cx="166881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9" name="Text 16"/>
          <p:cNvSpPr/>
          <p:nvPr/>
        </p:nvSpPr>
        <p:spPr>
          <a:xfrm>
            <a:off x="15991136" y="3248025"/>
            <a:ext cx="14021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00100" y="4386263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1" name="Text 18"/>
          <p:cNvSpPr/>
          <p:nvPr/>
        </p:nvSpPr>
        <p:spPr>
          <a:xfrm>
            <a:off x="971550" y="3738563"/>
            <a:ext cx="446988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[Strategic fit]</a:t>
            </a:r>
            <a:endParaRPr lang="en-US" sz="1425" dirty="0"/>
          </a:p>
        </p:txBody>
      </p:sp>
      <p:sp>
        <p:nvSpPr>
          <p:cNvPr id="22" name="Shape 19"/>
          <p:cNvSpPr/>
          <p:nvPr/>
        </p:nvSpPr>
        <p:spPr>
          <a:xfrm>
            <a:off x="5472708" y="4386263"/>
            <a:ext cx="133513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3" name="Text 20"/>
          <p:cNvSpPr/>
          <p:nvPr/>
        </p:nvSpPr>
        <p:spPr>
          <a:xfrm>
            <a:off x="5606058" y="3738563"/>
            <a:ext cx="106843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25" dirty="0"/>
          </a:p>
        </p:txBody>
      </p:sp>
      <p:sp>
        <p:nvSpPr>
          <p:cNvPr id="24" name="Shape 21"/>
          <p:cNvSpPr/>
          <p:nvPr/>
        </p:nvSpPr>
        <p:spPr>
          <a:xfrm>
            <a:off x="6807845" y="4386263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2"/>
          <p:cNvSpPr/>
          <p:nvPr/>
        </p:nvSpPr>
        <p:spPr>
          <a:xfrm>
            <a:off x="6934236" y="3738563"/>
            <a:ext cx="275116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</a:t>
            </a:r>
            <a:endParaRPr lang="en-US" sz="1425" dirty="0"/>
          </a:p>
        </p:txBody>
      </p:sp>
      <p:sp>
        <p:nvSpPr>
          <p:cNvPr id="26" name="Shape 23"/>
          <p:cNvSpPr/>
          <p:nvPr/>
        </p:nvSpPr>
        <p:spPr>
          <a:xfrm>
            <a:off x="9811792" y="3586163"/>
            <a:ext cx="3003947" cy="80962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27" name="Shape 24"/>
          <p:cNvSpPr/>
          <p:nvPr/>
        </p:nvSpPr>
        <p:spPr>
          <a:xfrm>
            <a:off x="9811792" y="4386263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8" name="Text 25"/>
          <p:cNvSpPr/>
          <p:nvPr/>
        </p:nvSpPr>
        <p:spPr>
          <a:xfrm>
            <a:off x="9938183" y="3738563"/>
            <a:ext cx="275116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1425" dirty="0"/>
          </a:p>
        </p:txBody>
      </p:sp>
      <p:sp>
        <p:nvSpPr>
          <p:cNvPr id="29" name="Shape 26"/>
          <p:cNvSpPr/>
          <p:nvPr/>
        </p:nvSpPr>
        <p:spPr>
          <a:xfrm>
            <a:off x="12815739" y="4386263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0" name="Text 27"/>
          <p:cNvSpPr/>
          <p:nvPr/>
        </p:nvSpPr>
        <p:spPr>
          <a:xfrm>
            <a:off x="12942129" y="3738563"/>
            <a:ext cx="275116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1425" dirty="0"/>
          </a:p>
        </p:txBody>
      </p:sp>
      <p:sp>
        <p:nvSpPr>
          <p:cNvPr id="31" name="Shape 28"/>
          <p:cNvSpPr/>
          <p:nvPr/>
        </p:nvSpPr>
        <p:spPr>
          <a:xfrm>
            <a:off x="15819686" y="438626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2" name="Text 29"/>
          <p:cNvSpPr/>
          <p:nvPr/>
        </p:nvSpPr>
        <p:spPr>
          <a:xfrm>
            <a:off x="15991136" y="3738563"/>
            <a:ext cx="140211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[Alignment with FY26-30 plan.]</a:t>
            </a:r>
            <a:endParaRPr lang="en-US" sz="1425" dirty="0"/>
          </a:p>
        </p:txBody>
      </p:sp>
      <p:sp>
        <p:nvSpPr>
          <p:cNvPr id="33" name="Shape 30"/>
          <p:cNvSpPr/>
          <p:nvPr/>
        </p:nvSpPr>
        <p:spPr>
          <a:xfrm>
            <a:off x="800100" y="5443538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4" name="Text 31"/>
          <p:cNvSpPr/>
          <p:nvPr/>
        </p:nvSpPr>
        <p:spPr>
          <a:xfrm>
            <a:off x="971550" y="4548188"/>
            <a:ext cx="446988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[3-yr value creation]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5472708" y="5443538"/>
            <a:ext cx="133513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6" name="Text 33"/>
          <p:cNvSpPr/>
          <p:nvPr/>
        </p:nvSpPr>
        <p:spPr>
          <a:xfrm>
            <a:off x="5606058" y="4548188"/>
            <a:ext cx="106843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6807845" y="544353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8" name="Text 35"/>
          <p:cNvSpPr/>
          <p:nvPr/>
        </p:nvSpPr>
        <p:spPr>
          <a:xfrm>
            <a:off x="6934236" y="4548188"/>
            <a:ext cx="27511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9811792" y="4395788"/>
            <a:ext cx="3003947" cy="105727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40" name="Shape 37"/>
          <p:cNvSpPr/>
          <p:nvPr/>
        </p:nvSpPr>
        <p:spPr>
          <a:xfrm>
            <a:off x="9811792" y="544353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1" name="Text 38"/>
          <p:cNvSpPr/>
          <p:nvPr/>
        </p:nvSpPr>
        <p:spPr>
          <a:xfrm>
            <a:off x="9938183" y="4548188"/>
            <a:ext cx="27511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1425" dirty="0"/>
          </a:p>
        </p:txBody>
      </p:sp>
      <p:sp>
        <p:nvSpPr>
          <p:cNvPr id="42" name="Shape 39"/>
          <p:cNvSpPr/>
          <p:nvPr/>
        </p:nvSpPr>
        <p:spPr>
          <a:xfrm>
            <a:off x="12815739" y="544353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3" name="Text 40"/>
          <p:cNvSpPr/>
          <p:nvPr/>
        </p:nvSpPr>
        <p:spPr>
          <a:xfrm>
            <a:off x="12942129" y="4548188"/>
            <a:ext cx="27511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1425" dirty="0"/>
          </a:p>
        </p:txBody>
      </p:sp>
      <p:sp>
        <p:nvSpPr>
          <p:cNvPr id="44" name="Shape 41"/>
          <p:cNvSpPr/>
          <p:nvPr/>
        </p:nvSpPr>
        <p:spPr>
          <a:xfrm>
            <a:off x="15819686" y="54435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5" name="Text 42"/>
          <p:cNvSpPr/>
          <p:nvPr/>
        </p:nvSpPr>
        <p:spPr>
          <a:xfrm>
            <a:off x="15991136" y="4548188"/>
            <a:ext cx="14021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[NPV at [discount rate]%.]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800100" y="6253163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7" name="Text 44"/>
          <p:cNvSpPr/>
          <p:nvPr/>
        </p:nvSpPr>
        <p:spPr>
          <a:xfrm>
            <a:off x="971550" y="5605463"/>
            <a:ext cx="446988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[Execution risk]</a:t>
            </a:r>
            <a:endParaRPr lang="en-US" sz="1425" dirty="0"/>
          </a:p>
        </p:txBody>
      </p:sp>
      <p:sp>
        <p:nvSpPr>
          <p:cNvPr id="48" name="Shape 45"/>
          <p:cNvSpPr/>
          <p:nvPr/>
        </p:nvSpPr>
        <p:spPr>
          <a:xfrm>
            <a:off x="5472708" y="6253163"/>
            <a:ext cx="133513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9" name="Text 46"/>
          <p:cNvSpPr/>
          <p:nvPr/>
        </p:nvSpPr>
        <p:spPr>
          <a:xfrm>
            <a:off x="5606058" y="5605463"/>
            <a:ext cx="106843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25" dirty="0"/>
          </a:p>
        </p:txBody>
      </p:sp>
      <p:sp>
        <p:nvSpPr>
          <p:cNvPr id="50" name="Shape 47"/>
          <p:cNvSpPr/>
          <p:nvPr/>
        </p:nvSpPr>
        <p:spPr>
          <a:xfrm>
            <a:off x="6807845" y="6253163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1" name="Text 48"/>
          <p:cNvSpPr/>
          <p:nvPr/>
        </p:nvSpPr>
        <p:spPr>
          <a:xfrm>
            <a:off x="6934236" y="5605463"/>
            <a:ext cx="275116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9811792" y="5453063"/>
            <a:ext cx="3003947" cy="80962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53" name="Shape 50"/>
          <p:cNvSpPr/>
          <p:nvPr/>
        </p:nvSpPr>
        <p:spPr>
          <a:xfrm>
            <a:off x="9811792" y="6253163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4" name="Text 51"/>
          <p:cNvSpPr/>
          <p:nvPr/>
        </p:nvSpPr>
        <p:spPr>
          <a:xfrm>
            <a:off x="9938183" y="5605463"/>
            <a:ext cx="275116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2815739" y="6253163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6" name="Text 53"/>
          <p:cNvSpPr/>
          <p:nvPr/>
        </p:nvSpPr>
        <p:spPr>
          <a:xfrm>
            <a:off x="12942129" y="5605463"/>
            <a:ext cx="275116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5819686" y="625316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8" name="Text 55"/>
          <p:cNvSpPr/>
          <p:nvPr/>
        </p:nvSpPr>
        <p:spPr>
          <a:xfrm>
            <a:off x="15991136" y="5605463"/>
            <a:ext cx="140211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[Higher score = less risk.]</a:t>
            </a:r>
            <a:endParaRPr lang="en-US" sz="1425" dirty="0"/>
          </a:p>
        </p:txBody>
      </p:sp>
      <p:sp>
        <p:nvSpPr>
          <p:cNvPr id="59" name="Shape 56"/>
          <p:cNvSpPr/>
          <p:nvPr/>
        </p:nvSpPr>
        <p:spPr>
          <a:xfrm>
            <a:off x="800100" y="7310438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0" name="Text 57"/>
          <p:cNvSpPr/>
          <p:nvPr/>
        </p:nvSpPr>
        <p:spPr>
          <a:xfrm>
            <a:off x="971550" y="6415088"/>
            <a:ext cx="446988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[Capital intensity]</a:t>
            </a:r>
            <a:endParaRPr lang="en-US" sz="1425" dirty="0"/>
          </a:p>
        </p:txBody>
      </p:sp>
      <p:sp>
        <p:nvSpPr>
          <p:cNvPr id="61" name="Shape 58"/>
          <p:cNvSpPr/>
          <p:nvPr/>
        </p:nvSpPr>
        <p:spPr>
          <a:xfrm>
            <a:off x="5472708" y="7310438"/>
            <a:ext cx="133513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2" name="Text 59"/>
          <p:cNvSpPr/>
          <p:nvPr/>
        </p:nvSpPr>
        <p:spPr>
          <a:xfrm>
            <a:off x="5606058" y="6415088"/>
            <a:ext cx="106843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25" dirty="0"/>
          </a:p>
        </p:txBody>
      </p:sp>
      <p:sp>
        <p:nvSpPr>
          <p:cNvPr id="63" name="Shape 60"/>
          <p:cNvSpPr/>
          <p:nvPr/>
        </p:nvSpPr>
        <p:spPr>
          <a:xfrm>
            <a:off x="6807845" y="731043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4" name="Text 61"/>
          <p:cNvSpPr/>
          <p:nvPr/>
        </p:nvSpPr>
        <p:spPr>
          <a:xfrm>
            <a:off x="6934236" y="6415088"/>
            <a:ext cx="27511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1425" dirty="0"/>
          </a:p>
        </p:txBody>
      </p:sp>
      <p:sp>
        <p:nvSpPr>
          <p:cNvPr id="65" name="Shape 62"/>
          <p:cNvSpPr/>
          <p:nvPr/>
        </p:nvSpPr>
        <p:spPr>
          <a:xfrm>
            <a:off x="9811792" y="6262688"/>
            <a:ext cx="3003947" cy="105727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66" name="Shape 63"/>
          <p:cNvSpPr/>
          <p:nvPr/>
        </p:nvSpPr>
        <p:spPr>
          <a:xfrm>
            <a:off x="9811792" y="731043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7" name="Text 64"/>
          <p:cNvSpPr/>
          <p:nvPr/>
        </p:nvSpPr>
        <p:spPr>
          <a:xfrm>
            <a:off x="9938183" y="6415088"/>
            <a:ext cx="27511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2815739" y="731043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9" name="Text 66"/>
          <p:cNvSpPr/>
          <p:nvPr/>
        </p:nvSpPr>
        <p:spPr>
          <a:xfrm>
            <a:off x="12942129" y="6415088"/>
            <a:ext cx="27511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5819686" y="73104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1" name="Text 68"/>
          <p:cNvSpPr/>
          <p:nvPr/>
        </p:nvSpPr>
        <p:spPr>
          <a:xfrm>
            <a:off x="15991136" y="6415088"/>
            <a:ext cx="14021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[Cash requirement vs envelope.]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800100" y="8367712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3" name="Text 70"/>
          <p:cNvSpPr/>
          <p:nvPr/>
        </p:nvSpPr>
        <p:spPr>
          <a:xfrm>
            <a:off x="971550" y="7472363"/>
            <a:ext cx="446988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 to impact]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5472708" y="8367712"/>
            <a:ext cx="133513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5" name="Text 72"/>
          <p:cNvSpPr/>
          <p:nvPr/>
        </p:nvSpPr>
        <p:spPr>
          <a:xfrm>
            <a:off x="5606058" y="7472363"/>
            <a:ext cx="106843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6807845" y="8367712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7" name="Text 74"/>
          <p:cNvSpPr/>
          <p:nvPr/>
        </p:nvSpPr>
        <p:spPr>
          <a:xfrm>
            <a:off x="6934236" y="7472363"/>
            <a:ext cx="27511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9811792" y="7319963"/>
            <a:ext cx="3003947" cy="105727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79" name="Shape 76"/>
          <p:cNvSpPr/>
          <p:nvPr/>
        </p:nvSpPr>
        <p:spPr>
          <a:xfrm>
            <a:off x="9811792" y="8367712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0" name="Text 77"/>
          <p:cNvSpPr/>
          <p:nvPr/>
        </p:nvSpPr>
        <p:spPr>
          <a:xfrm>
            <a:off x="9938183" y="7472363"/>
            <a:ext cx="27511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</a:t>
            </a:r>
            <a:endParaRPr lang="en-US" sz="1425" dirty="0"/>
          </a:p>
        </p:txBody>
      </p:sp>
      <p:sp>
        <p:nvSpPr>
          <p:cNvPr id="81" name="Shape 78"/>
          <p:cNvSpPr/>
          <p:nvPr/>
        </p:nvSpPr>
        <p:spPr>
          <a:xfrm>
            <a:off x="12815739" y="8367712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2" name="Text 79"/>
          <p:cNvSpPr/>
          <p:nvPr/>
        </p:nvSpPr>
        <p:spPr>
          <a:xfrm>
            <a:off x="12942129" y="7472363"/>
            <a:ext cx="27511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25" dirty="0"/>
          </a:p>
        </p:txBody>
      </p:sp>
      <p:sp>
        <p:nvSpPr>
          <p:cNvPr id="83" name="Shape 80"/>
          <p:cNvSpPr/>
          <p:nvPr/>
        </p:nvSpPr>
        <p:spPr>
          <a:xfrm>
            <a:off x="15819686" y="8367712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4" name="Text 81"/>
          <p:cNvSpPr/>
          <p:nvPr/>
        </p:nvSpPr>
        <p:spPr>
          <a:xfrm>
            <a:off x="15991136" y="7472363"/>
            <a:ext cx="14021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[Quarters to material P&amp;L impact.]</a:t>
            </a:r>
            <a:endParaRPr lang="en-US" sz="1425" dirty="0"/>
          </a:p>
        </p:txBody>
      </p:sp>
      <p:sp>
        <p:nvSpPr>
          <p:cNvPr id="85" name="Shape 82"/>
          <p:cNvSpPr/>
          <p:nvPr/>
        </p:nvSpPr>
        <p:spPr>
          <a:xfrm>
            <a:off x="800100" y="9424988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6" name="Text 83"/>
          <p:cNvSpPr/>
          <p:nvPr/>
        </p:nvSpPr>
        <p:spPr>
          <a:xfrm>
            <a:off x="971550" y="8529638"/>
            <a:ext cx="446988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[Stakeholder support]</a:t>
            </a:r>
            <a:endParaRPr lang="en-US" sz="1425" dirty="0"/>
          </a:p>
        </p:txBody>
      </p:sp>
      <p:sp>
        <p:nvSpPr>
          <p:cNvPr id="87" name="Shape 84"/>
          <p:cNvSpPr/>
          <p:nvPr/>
        </p:nvSpPr>
        <p:spPr>
          <a:xfrm>
            <a:off x="5472708" y="9424988"/>
            <a:ext cx="133513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8" name="Text 85"/>
          <p:cNvSpPr/>
          <p:nvPr/>
        </p:nvSpPr>
        <p:spPr>
          <a:xfrm>
            <a:off x="5606058" y="8529638"/>
            <a:ext cx="106843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25" dirty="0"/>
          </a:p>
        </p:txBody>
      </p:sp>
      <p:sp>
        <p:nvSpPr>
          <p:cNvPr id="89" name="Shape 86"/>
          <p:cNvSpPr/>
          <p:nvPr/>
        </p:nvSpPr>
        <p:spPr>
          <a:xfrm>
            <a:off x="6807845" y="942498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0" name="Text 87"/>
          <p:cNvSpPr/>
          <p:nvPr/>
        </p:nvSpPr>
        <p:spPr>
          <a:xfrm>
            <a:off x="6934236" y="8529638"/>
            <a:ext cx="27511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</a:t>
            </a:r>
            <a:endParaRPr lang="en-US" sz="1425" dirty="0"/>
          </a:p>
        </p:txBody>
      </p:sp>
      <p:sp>
        <p:nvSpPr>
          <p:cNvPr id="91" name="Shape 88"/>
          <p:cNvSpPr/>
          <p:nvPr/>
        </p:nvSpPr>
        <p:spPr>
          <a:xfrm>
            <a:off x="9811792" y="8377238"/>
            <a:ext cx="3003947" cy="105727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92" name="Shape 89"/>
          <p:cNvSpPr/>
          <p:nvPr/>
        </p:nvSpPr>
        <p:spPr>
          <a:xfrm>
            <a:off x="9811792" y="942498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3" name="Text 90"/>
          <p:cNvSpPr/>
          <p:nvPr/>
        </p:nvSpPr>
        <p:spPr>
          <a:xfrm>
            <a:off x="9938183" y="8529638"/>
            <a:ext cx="27511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1425" dirty="0"/>
          </a:p>
        </p:txBody>
      </p:sp>
      <p:sp>
        <p:nvSpPr>
          <p:cNvPr id="94" name="Shape 91"/>
          <p:cNvSpPr/>
          <p:nvPr/>
        </p:nvSpPr>
        <p:spPr>
          <a:xfrm>
            <a:off x="12815739" y="942498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5" name="Text 92"/>
          <p:cNvSpPr/>
          <p:nvPr/>
        </p:nvSpPr>
        <p:spPr>
          <a:xfrm>
            <a:off x="12942129" y="8529638"/>
            <a:ext cx="27511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25" dirty="0"/>
          </a:p>
        </p:txBody>
      </p:sp>
      <p:sp>
        <p:nvSpPr>
          <p:cNvPr id="96" name="Shape 93"/>
          <p:cNvSpPr/>
          <p:nvPr/>
        </p:nvSpPr>
        <p:spPr>
          <a:xfrm>
            <a:off x="15819686" y="94249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7" name="Text 94"/>
          <p:cNvSpPr/>
          <p:nvPr/>
        </p:nvSpPr>
        <p:spPr>
          <a:xfrm>
            <a:off x="15991136" y="8529638"/>
            <a:ext cx="14021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[Board, regulator, employee read.]</a:t>
            </a:r>
            <a:endParaRPr lang="en-US" sz="1425" dirty="0"/>
          </a:p>
        </p:txBody>
      </p:sp>
      <p:sp>
        <p:nvSpPr>
          <p:cNvPr id="98" name="Shape 95"/>
          <p:cNvSpPr/>
          <p:nvPr/>
        </p:nvSpPr>
        <p:spPr>
          <a:xfrm>
            <a:off x="800100" y="9434513"/>
            <a:ext cx="16687800" cy="561975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99" name="Shape 96"/>
          <p:cNvSpPr/>
          <p:nvPr/>
        </p:nvSpPr>
        <p:spPr>
          <a:xfrm>
            <a:off x="800100" y="9986963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0" name="Text 97"/>
          <p:cNvSpPr/>
          <p:nvPr/>
        </p:nvSpPr>
        <p:spPr>
          <a:xfrm>
            <a:off x="971550" y="9586913"/>
            <a:ext cx="446988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score</a:t>
            </a:r>
            <a:endParaRPr lang="en-US" sz="1425" dirty="0"/>
          </a:p>
        </p:txBody>
      </p:sp>
      <p:sp>
        <p:nvSpPr>
          <p:cNvPr id="101" name="Shape 98"/>
          <p:cNvSpPr/>
          <p:nvPr/>
        </p:nvSpPr>
        <p:spPr>
          <a:xfrm>
            <a:off x="5472708" y="9986963"/>
            <a:ext cx="133513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2" name="Text 99"/>
          <p:cNvSpPr/>
          <p:nvPr/>
        </p:nvSpPr>
        <p:spPr>
          <a:xfrm>
            <a:off x="5606058" y="9586913"/>
            <a:ext cx="10684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25" dirty="0"/>
          </a:p>
        </p:txBody>
      </p:sp>
      <p:sp>
        <p:nvSpPr>
          <p:cNvPr id="103" name="Shape 100"/>
          <p:cNvSpPr/>
          <p:nvPr/>
        </p:nvSpPr>
        <p:spPr>
          <a:xfrm>
            <a:off x="6807845" y="9986963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4" name="Text 101"/>
          <p:cNvSpPr/>
          <p:nvPr/>
        </p:nvSpPr>
        <p:spPr>
          <a:xfrm>
            <a:off x="6934236" y="9586913"/>
            <a:ext cx="27511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425" dirty="0"/>
          </a:p>
        </p:txBody>
      </p:sp>
      <p:sp>
        <p:nvSpPr>
          <p:cNvPr id="105" name="Shape 102"/>
          <p:cNvSpPr/>
          <p:nvPr/>
        </p:nvSpPr>
        <p:spPr>
          <a:xfrm>
            <a:off x="9811792" y="9434513"/>
            <a:ext cx="3003947" cy="561975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06" name="Shape 103"/>
          <p:cNvSpPr/>
          <p:nvPr/>
        </p:nvSpPr>
        <p:spPr>
          <a:xfrm>
            <a:off x="9811792" y="9986963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7" name="Text 104"/>
          <p:cNvSpPr/>
          <p:nvPr/>
        </p:nvSpPr>
        <p:spPr>
          <a:xfrm>
            <a:off x="9938183" y="9586913"/>
            <a:ext cx="27511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425" dirty="0"/>
          </a:p>
        </p:txBody>
      </p:sp>
      <p:sp>
        <p:nvSpPr>
          <p:cNvPr id="108" name="Shape 105"/>
          <p:cNvSpPr/>
          <p:nvPr/>
        </p:nvSpPr>
        <p:spPr>
          <a:xfrm>
            <a:off x="12815739" y="9986963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9" name="Text 106"/>
          <p:cNvSpPr/>
          <p:nvPr/>
        </p:nvSpPr>
        <p:spPr>
          <a:xfrm>
            <a:off x="12942129" y="9586913"/>
            <a:ext cx="27511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425" dirty="0"/>
          </a:p>
        </p:txBody>
      </p:sp>
      <p:sp>
        <p:nvSpPr>
          <p:cNvPr id="110" name="Shape 107"/>
          <p:cNvSpPr/>
          <p:nvPr/>
        </p:nvSpPr>
        <p:spPr>
          <a:xfrm>
            <a:off x="15819686" y="998696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1" name="Text 108"/>
          <p:cNvSpPr/>
          <p:nvPr/>
        </p:nvSpPr>
        <p:spPr>
          <a:xfrm>
            <a:off x="15991136" y="9586913"/>
            <a:ext cx="14021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[Out of 3.0.]</a:t>
            </a:r>
            <a:endParaRPr lang="en-US" sz="1425" dirty="0"/>
          </a:p>
        </p:txBody>
      </p:sp>
      <p:sp>
        <p:nvSpPr>
          <p:cNvPr id="112" name="Shape 109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3" name="Text 110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64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239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OPTIONS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TRADEOFFS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case for and against each option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2457450"/>
            <a:ext cx="5384750" cy="6915150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6325" y="2733675"/>
            <a:ext cx="497726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· HOLD &amp; OPTIMISE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6325" y="3057525"/>
            <a:ext cx="497726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79195" y="3286125"/>
            <a:ext cx="480563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[Lowest cash outlay, minimal disruption.]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[Builds on capabilities we already have.]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[Easy to reverse if conditions change.]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76325" y="4371975"/>
            <a:ext cx="497726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79195" y="4600575"/>
            <a:ext cx="480563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[Does not address root cause from diagnosis.]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[Gap to peers continues to widen.]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[Loses option value if competitor moves first.]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51550" y="2457450"/>
            <a:ext cx="5384750" cy="6915150"/>
          </a:xfrm>
          <a:prstGeom prst="roundRect">
            <a:avLst>
              <a:gd name="adj" fmla="val 1061"/>
            </a:avLst>
          </a:prstGeom>
          <a:solidFill>
            <a:srgbClr val="FAF7F1"/>
          </a:solidFill>
          <a:ln w="9525">
            <a:solidFill>
              <a:srgbClr val="E2D3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7775" y="2733675"/>
            <a:ext cx="497726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· REPOSITION &amp; INVEST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727775" y="3057525"/>
            <a:ext cx="497726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30645" y="3286125"/>
            <a:ext cx="480563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[Closes ~70% of the diagnosed gap by FY28.]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[Within capital envelope and risk appetite.]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[Phased — early gates allow course-correction.]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27775" y="4371975"/>
            <a:ext cx="497726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30645" y="4600575"/>
            <a:ext cx="480563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[Requires [N] senior hires within 6 months.]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[Dependent on regulatory sign-off in Q2.]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2103001" y="2457450"/>
            <a:ext cx="5384899" cy="6915150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379226" y="2733675"/>
            <a:ext cx="49774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 · TRANSFORMATIVE BET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2379226" y="3057525"/>
            <a:ext cx="49774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2482096" y="3286125"/>
            <a:ext cx="480577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[Largest upside if it works.]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[Resets the strategic narrative externally.]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379226" y="4067175"/>
            <a:ext cx="49774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2482096" y="4295775"/>
            <a:ext cx="480577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[Outside current risk appetite — board reset needed.]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[Two new capabilities have to land simultaneously.]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[Long time to impact; high reversal cost.]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2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64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239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OPTIONS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Plotted against the two dimensions that matter most, only Option B sits in the win zone</a:t>
            </a:r>
            <a:endParaRPr lang="en-US" sz="3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933700"/>
            <a:ext cx="9423350" cy="64389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756850" y="2933700"/>
            <a:ext cx="6731050" cy="107632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8" name="Shape 4"/>
          <p:cNvSpPr/>
          <p:nvPr/>
        </p:nvSpPr>
        <p:spPr>
          <a:xfrm>
            <a:off x="10756850" y="2933700"/>
            <a:ext cx="38100" cy="1076325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9" name="Text 5"/>
          <p:cNvSpPr/>
          <p:nvPr/>
        </p:nvSpPr>
        <p:spPr>
          <a:xfrm>
            <a:off x="11004500" y="3105150"/>
            <a:ext cx="64620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004500" y="3343275"/>
            <a:ext cx="628374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[Option B is the only choice that sits in the upper-right quadrant: meaningful upside with feasibility we can underwrite today.]</a:t>
            </a:r>
            <a:endParaRPr lang="en-US" sz="1425" dirty="0"/>
          </a:p>
        </p:txBody>
      </p:sp>
      <p:sp>
        <p:nvSpPr>
          <p:cNvPr id="11" name="Text 7"/>
          <p:cNvSpPr/>
          <p:nvPr/>
        </p:nvSpPr>
        <p:spPr>
          <a:xfrm>
            <a:off x="10756850" y="4219575"/>
            <a:ext cx="69329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AXES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756850" y="4533900"/>
            <a:ext cx="693298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at stake </a:t>
            </a:r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3-yr risk-adjusted NPV against the do-nothing case. </a:t>
            </a:r>
            <a:pPr algn="l" indent="0" marL="0">
              <a:lnSpc>
                <a:spcPct val="155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</a:t>
            </a:r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composite of capital fit, capability readiness, and stakeholder support.</a:t>
            </a:r>
            <a:endParaRPr lang="en-US" sz="1275" dirty="0"/>
          </a:p>
        </p:txBody>
      </p:sp>
      <p:sp>
        <p:nvSpPr>
          <p:cNvPr id="13" name="Shape 9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" name="Text 10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64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543300"/>
            <a:ext cx="1648206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562600"/>
            <a:ext cx="1275397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6429375"/>
            <a:ext cx="88296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propose, why this option, what success looks like, and the risks we will manage.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9191625"/>
            <a:ext cx="11799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18159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4859" y="9191625"/>
            <a:ext cx="132159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01703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68403" y="9191625"/>
            <a:ext cx="11599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OPTIONS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23620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90320" y="9191625"/>
            <a:ext cx="20288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RECOMMENDATION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14395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81095" y="9191625"/>
            <a:ext cx="12273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ROADMAP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3730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70430" y="9191625"/>
            <a:ext cx="7603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ASK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64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05903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RECOMMENDATION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RECOMMENDATION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809750"/>
            <a:ext cx="1569720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81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Pursue </a:t>
            </a:r>
            <a:pPr algn="l" indent="0" marL="0">
              <a:lnSpc>
                <a:spcPct val="105000"/>
              </a:lnSpc>
              <a:buNone/>
            </a:pPr>
            <a:r>
              <a:rPr lang="en-US" sz="5400" b="1" spc="-81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— Reposition &amp; invest</a:t>
            </a:r>
            <a:pPr algn="l" indent="0" marL="0">
              <a:lnSpc>
                <a:spcPct val="105000"/>
              </a:lnSpc>
              <a:buNone/>
            </a:pPr>
            <a:r>
              <a:rPr lang="en-US" sz="5400" b="1" spc="-81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starting in </a:t>
            </a:r>
            <a:pPr algn="l" indent="0" marL="0">
              <a:lnSpc>
                <a:spcPct val="105000"/>
              </a:lnSpc>
              <a:buNone/>
            </a:pPr>
            <a:r>
              <a:rPr lang="en-US" sz="5400" b="1" spc="-81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[Q3 FY26]</a:t>
            </a:r>
            <a:pPr algn="l" indent="0" marL="0">
              <a:lnSpc>
                <a:spcPct val="105000"/>
              </a:lnSpc>
              <a:buNone/>
            </a:pPr>
            <a:r>
              <a:rPr lang="en-US" sz="5400" b="1" spc="-81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00100" y="3505200"/>
            <a:ext cx="13735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[One-paragraph elaboration: the shape of the move, the order of operations, and the time horizon over which we will measure success.]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00100" y="4514850"/>
            <a:ext cx="5384750" cy="1333500"/>
          </a:xfrm>
          <a:prstGeom prst="rect">
            <a:avLst/>
          </a:prstGeom>
          <a:solidFill>
            <a:srgbClr val="F6F2EB"/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4514850"/>
            <a:ext cx="38100" cy="1333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9" name="Text 6"/>
          <p:cNvSpPr/>
          <p:nvPr/>
        </p:nvSpPr>
        <p:spPr>
          <a:xfrm>
            <a:off x="1104900" y="4781550"/>
            <a:ext cx="49576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4900" y="5029200"/>
            <a:ext cx="495764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[Two business units, three markets]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[one-line elaboration].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51550" y="4514850"/>
            <a:ext cx="5384750" cy="1333500"/>
          </a:xfrm>
          <a:prstGeom prst="rect">
            <a:avLst/>
          </a:prstGeom>
          <a:solidFill>
            <a:srgbClr val="F6F2EB"/>
          </a:solidFill>
          <a:ln/>
        </p:spPr>
      </p:sp>
      <p:sp>
        <p:nvSpPr>
          <p:cNvPr id="12" name="Shape 9"/>
          <p:cNvSpPr/>
          <p:nvPr/>
        </p:nvSpPr>
        <p:spPr>
          <a:xfrm>
            <a:off x="6451550" y="4514850"/>
            <a:ext cx="38100" cy="1333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3" name="Text 10"/>
          <p:cNvSpPr/>
          <p:nvPr/>
        </p:nvSpPr>
        <p:spPr>
          <a:xfrm>
            <a:off x="6756350" y="4781550"/>
            <a:ext cx="49576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756350" y="5029200"/>
            <a:ext cx="495764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[RM XXm over 3 years]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[phased; gated; revisable at each gate].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2103001" y="4514850"/>
            <a:ext cx="5384899" cy="1333500"/>
          </a:xfrm>
          <a:prstGeom prst="rect">
            <a:avLst/>
          </a:prstGeom>
          <a:solidFill>
            <a:srgbClr val="F6F2EB"/>
          </a:solidFill>
          <a:ln/>
        </p:spPr>
      </p:sp>
      <p:sp>
        <p:nvSpPr>
          <p:cNvPr id="16" name="Shape 13"/>
          <p:cNvSpPr/>
          <p:nvPr/>
        </p:nvSpPr>
        <p:spPr>
          <a:xfrm>
            <a:off x="12103001" y="4514850"/>
            <a:ext cx="38100" cy="1333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7" name="Text 14"/>
          <p:cNvSpPr/>
          <p:nvPr/>
        </p:nvSpPr>
        <p:spPr>
          <a:xfrm>
            <a:off x="12407801" y="4781550"/>
            <a:ext cx="49578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2407801" y="5029200"/>
            <a:ext cx="495780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 years to full run-rate]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[first impact visible in Q4 FY26].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0" name="Text 17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64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05903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RECOMMENDATION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OPTION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reasons we are confident this is the right call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3638550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" y="2686050"/>
            <a:ext cx="647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676400" y="2686050"/>
            <a:ext cx="614290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[Addresses the root cause we identified in diagnosis]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7945189" y="2743200"/>
            <a:ext cx="982899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[Specifically, it targets Drivers A and B, which together account for ~80% of the gap. The other options leave Driver A untouched.]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800100" y="507682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" y="4124325"/>
            <a:ext cx="647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1676400" y="4124325"/>
            <a:ext cx="614290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[Stays within the capital envelope and risk appetite]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7945189" y="4181475"/>
            <a:ext cx="982899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[Total investment of [RM XXm] is within the [RM XXm] envelope. Risk profile is consistent with the appetite statement reaffirmed in the [date] board meeting.]</a:t>
            </a:r>
            <a:endParaRPr lang="en-US" sz="1425" dirty="0"/>
          </a:p>
        </p:txBody>
      </p:sp>
      <p:sp>
        <p:nvSpPr>
          <p:cNvPr id="14" name="Text 11"/>
          <p:cNvSpPr/>
          <p:nvPr/>
        </p:nvSpPr>
        <p:spPr>
          <a:xfrm>
            <a:off x="800100" y="5562600"/>
            <a:ext cx="647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1676400" y="5562600"/>
            <a:ext cx="614290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[Reversible at well-defined gates — we are not locked in]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7945189" y="5619750"/>
            <a:ext cx="98289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[Three formal gates at month 6, 12, and 18. At each gate, we can scale, hold, or unwind based on pre-agreed KPIs.]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8" name="Text 15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64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05903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RECOMMENDATION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success looks like in numbers — by end of FY28]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2419350"/>
            <a:ext cx="4000500" cy="5905500"/>
          </a:xfrm>
          <a:prstGeom prst="roundRect">
            <a:avLst>
              <a:gd name="adj" fmla="val 1429"/>
            </a:avLst>
          </a:prstGeom>
          <a:solidFill>
            <a:srgbClr val="F6F2EB"/>
          </a:solidFill>
          <a:ln/>
        </p:spPr>
      </p:sp>
      <p:sp>
        <p:nvSpPr>
          <p:cNvPr id="7" name="Text 4"/>
          <p:cNvSpPr/>
          <p:nvPr/>
        </p:nvSpPr>
        <p:spPr>
          <a:xfrm>
            <a:off x="1104900" y="2724150"/>
            <a:ext cx="349262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· REVENUE]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4900" y="2971800"/>
            <a:ext cx="349262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+[XX]</a:t>
            </a:r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1104900" y="3752850"/>
            <a:ext cx="349262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over the period vs. [+X%] in the base case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0" y="2419350"/>
            <a:ext cx="4000500" cy="5905500"/>
          </a:xfrm>
          <a:prstGeom prst="roundRect">
            <a:avLst>
              <a:gd name="adj" fmla="val 1429"/>
            </a:avLst>
          </a:prstGeom>
          <a:solidFill>
            <a:srgbClr val="F6F2EB"/>
          </a:solidFill>
          <a:ln/>
        </p:spPr>
      </p:sp>
      <p:sp>
        <p:nvSpPr>
          <p:cNvPr id="11" name="Text 8"/>
          <p:cNvSpPr/>
          <p:nvPr/>
        </p:nvSpPr>
        <p:spPr>
          <a:xfrm>
            <a:off x="5334000" y="2724150"/>
            <a:ext cx="349262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· MARGIN]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334000" y="2971800"/>
            <a:ext cx="349262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+[XX]</a:t>
            </a:r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bps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5334000" y="3752850"/>
            <a:ext cx="349262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vs. FY25 through [mechanism].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258300" y="2419350"/>
            <a:ext cx="4000500" cy="5905500"/>
          </a:xfrm>
          <a:prstGeom prst="roundRect">
            <a:avLst>
              <a:gd name="adj" fmla="val 1429"/>
            </a:avLst>
          </a:prstGeom>
          <a:solidFill>
            <a:srgbClr val="F6F2EB"/>
          </a:solidFill>
          <a:ln/>
        </p:spPr>
      </p:sp>
      <p:sp>
        <p:nvSpPr>
          <p:cNvPr id="15" name="Text 12"/>
          <p:cNvSpPr/>
          <p:nvPr/>
        </p:nvSpPr>
        <p:spPr>
          <a:xfrm>
            <a:off x="9563100" y="2724150"/>
            <a:ext cx="349262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· SHARE]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563100" y="2971800"/>
            <a:ext cx="349262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+[X]</a:t>
            </a:r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pts</a:t>
            </a:r>
            <a:endParaRPr lang="en-US" sz="5400" dirty="0"/>
          </a:p>
        </p:txBody>
      </p:sp>
      <p:sp>
        <p:nvSpPr>
          <p:cNvPr id="17" name="Text 14"/>
          <p:cNvSpPr/>
          <p:nvPr/>
        </p:nvSpPr>
        <p:spPr>
          <a:xfrm>
            <a:off x="9563100" y="3752850"/>
            <a:ext cx="349262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gain in [target segment].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3487400" y="2419350"/>
            <a:ext cx="4000500" cy="5905500"/>
          </a:xfrm>
          <a:prstGeom prst="roundRect">
            <a:avLst>
              <a:gd name="adj" fmla="val 1429"/>
            </a:avLst>
          </a:prstGeom>
          <a:solidFill>
            <a:srgbClr val="12102C"/>
          </a:solidFill>
          <a:ln/>
        </p:spPr>
      </p:sp>
      <p:sp>
        <p:nvSpPr>
          <p:cNvPr id="19" name="Text 16"/>
          <p:cNvSpPr/>
          <p:nvPr/>
        </p:nvSpPr>
        <p:spPr>
          <a:xfrm>
            <a:off x="13792200" y="2724150"/>
            <a:ext cx="349262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NPV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3792200" y="2971800"/>
            <a:ext cx="349262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[XXX]</a:t>
            </a:r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5400" dirty="0"/>
          </a:p>
        </p:txBody>
      </p:sp>
      <p:sp>
        <p:nvSpPr>
          <p:cNvPr id="21" name="Text 18"/>
          <p:cNvSpPr/>
          <p:nvPr/>
        </p:nvSpPr>
        <p:spPr>
          <a:xfrm>
            <a:off x="13792200" y="3752850"/>
            <a:ext cx="349262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Risk-adjusted at [X%] WACC vs. [RM XXm] for Option A.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0100" y="8553450"/>
            <a:ext cx="16687800" cy="81915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23" name="Shape 20"/>
          <p:cNvSpPr/>
          <p:nvPr/>
        </p:nvSpPr>
        <p:spPr>
          <a:xfrm>
            <a:off x="800100" y="8553450"/>
            <a:ext cx="38100" cy="81915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24" name="Text 21"/>
          <p:cNvSpPr/>
          <p:nvPr/>
        </p:nvSpPr>
        <p:spPr>
          <a:xfrm>
            <a:off x="1047750" y="8724900"/>
            <a:ext cx="167175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THESE NUMBERS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47750" y="8963025"/>
            <a:ext cx="98141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KPIs are measured against an FY2025 baseline and the same forecast horizon. Sensitivities are in the appendix.</a:t>
            </a:r>
            <a:endParaRPr lang="en-US" sz="1425" dirty="0"/>
          </a:p>
        </p:txBody>
      </p:sp>
      <p:sp>
        <p:nvSpPr>
          <p:cNvPr id="26" name="Shape 23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800100" y="9410700"/>
            <a:ext cx="6032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[Strategic plan model, FY2026]. Sensitivities ±[X]% on volume, ±[X]% on mix. See Appendix p. [XX].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64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05903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RECOMMENDATION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[Five material risks — each has a named owner and a defined trigger]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2938463"/>
            <a:ext cx="3671441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7" name="Text 4"/>
          <p:cNvSpPr/>
          <p:nvPr/>
        </p:nvSpPr>
        <p:spPr>
          <a:xfrm>
            <a:off x="971550" y="2609850"/>
            <a:ext cx="343868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471541" y="2938463"/>
            <a:ext cx="166881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9" name="Text 6"/>
          <p:cNvSpPr/>
          <p:nvPr/>
        </p:nvSpPr>
        <p:spPr>
          <a:xfrm>
            <a:off x="4604891" y="2609850"/>
            <a:ext cx="14021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40351" y="2938463"/>
            <a:ext cx="166881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1" name="Text 8"/>
          <p:cNvSpPr/>
          <p:nvPr/>
        </p:nvSpPr>
        <p:spPr>
          <a:xfrm>
            <a:off x="6273701" y="2609850"/>
            <a:ext cx="14021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809161" y="2938463"/>
            <a:ext cx="4672608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3" name="Text 10"/>
          <p:cNvSpPr/>
          <p:nvPr/>
        </p:nvSpPr>
        <p:spPr>
          <a:xfrm>
            <a:off x="7980611" y="2609850"/>
            <a:ext cx="446988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2481768" y="2938463"/>
            <a:ext cx="3003947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5" name="Text 12"/>
          <p:cNvSpPr/>
          <p:nvPr/>
        </p:nvSpPr>
        <p:spPr>
          <a:xfrm>
            <a:off x="12653218" y="2609850"/>
            <a:ext cx="275116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/ EARLY WARNING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5485715" y="2938463"/>
            <a:ext cx="2002631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7" name="Text 14"/>
          <p:cNvSpPr/>
          <p:nvPr/>
        </p:nvSpPr>
        <p:spPr>
          <a:xfrm>
            <a:off x="15657165" y="2609850"/>
            <a:ext cx="173593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0100" y="3729038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9" name="Text 16"/>
          <p:cNvSpPr/>
          <p:nvPr/>
        </p:nvSpPr>
        <p:spPr>
          <a:xfrm>
            <a:off x="971550" y="3100388"/>
            <a:ext cx="343868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[Risk 1 · Regulatory delay]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471541" y="37290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5015359" y="3105150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20134" y="3171825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140351" y="37290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4" name="Shape 21"/>
          <p:cNvSpPr/>
          <p:nvPr/>
        </p:nvSpPr>
        <p:spPr>
          <a:xfrm>
            <a:off x="6671072" y="3105150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F8E6E3"/>
          </a:solidFill>
          <a:ln w="9525">
            <a:solidFill>
              <a:srgbClr val="ECCA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75847" y="3171825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8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809161" y="3729038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7980611" y="3100388"/>
            <a:ext cx="446988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[Pre-engage regulator in [Q1] · provide draft framework · parallel-track approvals.]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12481768" y="372903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Text 26"/>
          <p:cNvSpPr/>
          <p:nvPr/>
        </p:nvSpPr>
        <p:spPr>
          <a:xfrm>
            <a:off x="12653218" y="3100388"/>
            <a:ext cx="275116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[Slip in submission gate by &gt; 2 weeks.]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15485715" y="3729038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1" name="Text 28"/>
          <p:cNvSpPr/>
          <p:nvPr/>
        </p:nvSpPr>
        <p:spPr>
          <a:xfrm>
            <a:off x="15657165" y="3100388"/>
            <a:ext cx="173593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[CRO]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800100" y="4519613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3" name="Text 30"/>
          <p:cNvSpPr/>
          <p:nvPr/>
        </p:nvSpPr>
        <p:spPr>
          <a:xfrm>
            <a:off x="971550" y="3890963"/>
            <a:ext cx="343868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[Risk 2 · Capability gap]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4471541" y="451961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5" name="Shape 32"/>
          <p:cNvSpPr/>
          <p:nvPr/>
        </p:nvSpPr>
        <p:spPr>
          <a:xfrm>
            <a:off x="5002262" y="3895725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F8E6E3"/>
          </a:solidFill>
          <a:ln w="9525">
            <a:solidFill>
              <a:srgbClr val="ECCA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07037" y="3962400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8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140351" y="451961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8" name="Shape 35"/>
          <p:cNvSpPr/>
          <p:nvPr/>
        </p:nvSpPr>
        <p:spPr>
          <a:xfrm>
            <a:off x="6684169" y="389572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788944" y="396240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809161" y="4519613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1" name="Text 38"/>
          <p:cNvSpPr/>
          <p:nvPr/>
        </p:nvSpPr>
        <p:spPr>
          <a:xfrm>
            <a:off x="7980611" y="3890963"/>
            <a:ext cx="446988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[Targeted senior hires · interim partner with [firm] · in-house academy stream.]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12481768" y="4519613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3" name="Text 40"/>
          <p:cNvSpPr/>
          <p:nvPr/>
        </p:nvSpPr>
        <p:spPr>
          <a:xfrm>
            <a:off x="12653218" y="3890963"/>
            <a:ext cx="275116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[Hiring &lt; 60% on plan by month 4.]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15485715" y="451961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5" name="Text 42"/>
          <p:cNvSpPr/>
          <p:nvPr/>
        </p:nvSpPr>
        <p:spPr>
          <a:xfrm>
            <a:off x="15657165" y="3890963"/>
            <a:ext cx="173593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[CPO]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800100" y="5310188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7" name="Text 44"/>
          <p:cNvSpPr/>
          <p:nvPr/>
        </p:nvSpPr>
        <p:spPr>
          <a:xfrm>
            <a:off x="971550" y="4681538"/>
            <a:ext cx="343868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[Risk 3 · Competitor pre-emption]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4471541" y="53101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9" name="Shape 46"/>
          <p:cNvSpPr/>
          <p:nvPr/>
        </p:nvSpPr>
        <p:spPr>
          <a:xfrm>
            <a:off x="5015359" y="4686300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120134" y="4752975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6140351" y="53101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2" name="Shape 49"/>
          <p:cNvSpPr/>
          <p:nvPr/>
        </p:nvSpPr>
        <p:spPr>
          <a:xfrm>
            <a:off x="6684169" y="4686300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788944" y="4752975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7809161" y="5310188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5" name="Text 52"/>
          <p:cNvSpPr/>
          <p:nvPr/>
        </p:nvSpPr>
        <p:spPr>
          <a:xfrm>
            <a:off x="7980611" y="4681538"/>
            <a:ext cx="446988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[Compressed pilot in [market] · narrowed scope of phase 1 · stronger anchor partner.]</a:t>
            </a:r>
            <a:endParaRPr lang="en-US" sz="1350" dirty="0"/>
          </a:p>
        </p:txBody>
      </p:sp>
      <p:sp>
        <p:nvSpPr>
          <p:cNvPr id="56" name="Shape 53"/>
          <p:cNvSpPr/>
          <p:nvPr/>
        </p:nvSpPr>
        <p:spPr>
          <a:xfrm>
            <a:off x="12481768" y="531018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7" name="Text 54"/>
          <p:cNvSpPr/>
          <p:nvPr/>
        </p:nvSpPr>
        <p:spPr>
          <a:xfrm>
            <a:off x="12653218" y="4681538"/>
            <a:ext cx="275116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 launches similar offer in &lt; 2 quarters.]</a:t>
            </a:r>
            <a:endParaRPr lang="en-US" sz="1350" dirty="0"/>
          </a:p>
        </p:txBody>
      </p:sp>
      <p:sp>
        <p:nvSpPr>
          <p:cNvPr id="58" name="Shape 55"/>
          <p:cNvSpPr/>
          <p:nvPr/>
        </p:nvSpPr>
        <p:spPr>
          <a:xfrm>
            <a:off x="15485715" y="5310188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9" name="Text 56"/>
          <p:cNvSpPr/>
          <p:nvPr/>
        </p:nvSpPr>
        <p:spPr>
          <a:xfrm>
            <a:off x="15657165" y="4681538"/>
            <a:ext cx="173593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[CCO]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800100" y="6100763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1" name="Text 58"/>
          <p:cNvSpPr/>
          <p:nvPr/>
        </p:nvSpPr>
        <p:spPr>
          <a:xfrm>
            <a:off x="971550" y="5472113"/>
            <a:ext cx="343868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[Risk 4 · Cost overrun]</a:t>
            </a:r>
            <a:endParaRPr lang="en-US" sz="1350" dirty="0"/>
          </a:p>
        </p:txBody>
      </p:sp>
      <p:sp>
        <p:nvSpPr>
          <p:cNvPr id="62" name="Shape 59"/>
          <p:cNvSpPr/>
          <p:nvPr/>
        </p:nvSpPr>
        <p:spPr>
          <a:xfrm>
            <a:off x="4471541" y="610076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3" name="Shape 60"/>
          <p:cNvSpPr/>
          <p:nvPr/>
        </p:nvSpPr>
        <p:spPr>
          <a:xfrm>
            <a:off x="5015359" y="547687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120134" y="554355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6140351" y="610076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6" name="Shape 63"/>
          <p:cNvSpPr/>
          <p:nvPr/>
        </p:nvSpPr>
        <p:spPr>
          <a:xfrm>
            <a:off x="6684169" y="547687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788944" y="554355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7809161" y="6100763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9" name="Text 66"/>
          <p:cNvSpPr/>
          <p:nvPr/>
        </p:nvSpPr>
        <p:spPr>
          <a:xfrm>
            <a:off x="7980611" y="5472113"/>
            <a:ext cx="446988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[Quarterly stage-gate review with CFO · 15% contingency held centrally · fixed-fee vendor structure.]</a:t>
            </a:r>
            <a:endParaRPr lang="en-US" sz="1350" dirty="0"/>
          </a:p>
        </p:txBody>
      </p:sp>
      <p:sp>
        <p:nvSpPr>
          <p:cNvPr id="70" name="Shape 67"/>
          <p:cNvSpPr/>
          <p:nvPr/>
        </p:nvSpPr>
        <p:spPr>
          <a:xfrm>
            <a:off x="12481768" y="6100763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1" name="Text 68"/>
          <p:cNvSpPr/>
          <p:nvPr/>
        </p:nvSpPr>
        <p:spPr>
          <a:xfrm>
            <a:off x="12653218" y="5472113"/>
            <a:ext cx="275116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[Forecast spend &gt; envelope at gate 1.]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15485715" y="610076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3" name="Text 70"/>
          <p:cNvSpPr/>
          <p:nvPr/>
        </p:nvSpPr>
        <p:spPr>
          <a:xfrm>
            <a:off x="15657165" y="5472113"/>
            <a:ext cx="173593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[CFO]</a:t>
            </a:r>
            <a:endParaRPr lang="en-US" sz="1350" dirty="0"/>
          </a:p>
        </p:txBody>
      </p:sp>
      <p:sp>
        <p:nvSpPr>
          <p:cNvPr id="74" name="Shape 71"/>
          <p:cNvSpPr/>
          <p:nvPr/>
        </p:nvSpPr>
        <p:spPr>
          <a:xfrm>
            <a:off x="800100" y="6891338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5" name="Text 72"/>
          <p:cNvSpPr/>
          <p:nvPr/>
        </p:nvSpPr>
        <p:spPr>
          <a:xfrm>
            <a:off x="971550" y="6262688"/>
            <a:ext cx="343868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[Risk 5 · Reputational exposure]</a:t>
            </a:r>
            <a:endParaRPr lang="en-US" sz="1350" dirty="0"/>
          </a:p>
        </p:txBody>
      </p:sp>
      <p:sp>
        <p:nvSpPr>
          <p:cNvPr id="76" name="Shape 73"/>
          <p:cNvSpPr/>
          <p:nvPr/>
        </p:nvSpPr>
        <p:spPr>
          <a:xfrm>
            <a:off x="4471541" y="68913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7" name="Shape 74"/>
          <p:cNvSpPr/>
          <p:nvPr/>
        </p:nvSpPr>
        <p:spPr>
          <a:xfrm>
            <a:off x="5025628" y="6267450"/>
            <a:ext cx="560636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130403" y="6334125"/>
            <a:ext cx="3510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50" dirty="0"/>
          </a:p>
        </p:txBody>
      </p:sp>
      <p:sp>
        <p:nvSpPr>
          <p:cNvPr id="79" name="Shape 76"/>
          <p:cNvSpPr/>
          <p:nvPr/>
        </p:nvSpPr>
        <p:spPr>
          <a:xfrm>
            <a:off x="6140351" y="68913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0" name="Shape 77"/>
          <p:cNvSpPr/>
          <p:nvPr/>
        </p:nvSpPr>
        <p:spPr>
          <a:xfrm>
            <a:off x="6671072" y="6267450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F8E6E3"/>
          </a:solidFill>
          <a:ln w="9525">
            <a:solidFill>
              <a:srgbClr val="ECCAC4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775847" y="6334125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8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82" name="Shape 79"/>
          <p:cNvSpPr/>
          <p:nvPr/>
        </p:nvSpPr>
        <p:spPr>
          <a:xfrm>
            <a:off x="7809161" y="6891338"/>
            <a:ext cx="467260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3" name="Text 80"/>
          <p:cNvSpPr/>
          <p:nvPr/>
        </p:nvSpPr>
        <p:spPr>
          <a:xfrm>
            <a:off x="7980611" y="6262688"/>
            <a:ext cx="446988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comms plan signed off ahead of launch · proactive press strategy · scenario rehearsal.]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12481768" y="689133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5" name="Text 82"/>
          <p:cNvSpPr/>
          <p:nvPr/>
        </p:nvSpPr>
        <p:spPr>
          <a:xfrm>
            <a:off x="12653218" y="6262688"/>
            <a:ext cx="275116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[NPS in pilot drops &gt; 5 points.]</a:t>
            </a:r>
            <a:endParaRPr lang="en-US" sz="1350" dirty="0"/>
          </a:p>
        </p:txBody>
      </p:sp>
      <p:sp>
        <p:nvSpPr>
          <p:cNvPr id="86" name="Shape 83"/>
          <p:cNvSpPr/>
          <p:nvPr/>
        </p:nvSpPr>
        <p:spPr>
          <a:xfrm>
            <a:off x="15485715" y="6891338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7" name="Text 84"/>
          <p:cNvSpPr/>
          <p:nvPr/>
        </p:nvSpPr>
        <p:spPr>
          <a:xfrm>
            <a:off x="15657165" y="6262688"/>
            <a:ext cx="173593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[CMO]</a:t>
            </a:r>
            <a:endParaRPr lang="en-US" sz="1350" dirty="0"/>
          </a:p>
        </p:txBody>
      </p:sp>
      <p:sp>
        <p:nvSpPr>
          <p:cNvPr id="88" name="Shape 85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9" name="Text 86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64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05903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RECOMMENDATION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— what we bring to this move and what we have to manage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2457450"/>
            <a:ext cx="8258175" cy="33718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5819775"/>
            <a:ext cx="825817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457450"/>
            <a:ext cx="8258175" cy="38100"/>
          </a:xfrm>
          <a:prstGeom prst="rect">
            <a:avLst/>
          </a:prstGeom>
          <a:solidFill>
            <a:srgbClr val="2F8F5F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2457450"/>
            <a:ext cx="9525" cy="337185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" name="Shape 7"/>
          <p:cNvSpPr/>
          <p:nvPr/>
        </p:nvSpPr>
        <p:spPr>
          <a:xfrm>
            <a:off x="9048750" y="2457450"/>
            <a:ext cx="9525" cy="337185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" name="Text 8"/>
          <p:cNvSpPr/>
          <p:nvPr/>
        </p:nvSpPr>
        <p:spPr>
          <a:xfrm>
            <a:off x="1076325" y="2762250"/>
            <a:ext cx="793689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68" kern="0" dirty="0">
                <a:solidFill>
                  <a:srgbClr val="2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34427" y="3095625"/>
            <a:ext cx="772382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13347" indent="-113347">
              <a:lnSpc>
                <a:spcPct val="15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[Capability or asset that supports the move.]</a:t>
            </a:r>
            <a:endParaRPr lang="en-US" sz="1275" dirty="0"/>
          </a:p>
          <a:p>
            <a:pPr algn="l" marL="113347" indent="-113347">
              <a:lnSpc>
                <a:spcPct val="15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[Existing customer / channel advantage.]</a:t>
            </a:r>
            <a:endParaRPr lang="en-US" sz="1275" dirty="0"/>
          </a:p>
          <a:p>
            <a:pPr algn="l" marL="113347" indent="-113347">
              <a:lnSpc>
                <a:spcPct val="15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[Balance-sheet strength to fund the investment.]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9229725" y="2457450"/>
            <a:ext cx="8258175" cy="33718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9229725" y="5819775"/>
            <a:ext cx="825817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" name="Shape 12"/>
          <p:cNvSpPr/>
          <p:nvPr/>
        </p:nvSpPr>
        <p:spPr>
          <a:xfrm>
            <a:off x="9229725" y="2457450"/>
            <a:ext cx="8258175" cy="3810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6" name="Shape 13"/>
          <p:cNvSpPr/>
          <p:nvPr/>
        </p:nvSpPr>
        <p:spPr>
          <a:xfrm>
            <a:off x="9229725" y="2457450"/>
            <a:ext cx="9525" cy="337185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7" name="Shape 14"/>
          <p:cNvSpPr/>
          <p:nvPr/>
        </p:nvSpPr>
        <p:spPr>
          <a:xfrm>
            <a:off x="17478375" y="2457450"/>
            <a:ext cx="9525" cy="337185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8" name="Text 15"/>
          <p:cNvSpPr/>
          <p:nvPr/>
        </p:nvSpPr>
        <p:spPr>
          <a:xfrm>
            <a:off x="9505950" y="2762250"/>
            <a:ext cx="793689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68" kern="0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564053" y="3095625"/>
            <a:ext cx="772382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13347" indent="-113347">
              <a:lnSpc>
                <a:spcPct val="15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[Capability gap we will need to close.]</a:t>
            </a:r>
            <a:endParaRPr lang="en-US" sz="1275" dirty="0"/>
          </a:p>
          <a:p>
            <a:pPr algn="l" marL="113347" indent="-113347">
              <a:lnSpc>
                <a:spcPct val="15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[Process or systems debt that slows execution.]</a:t>
            </a:r>
            <a:endParaRPr lang="en-US" sz="1275" dirty="0"/>
          </a:p>
          <a:p>
            <a:pPr algn="l" marL="113347" indent="-113347">
              <a:lnSpc>
                <a:spcPct val="15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[Talent depth in [discipline].]</a:t>
            </a:r>
            <a:endParaRPr lang="en-US" sz="1275" dirty="0"/>
          </a:p>
        </p:txBody>
      </p:sp>
      <p:sp>
        <p:nvSpPr>
          <p:cNvPr id="20" name="Shape 17"/>
          <p:cNvSpPr/>
          <p:nvPr/>
        </p:nvSpPr>
        <p:spPr>
          <a:xfrm>
            <a:off x="800100" y="6000750"/>
            <a:ext cx="8258175" cy="33718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800100" y="9363075"/>
            <a:ext cx="825817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2" name="Shape 19"/>
          <p:cNvSpPr/>
          <p:nvPr/>
        </p:nvSpPr>
        <p:spPr>
          <a:xfrm>
            <a:off x="800100" y="6000750"/>
            <a:ext cx="8258175" cy="381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23" name="Shape 20"/>
          <p:cNvSpPr/>
          <p:nvPr/>
        </p:nvSpPr>
        <p:spPr>
          <a:xfrm>
            <a:off x="800100" y="6000750"/>
            <a:ext cx="9525" cy="337185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4" name="Shape 21"/>
          <p:cNvSpPr/>
          <p:nvPr/>
        </p:nvSpPr>
        <p:spPr>
          <a:xfrm>
            <a:off x="9048750" y="6000750"/>
            <a:ext cx="9525" cy="337185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2"/>
          <p:cNvSpPr/>
          <p:nvPr/>
        </p:nvSpPr>
        <p:spPr>
          <a:xfrm>
            <a:off x="1076325" y="6305550"/>
            <a:ext cx="793689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68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134427" y="6638925"/>
            <a:ext cx="772382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13347" indent="-113347">
              <a:lnSpc>
                <a:spcPct val="15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[External shift that creates a tailwind.]</a:t>
            </a:r>
            <a:endParaRPr lang="en-US" sz="1275" dirty="0"/>
          </a:p>
          <a:p>
            <a:pPr algn="l" marL="113347" indent="-113347">
              <a:lnSpc>
                <a:spcPct val="15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[Adjacent customer need we can serve.]</a:t>
            </a:r>
            <a:endParaRPr lang="en-US" sz="1275" dirty="0"/>
          </a:p>
          <a:p>
            <a:pPr algn="l" marL="113347" indent="-113347">
              <a:lnSpc>
                <a:spcPct val="15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[Regulatory or policy opening.]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9229725" y="6000750"/>
            <a:ext cx="8258175" cy="33718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9229725" y="9363075"/>
            <a:ext cx="825817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Shape 26"/>
          <p:cNvSpPr/>
          <p:nvPr/>
        </p:nvSpPr>
        <p:spPr>
          <a:xfrm>
            <a:off x="9229725" y="6000750"/>
            <a:ext cx="8258175" cy="38100"/>
          </a:xfrm>
          <a:prstGeom prst="rect">
            <a:avLst/>
          </a:prstGeom>
          <a:solidFill>
            <a:srgbClr val="4C4D4C"/>
          </a:solidFill>
          <a:ln/>
        </p:spPr>
      </p:sp>
      <p:sp>
        <p:nvSpPr>
          <p:cNvPr id="30" name="Shape 27"/>
          <p:cNvSpPr/>
          <p:nvPr/>
        </p:nvSpPr>
        <p:spPr>
          <a:xfrm>
            <a:off x="9229725" y="6000750"/>
            <a:ext cx="9525" cy="337185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1" name="Shape 28"/>
          <p:cNvSpPr/>
          <p:nvPr/>
        </p:nvSpPr>
        <p:spPr>
          <a:xfrm>
            <a:off x="17478375" y="6000750"/>
            <a:ext cx="9525" cy="337185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2" name="Text 29"/>
          <p:cNvSpPr/>
          <p:nvPr/>
        </p:nvSpPr>
        <p:spPr>
          <a:xfrm>
            <a:off x="9505950" y="6305550"/>
            <a:ext cx="793689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68" kern="0" dirty="0">
                <a:solidFill>
                  <a:srgbClr val="4C4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9564053" y="6638925"/>
            <a:ext cx="772382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13347" indent="-113347">
              <a:lnSpc>
                <a:spcPct val="15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 move that erodes the window.]</a:t>
            </a:r>
            <a:endParaRPr lang="en-US" sz="1275" dirty="0"/>
          </a:p>
          <a:p>
            <a:pPr algn="l" marL="113347" indent="-113347">
              <a:lnSpc>
                <a:spcPct val="15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[Macro or FX scenario that compresses returns.]</a:t>
            </a:r>
            <a:endParaRPr lang="en-US" sz="1275" dirty="0"/>
          </a:p>
          <a:p>
            <a:pPr algn="l" marL="113347" indent="-113347">
              <a:lnSpc>
                <a:spcPct val="15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[Substitute product / channel.]</a:t>
            </a:r>
            <a:endParaRPr lang="en-US" sz="1275" dirty="0"/>
          </a:p>
        </p:txBody>
      </p:sp>
      <p:sp>
        <p:nvSpPr>
          <p:cNvPr id="34" name="Shape 31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5" name="Text 32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64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543300"/>
            <a:ext cx="1648206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562600"/>
            <a:ext cx="1275397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6429375"/>
            <a:ext cx="88296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deliver — phases, workstreams, milestones and accountabilities.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9191625"/>
            <a:ext cx="11799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18159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4859" y="9191625"/>
            <a:ext cx="132159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01703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68403" y="9191625"/>
            <a:ext cx="11599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OPTIONS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23620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90320" y="9191625"/>
            <a:ext cx="19576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RECOMMENDATION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43255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09955" y="9191625"/>
            <a:ext cx="127694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ROADMAP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82150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48850" y="9191625"/>
            <a:ext cx="222870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CORPORATE EXERCISE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172801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439501" y="9191625"/>
            <a:ext cx="21138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INDUSTRY &amp; MARKET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648557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915257" y="9191625"/>
            <a:ext cx="76066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ASK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64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913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ROADMAP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four-phase plan — diagnose, design, deliver, scale — across [24] months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2457450"/>
            <a:ext cx="4029075" cy="691515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2457450"/>
            <a:ext cx="4029075" cy="381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8" name="Shape 5"/>
          <p:cNvSpPr/>
          <p:nvPr/>
        </p:nvSpPr>
        <p:spPr>
          <a:xfrm>
            <a:off x="1028700" y="2724150"/>
            <a:ext cx="419100" cy="419100"/>
          </a:xfrm>
          <a:prstGeom prst="ellipse">
            <a:avLst/>
          </a:prstGeom>
          <a:solidFill>
            <a:srgbClr val="12102C"/>
          </a:solidFill>
          <a:ln/>
        </p:spPr>
      </p:sp>
      <p:sp>
        <p:nvSpPr>
          <p:cNvPr id="9" name="Text 6"/>
          <p:cNvSpPr/>
          <p:nvPr/>
        </p:nvSpPr>
        <p:spPr>
          <a:xfrm>
            <a:off x="990600" y="27241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094708" y="2886075"/>
            <a:ext cx="5820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M0–M3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28700" y="3276600"/>
            <a:ext cx="36790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Mobilise &amp; diagnose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28700" y="3724275"/>
            <a:ext cx="36790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programme office, baseline KPIs, finalise scope, secure quick wins.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28700" y="8105775"/>
            <a:ext cx="3679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9500" y="8315325"/>
            <a:ext cx="3597275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[Programme charter signed]</a:t>
            </a:r>
            <a:endParaRPr lang="en-US" sz="105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[Baseline KPI dashboard]</a:t>
            </a:r>
            <a:endParaRPr lang="en-US" sz="105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[Quick-win backlog]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19675" y="2457450"/>
            <a:ext cx="4029075" cy="691515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16" name="Shape 13"/>
          <p:cNvSpPr/>
          <p:nvPr/>
        </p:nvSpPr>
        <p:spPr>
          <a:xfrm>
            <a:off x="5019675" y="2457450"/>
            <a:ext cx="4029075" cy="381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7" name="Shape 14"/>
          <p:cNvSpPr/>
          <p:nvPr/>
        </p:nvSpPr>
        <p:spPr>
          <a:xfrm>
            <a:off x="5248275" y="2724150"/>
            <a:ext cx="419100" cy="419100"/>
          </a:xfrm>
          <a:prstGeom prst="ellipse">
            <a:avLst/>
          </a:prstGeom>
          <a:solidFill>
            <a:srgbClr val="12102C"/>
          </a:solidFill>
          <a:ln/>
        </p:spPr>
      </p:sp>
      <p:sp>
        <p:nvSpPr>
          <p:cNvPr id="18" name="Text 15"/>
          <p:cNvSpPr/>
          <p:nvPr/>
        </p:nvSpPr>
        <p:spPr>
          <a:xfrm>
            <a:off x="5210175" y="27241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12051" y="2886075"/>
            <a:ext cx="5842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M4–M9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248275" y="3276600"/>
            <a:ext cx="36790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operating model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248275" y="3724275"/>
            <a:ext cx="36790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future-state processes, capability blueprint, partner shortlist, tech architecture.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248275" y="8105775"/>
            <a:ext cx="3679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299075" y="8315325"/>
            <a:ext cx="3597275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 operating model]</a:t>
            </a:r>
            <a:endParaRPr lang="en-US" sz="105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[Partner agreements]</a:t>
            </a:r>
            <a:endParaRPr lang="en-US" sz="105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[Tech architecture]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239250" y="2457450"/>
            <a:ext cx="4029075" cy="6915150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5" name="Shape 22"/>
          <p:cNvSpPr/>
          <p:nvPr/>
        </p:nvSpPr>
        <p:spPr>
          <a:xfrm>
            <a:off x="9467850" y="2686050"/>
            <a:ext cx="419100" cy="419100"/>
          </a:xfrm>
          <a:prstGeom prst="ellipse">
            <a:avLst/>
          </a:prstGeom>
          <a:solidFill>
            <a:srgbClr val="A27C49"/>
          </a:solidFill>
          <a:ln/>
        </p:spPr>
      </p:sp>
      <p:sp>
        <p:nvSpPr>
          <p:cNvPr id="26" name="Text 23"/>
          <p:cNvSpPr/>
          <p:nvPr/>
        </p:nvSpPr>
        <p:spPr>
          <a:xfrm>
            <a:off x="9429750" y="26860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386221" y="2847975"/>
            <a:ext cx="72970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M10–M18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467850" y="3238500"/>
            <a:ext cx="36790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pilot, then expand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467850" y="3686175"/>
            <a:ext cx="36790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in [lead market], stabilise, then roll out to [next two markets] in waves.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467850" y="8105775"/>
            <a:ext cx="3679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518650" y="8315325"/>
            <a:ext cx="3597275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[Pilot live in lead market]</a:t>
            </a:r>
            <a:endParaRPr lang="en-US" sz="105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[Wave-2 launch readiness]</a:t>
            </a:r>
            <a:endParaRPr lang="en-US" sz="105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[NPS &amp; unit-economics proven]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3458825" y="2457450"/>
            <a:ext cx="4029075" cy="691515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33" name="Shape 30"/>
          <p:cNvSpPr/>
          <p:nvPr/>
        </p:nvSpPr>
        <p:spPr>
          <a:xfrm>
            <a:off x="13458825" y="2457450"/>
            <a:ext cx="4029075" cy="381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34" name="Shape 31"/>
          <p:cNvSpPr/>
          <p:nvPr/>
        </p:nvSpPr>
        <p:spPr>
          <a:xfrm>
            <a:off x="13687425" y="2724150"/>
            <a:ext cx="419100" cy="419100"/>
          </a:xfrm>
          <a:prstGeom prst="ellipse">
            <a:avLst/>
          </a:prstGeom>
          <a:solidFill>
            <a:srgbClr val="12102C"/>
          </a:solidFill>
          <a:ln/>
        </p:spPr>
      </p:sp>
      <p:sp>
        <p:nvSpPr>
          <p:cNvPr id="35" name="Text 32"/>
          <p:cNvSpPr/>
          <p:nvPr/>
        </p:nvSpPr>
        <p:spPr>
          <a:xfrm>
            <a:off x="13649325" y="27241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6591657" y="2886075"/>
            <a:ext cx="7438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M19–M24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3687425" y="3276600"/>
            <a:ext cx="36790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embed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3687425" y="3724275"/>
            <a:ext cx="36790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rollout, hand-off to BAU, retire programme overheads, lock in BAU governance.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3687425" y="8105775"/>
            <a:ext cx="3679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3738225" y="8315325"/>
            <a:ext cx="3597275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[Full rollout complete]</a:t>
            </a:r>
            <a:endParaRPr lang="en-US" sz="105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[BAU handover signed]</a:t>
            </a:r>
            <a:endParaRPr lang="en-US" sz="105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[Benefits realisation report]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2" name="Text 39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64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913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ROADMAP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SCHEDULE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workstreams sequenced over [12] months, with two go/no-go gates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2762250"/>
            <a:ext cx="209550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14600"/>
            <a:ext cx="19431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895600" y="2762250"/>
            <a:ext cx="1459230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9" name="Text 6"/>
          <p:cNvSpPr/>
          <p:nvPr/>
        </p:nvSpPr>
        <p:spPr>
          <a:xfrm>
            <a:off x="3067050" y="2514600"/>
            <a:ext cx="11587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263926" y="2514600"/>
            <a:ext cx="11589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60950" y="2514600"/>
            <a:ext cx="11589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657975" y="2514600"/>
            <a:ext cx="11587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854851" y="2514600"/>
            <a:ext cx="11589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051875" y="2514600"/>
            <a:ext cx="11589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248900" y="2514600"/>
            <a:ext cx="11587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45776" y="2514600"/>
            <a:ext cx="11589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2642800" y="2514600"/>
            <a:ext cx="11589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3839825" y="2514600"/>
            <a:ext cx="11587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5036701" y="2514600"/>
            <a:ext cx="11589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6233725" y="2514600"/>
            <a:ext cx="11589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0100" y="3257550"/>
            <a:ext cx="20955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2" name="Text 19"/>
          <p:cNvSpPr/>
          <p:nvPr/>
        </p:nvSpPr>
        <p:spPr>
          <a:xfrm>
            <a:off x="800100" y="2905125"/>
            <a:ext cx="20574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WS1 · Programme office</a:t>
            </a:r>
            <a:endParaRPr lang="en-US" sz="1275" dirty="0"/>
          </a:p>
        </p:txBody>
      </p:sp>
      <p:sp>
        <p:nvSpPr>
          <p:cNvPr id="23" name="Shape 20"/>
          <p:cNvSpPr/>
          <p:nvPr/>
        </p:nvSpPr>
        <p:spPr>
          <a:xfrm>
            <a:off x="2895600" y="2771775"/>
            <a:ext cx="14592300" cy="4953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4" name="Shape 21"/>
          <p:cNvSpPr/>
          <p:nvPr/>
        </p:nvSpPr>
        <p:spPr>
          <a:xfrm>
            <a:off x="2895600" y="3257550"/>
            <a:ext cx="145923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Shape 22"/>
          <p:cNvSpPr/>
          <p:nvPr/>
        </p:nvSpPr>
        <p:spPr>
          <a:xfrm>
            <a:off x="2895600" y="2905125"/>
            <a:ext cx="14820900" cy="247650"/>
          </a:xfrm>
          <a:prstGeom prst="roundRect">
            <a:avLst>
              <a:gd name="adj" fmla="val 11538"/>
            </a:avLst>
          </a:prstGeom>
          <a:solidFill>
            <a:srgbClr val="12102C"/>
          </a:solidFill>
          <a:ln/>
        </p:spPr>
      </p:sp>
      <p:sp>
        <p:nvSpPr>
          <p:cNvPr id="26" name="Text 23"/>
          <p:cNvSpPr/>
          <p:nvPr/>
        </p:nvSpPr>
        <p:spPr>
          <a:xfrm>
            <a:off x="3009900" y="2905125"/>
            <a:ext cx="1503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975" dirty="0"/>
          </a:p>
        </p:txBody>
      </p:sp>
      <p:sp>
        <p:nvSpPr>
          <p:cNvPr id="27" name="Shape 24"/>
          <p:cNvSpPr/>
          <p:nvPr/>
        </p:nvSpPr>
        <p:spPr>
          <a:xfrm>
            <a:off x="800100" y="3752850"/>
            <a:ext cx="20955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8" name="Text 25"/>
          <p:cNvSpPr/>
          <p:nvPr/>
        </p:nvSpPr>
        <p:spPr>
          <a:xfrm>
            <a:off x="800100" y="3400425"/>
            <a:ext cx="20574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WS2 · Operating model</a:t>
            </a:r>
            <a:endParaRPr lang="en-US" sz="1275" dirty="0"/>
          </a:p>
        </p:txBody>
      </p:sp>
      <p:sp>
        <p:nvSpPr>
          <p:cNvPr id="29" name="Shape 26"/>
          <p:cNvSpPr/>
          <p:nvPr/>
        </p:nvSpPr>
        <p:spPr>
          <a:xfrm>
            <a:off x="2895600" y="3267075"/>
            <a:ext cx="14592300" cy="4953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0" name="Shape 27"/>
          <p:cNvSpPr/>
          <p:nvPr/>
        </p:nvSpPr>
        <p:spPr>
          <a:xfrm>
            <a:off x="2895600" y="3752850"/>
            <a:ext cx="145923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1" name="Shape 28"/>
          <p:cNvSpPr/>
          <p:nvPr/>
        </p:nvSpPr>
        <p:spPr>
          <a:xfrm>
            <a:off x="2895600" y="3400425"/>
            <a:ext cx="5087689" cy="247650"/>
          </a:xfrm>
          <a:prstGeom prst="roundRect">
            <a:avLst>
              <a:gd name="adj" fmla="val 11538"/>
            </a:avLst>
          </a:prstGeom>
          <a:solidFill>
            <a:srgbClr val="A27C49"/>
          </a:solidFill>
          <a:ln/>
        </p:spPr>
      </p:sp>
      <p:sp>
        <p:nvSpPr>
          <p:cNvPr id="32" name="Text 29"/>
          <p:cNvSpPr/>
          <p:nvPr/>
        </p:nvSpPr>
        <p:spPr>
          <a:xfrm>
            <a:off x="3009900" y="3400425"/>
            <a:ext cx="5011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975" dirty="0"/>
          </a:p>
        </p:txBody>
      </p:sp>
      <p:sp>
        <p:nvSpPr>
          <p:cNvPr id="33" name="Shape 30"/>
          <p:cNvSpPr/>
          <p:nvPr/>
        </p:nvSpPr>
        <p:spPr>
          <a:xfrm>
            <a:off x="7754689" y="3400425"/>
            <a:ext cx="5087689" cy="247650"/>
          </a:xfrm>
          <a:prstGeom prst="roundRect">
            <a:avLst>
              <a:gd name="adj" fmla="val 11538"/>
            </a:avLst>
          </a:prstGeom>
          <a:solidFill>
            <a:srgbClr val="DBAF63"/>
          </a:solidFill>
          <a:ln/>
        </p:spPr>
      </p:sp>
      <p:sp>
        <p:nvSpPr>
          <p:cNvPr id="34" name="Text 31"/>
          <p:cNvSpPr/>
          <p:nvPr/>
        </p:nvSpPr>
        <p:spPr>
          <a:xfrm>
            <a:off x="7868989" y="3400425"/>
            <a:ext cx="5011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39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975" dirty="0"/>
          </a:p>
        </p:txBody>
      </p:sp>
      <p:sp>
        <p:nvSpPr>
          <p:cNvPr id="35" name="Shape 32"/>
          <p:cNvSpPr/>
          <p:nvPr/>
        </p:nvSpPr>
        <p:spPr>
          <a:xfrm>
            <a:off x="800100" y="4248150"/>
            <a:ext cx="20955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6" name="Text 33"/>
          <p:cNvSpPr/>
          <p:nvPr/>
        </p:nvSpPr>
        <p:spPr>
          <a:xfrm>
            <a:off x="800100" y="3895725"/>
            <a:ext cx="20574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WS3 · Technology</a:t>
            </a:r>
            <a:endParaRPr lang="en-US" sz="1275" dirty="0"/>
          </a:p>
        </p:txBody>
      </p:sp>
      <p:sp>
        <p:nvSpPr>
          <p:cNvPr id="37" name="Shape 34"/>
          <p:cNvSpPr/>
          <p:nvPr/>
        </p:nvSpPr>
        <p:spPr>
          <a:xfrm>
            <a:off x="2895600" y="3762375"/>
            <a:ext cx="14592300" cy="4953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8" name="Shape 35"/>
          <p:cNvSpPr/>
          <p:nvPr/>
        </p:nvSpPr>
        <p:spPr>
          <a:xfrm>
            <a:off x="2895600" y="4248150"/>
            <a:ext cx="145923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9" name="Shape 36"/>
          <p:cNvSpPr/>
          <p:nvPr/>
        </p:nvSpPr>
        <p:spPr>
          <a:xfrm>
            <a:off x="4106614" y="3895725"/>
            <a:ext cx="3876675" cy="247650"/>
          </a:xfrm>
          <a:prstGeom prst="roundRect">
            <a:avLst>
              <a:gd name="adj" fmla="val 11538"/>
            </a:avLst>
          </a:prstGeom>
          <a:solidFill>
            <a:srgbClr val="4C4D4C"/>
          </a:solidFill>
          <a:ln/>
        </p:spPr>
      </p:sp>
      <p:sp>
        <p:nvSpPr>
          <p:cNvPr id="40" name="Text 37"/>
          <p:cNvSpPr/>
          <p:nvPr/>
        </p:nvSpPr>
        <p:spPr>
          <a:xfrm>
            <a:off x="4220914" y="3895725"/>
            <a:ext cx="37643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7754689" y="3895725"/>
            <a:ext cx="6313587" cy="247650"/>
          </a:xfrm>
          <a:prstGeom prst="roundRect">
            <a:avLst>
              <a:gd name="adj" fmla="val 11538"/>
            </a:avLst>
          </a:prstGeom>
          <a:solidFill>
            <a:srgbClr val="A27C49"/>
          </a:solidFill>
          <a:ln/>
        </p:spPr>
      </p:sp>
      <p:sp>
        <p:nvSpPr>
          <p:cNvPr id="42" name="Text 39"/>
          <p:cNvSpPr/>
          <p:nvPr/>
        </p:nvSpPr>
        <p:spPr>
          <a:xfrm>
            <a:off x="7868989" y="3895725"/>
            <a:ext cx="62743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integrate</a:t>
            </a:r>
            <a:endParaRPr lang="en-US" sz="975" dirty="0"/>
          </a:p>
        </p:txBody>
      </p:sp>
      <p:sp>
        <p:nvSpPr>
          <p:cNvPr id="43" name="Shape 40"/>
          <p:cNvSpPr/>
          <p:nvPr/>
        </p:nvSpPr>
        <p:spPr>
          <a:xfrm>
            <a:off x="13839825" y="3895725"/>
            <a:ext cx="3876675" cy="247650"/>
          </a:xfrm>
          <a:prstGeom prst="roundRect">
            <a:avLst>
              <a:gd name="adj" fmla="val 11538"/>
            </a:avLst>
          </a:prstGeom>
          <a:solidFill>
            <a:srgbClr val="DBAF63"/>
          </a:solidFill>
          <a:ln/>
        </p:spPr>
      </p:sp>
      <p:sp>
        <p:nvSpPr>
          <p:cNvPr id="44" name="Text 41"/>
          <p:cNvSpPr/>
          <p:nvPr/>
        </p:nvSpPr>
        <p:spPr>
          <a:xfrm>
            <a:off x="13954125" y="3895725"/>
            <a:ext cx="37643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39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Hyper-care</a:t>
            </a:r>
            <a:endParaRPr lang="en-US" sz="975" dirty="0"/>
          </a:p>
        </p:txBody>
      </p:sp>
      <p:sp>
        <p:nvSpPr>
          <p:cNvPr id="45" name="Shape 42"/>
          <p:cNvSpPr/>
          <p:nvPr/>
        </p:nvSpPr>
        <p:spPr>
          <a:xfrm>
            <a:off x="800100" y="4743450"/>
            <a:ext cx="20955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6" name="Text 43"/>
          <p:cNvSpPr/>
          <p:nvPr/>
        </p:nvSpPr>
        <p:spPr>
          <a:xfrm>
            <a:off x="800100" y="4391025"/>
            <a:ext cx="20574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WS4 · Talent &amp; capability</a:t>
            </a:r>
            <a:endParaRPr lang="en-US" sz="1275" dirty="0"/>
          </a:p>
        </p:txBody>
      </p:sp>
      <p:sp>
        <p:nvSpPr>
          <p:cNvPr id="47" name="Shape 44"/>
          <p:cNvSpPr/>
          <p:nvPr/>
        </p:nvSpPr>
        <p:spPr>
          <a:xfrm>
            <a:off x="2895600" y="4257675"/>
            <a:ext cx="14592300" cy="4953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8" name="Shape 45"/>
          <p:cNvSpPr/>
          <p:nvPr/>
        </p:nvSpPr>
        <p:spPr>
          <a:xfrm>
            <a:off x="2895600" y="4743450"/>
            <a:ext cx="145923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9" name="Shape 46"/>
          <p:cNvSpPr/>
          <p:nvPr/>
        </p:nvSpPr>
        <p:spPr>
          <a:xfrm>
            <a:off x="4106614" y="4391025"/>
            <a:ext cx="6313587" cy="247650"/>
          </a:xfrm>
          <a:prstGeom prst="roundRect">
            <a:avLst>
              <a:gd name="adj" fmla="val 11538"/>
            </a:avLst>
          </a:prstGeom>
          <a:solidFill>
            <a:srgbClr val="97BCB4"/>
          </a:solidFill>
          <a:ln/>
        </p:spPr>
      </p:sp>
      <p:sp>
        <p:nvSpPr>
          <p:cNvPr id="50" name="Text 47"/>
          <p:cNvSpPr/>
          <p:nvPr/>
        </p:nvSpPr>
        <p:spPr>
          <a:xfrm>
            <a:off x="4220914" y="4391025"/>
            <a:ext cx="62743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39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&amp; onboard</a:t>
            </a:r>
            <a:endParaRPr lang="en-US" sz="975" dirty="0"/>
          </a:p>
        </p:txBody>
      </p:sp>
      <p:sp>
        <p:nvSpPr>
          <p:cNvPr id="51" name="Shape 48"/>
          <p:cNvSpPr/>
          <p:nvPr/>
        </p:nvSpPr>
        <p:spPr>
          <a:xfrm>
            <a:off x="10191750" y="4391025"/>
            <a:ext cx="7524750" cy="247650"/>
          </a:xfrm>
          <a:prstGeom prst="roundRect">
            <a:avLst>
              <a:gd name="adj" fmla="val 11538"/>
            </a:avLst>
          </a:prstGeom>
          <a:solidFill>
            <a:srgbClr val="A27C49"/>
          </a:solidFill>
          <a:ln/>
        </p:spPr>
      </p:sp>
      <p:sp>
        <p:nvSpPr>
          <p:cNvPr id="52" name="Text 49"/>
          <p:cNvSpPr/>
          <p:nvPr/>
        </p:nvSpPr>
        <p:spPr>
          <a:xfrm>
            <a:off x="10306050" y="4391025"/>
            <a:ext cx="75218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&amp; uplift</a:t>
            </a:r>
            <a:endParaRPr lang="en-US" sz="975" dirty="0"/>
          </a:p>
        </p:txBody>
      </p:sp>
      <p:sp>
        <p:nvSpPr>
          <p:cNvPr id="53" name="Shape 50"/>
          <p:cNvSpPr/>
          <p:nvPr/>
        </p:nvSpPr>
        <p:spPr>
          <a:xfrm>
            <a:off x="800100" y="5238750"/>
            <a:ext cx="20955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4" name="Text 51"/>
          <p:cNvSpPr/>
          <p:nvPr/>
        </p:nvSpPr>
        <p:spPr>
          <a:xfrm>
            <a:off x="800100" y="4886325"/>
            <a:ext cx="20574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WS5 · Commercial / GTM</a:t>
            </a:r>
            <a:endParaRPr lang="en-US" sz="1275" dirty="0"/>
          </a:p>
        </p:txBody>
      </p:sp>
      <p:sp>
        <p:nvSpPr>
          <p:cNvPr id="55" name="Shape 52"/>
          <p:cNvSpPr/>
          <p:nvPr/>
        </p:nvSpPr>
        <p:spPr>
          <a:xfrm>
            <a:off x="2895600" y="4752975"/>
            <a:ext cx="14592300" cy="4953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6" name="Shape 53"/>
          <p:cNvSpPr/>
          <p:nvPr/>
        </p:nvSpPr>
        <p:spPr>
          <a:xfrm>
            <a:off x="2895600" y="5238750"/>
            <a:ext cx="145923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7" name="Shape 54"/>
          <p:cNvSpPr/>
          <p:nvPr/>
        </p:nvSpPr>
        <p:spPr>
          <a:xfrm>
            <a:off x="6543675" y="4886325"/>
            <a:ext cx="5087689" cy="247650"/>
          </a:xfrm>
          <a:prstGeom prst="roundRect">
            <a:avLst>
              <a:gd name="adj" fmla="val 11538"/>
            </a:avLst>
          </a:prstGeom>
          <a:solidFill>
            <a:srgbClr val="A26331"/>
          </a:solidFill>
          <a:ln/>
        </p:spPr>
      </p:sp>
      <p:sp>
        <p:nvSpPr>
          <p:cNvPr id="58" name="Text 55"/>
          <p:cNvSpPr/>
          <p:nvPr/>
        </p:nvSpPr>
        <p:spPr>
          <a:xfrm>
            <a:off x="6657975" y="4886325"/>
            <a:ext cx="5011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Propositions</a:t>
            </a:r>
            <a:endParaRPr lang="en-US" sz="975" dirty="0"/>
          </a:p>
        </p:txBody>
      </p:sp>
      <p:sp>
        <p:nvSpPr>
          <p:cNvPr id="59" name="Shape 56"/>
          <p:cNvSpPr/>
          <p:nvPr/>
        </p:nvSpPr>
        <p:spPr>
          <a:xfrm>
            <a:off x="11402764" y="4886325"/>
            <a:ext cx="6313587" cy="247650"/>
          </a:xfrm>
          <a:prstGeom prst="roundRect">
            <a:avLst>
              <a:gd name="adj" fmla="val 11538"/>
            </a:avLst>
          </a:prstGeom>
          <a:solidFill>
            <a:srgbClr val="A27C49"/>
          </a:solidFill>
          <a:ln/>
        </p:spPr>
      </p:sp>
      <p:sp>
        <p:nvSpPr>
          <p:cNvPr id="60" name="Text 57"/>
          <p:cNvSpPr/>
          <p:nvPr/>
        </p:nvSpPr>
        <p:spPr>
          <a:xfrm>
            <a:off x="11517064" y="4886325"/>
            <a:ext cx="62743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waves</a:t>
            </a:r>
            <a:endParaRPr lang="en-US" sz="975" dirty="0"/>
          </a:p>
        </p:txBody>
      </p:sp>
      <p:sp>
        <p:nvSpPr>
          <p:cNvPr id="61" name="Shape 58"/>
          <p:cNvSpPr/>
          <p:nvPr/>
        </p:nvSpPr>
        <p:spPr>
          <a:xfrm>
            <a:off x="800100" y="5734050"/>
            <a:ext cx="20955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2" name="Text 59"/>
          <p:cNvSpPr/>
          <p:nvPr/>
        </p:nvSpPr>
        <p:spPr>
          <a:xfrm>
            <a:off x="800100" y="5381625"/>
            <a:ext cx="20574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WS6 · Change &amp; comms</a:t>
            </a:r>
            <a:endParaRPr lang="en-US" sz="1275" dirty="0"/>
          </a:p>
        </p:txBody>
      </p:sp>
      <p:sp>
        <p:nvSpPr>
          <p:cNvPr id="63" name="Shape 60"/>
          <p:cNvSpPr/>
          <p:nvPr/>
        </p:nvSpPr>
        <p:spPr>
          <a:xfrm>
            <a:off x="2895600" y="5248275"/>
            <a:ext cx="14592300" cy="4953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4" name="Shape 61"/>
          <p:cNvSpPr/>
          <p:nvPr/>
        </p:nvSpPr>
        <p:spPr>
          <a:xfrm>
            <a:off x="2895600" y="5734050"/>
            <a:ext cx="145923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5" name="Shape 62"/>
          <p:cNvSpPr/>
          <p:nvPr/>
        </p:nvSpPr>
        <p:spPr>
          <a:xfrm>
            <a:off x="5332512" y="5381625"/>
            <a:ext cx="12383839" cy="247650"/>
          </a:xfrm>
          <a:prstGeom prst="roundRect">
            <a:avLst>
              <a:gd name="adj" fmla="val 11538"/>
            </a:avLst>
          </a:prstGeom>
          <a:solidFill>
            <a:srgbClr val="4C4D4C"/>
          </a:solidFill>
          <a:ln/>
        </p:spPr>
      </p:sp>
      <p:sp>
        <p:nvSpPr>
          <p:cNvPr id="66" name="Text 63"/>
          <p:cNvSpPr/>
          <p:nvPr/>
        </p:nvSpPr>
        <p:spPr>
          <a:xfrm>
            <a:off x="5446812" y="5381625"/>
            <a:ext cx="125267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· enable · embed</a:t>
            </a:r>
            <a:endParaRPr lang="en-US" sz="975" dirty="0"/>
          </a:p>
        </p:txBody>
      </p:sp>
      <p:sp>
        <p:nvSpPr>
          <p:cNvPr id="67" name="Shape 64"/>
          <p:cNvSpPr/>
          <p:nvPr/>
        </p:nvSpPr>
        <p:spPr>
          <a:xfrm rot="2700000">
            <a:off x="10106025" y="5419725"/>
            <a:ext cx="171450" cy="171450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68" name="Shape 65"/>
          <p:cNvSpPr/>
          <p:nvPr/>
        </p:nvSpPr>
        <p:spPr>
          <a:xfrm rot="2700000">
            <a:off x="14965114" y="5419725"/>
            <a:ext cx="171450" cy="171450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69" name="Text 66"/>
          <p:cNvSpPr/>
          <p:nvPr/>
        </p:nvSpPr>
        <p:spPr>
          <a:xfrm>
            <a:off x="800100" y="6010275"/>
            <a:ext cx="1073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/ design</a:t>
            </a:r>
            <a:endParaRPr lang="en-US" sz="1050" dirty="0"/>
          </a:p>
        </p:txBody>
      </p:sp>
      <p:sp>
        <p:nvSpPr>
          <p:cNvPr id="70" name="Text 67"/>
          <p:cNvSpPr/>
          <p:nvPr/>
        </p:nvSpPr>
        <p:spPr>
          <a:xfrm>
            <a:off x="2063800" y="6010275"/>
            <a:ext cx="110385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/ scale</a:t>
            </a:r>
            <a:endParaRPr lang="en-US" sz="1050" dirty="0"/>
          </a:p>
        </p:txBody>
      </p:sp>
      <p:sp>
        <p:nvSpPr>
          <p:cNvPr id="71" name="Text 68"/>
          <p:cNvSpPr/>
          <p:nvPr/>
        </p:nvSpPr>
        <p:spPr>
          <a:xfrm>
            <a:off x="3358158" y="6010275"/>
            <a:ext cx="94476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 rot="2700000">
            <a:off x="4493419" y="6043613"/>
            <a:ext cx="114300" cy="114300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73" name="Text 70"/>
          <p:cNvSpPr/>
          <p:nvPr/>
        </p:nvSpPr>
        <p:spPr>
          <a:xfrm>
            <a:off x="4683919" y="6019800"/>
            <a:ext cx="7422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gate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5" name="Text 72"/>
          <p:cNvSpPr/>
          <p:nvPr/>
        </p:nvSpPr>
        <p:spPr>
          <a:xfrm>
            <a:off x="800100" y="9410700"/>
            <a:ext cx="54811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are indicative; final schedule subject to gate-1 sign-off. See appendix for resource loading.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64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913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ROADMAP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checkpoints the executive will see — each has a named owner and a hard date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3376613"/>
            <a:ext cx="133097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7" name="Text 4"/>
          <p:cNvSpPr/>
          <p:nvPr/>
        </p:nvSpPr>
        <p:spPr>
          <a:xfrm>
            <a:off x="971550" y="3048000"/>
            <a:ext cx="106427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131070" y="3376613"/>
            <a:ext cx="265941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9" name="Text 6"/>
          <p:cNvSpPr/>
          <p:nvPr/>
        </p:nvSpPr>
        <p:spPr>
          <a:xfrm>
            <a:off x="2302520" y="3048000"/>
            <a:ext cx="239629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90480" y="3376613"/>
            <a:ext cx="5980956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1" name="Text 8"/>
          <p:cNvSpPr/>
          <p:nvPr/>
        </p:nvSpPr>
        <p:spPr>
          <a:xfrm>
            <a:off x="4961930" y="3048000"/>
            <a:ext cx="581748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771436" y="3376613"/>
            <a:ext cx="3658493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3" name="Text 10"/>
          <p:cNvSpPr/>
          <p:nvPr/>
        </p:nvSpPr>
        <p:spPr>
          <a:xfrm>
            <a:off x="10942886" y="3048000"/>
            <a:ext cx="342534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4429929" y="3376613"/>
            <a:ext cx="199638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5" name="Text 12"/>
          <p:cNvSpPr/>
          <p:nvPr/>
        </p:nvSpPr>
        <p:spPr>
          <a:xfrm>
            <a:off x="14601379" y="3048000"/>
            <a:ext cx="172968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6426309" y="3376613"/>
            <a:ext cx="1061889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7" name="Text 14"/>
          <p:cNvSpPr/>
          <p:nvPr/>
        </p:nvSpPr>
        <p:spPr>
          <a:xfrm>
            <a:off x="16597759" y="3048000"/>
            <a:ext cx="79518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0100" y="4005262"/>
            <a:ext cx="133097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9" name="Text 16"/>
          <p:cNvSpPr/>
          <p:nvPr/>
        </p:nvSpPr>
        <p:spPr>
          <a:xfrm>
            <a:off x="971550" y="3538538"/>
            <a:ext cx="10642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2131070" y="4005262"/>
            <a:ext cx="26594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1" name="Text 18"/>
          <p:cNvSpPr/>
          <p:nvPr/>
        </p:nvSpPr>
        <p:spPr>
          <a:xfrm>
            <a:off x="2302520" y="3538538"/>
            <a:ext cx="23962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[Mar 2026]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790480" y="4005262"/>
            <a:ext cx="598095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3" name="Text 20"/>
          <p:cNvSpPr/>
          <p:nvPr/>
        </p:nvSpPr>
        <p:spPr>
          <a:xfrm>
            <a:off x="4961930" y="3538538"/>
            <a:ext cx="58174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mobilisation complete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771436" y="4005262"/>
            <a:ext cx="365849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2"/>
          <p:cNvSpPr/>
          <p:nvPr/>
        </p:nvSpPr>
        <p:spPr>
          <a:xfrm>
            <a:off x="10942886" y="3538538"/>
            <a:ext cx="34253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[PMO charter, RACI]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4429929" y="4005262"/>
            <a:ext cx="19963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14601379" y="3538538"/>
            <a:ext cx="17296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[CSO]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16426309" y="4005262"/>
            <a:ext cx="106188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Shape 26"/>
          <p:cNvSpPr/>
          <p:nvPr/>
        </p:nvSpPr>
        <p:spPr>
          <a:xfrm>
            <a:off x="16597759" y="3543300"/>
            <a:ext cx="479524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6740634" y="3609975"/>
            <a:ext cx="26997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00100" y="4633913"/>
            <a:ext cx="133097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2" name="Text 29"/>
          <p:cNvSpPr/>
          <p:nvPr/>
        </p:nvSpPr>
        <p:spPr>
          <a:xfrm>
            <a:off x="971550" y="4167188"/>
            <a:ext cx="10642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2131070" y="4633913"/>
            <a:ext cx="26594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4" name="Text 31"/>
          <p:cNvSpPr/>
          <p:nvPr/>
        </p:nvSpPr>
        <p:spPr>
          <a:xfrm>
            <a:off x="2302520" y="4167188"/>
            <a:ext cx="23962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[May 2026]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4790480" y="4633913"/>
            <a:ext cx="598095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6" name="Text 33"/>
          <p:cNvSpPr/>
          <p:nvPr/>
        </p:nvSpPr>
        <p:spPr>
          <a:xfrm>
            <a:off x="4961930" y="4167188"/>
            <a:ext cx="58174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&amp; baseline signed off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10771436" y="4633913"/>
            <a:ext cx="365849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8" name="Text 35"/>
          <p:cNvSpPr/>
          <p:nvPr/>
        </p:nvSpPr>
        <p:spPr>
          <a:xfrm>
            <a:off x="10942886" y="4167188"/>
            <a:ext cx="34253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[Baseline KPI pack]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14429929" y="4633913"/>
            <a:ext cx="19963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0" name="Text 37"/>
          <p:cNvSpPr/>
          <p:nvPr/>
        </p:nvSpPr>
        <p:spPr>
          <a:xfrm>
            <a:off x="14601379" y="4167188"/>
            <a:ext cx="17296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[CFO]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16426309" y="4633913"/>
            <a:ext cx="106188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2" name="Shape 39"/>
          <p:cNvSpPr/>
          <p:nvPr/>
        </p:nvSpPr>
        <p:spPr>
          <a:xfrm>
            <a:off x="16597759" y="4171950"/>
            <a:ext cx="479524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740634" y="4238625"/>
            <a:ext cx="26997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00100" y="5262563"/>
            <a:ext cx="133097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5" name="Text 42"/>
          <p:cNvSpPr/>
          <p:nvPr/>
        </p:nvSpPr>
        <p:spPr>
          <a:xfrm>
            <a:off x="971550" y="4795838"/>
            <a:ext cx="10642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2131070" y="5262563"/>
            <a:ext cx="26594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7" name="Text 44"/>
          <p:cNvSpPr/>
          <p:nvPr/>
        </p:nvSpPr>
        <p:spPr>
          <a:xfrm>
            <a:off x="2302520" y="4795838"/>
            <a:ext cx="23962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[Aug 2026]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4790480" y="5262563"/>
            <a:ext cx="598095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9" name="Text 46"/>
          <p:cNvSpPr/>
          <p:nvPr/>
        </p:nvSpPr>
        <p:spPr>
          <a:xfrm>
            <a:off x="4961930" y="4795838"/>
            <a:ext cx="58174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operating model approved by Board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10771436" y="5262563"/>
            <a:ext cx="365849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1" name="Text 48"/>
          <p:cNvSpPr/>
          <p:nvPr/>
        </p:nvSpPr>
        <p:spPr>
          <a:xfrm>
            <a:off x="10942886" y="4795838"/>
            <a:ext cx="34253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[TOM blueprint]</a:t>
            </a:r>
            <a:endParaRPr lang="en-US" sz="1350" dirty="0"/>
          </a:p>
        </p:txBody>
      </p:sp>
      <p:sp>
        <p:nvSpPr>
          <p:cNvPr id="52" name="Shape 49"/>
          <p:cNvSpPr/>
          <p:nvPr/>
        </p:nvSpPr>
        <p:spPr>
          <a:xfrm>
            <a:off x="14429929" y="5262563"/>
            <a:ext cx="19963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3" name="Text 50"/>
          <p:cNvSpPr/>
          <p:nvPr/>
        </p:nvSpPr>
        <p:spPr>
          <a:xfrm>
            <a:off x="14601379" y="4795838"/>
            <a:ext cx="17296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[CSO]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16426309" y="5262563"/>
            <a:ext cx="106188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5" name="Shape 52"/>
          <p:cNvSpPr/>
          <p:nvPr/>
        </p:nvSpPr>
        <p:spPr>
          <a:xfrm>
            <a:off x="16597759" y="4800600"/>
            <a:ext cx="718989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6740634" y="4867275"/>
            <a:ext cx="5094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800100" y="5891213"/>
            <a:ext cx="133097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8" name="Text 55"/>
          <p:cNvSpPr/>
          <p:nvPr/>
        </p:nvSpPr>
        <p:spPr>
          <a:xfrm>
            <a:off x="971550" y="5424488"/>
            <a:ext cx="10642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350" dirty="0"/>
          </a:p>
        </p:txBody>
      </p:sp>
      <p:sp>
        <p:nvSpPr>
          <p:cNvPr id="59" name="Shape 56"/>
          <p:cNvSpPr/>
          <p:nvPr/>
        </p:nvSpPr>
        <p:spPr>
          <a:xfrm>
            <a:off x="2131070" y="5891213"/>
            <a:ext cx="26594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0" name="Text 57"/>
          <p:cNvSpPr/>
          <p:nvPr/>
        </p:nvSpPr>
        <p:spPr>
          <a:xfrm>
            <a:off x="2302520" y="5424488"/>
            <a:ext cx="23962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[Oct 2026]</a:t>
            </a:r>
            <a:endParaRPr lang="en-US" sz="1350" dirty="0"/>
          </a:p>
        </p:txBody>
      </p:sp>
      <p:sp>
        <p:nvSpPr>
          <p:cNvPr id="61" name="Shape 58"/>
          <p:cNvSpPr/>
          <p:nvPr/>
        </p:nvSpPr>
        <p:spPr>
          <a:xfrm>
            <a:off x="4790480" y="5891213"/>
            <a:ext cx="598095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2" name="Text 59"/>
          <p:cNvSpPr/>
          <p:nvPr/>
        </p:nvSpPr>
        <p:spPr>
          <a:xfrm>
            <a:off x="4961930" y="5424488"/>
            <a:ext cx="58174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architecture &amp; vendor selection complete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10771436" y="5891213"/>
            <a:ext cx="365849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4" name="Text 61"/>
          <p:cNvSpPr/>
          <p:nvPr/>
        </p:nvSpPr>
        <p:spPr>
          <a:xfrm>
            <a:off x="10942886" y="5424488"/>
            <a:ext cx="34253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[Architecture decision record]</a:t>
            </a:r>
            <a:endParaRPr lang="en-US" sz="1350" dirty="0"/>
          </a:p>
        </p:txBody>
      </p:sp>
      <p:sp>
        <p:nvSpPr>
          <p:cNvPr id="65" name="Shape 62"/>
          <p:cNvSpPr/>
          <p:nvPr/>
        </p:nvSpPr>
        <p:spPr>
          <a:xfrm>
            <a:off x="14429929" y="5891213"/>
            <a:ext cx="19963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6" name="Text 63"/>
          <p:cNvSpPr/>
          <p:nvPr/>
        </p:nvSpPr>
        <p:spPr>
          <a:xfrm>
            <a:off x="14601379" y="5424488"/>
            <a:ext cx="17296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[CTO]</a:t>
            </a:r>
            <a:endParaRPr lang="en-US" sz="1350" dirty="0"/>
          </a:p>
        </p:txBody>
      </p:sp>
      <p:sp>
        <p:nvSpPr>
          <p:cNvPr id="67" name="Shape 64"/>
          <p:cNvSpPr/>
          <p:nvPr/>
        </p:nvSpPr>
        <p:spPr>
          <a:xfrm>
            <a:off x="16426309" y="5891213"/>
            <a:ext cx="106188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8" name="Shape 65"/>
          <p:cNvSpPr/>
          <p:nvPr/>
        </p:nvSpPr>
        <p:spPr>
          <a:xfrm>
            <a:off x="16597759" y="5429250"/>
            <a:ext cx="718989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6740634" y="5495925"/>
            <a:ext cx="5094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800100" y="6519863"/>
            <a:ext cx="133097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1" name="Text 68"/>
          <p:cNvSpPr/>
          <p:nvPr/>
        </p:nvSpPr>
        <p:spPr>
          <a:xfrm>
            <a:off x="971550" y="6053138"/>
            <a:ext cx="10642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2131070" y="6519863"/>
            <a:ext cx="26594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3" name="Text 70"/>
          <p:cNvSpPr/>
          <p:nvPr/>
        </p:nvSpPr>
        <p:spPr>
          <a:xfrm>
            <a:off x="2302520" y="6053138"/>
            <a:ext cx="23962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[Dec 2026]</a:t>
            </a:r>
            <a:endParaRPr lang="en-US" sz="1350" dirty="0"/>
          </a:p>
        </p:txBody>
      </p:sp>
      <p:sp>
        <p:nvSpPr>
          <p:cNvPr id="74" name="Shape 71"/>
          <p:cNvSpPr/>
          <p:nvPr/>
        </p:nvSpPr>
        <p:spPr>
          <a:xfrm>
            <a:off x="4790480" y="6519863"/>
            <a:ext cx="598095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5" name="Text 72"/>
          <p:cNvSpPr/>
          <p:nvPr/>
        </p:nvSpPr>
        <p:spPr>
          <a:xfrm>
            <a:off x="4961930" y="6053138"/>
            <a:ext cx="58174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 — Go / no-go for pilot</a:t>
            </a:r>
            <a:endParaRPr lang="en-US" sz="1350" dirty="0"/>
          </a:p>
        </p:txBody>
      </p:sp>
      <p:sp>
        <p:nvSpPr>
          <p:cNvPr id="76" name="Shape 73"/>
          <p:cNvSpPr/>
          <p:nvPr/>
        </p:nvSpPr>
        <p:spPr>
          <a:xfrm>
            <a:off x="10771436" y="6519863"/>
            <a:ext cx="365849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7" name="Text 74"/>
          <p:cNvSpPr/>
          <p:nvPr/>
        </p:nvSpPr>
        <p:spPr>
          <a:xfrm>
            <a:off x="10942886" y="6053138"/>
            <a:ext cx="34253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[Stage-gate paper]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4429929" y="6519863"/>
            <a:ext cx="19963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9" name="Text 76"/>
          <p:cNvSpPr/>
          <p:nvPr/>
        </p:nvSpPr>
        <p:spPr>
          <a:xfrm>
            <a:off x="14601379" y="6053138"/>
            <a:ext cx="17296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[CEO]</a:t>
            </a:r>
            <a:endParaRPr lang="en-US" sz="1350" dirty="0"/>
          </a:p>
        </p:txBody>
      </p:sp>
      <p:sp>
        <p:nvSpPr>
          <p:cNvPr id="80" name="Shape 77"/>
          <p:cNvSpPr/>
          <p:nvPr/>
        </p:nvSpPr>
        <p:spPr>
          <a:xfrm>
            <a:off x="16426309" y="6519863"/>
            <a:ext cx="106188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1" name="Shape 78"/>
          <p:cNvSpPr/>
          <p:nvPr/>
        </p:nvSpPr>
        <p:spPr>
          <a:xfrm>
            <a:off x="16597759" y="6057900"/>
            <a:ext cx="718989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16740634" y="6124575"/>
            <a:ext cx="5094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800100" y="7148513"/>
            <a:ext cx="133097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4" name="Text 81"/>
          <p:cNvSpPr/>
          <p:nvPr/>
        </p:nvSpPr>
        <p:spPr>
          <a:xfrm>
            <a:off x="971550" y="6681788"/>
            <a:ext cx="10642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350" dirty="0"/>
          </a:p>
        </p:txBody>
      </p:sp>
      <p:sp>
        <p:nvSpPr>
          <p:cNvPr id="85" name="Shape 82"/>
          <p:cNvSpPr/>
          <p:nvPr/>
        </p:nvSpPr>
        <p:spPr>
          <a:xfrm>
            <a:off x="2131070" y="7148513"/>
            <a:ext cx="26594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6" name="Text 83"/>
          <p:cNvSpPr/>
          <p:nvPr/>
        </p:nvSpPr>
        <p:spPr>
          <a:xfrm>
            <a:off x="2302520" y="6681788"/>
            <a:ext cx="23962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[Mar 2027]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4790480" y="7148513"/>
            <a:ext cx="598095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8" name="Text 85"/>
          <p:cNvSpPr/>
          <p:nvPr/>
        </p:nvSpPr>
        <p:spPr>
          <a:xfrm>
            <a:off x="4961930" y="6681788"/>
            <a:ext cx="58174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live in [lead market]</a:t>
            </a:r>
            <a:endParaRPr lang="en-US" sz="1350" dirty="0"/>
          </a:p>
        </p:txBody>
      </p:sp>
      <p:sp>
        <p:nvSpPr>
          <p:cNvPr id="89" name="Shape 86"/>
          <p:cNvSpPr/>
          <p:nvPr/>
        </p:nvSpPr>
        <p:spPr>
          <a:xfrm>
            <a:off x="10771436" y="7148513"/>
            <a:ext cx="365849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0" name="Text 87"/>
          <p:cNvSpPr/>
          <p:nvPr/>
        </p:nvSpPr>
        <p:spPr>
          <a:xfrm>
            <a:off x="10942886" y="6681788"/>
            <a:ext cx="34253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[Pilot readiness review]</a:t>
            </a:r>
            <a:endParaRPr lang="en-US" sz="1350" dirty="0"/>
          </a:p>
        </p:txBody>
      </p:sp>
      <p:sp>
        <p:nvSpPr>
          <p:cNvPr id="91" name="Shape 88"/>
          <p:cNvSpPr/>
          <p:nvPr/>
        </p:nvSpPr>
        <p:spPr>
          <a:xfrm>
            <a:off x="14429929" y="7148513"/>
            <a:ext cx="19963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2" name="Text 89"/>
          <p:cNvSpPr/>
          <p:nvPr/>
        </p:nvSpPr>
        <p:spPr>
          <a:xfrm>
            <a:off x="14601379" y="6681788"/>
            <a:ext cx="17296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[CCO]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16426309" y="7148513"/>
            <a:ext cx="106188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4" name="Shape 91"/>
          <p:cNvSpPr/>
          <p:nvPr/>
        </p:nvSpPr>
        <p:spPr>
          <a:xfrm>
            <a:off x="16597759" y="6686550"/>
            <a:ext cx="718989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16740634" y="6753225"/>
            <a:ext cx="5094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050" dirty="0"/>
          </a:p>
        </p:txBody>
      </p:sp>
      <p:sp>
        <p:nvSpPr>
          <p:cNvPr id="96" name="Shape 93"/>
          <p:cNvSpPr/>
          <p:nvPr/>
        </p:nvSpPr>
        <p:spPr>
          <a:xfrm>
            <a:off x="800100" y="7777163"/>
            <a:ext cx="133097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7" name="Text 94"/>
          <p:cNvSpPr/>
          <p:nvPr/>
        </p:nvSpPr>
        <p:spPr>
          <a:xfrm>
            <a:off x="971550" y="7310438"/>
            <a:ext cx="10642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350" dirty="0"/>
          </a:p>
        </p:txBody>
      </p:sp>
      <p:sp>
        <p:nvSpPr>
          <p:cNvPr id="98" name="Shape 95"/>
          <p:cNvSpPr/>
          <p:nvPr/>
        </p:nvSpPr>
        <p:spPr>
          <a:xfrm>
            <a:off x="2131070" y="7777163"/>
            <a:ext cx="26594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9" name="Text 96"/>
          <p:cNvSpPr/>
          <p:nvPr/>
        </p:nvSpPr>
        <p:spPr>
          <a:xfrm>
            <a:off x="2302520" y="7310438"/>
            <a:ext cx="23962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[Sep 2027]</a:t>
            </a:r>
            <a:endParaRPr lang="en-US" sz="1350" dirty="0"/>
          </a:p>
        </p:txBody>
      </p:sp>
      <p:sp>
        <p:nvSpPr>
          <p:cNvPr id="100" name="Shape 97"/>
          <p:cNvSpPr/>
          <p:nvPr/>
        </p:nvSpPr>
        <p:spPr>
          <a:xfrm>
            <a:off x="4790480" y="7777163"/>
            <a:ext cx="598095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1" name="Text 98"/>
          <p:cNvSpPr/>
          <p:nvPr/>
        </p:nvSpPr>
        <p:spPr>
          <a:xfrm>
            <a:off x="4961930" y="7310438"/>
            <a:ext cx="58174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 — Scale to waves 2 &amp; 3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10771436" y="7777163"/>
            <a:ext cx="365849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3" name="Text 100"/>
          <p:cNvSpPr/>
          <p:nvPr/>
        </p:nvSpPr>
        <p:spPr>
          <a:xfrm>
            <a:off x="10942886" y="7310438"/>
            <a:ext cx="34253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[Scale-up paper]</a:t>
            </a:r>
            <a:endParaRPr lang="en-US" sz="1350" dirty="0"/>
          </a:p>
        </p:txBody>
      </p:sp>
      <p:sp>
        <p:nvSpPr>
          <p:cNvPr id="104" name="Shape 101"/>
          <p:cNvSpPr/>
          <p:nvPr/>
        </p:nvSpPr>
        <p:spPr>
          <a:xfrm>
            <a:off x="14429929" y="7777163"/>
            <a:ext cx="19963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5" name="Text 102"/>
          <p:cNvSpPr/>
          <p:nvPr/>
        </p:nvSpPr>
        <p:spPr>
          <a:xfrm>
            <a:off x="14601379" y="7310438"/>
            <a:ext cx="17296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[CEO]</a:t>
            </a:r>
            <a:endParaRPr lang="en-US" sz="1350" dirty="0"/>
          </a:p>
        </p:txBody>
      </p:sp>
      <p:sp>
        <p:nvSpPr>
          <p:cNvPr id="106" name="Shape 103"/>
          <p:cNvSpPr/>
          <p:nvPr/>
        </p:nvSpPr>
        <p:spPr>
          <a:xfrm>
            <a:off x="16426309" y="7777163"/>
            <a:ext cx="106188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7" name="Shape 104"/>
          <p:cNvSpPr/>
          <p:nvPr/>
        </p:nvSpPr>
        <p:spPr>
          <a:xfrm>
            <a:off x="16597759" y="7315200"/>
            <a:ext cx="718989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6740634" y="7381875"/>
            <a:ext cx="5094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050" dirty="0"/>
          </a:p>
        </p:txBody>
      </p:sp>
      <p:sp>
        <p:nvSpPr>
          <p:cNvPr id="109" name="Shape 106"/>
          <p:cNvSpPr/>
          <p:nvPr/>
        </p:nvSpPr>
        <p:spPr>
          <a:xfrm>
            <a:off x="800100" y="8405813"/>
            <a:ext cx="133097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0" name="Text 107"/>
          <p:cNvSpPr/>
          <p:nvPr/>
        </p:nvSpPr>
        <p:spPr>
          <a:xfrm>
            <a:off x="971550" y="7939087"/>
            <a:ext cx="10642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350" dirty="0"/>
          </a:p>
        </p:txBody>
      </p:sp>
      <p:sp>
        <p:nvSpPr>
          <p:cNvPr id="111" name="Shape 108"/>
          <p:cNvSpPr/>
          <p:nvPr/>
        </p:nvSpPr>
        <p:spPr>
          <a:xfrm>
            <a:off x="2131070" y="8405813"/>
            <a:ext cx="26594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2" name="Text 109"/>
          <p:cNvSpPr/>
          <p:nvPr/>
        </p:nvSpPr>
        <p:spPr>
          <a:xfrm>
            <a:off x="2302520" y="7939087"/>
            <a:ext cx="23962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[Mar 2028]</a:t>
            </a:r>
            <a:endParaRPr lang="en-US" sz="1350" dirty="0"/>
          </a:p>
        </p:txBody>
      </p:sp>
      <p:sp>
        <p:nvSpPr>
          <p:cNvPr id="113" name="Shape 110"/>
          <p:cNvSpPr/>
          <p:nvPr/>
        </p:nvSpPr>
        <p:spPr>
          <a:xfrm>
            <a:off x="4790480" y="8405813"/>
            <a:ext cx="598095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4" name="Text 111"/>
          <p:cNvSpPr/>
          <p:nvPr/>
        </p:nvSpPr>
        <p:spPr>
          <a:xfrm>
            <a:off x="4961930" y="7939087"/>
            <a:ext cx="58174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rollout complete; BAU handover</a:t>
            </a:r>
            <a:endParaRPr lang="en-US" sz="1350" dirty="0"/>
          </a:p>
        </p:txBody>
      </p:sp>
      <p:sp>
        <p:nvSpPr>
          <p:cNvPr id="115" name="Shape 112"/>
          <p:cNvSpPr/>
          <p:nvPr/>
        </p:nvSpPr>
        <p:spPr>
          <a:xfrm>
            <a:off x="10771436" y="8405813"/>
            <a:ext cx="365849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6" name="Text 113"/>
          <p:cNvSpPr/>
          <p:nvPr/>
        </p:nvSpPr>
        <p:spPr>
          <a:xfrm>
            <a:off x="10942886" y="7939087"/>
            <a:ext cx="34253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[Benefits realisation report]</a:t>
            </a:r>
            <a:endParaRPr lang="en-US" sz="1350" dirty="0"/>
          </a:p>
        </p:txBody>
      </p:sp>
      <p:sp>
        <p:nvSpPr>
          <p:cNvPr id="117" name="Shape 114"/>
          <p:cNvSpPr/>
          <p:nvPr/>
        </p:nvSpPr>
        <p:spPr>
          <a:xfrm>
            <a:off x="14429929" y="8405813"/>
            <a:ext cx="19963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8" name="Text 115"/>
          <p:cNvSpPr/>
          <p:nvPr/>
        </p:nvSpPr>
        <p:spPr>
          <a:xfrm>
            <a:off x="14601379" y="7939087"/>
            <a:ext cx="17296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[COO]</a:t>
            </a:r>
            <a:endParaRPr lang="en-US" sz="1350" dirty="0"/>
          </a:p>
        </p:txBody>
      </p:sp>
      <p:sp>
        <p:nvSpPr>
          <p:cNvPr id="119" name="Shape 116"/>
          <p:cNvSpPr/>
          <p:nvPr/>
        </p:nvSpPr>
        <p:spPr>
          <a:xfrm>
            <a:off x="16426309" y="8405813"/>
            <a:ext cx="106188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0" name="Shape 117"/>
          <p:cNvSpPr/>
          <p:nvPr/>
        </p:nvSpPr>
        <p:spPr>
          <a:xfrm>
            <a:off x="16597759" y="7943850"/>
            <a:ext cx="718989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16740634" y="8010525"/>
            <a:ext cx="5094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050" dirty="0"/>
          </a:p>
        </p:txBody>
      </p:sp>
      <p:sp>
        <p:nvSpPr>
          <p:cNvPr id="122" name="Shape 119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3" name="Text 120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64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913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ROADMAP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ACCOUNTABILITIES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 — one accountable owner per workstream; the executive sponsor consults across the board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3338513"/>
            <a:ext cx="4672459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7" name="Text 4"/>
          <p:cNvSpPr/>
          <p:nvPr/>
        </p:nvSpPr>
        <p:spPr>
          <a:xfrm>
            <a:off x="971550" y="3009900"/>
            <a:ext cx="44697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72559" y="3338513"/>
            <a:ext cx="1470273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9" name="Text 6"/>
          <p:cNvSpPr/>
          <p:nvPr/>
        </p:nvSpPr>
        <p:spPr>
          <a:xfrm>
            <a:off x="5644009" y="3009900"/>
            <a:ext cx="120357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42832" y="3338513"/>
            <a:ext cx="1470273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1" name="Text 8"/>
          <p:cNvSpPr/>
          <p:nvPr/>
        </p:nvSpPr>
        <p:spPr>
          <a:xfrm>
            <a:off x="7114282" y="3009900"/>
            <a:ext cx="120357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413105" y="3338513"/>
            <a:ext cx="1470273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3" name="Text 10"/>
          <p:cNvSpPr/>
          <p:nvPr/>
        </p:nvSpPr>
        <p:spPr>
          <a:xfrm>
            <a:off x="8584555" y="3009900"/>
            <a:ext cx="120357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883378" y="3338513"/>
            <a:ext cx="1485305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4828" y="3009900"/>
            <a:ext cx="121860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1368683" y="3338513"/>
            <a:ext cx="1470273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7" name="Text 14"/>
          <p:cNvSpPr/>
          <p:nvPr/>
        </p:nvSpPr>
        <p:spPr>
          <a:xfrm>
            <a:off x="11540133" y="3009900"/>
            <a:ext cx="120357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2838956" y="3338513"/>
            <a:ext cx="1707654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9" name="Text 16"/>
          <p:cNvSpPr/>
          <p:nvPr/>
        </p:nvSpPr>
        <p:spPr>
          <a:xfrm>
            <a:off x="13010406" y="3009900"/>
            <a:ext cx="144095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4546610" y="3338513"/>
            <a:ext cx="1471315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1" name="Text 18"/>
          <p:cNvSpPr/>
          <p:nvPr/>
        </p:nvSpPr>
        <p:spPr>
          <a:xfrm>
            <a:off x="14718060" y="3009900"/>
            <a:ext cx="120461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CCO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6017925" y="3338513"/>
            <a:ext cx="1470273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3" name="Text 20"/>
          <p:cNvSpPr/>
          <p:nvPr/>
        </p:nvSpPr>
        <p:spPr>
          <a:xfrm>
            <a:off x="16189375" y="3009900"/>
            <a:ext cx="120357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0100" y="3995738"/>
            <a:ext cx="467245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2"/>
          <p:cNvSpPr/>
          <p:nvPr/>
        </p:nvSpPr>
        <p:spPr>
          <a:xfrm>
            <a:off x="971550" y="3500438"/>
            <a:ext cx="44697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WS1 · Programme office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72559" y="399573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5644009" y="350043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12102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942832" y="399573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Text 26"/>
          <p:cNvSpPr/>
          <p:nvPr/>
        </p:nvSpPr>
        <p:spPr>
          <a:xfrm>
            <a:off x="7114282" y="350043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A27C4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413105" y="399573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1" name="Text 28"/>
          <p:cNvSpPr/>
          <p:nvPr/>
        </p:nvSpPr>
        <p:spPr>
          <a:xfrm>
            <a:off x="8584555" y="350043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883378" y="3995738"/>
            <a:ext cx="148530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3" name="Text 30"/>
          <p:cNvSpPr/>
          <p:nvPr/>
        </p:nvSpPr>
        <p:spPr>
          <a:xfrm>
            <a:off x="10054828" y="3500438"/>
            <a:ext cx="12186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1368683" y="399573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5" name="Text 32"/>
          <p:cNvSpPr/>
          <p:nvPr/>
        </p:nvSpPr>
        <p:spPr>
          <a:xfrm>
            <a:off x="11540133" y="350043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2838956" y="3995738"/>
            <a:ext cx="170765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7" name="Text 34"/>
          <p:cNvSpPr/>
          <p:nvPr/>
        </p:nvSpPr>
        <p:spPr>
          <a:xfrm>
            <a:off x="13010406" y="3500438"/>
            <a:ext cx="14409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14546610" y="3995738"/>
            <a:ext cx="147131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9" name="Text 36"/>
          <p:cNvSpPr/>
          <p:nvPr/>
        </p:nvSpPr>
        <p:spPr>
          <a:xfrm>
            <a:off x="14718060" y="3500438"/>
            <a:ext cx="12046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16017925" y="399573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1" name="Text 38"/>
          <p:cNvSpPr/>
          <p:nvPr/>
        </p:nvSpPr>
        <p:spPr>
          <a:xfrm>
            <a:off x="16189375" y="350043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00100" y="4652963"/>
            <a:ext cx="467245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3" name="Text 40"/>
          <p:cNvSpPr/>
          <p:nvPr/>
        </p:nvSpPr>
        <p:spPr>
          <a:xfrm>
            <a:off x="971550" y="4157663"/>
            <a:ext cx="44697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WS2 · Operating model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472559" y="465296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5" name="Text 42"/>
          <p:cNvSpPr/>
          <p:nvPr/>
        </p:nvSpPr>
        <p:spPr>
          <a:xfrm>
            <a:off x="5644009" y="415766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942832" y="465296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7" name="Text 44"/>
          <p:cNvSpPr/>
          <p:nvPr/>
        </p:nvSpPr>
        <p:spPr>
          <a:xfrm>
            <a:off x="7114282" y="415766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12102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8413105" y="465296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9" name="Text 46"/>
          <p:cNvSpPr/>
          <p:nvPr/>
        </p:nvSpPr>
        <p:spPr>
          <a:xfrm>
            <a:off x="8584555" y="415766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9883378" y="4652963"/>
            <a:ext cx="148530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1" name="Text 48"/>
          <p:cNvSpPr/>
          <p:nvPr/>
        </p:nvSpPr>
        <p:spPr>
          <a:xfrm>
            <a:off x="10054828" y="4157663"/>
            <a:ext cx="12186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A27C4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11368683" y="465296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3" name="Text 50"/>
          <p:cNvSpPr/>
          <p:nvPr/>
        </p:nvSpPr>
        <p:spPr>
          <a:xfrm>
            <a:off x="11540133" y="415766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2838956" y="4652963"/>
            <a:ext cx="170765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5" name="Text 52"/>
          <p:cNvSpPr/>
          <p:nvPr/>
        </p:nvSpPr>
        <p:spPr>
          <a:xfrm>
            <a:off x="13010406" y="4157663"/>
            <a:ext cx="14409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14546610" y="4652963"/>
            <a:ext cx="147131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7" name="Text 54"/>
          <p:cNvSpPr/>
          <p:nvPr/>
        </p:nvSpPr>
        <p:spPr>
          <a:xfrm>
            <a:off x="14718060" y="4157663"/>
            <a:ext cx="12046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16017925" y="465296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9" name="Text 56"/>
          <p:cNvSpPr/>
          <p:nvPr/>
        </p:nvSpPr>
        <p:spPr>
          <a:xfrm>
            <a:off x="16189375" y="415766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800100" y="5310188"/>
            <a:ext cx="467245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1" name="Text 58"/>
          <p:cNvSpPr/>
          <p:nvPr/>
        </p:nvSpPr>
        <p:spPr>
          <a:xfrm>
            <a:off x="971550" y="4814888"/>
            <a:ext cx="44697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WS3 · Technology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5472559" y="531018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3" name="Text 60"/>
          <p:cNvSpPr/>
          <p:nvPr/>
        </p:nvSpPr>
        <p:spPr>
          <a:xfrm>
            <a:off x="5644009" y="481488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6942832" y="531018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5" name="Text 62"/>
          <p:cNvSpPr/>
          <p:nvPr/>
        </p:nvSpPr>
        <p:spPr>
          <a:xfrm>
            <a:off x="7114282" y="481488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8413105" y="531018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7" name="Text 64"/>
          <p:cNvSpPr/>
          <p:nvPr/>
        </p:nvSpPr>
        <p:spPr>
          <a:xfrm>
            <a:off x="8584555" y="481488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9883378" y="5310188"/>
            <a:ext cx="148530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9" name="Text 66"/>
          <p:cNvSpPr/>
          <p:nvPr/>
        </p:nvSpPr>
        <p:spPr>
          <a:xfrm>
            <a:off x="10054828" y="4814888"/>
            <a:ext cx="12186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11368683" y="531018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1" name="Text 68"/>
          <p:cNvSpPr/>
          <p:nvPr/>
        </p:nvSpPr>
        <p:spPr>
          <a:xfrm>
            <a:off x="11540133" y="481488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12102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12838956" y="5310188"/>
            <a:ext cx="170765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3" name="Text 70"/>
          <p:cNvSpPr/>
          <p:nvPr/>
        </p:nvSpPr>
        <p:spPr>
          <a:xfrm>
            <a:off x="13010406" y="4814888"/>
            <a:ext cx="14409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14546610" y="5310188"/>
            <a:ext cx="147131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5" name="Text 72"/>
          <p:cNvSpPr/>
          <p:nvPr/>
        </p:nvSpPr>
        <p:spPr>
          <a:xfrm>
            <a:off x="14718060" y="4814888"/>
            <a:ext cx="12046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76" name="Shape 73"/>
          <p:cNvSpPr/>
          <p:nvPr/>
        </p:nvSpPr>
        <p:spPr>
          <a:xfrm>
            <a:off x="16017925" y="531018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7" name="Text 74"/>
          <p:cNvSpPr/>
          <p:nvPr/>
        </p:nvSpPr>
        <p:spPr>
          <a:xfrm>
            <a:off x="16189375" y="481488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A27C4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800100" y="5967413"/>
            <a:ext cx="467245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9" name="Text 76"/>
          <p:cNvSpPr/>
          <p:nvPr/>
        </p:nvSpPr>
        <p:spPr>
          <a:xfrm>
            <a:off x="971550" y="5472113"/>
            <a:ext cx="44697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WS4 · Talent &amp; capability</a:t>
            </a:r>
            <a:endParaRPr lang="en-US" sz="1200" dirty="0"/>
          </a:p>
        </p:txBody>
      </p:sp>
      <p:sp>
        <p:nvSpPr>
          <p:cNvPr id="80" name="Shape 77"/>
          <p:cNvSpPr/>
          <p:nvPr/>
        </p:nvSpPr>
        <p:spPr>
          <a:xfrm>
            <a:off x="5472559" y="596741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1" name="Text 78"/>
          <p:cNvSpPr/>
          <p:nvPr/>
        </p:nvSpPr>
        <p:spPr>
          <a:xfrm>
            <a:off x="5644009" y="547211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82" name="Shape 79"/>
          <p:cNvSpPr/>
          <p:nvPr/>
        </p:nvSpPr>
        <p:spPr>
          <a:xfrm>
            <a:off x="6942832" y="596741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3" name="Text 80"/>
          <p:cNvSpPr/>
          <p:nvPr/>
        </p:nvSpPr>
        <p:spPr>
          <a:xfrm>
            <a:off x="7114282" y="547211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84" name="Shape 81"/>
          <p:cNvSpPr/>
          <p:nvPr/>
        </p:nvSpPr>
        <p:spPr>
          <a:xfrm>
            <a:off x="8413105" y="596741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5" name="Text 82"/>
          <p:cNvSpPr/>
          <p:nvPr/>
        </p:nvSpPr>
        <p:spPr>
          <a:xfrm>
            <a:off x="8584555" y="547211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86" name="Shape 83"/>
          <p:cNvSpPr/>
          <p:nvPr/>
        </p:nvSpPr>
        <p:spPr>
          <a:xfrm>
            <a:off x="9883378" y="5967413"/>
            <a:ext cx="148530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7" name="Text 84"/>
          <p:cNvSpPr/>
          <p:nvPr/>
        </p:nvSpPr>
        <p:spPr>
          <a:xfrm>
            <a:off x="10054828" y="5472113"/>
            <a:ext cx="12186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88" name="Shape 85"/>
          <p:cNvSpPr/>
          <p:nvPr/>
        </p:nvSpPr>
        <p:spPr>
          <a:xfrm>
            <a:off x="11368683" y="596741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9" name="Text 86"/>
          <p:cNvSpPr/>
          <p:nvPr/>
        </p:nvSpPr>
        <p:spPr>
          <a:xfrm>
            <a:off x="11540133" y="547211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90" name="Shape 87"/>
          <p:cNvSpPr/>
          <p:nvPr/>
        </p:nvSpPr>
        <p:spPr>
          <a:xfrm>
            <a:off x="12838956" y="5967413"/>
            <a:ext cx="170765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1" name="Text 88"/>
          <p:cNvSpPr/>
          <p:nvPr/>
        </p:nvSpPr>
        <p:spPr>
          <a:xfrm>
            <a:off x="13010406" y="5472113"/>
            <a:ext cx="14409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12102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14546610" y="5967413"/>
            <a:ext cx="147131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3" name="Text 90"/>
          <p:cNvSpPr/>
          <p:nvPr/>
        </p:nvSpPr>
        <p:spPr>
          <a:xfrm>
            <a:off x="14718060" y="5472113"/>
            <a:ext cx="12046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94" name="Shape 91"/>
          <p:cNvSpPr/>
          <p:nvPr/>
        </p:nvSpPr>
        <p:spPr>
          <a:xfrm>
            <a:off x="16017925" y="596741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5" name="Text 92"/>
          <p:cNvSpPr/>
          <p:nvPr/>
        </p:nvSpPr>
        <p:spPr>
          <a:xfrm>
            <a:off x="16189375" y="547211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96" name="Shape 93"/>
          <p:cNvSpPr/>
          <p:nvPr/>
        </p:nvSpPr>
        <p:spPr>
          <a:xfrm>
            <a:off x="800100" y="6624638"/>
            <a:ext cx="467245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7" name="Text 94"/>
          <p:cNvSpPr/>
          <p:nvPr/>
        </p:nvSpPr>
        <p:spPr>
          <a:xfrm>
            <a:off x="971550" y="6129338"/>
            <a:ext cx="44697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WS5 · Commercial / GTM</a:t>
            </a:r>
            <a:endParaRPr lang="en-US" sz="1200" dirty="0"/>
          </a:p>
        </p:txBody>
      </p:sp>
      <p:sp>
        <p:nvSpPr>
          <p:cNvPr id="98" name="Shape 95"/>
          <p:cNvSpPr/>
          <p:nvPr/>
        </p:nvSpPr>
        <p:spPr>
          <a:xfrm>
            <a:off x="5472559" y="662463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9" name="Text 96"/>
          <p:cNvSpPr/>
          <p:nvPr/>
        </p:nvSpPr>
        <p:spPr>
          <a:xfrm>
            <a:off x="5644009" y="612933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100" name="Shape 97"/>
          <p:cNvSpPr/>
          <p:nvPr/>
        </p:nvSpPr>
        <p:spPr>
          <a:xfrm>
            <a:off x="6942832" y="662463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1" name="Text 98"/>
          <p:cNvSpPr/>
          <p:nvPr/>
        </p:nvSpPr>
        <p:spPr>
          <a:xfrm>
            <a:off x="7114282" y="612933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02" name="Shape 99"/>
          <p:cNvSpPr/>
          <p:nvPr/>
        </p:nvSpPr>
        <p:spPr>
          <a:xfrm>
            <a:off x="8413105" y="662463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3" name="Text 100"/>
          <p:cNvSpPr/>
          <p:nvPr/>
        </p:nvSpPr>
        <p:spPr>
          <a:xfrm>
            <a:off x="8584555" y="612933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04" name="Shape 101"/>
          <p:cNvSpPr/>
          <p:nvPr/>
        </p:nvSpPr>
        <p:spPr>
          <a:xfrm>
            <a:off x="9883378" y="6624638"/>
            <a:ext cx="148530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5" name="Text 102"/>
          <p:cNvSpPr/>
          <p:nvPr/>
        </p:nvSpPr>
        <p:spPr>
          <a:xfrm>
            <a:off x="10054828" y="6129338"/>
            <a:ext cx="12186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106" name="Shape 103"/>
          <p:cNvSpPr/>
          <p:nvPr/>
        </p:nvSpPr>
        <p:spPr>
          <a:xfrm>
            <a:off x="11368683" y="662463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7" name="Text 104"/>
          <p:cNvSpPr/>
          <p:nvPr/>
        </p:nvSpPr>
        <p:spPr>
          <a:xfrm>
            <a:off x="11540133" y="612933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108" name="Shape 105"/>
          <p:cNvSpPr/>
          <p:nvPr/>
        </p:nvSpPr>
        <p:spPr>
          <a:xfrm>
            <a:off x="12838956" y="6624638"/>
            <a:ext cx="170765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9" name="Text 106"/>
          <p:cNvSpPr/>
          <p:nvPr/>
        </p:nvSpPr>
        <p:spPr>
          <a:xfrm>
            <a:off x="13010406" y="6129338"/>
            <a:ext cx="14409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110" name="Shape 107"/>
          <p:cNvSpPr/>
          <p:nvPr/>
        </p:nvSpPr>
        <p:spPr>
          <a:xfrm>
            <a:off x="14546610" y="6624638"/>
            <a:ext cx="147131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1" name="Text 108"/>
          <p:cNvSpPr/>
          <p:nvPr/>
        </p:nvSpPr>
        <p:spPr>
          <a:xfrm>
            <a:off x="14718060" y="6129338"/>
            <a:ext cx="12046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12102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112" name="Shape 109"/>
          <p:cNvSpPr/>
          <p:nvPr/>
        </p:nvSpPr>
        <p:spPr>
          <a:xfrm>
            <a:off x="16017925" y="6624638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3" name="Text 110"/>
          <p:cNvSpPr/>
          <p:nvPr/>
        </p:nvSpPr>
        <p:spPr>
          <a:xfrm>
            <a:off x="16189375" y="6129338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14" name="Shape 111"/>
          <p:cNvSpPr/>
          <p:nvPr/>
        </p:nvSpPr>
        <p:spPr>
          <a:xfrm>
            <a:off x="800100" y="7281863"/>
            <a:ext cx="467245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5" name="Text 112"/>
          <p:cNvSpPr/>
          <p:nvPr/>
        </p:nvSpPr>
        <p:spPr>
          <a:xfrm>
            <a:off x="971550" y="6786563"/>
            <a:ext cx="44697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WS6 · Change &amp; comms</a:t>
            </a:r>
            <a:endParaRPr lang="en-US" sz="1200" dirty="0"/>
          </a:p>
        </p:txBody>
      </p:sp>
      <p:sp>
        <p:nvSpPr>
          <p:cNvPr id="116" name="Shape 113"/>
          <p:cNvSpPr/>
          <p:nvPr/>
        </p:nvSpPr>
        <p:spPr>
          <a:xfrm>
            <a:off x="5472559" y="728186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7" name="Text 114"/>
          <p:cNvSpPr/>
          <p:nvPr/>
        </p:nvSpPr>
        <p:spPr>
          <a:xfrm>
            <a:off x="5644009" y="678656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18" name="Shape 115"/>
          <p:cNvSpPr/>
          <p:nvPr/>
        </p:nvSpPr>
        <p:spPr>
          <a:xfrm>
            <a:off x="6942832" y="728186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9" name="Text 116"/>
          <p:cNvSpPr/>
          <p:nvPr/>
        </p:nvSpPr>
        <p:spPr>
          <a:xfrm>
            <a:off x="7114282" y="678656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A27C4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00" dirty="0"/>
          </a:p>
        </p:txBody>
      </p:sp>
      <p:sp>
        <p:nvSpPr>
          <p:cNvPr id="120" name="Shape 117"/>
          <p:cNvSpPr/>
          <p:nvPr/>
        </p:nvSpPr>
        <p:spPr>
          <a:xfrm>
            <a:off x="8413105" y="728186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1" name="Text 118"/>
          <p:cNvSpPr/>
          <p:nvPr/>
        </p:nvSpPr>
        <p:spPr>
          <a:xfrm>
            <a:off x="8584555" y="678656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122" name="Shape 119"/>
          <p:cNvSpPr/>
          <p:nvPr/>
        </p:nvSpPr>
        <p:spPr>
          <a:xfrm>
            <a:off x="9883378" y="7281863"/>
            <a:ext cx="148530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3" name="Text 120"/>
          <p:cNvSpPr/>
          <p:nvPr/>
        </p:nvSpPr>
        <p:spPr>
          <a:xfrm>
            <a:off x="10054828" y="6786563"/>
            <a:ext cx="12186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24" name="Shape 121"/>
          <p:cNvSpPr/>
          <p:nvPr/>
        </p:nvSpPr>
        <p:spPr>
          <a:xfrm>
            <a:off x="11368683" y="728186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5" name="Text 122"/>
          <p:cNvSpPr/>
          <p:nvPr/>
        </p:nvSpPr>
        <p:spPr>
          <a:xfrm>
            <a:off x="11540133" y="678656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126" name="Shape 123"/>
          <p:cNvSpPr/>
          <p:nvPr/>
        </p:nvSpPr>
        <p:spPr>
          <a:xfrm>
            <a:off x="12838956" y="7281863"/>
            <a:ext cx="170765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7" name="Text 124"/>
          <p:cNvSpPr/>
          <p:nvPr/>
        </p:nvSpPr>
        <p:spPr>
          <a:xfrm>
            <a:off x="13010406" y="6786563"/>
            <a:ext cx="14409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12102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128" name="Shape 125"/>
          <p:cNvSpPr/>
          <p:nvPr/>
        </p:nvSpPr>
        <p:spPr>
          <a:xfrm>
            <a:off x="14546610" y="7281863"/>
            <a:ext cx="147131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9" name="Text 126"/>
          <p:cNvSpPr/>
          <p:nvPr/>
        </p:nvSpPr>
        <p:spPr>
          <a:xfrm>
            <a:off x="14718060" y="6786563"/>
            <a:ext cx="12046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30" name="Shape 127"/>
          <p:cNvSpPr/>
          <p:nvPr/>
        </p:nvSpPr>
        <p:spPr>
          <a:xfrm>
            <a:off x="16017925" y="7281863"/>
            <a:ext cx="1470273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1" name="Text 128"/>
          <p:cNvSpPr/>
          <p:nvPr/>
        </p:nvSpPr>
        <p:spPr>
          <a:xfrm>
            <a:off x="16189375" y="6786563"/>
            <a:ext cx="1203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132" name="Text 129"/>
          <p:cNvSpPr/>
          <p:nvPr/>
        </p:nvSpPr>
        <p:spPr>
          <a:xfrm>
            <a:off x="800100" y="7524750"/>
            <a:ext cx="21810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A27C4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— does the work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3171676" y="7524750"/>
            <a:ext cx="21081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12102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Accountable — single owner</a:t>
            </a:r>
            <a:endParaRPr lang="en-US" sz="1050" dirty="0"/>
          </a:p>
        </p:txBody>
      </p:sp>
      <p:sp>
        <p:nvSpPr>
          <p:cNvPr id="134" name="Text 131"/>
          <p:cNvSpPr/>
          <p:nvPr/>
        </p:nvSpPr>
        <p:spPr>
          <a:xfrm>
            <a:off x="5470327" y="7524750"/>
            <a:ext cx="20630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2102C"/>
                </a:solidFill>
                <a:highlight>
                  <a:srgbClr val="97BCB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Consulted — two-way input</a:t>
            </a:r>
            <a:endParaRPr lang="en-US" sz="1050" dirty="0"/>
          </a:p>
        </p:txBody>
      </p:sp>
      <p:sp>
        <p:nvSpPr>
          <p:cNvPr id="135" name="Text 132"/>
          <p:cNvSpPr/>
          <p:nvPr/>
        </p:nvSpPr>
        <p:spPr>
          <a:xfrm>
            <a:off x="7723882" y="7524750"/>
            <a:ext cx="178519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2102C"/>
                </a:solidFill>
                <a:highlight>
                  <a:srgbClr val="BFC0B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— kept aware</a:t>
            </a:r>
            <a:endParaRPr lang="en-US" sz="1050" dirty="0"/>
          </a:p>
        </p:txBody>
      </p:sp>
      <p:sp>
        <p:nvSpPr>
          <p:cNvPr id="136" name="Shape 133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7" name="Text 134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64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2913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ROADMAP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TEAM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accountable owner, a six-person leadership team, and dedicated workstream squads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" name="Text 4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64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543300"/>
            <a:ext cx="1648206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562600"/>
            <a:ext cx="1275397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Exercise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6429375"/>
            <a:ext cx="88296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Inorganic options — M&amp;A, joint venture, strategic partnership — and how we underwrite them.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9191625"/>
            <a:ext cx="11799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18159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4859" y="9191625"/>
            <a:ext cx="132159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01703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68403" y="9191625"/>
            <a:ext cx="11599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OPTIONS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23620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90320" y="9191625"/>
            <a:ext cx="19576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RECOMMENDATION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43255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09955" y="9191625"/>
            <a:ext cx="12273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ROADMAP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32590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799290" y="9191625"/>
            <a:ext cx="23166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CORPORATE EXERCISE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211199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477899" y="9191625"/>
            <a:ext cx="21138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INDUSTRY &amp; MARKET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686955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953655" y="9191625"/>
            <a:ext cx="76066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ASK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64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3513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CORPORATE EXERCISE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RATIONALE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transaction makes sense only if it does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four things — and ideally three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2933700"/>
            <a:ext cx="4014788" cy="5391150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6325" y="3209925"/>
            <a:ext cx="35662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6325" y="3505200"/>
            <a:ext cx="356620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strategy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76325" y="3876675"/>
            <a:ext cx="356620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[Compresses [X] years of organic build into [Y] months — buying time, not just assets.]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5024438" y="2933700"/>
            <a:ext cx="4014788" cy="5391150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0663" y="3209925"/>
            <a:ext cx="35662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300663" y="3505200"/>
            <a:ext cx="356620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 capability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300663" y="3876675"/>
            <a:ext cx="356620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[Brings in [specific capability / IP / talent] we cannot build economically in-house.]</a:t>
            </a:r>
            <a:endParaRPr lang="en-US" sz="1275" dirty="0"/>
          </a:p>
        </p:txBody>
      </p:sp>
      <p:sp>
        <p:nvSpPr>
          <p:cNvPr id="14" name="Shape 11"/>
          <p:cNvSpPr/>
          <p:nvPr/>
        </p:nvSpPr>
        <p:spPr>
          <a:xfrm>
            <a:off x="9248775" y="2933700"/>
            <a:ext cx="4014788" cy="5391150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25000" y="3209925"/>
            <a:ext cx="35662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525000" y="3505200"/>
            <a:ext cx="356620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or scale a market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9525000" y="3876675"/>
            <a:ext cx="3566208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[Gives immediate access to [geography / segment] with established channel and licences.]</a:t>
            </a:r>
            <a:endParaRPr lang="en-US" sz="1275" dirty="0"/>
          </a:p>
        </p:txBody>
      </p:sp>
      <p:sp>
        <p:nvSpPr>
          <p:cNvPr id="18" name="Shape 15"/>
          <p:cNvSpPr/>
          <p:nvPr/>
        </p:nvSpPr>
        <p:spPr>
          <a:xfrm>
            <a:off x="13473113" y="2933700"/>
            <a:ext cx="4014788" cy="5391150"/>
          </a:xfrm>
          <a:prstGeom prst="roundRect">
            <a:avLst>
              <a:gd name="adj" fmla="val 1423"/>
            </a:avLst>
          </a:prstGeom>
          <a:solidFill>
            <a:srgbClr val="12102C"/>
          </a:solidFill>
          <a:ln w="9525">
            <a:solidFill>
              <a:srgbClr val="1210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49338" y="3209925"/>
            <a:ext cx="35662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3749338" y="3505200"/>
            <a:ext cx="356620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synergies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3749338" y="3876675"/>
            <a:ext cx="356620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[Cost &amp; revenue synergies of [RM XX m] NPV — see synergy waterfall, p.41.]</a:t>
            </a:r>
            <a:endParaRPr lang="en-US" sz="1275" dirty="0"/>
          </a:p>
        </p:txBody>
      </p:sp>
      <p:sp>
        <p:nvSpPr>
          <p:cNvPr id="22" name="Shape 19"/>
          <p:cNvSpPr/>
          <p:nvPr/>
        </p:nvSpPr>
        <p:spPr>
          <a:xfrm>
            <a:off x="800100" y="8553450"/>
            <a:ext cx="16687800" cy="81915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23" name="Shape 20"/>
          <p:cNvSpPr/>
          <p:nvPr/>
        </p:nvSpPr>
        <p:spPr>
          <a:xfrm>
            <a:off x="800100" y="8553450"/>
            <a:ext cx="38100" cy="81915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24" name="Text 21"/>
          <p:cNvSpPr/>
          <p:nvPr/>
        </p:nvSpPr>
        <p:spPr>
          <a:xfrm>
            <a:off x="1047750" y="8724900"/>
            <a:ext cx="167175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TEST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47750" y="8963025"/>
            <a:ext cx="10697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deal must clear all three: strategic fit · synergy clarity · post-close governability. Anything failing one of these is not pursued.]</a:t>
            </a:r>
            <a:endParaRPr lang="en-US" sz="1425" dirty="0"/>
          </a:p>
        </p:txBody>
      </p:sp>
      <p:sp>
        <p:nvSpPr>
          <p:cNvPr id="26" name="Shape 23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64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3513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CORPORATE EXERCISE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SCREEN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long list of [24], six candidates clear the strategic filter — three are go-to-market priorities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3519488"/>
            <a:ext cx="3003947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7" name="Text 4"/>
          <p:cNvSpPr/>
          <p:nvPr/>
        </p:nvSpPr>
        <p:spPr>
          <a:xfrm>
            <a:off x="971550" y="3009900"/>
            <a:ext cx="275116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804047" y="3519488"/>
            <a:ext cx="2002631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9" name="Text 6"/>
          <p:cNvSpPr/>
          <p:nvPr/>
        </p:nvSpPr>
        <p:spPr>
          <a:xfrm>
            <a:off x="3975497" y="3009900"/>
            <a:ext cx="173593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06678" y="3519488"/>
            <a:ext cx="166881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1" name="Text 8"/>
          <p:cNvSpPr/>
          <p:nvPr/>
        </p:nvSpPr>
        <p:spPr>
          <a:xfrm>
            <a:off x="5940028" y="3009900"/>
            <a:ext cx="14021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FIT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75488" y="3519488"/>
            <a:ext cx="166881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3" name="Text 10"/>
          <p:cNvSpPr/>
          <p:nvPr/>
        </p:nvSpPr>
        <p:spPr>
          <a:xfrm>
            <a:off x="7608838" y="3009900"/>
            <a:ext cx="14021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PROFILE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44298" y="3519488"/>
            <a:ext cx="166881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5" name="Text 12"/>
          <p:cNvSpPr/>
          <p:nvPr/>
        </p:nvSpPr>
        <p:spPr>
          <a:xfrm>
            <a:off x="9277648" y="3009900"/>
            <a:ext cx="14021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SYNERGY POTENTIAL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813107" y="3519488"/>
            <a:ext cx="166881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7" name="Text 14"/>
          <p:cNvSpPr/>
          <p:nvPr/>
        </p:nvSpPr>
        <p:spPr>
          <a:xfrm>
            <a:off x="10946457" y="3009900"/>
            <a:ext cx="14021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RISK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2481917" y="3519488"/>
            <a:ext cx="166881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9" name="Text 16"/>
          <p:cNvSpPr/>
          <p:nvPr/>
        </p:nvSpPr>
        <p:spPr>
          <a:xfrm>
            <a:off x="12615267" y="3009900"/>
            <a:ext cx="14021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4150727" y="3519488"/>
            <a:ext cx="333762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1" name="Text 18"/>
          <p:cNvSpPr/>
          <p:nvPr/>
        </p:nvSpPr>
        <p:spPr>
          <a:xfrm>
            <a:off x="14322177" y="3009900"/>
            <a:ext cx="309484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0100" y="4148137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3" name="Text 20"/>
          <p:cNvSpPr/>
          <p:nvPr/>
        </p:nvSpPr>
        <p:spPr>
          <a:xfrm>
            <a:off x="971550" y="3681413"/>
            <a:ext cx="27511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 A]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3804047" y="4148137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2"/>
          <p:cNvSpPr/>
          <p:nvPr/>
        </p:nvSpPr>
        <p:spPr>
          <a:xfrm>
            <a:off x="3975497" y="3681413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[Malaysia]</a:t>
            </a:r>
            <a:endParaRPr lang="en-US" sz="1275" dirty="0"/>
          </a:p>
        </p:txBody>
      </p:sp>
      <p:sp>
        <p:nvSpPr>
          <p:cNvPr id="26" name="Shape 23"/>
          <p:cNvSpPr/>
          <p:nvPr/>
        </p:nvSpPr>
        <p:spPr>
          <a:xfrm>
            <a:off x="5806678" y="4148137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Shape 24"/>
          <p:cNvSpPr/>
          <p:nvPr/>
        </p:nvSpPr>
        <p:spPr>
          <a:xfrm>
            <a:off x="6337399" y="3686175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42174" y="3752850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475488" y="4148137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0" name="Shape 27"/>
          <p:cNvSpPr/>
          <p:nvPr/>
        </p:nvSpPr>
        <p:spPr>
          <a:xfrm>
            <a:off x="8006209" y="3686175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110984" y="3752850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144298" y="4148137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3" name="Shape 30"/>
          <p:cNvSpPr/>
          <p:nvPr/>
        </p:nvSpPr>
        <p:spPr>
          <a:xfrm>
            <a:off x="9675019" y="3686175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779794" y="3752850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10813107" y="4148137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6" name="Shape 33"/>
          <p:cNvSpPr/>
          <p:nvPr/>
        </p:nvSpPr>
        <p:spPr>
          <a:xfrm>
            <a:off x="11356925" y="368617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461700" y="375285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12481917" y="4148137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9" name="Text 36"/>
          <p:cNvSpPr/>
          <p:nvPr/>
        </p:nvSpPr>
        <p:spPr>
          <a:xfrm>
            <a:off x="12615267" y="3681413"/>
            <a:ext cx="14021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★ ★ ★ ★</a:t>
            </a:r>
            <a:endParaRPr lang="en-US" sz="1275" dirty="0"/>
          </a:p>
        </p:txBody>
      </p:sp>
      <p:sp>
        <p:nvSpPr>
          <p:cNvPr id="40" name="Shape 37"/>
          <p:cNvSpPr/>
          <p:nvPr/>
        </p:nvSpPr>
        <p:spPr>
          <a:xfrm>
            <a:off x="14150727" y="4148137"/>
            <a:ext cx="333762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1" name="Text 38"/>
          <p:cNvSpPr/>
          <p:nvPr/>
        </p:nvSpPr>
        <p:spPr>
          <a:xfrm>
            <a:off x="14322177" y="3681413"/>
            <a:ext cx="30948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[Approach — priority 1]</a:t>
            </a:r>
            <a:endParaRPr lang="en-US" sz="1275" dirty="0"/>
          </a:p>
        </p:txBody>
      </p:sp>
      <p:sp>
        <p:nvSpPr>
          <p:cNvPr id="42" name="Shape 39"/>
          <p:cNvSpPr/>
          <p:nvPr/>
        </p:nvSpPr>
        <p:spPr>
          <a:xfrm>
            <a:off x="800100" y="477678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3" name="Text 40"/>
          <p:cNvSpPr/>
          <p:nvPr/>
        </p:nvSpPr>
        <p:spPr>
          <a:xfrm>
            <a:off x="971550" y="4310063"/>
            <a:ext cx="27511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 B]</a:t>
            </a:r>
            <a:endParaRPr lang="en-US" sz="1275" dirty="0"/>
          </a:p>
        </p:txBody>
      </p:sp>
      <p:sp>
        <p:nvSpPr>
          <p:cNvPr id="44" name="Shape 41"/>
          <p:cNvSpPr/>
          <p:nvPr/>
        </p:nvSpPr>
        <p:spPr>
          <a:xfrm>
            <a:off x="3804047" y="4776788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5" name="Text 42"/>
          <p:cNvSpPr/>
          <p:nvPr/>
        </p:nvSpPr>
        <p:spPr>
          <a:xfrm>
            <a:off x="3975497" y="4310063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[Indonesia]</a:t>
            </a:r>
            <a:endParaRPr lang="en-US" sz="1275" dirty="0"/>
          </a:p>
        </p:txBody>
      </p:sp>
      <p:sp>
        <p:nvSpPr>
          <p:cNvPr id="46" name="Shape 43"/>
          <p:cNvSpPr/>
          <p:nvPr/>
        </p:nvSpPr>
        <p:spPr>
          <a:xfrm>
            <a:off x="5806678" y="47767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7" name="Shape 44"/>
          <p:cNvSpPr/>
          <p:nvPr/>
        </p:nvSpPr>
        <p:spPr>
          <a:xfrm>
            <a:off x="6337399" y="4314825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42174" y="4381500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7475488" y="47767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0" name="Shape 47"/>
          <p:cNvSpPr/>
          <p:nvPr/>
        </p:nvSpPr>
        <p:spPr>
          <a:xfrm>
            <a:off x="8019306" y="431482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124081" y="438150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9144298" y="47767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3" name="Shape 50"/>
          <p:cNvSpPr/>
          <p:nvPr/>
        </p:nvSpPr>
        <p:spPr>
          <a:xfrm>
            <a:off x="9675019" y="4314825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779794" y="4381500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0813107" y="47767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6" name="Shape 53"/>
          <p:cNvSpPr/>
          <p:nvPr/>
        </p:nvSpPr>
        <p:spPr>
          <a:xfrm>
            <a:off x="11356925" y="431482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1461700" y="438150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12481917" y="47767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9" name="Text 56"/>
          <p:cNvSpPr/>
          <p:nvPr/>
        </p:nvSpPr>
        <p:spPr>
          <a:xfrm>
            <a:off x="12615267" y="4310063"/>
            <a:ext cx="14021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★ ★ ★ ☆</a:t>
            </a:r>
            <a:endParaRPr lang="en-US" sz="1275" dirty="0"/>
          </a:p>
        </p:txBody>
      </p:sp>
      <p:sp>
        <p:nvSpPr>
          <p:cNvPr id="60" name="Shape 57"/>
          <p:cNvSpPr/>
          <p:nvPr/>
        </p:nvSpPr>
        <p:spPr>
          <a:xfrm>
            <a:off x="14150727" y="4776788"/>
            <a:ext cx="333762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1" name="Text 58"/>
          <p:cNvSpPr/>
          <p:nvPr/>
        </p:nvSpPr>
        <p:spPr>
          <a:xfrm>
            <a:off x="14322177" y="4310063"/>
            <a:ext cx="30948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[Approach — priority 2]</a:t>
            </a:r>
            <a:endParaRPr lang="en-US" sz="1275" dirty="0"/>
          </a:p>
        </p:txBody>
      </p:sp>
      <p:sp>
        <p:nvSpPr>
          <p:cNvPr id="62" name="Shape 59"/>
          <p:cNvSpPr/>
          <p:nvPr/>
        </p:nvSpPr>
        <p:spPr>
          <a:xfrm>
            <a:off x="800100" y="540543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3" name="Text 60"/>
          <p:cNvSpPr/>
          <p:nvPr/>
        </p:nvSpPr>
        <p:spPr>
          <a:xfrm>
            <a:off x="971550" y="4938713"/>
            <a:ext cx="27511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 C]</a:t>
            </a:r>
            <a:endParaRPr lang="en-US" sz="1275" dirty="0"/>
          </a:p>
        </p:txBody>
      </p:sp>
      <p:sp>
        <p:nvSpPr>
          <p:cNvPr id="64" name="Shape 61"/>
          <p:cNvSpPr/>
          <p:nvPr/>
        </p:nvSpPr>
        <p:spPr>
          <a:xfrm>
            <a:off x="3804047" y="5405438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5" name="Text 62"/>
          <p:cNvSpPr/>
          <p:nvPr/>
        </p:nvSpPr>
        <p:spPr>
          <a:xfrm>
            <a:off x="3975497" y="4938713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[Singapore]</a:t>
            </a:r>
            <a:endParaRPr lang="en-US" sz="1275" dirty="0"/>
          </a:p>
        </p:txBody>
      </p:sp>
      <p:sp>
        <p:nvSpPr>
          <p:cNvPr id="66" name="Shape 63"/>
          <p:cNvSpPr/>
          <p:nvPr/>
        </p:nvSpPr>
        <p:spPr>
          <a:xfrm>
            <a:off x="5806678" y="54054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7" name="Shape 64"/>
          <p:cNvSpPr/>
          <p:nvPr/>
        </p:nvSpPr>
        <p:spPr>
          <a:xfrm>
            <a:off x="6337399" y="4943475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442174" y="5010150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7475488" y="54054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0" name="Shape 67"/>
          <p:cNvSpPr/>
          <p:nvPr/>
        </p:nvSpPr>
        <p:spPr>
          <a:xfrm>
            <a:off x="8006209" y="4943475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110984" y="5010150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9144298" y="54054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3" name="Shape 70"/>
          <p:cNvSpPr/>
          <p:nvPr/>
        </p:nvSpPr>
        <p:spPr>
          <a:xfrm>
            <a:off x="9688116" y="494347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792891" y="501015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10813107" y="54054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6" name="Shape 73"/>
          <p:cNvSpPr/>
          <p:nvPr/>
        </p:nvSpPr>
        <p:spPr>
          <a:xfrm>
            <a:off x="11367195" y="4943475"/>
            <a:ext cx="560636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1471970" y="5010150"/>
            <a:ext cx="3510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50" dirty="0"/>
          </a:p>
        </p:txBody>
      </p:sp>
      <p:sp>
        <p:nvSpPr>
          <p:cNvPr id="78" name="Shape 75"/>
          <p:cNvSpPr/>
          <p:nvPr/>
        </p:nvSpPr>
        <p:spPr>
          <a:xfrm>
            <a:off x="12481917" y="54054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9" name="Text 76"/>
          <p:cNvSpPr/>
          <p:nvPr/>
        </p:nvSpPr>
        <p:spPr>
          <a:xfrm>
            <a:off x="12615267" y="4938713"/>
            <a:ext cx="14021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★ ★ ★ ☆</a:t>
            </a:r>
            <a:endParaRPr lang="en-US" sz="1275" dirty="0"/>
          </a:p>
        </p:txBody>
      </p:sp>
      <p:sp>
        <p:nvSpPr>
          <p:cNvPr id="80" name="Shape 77"/>
          <p:cNvSpPr/>
          <p:nvPr/>
        </p:nvSpPr>
        <p:spPr>
          <a:xfrm>
            <a:off x="14150727" y="5405438"/>
            <a:ext cx="333762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1" name="Text 78"/>
          <p:cNvSpPr/>
          <p:nvPr/>
        </p:nvSpPr>
        <p:spPr>
          <a:xfrm>
            <a:off x="14322177" y="4938713"/>
            <a:ext cx="30948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[Approach — priority 3]</a:t>
            </a:r>
            <a:endParaRPr lang="en-US" sz="1275" dirty="0"/>
          </a:p>
        </p:txBody>
      </p:sp>
      <p:sp>
        <p:nvSpPr>
          <p:cNvPr id="82" name="Shape 79"/>
          <p:cNvSpPr/>
          <p:nvPr/>
        </p:nvSpPr>
        <p:spPr>
          <a:xfrm>
            <a:off x="800100" y="603408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3" name="Text 80"/>
          <p:cNvSpPr/>
          <p:nvPr/>
        </p:nvSpPr>
        <p:spPr>
          <a:xfrm>
            <a:off x="971550" y="5567363"/>
            <a:ext cx="27511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 D]</a:t>
            </a:r>
            <a:endParaRPr lang="en-US" sz="1275" dirty="0"/>
          </a:p>
        </p:txBody>
      </p:sp>
      <p:sp>
        <p:nvSpPr>
          <p:cNvPr id="84" name="Shape 81"/>
          <p:cNvSpPr/>
          <p:nvPr/>
        </p:nvSpPr>
        <p:spPr>
          <a:xfrm>
            <a:off x="3804047" y="6034088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5" name="Text 82"/>
          <p:cNvSpPr/>
          <p:nvPr/>
        </p:nvSpPr>
        <p:spPr>
          <a:xfrm>
            <a:off x="3975497" y="5567363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[Thailand]</a:t>
            </a:r>
            <a:endParaRPr lang="en-US" sz="1275" dirty="0"/>
          </a:p>
        </p:txBody>
      </p:sp>
      <p:sp>
        <p:nvSpPr>
          <p:cNvPr id="86" name="Shape 83"/>
          <p:cNvSpPr/>
          <p:nvPr/>
        </p:nvSpPr>
        <p:spPr>
          <a:xfrm>
            <a:off x="5806678" y="60340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7" name="Shape 84"/>
          <p:cNvSpPr/>
          <p:nvPr/>
        </p:nvSpPr>
        <p:spPr>
          <a:xfrm>
            <a:off x="6350496" y="557212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6455271" y="563880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89" name="Shape 86"/>
          <p:cNvSpPr/>
          <p:nvPr/>
        </p:nvSpPr>
        <p:spPr>
          <a:xfrm>
            <a:off x="7475488" y="60340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0" name="Shape 87"/>
          <p:cNvSpPr/>
          <p:nvPr/>
        </p:nvSpPr>
        <p:spPr>
          <a:xfrm>
            <a:off x="8006209" y="5572125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8110984" y="5638800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92" name="Shape 89"/>
          <p:cNvSpPr/>
          <p:nvPr/>
        </p:nvSpPr>
        <p:spPr>
          <a:xfrm>
            <a:off x="9144298" y="60340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3" name="Shape 90"/>
          <p:cNvSpPr/>
          <p:nvPr/>
        </p:nvSpPr>
        <p:spPr>
          <a:xfrm>
            <a:off x="9688116" y="557212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9792891" y="563880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95" name="Shape 92"/>
          <p:cNvSpPr/>
          <p:nvPr/>
        </p:nvSpPr>
        <p:spPr>
          <a:xfrm>
            <a:off x="10813107" y="60340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6" name="Shape 93"/>
          <p:cNvSpPr/>
          <p:nvPr/>
        </p:nvSpPr>
        <p:spPr>
          <a:xfrm>
            <a:off x="11356925" y="557212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1461700" y="563880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98" name="Shape 95"/>
          <p:cNvSpPr/>
          <p:nvPr/>
        </p:nvSpPr>
        <p:spPr>
          <a:xfrm>
            <a:off x="12481917" y="60340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9" name="Text 96"/>
          <p:cNvSpPr/>
          <p:nvPr/>
        </p:nvSpPr>
        <p:spPr>
          <a:xfrm>
            <a:off x="12615267" y="5567363"/>
            <a:ext cx="14021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★ ★ ☆ ☆</a:t>
            </a:r>
            <a:endParaRPr lang="en-US" sz="1275" dirty="0"/>
          </a:p>
        </p:txBody>
      </p:sp>
      <p:sp>
        <p:nvSpPr>
          <p:cNvPr id="100" name="Shape 97"/>
          <p:cNvSpPr/>
          <p:nvPr/>
        </p:nvSpPr>
        <p:spPr>
          <a:xfrm>
            <a:off x="14150727" y="6034088"/>
            <a:ext cx="333762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1" name="Text 98"/>
          <p:cNvSpPr/>
          <p:nvPr/>
        </p:nvSpPr>
        <p:spPr>
          <a:xfrm>
            <a:off x="14322177" y="5567363"/>
            <a:ext cx="30948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[Watch — JV first]</a:t>
            </a:r>
            <a:endParaRPr lang="en-US" sz="1275" dirty="0"/>
          </a:p>
        </p:txBody>
      </p:sp>
      <p:sp>
        <p:nvSpPr>
          <p:cNvPr id="102" name="Shape 99"/>
          <p:cNvSpPr/>
          <p:nvPr/>
        </p:nvSpPr>
        <p:spPr>
          <a:xfrm>
            <a:off x="800100" y="666273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3" name="Text 100"/>
          <p:cNvSpPr/>
          <p:nvPr/>
        </p:nvSpPr>
        <p:spPr>
          <a:xfrm>
            <a:off x="971550" y="6196013"/>
            <a:ext cx="27511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 E]</a:t>
            </a:r>
            <a:endParaRPr lang="en-US" sz="1275" dirty="0"/>
          </a:p>
        </p:txBody>
      </p:sp>
      <p:sp>
        <p:nvSpPr>
          <p:cNvPr id="104" name="Shape 101"/>
          <p:cNvSpPr/>
          <p:nvPr/>
        </p:nvSpPr>
        <p:spPr>
          <a:xfrm>
            <a:off x="3804047" y="6662738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5" name="Text 102"/>
          <p:cNvSpPr/>
          <p:nvPr/>
        </p:nvSpPr>
        <p:spPr>
          <a:xfrm>
            <a:off x="3975497" y="6196013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[Vietnam]</a:t>
            </a:r>
            <a:endParaRPr lang="en-US" sz="1275" dirty="0"/>
          </a:p>
        </p:txBody>
      </p:sp>
      <p:sp>
        <p:nvSpPr>
          <p:cNvPr id="106" name="Shape 103"/>
          <p:cNvSpPr/>
          <p:nvPr/>
        </p:nvSpPr>
        <p:spPr>
          <a:xfrm>
            <a:off x="5806678" y="66627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7" name="Shape 104"/>
          <p:cNvSpPr/>
          <p:nvPr/>
        </p:nvSpPr>
        <p:spPr>
          <a:xfrm>
            <a:off x="6350496" y="620077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6455271" y="626745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109" name="Shape 106"/>
          <p:cNvSpPr/>
          <p:nvPr/>
        </p:nvSpPr>
        <p:spPr>
          <a:xfrm>
            <a:off x="7475488" y="66627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0" name="Shape 107"/>
          <p:cNvSpPr/>
          <p:nvPr/>
        </p:nvSpPr>
        <p:spPr>
          <a:xfrm>
            <a:off x="8019306" y="620077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8124081" y="626745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112" name="Shape 109"/>
          <p:cNvSpPr/>
          <p:nvPr/>
        </p:nvSpPr>
        <p:spPr>
          <a:xfrm>
            <a:off x="9144298" y="66627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3" name="Shape 110"/>
          <p:cNvSpPr/>
          <p:nvPr/>
        </p:nvSpPr>
        <p:spPr>
          <a:xfrm>
            <a:off x="9675019" y="6200775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9779794" y="6267450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115" name="Shape 112"/>
          <p:cNvSpPr/>
          <p:nvPr/>
        </p:nvSpPr>
        <p:spPr>
          <a:xfrm>
            <a:off x="10813107" y="66627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6" name="Shape 113"/>
          <p:cNvSpPr/>
          <p:nvPr/>
        </p:nvSpPr>
        <p:spPr>
          <a:xfrm>
            <a:off x="11343829" y="6200775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F8E6E3"/>
          </a:solidFill>
          <a:ln w="9525">
            <a:solidFill>
              <a:srgbClr val="ECCAC4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11448604" y="6267450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8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118" name="Shape 115"/>
          <p:cNvSpPr/>
          <p:nvPr/>
        </p:nvSpPr>
        <p:spPr>
          <a:xfrm>
            <a:off x="12481917" y="66627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9" name="Text 116"/>
          <p:cNvSpPr/>
          <p:nvPr/>
        </p:nvSpPr>
        <p:spPr>
          <a:xfrm>
            <a:off x="12615267" y="6196013"/>
            <a:ext cx="14021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★ ☆ ☆ ☆</a:t>
            </a:r>
            <a:endParaRPr lang="en-US" sz="1275" dirty="0"/>
          </a:p>
        </p:txBody>
      </p:sp>
      <p:sp>
        <p:nvSpPr>
          <p:cNvPr id="120" name="Shape 117"/>
          <p:cNvSpPr/>
          <p:nvPr/>
        </p:nvSpPr>
        <p:spPr>
          <a:xfrm>
            <a:off x="14150727" y="6662738"/>
            <a:ext cx="333762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1" name="Text 118"/>
          <p:cNvSpPr/>
          <p:nvPr/>
        </p:nvSpPr>
        <p:spPr>
          <a:xfrm>
            <a:off x="14322177" y="6196013"/>
            <a:ext cx="30948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[Hold]</a:t>
            </a:r>
            <a:endParaRPr lang="en-US" sz="1275" dirty="0"/>
          </a:p>
        </p:txBody>
      </p:sp>
      <p:sp>
        <p:nvSpPr>
          <p:cNvPr id="122" name="Shape 119"/>
          <p:cNvSpPr/>
          <p:nvPr/>
        </p:nvSpPr>
        <p:spPr>
          <a:xfrm>
            <a:off x="800100" y="7291388"/>
            <a:ext cx="300394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3" name="Text 120"/>
          <p:cNvSpPr/>
          <p:nvPr/>
        </p:nvSpPr>
        <p:spPr>
          <a:xfrm>
            <a:off x="971550" y="6824663"/>
            <a:ext cx="27511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 F]</a:t>
            </a:r>
            <a:endParaRPr lang="en-US" sz="1275" dirty="0"/>
          </a:p>
        </p:txBody>
      </p:sp>
      <p:sp>
        <p:nvSpPr>
          <p:cNvPr id="124" name="Shape 121"/>
          <p:cNvSpPr/>
          <p:nvPr/>
        </p:nvSpPr>
        <p:spPr>
          <a:xfrm>
            <a:off x="3804047" y="7291388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5" name="Text 122"/>
          <p:cNvSpPr/>
          <p:nvPr/>
        </p:nvSpPr>
        <p:spPr>
          <a:xfrm>
            <a:off x="3975497" y="6824663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[Philippines]</a:t>
            </a:r>
            <a:endParaRPr lang="en-US" sz="1275" dirty="0"/>
          </a:p>
        </p:txBody>
      </p:sp>
      <p:sp>
        <p:nvSpPr>
          <p:cNvPr id="126" name="Shape 123"/>
          <p:cNvSpPr/>
          <p:nvPr/>
        </p:nvSpPr>
        <p:spPr>
          <a:xfrm>
            <a:off x="5806678" y="72913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7" name="Shape 124"/>
          <p:cNvSpPr/>
          <p:nvPr/>
        </p:nvSpPr>
        <p:spPr>
          <a:xfrm>
            <a:off x="6350496" y="682942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6455271" y="689610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129" name="Shape 126"/>
          <p:cNvSpPr/>
          <p:nvPr/>
        </p:nvSpPr>
        <p:spPr>
          <a:xfrm>
            <a:off x="7475488" y="72913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0" name="Shape 127"/>
          <p:cNvSpPr/>
          <p:nvPr/>
        </p:nvSpPr>
        <p:spPr>
          <a:xfrm>
            <a:off x="8019306" y="682942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8124081" y="689610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132" name="Shape 129"/>
          <p:cNvSpPr/>
          <p:nvPr/>
        </p:nvSpPr>
        <p:spPr>
          <a:xfrm>
            <a:off x="9144298" y="72913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3" name="Shape 130"/>
          <p:cNvSpPr/>
          <p:nvPr/>
        </p:nvSpPr>
        <p:spPr>
          <a:xfrm>
            <a:off x="9688116" y="6829425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9792891" y="6896100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135" name="Shape 132"/>
          <p:cNvSpPr/>
          <p:nvPr/>
        </p:nvSpPr>
        <p:spPr>
          <a:xfrm>
            <a:off x="10813107" y="72913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6" name="Shape 133"/>
          <p:cNvSpPr/>
          <p:nvPr/>
        </p:nvSpPr>
        <p:spPr>
          <a:xfrm>
            <a:off x="11343829" y="6829425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F8E6E3"/>
          </a:solidFill>
          <a:ln w="9525">
            <a:solidFill>
              <a:srgbClr val="ECCAC4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11448604" y="6896100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8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138" name="Shape 135"/>
          <p:cNvSpPr/>
          <p:nvPr/>
        </p:nvSpPr>
        <p:spPr>
          <a:xfrm>
            <a:off x="12481917" y="72913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9" name="Text 136"/>
          <p:cNvSpPr/>
          <p:nvPr/>
        </p:nvSpPr>
        <p:spPr>
          <a:xfrm>
            <a:off x="12615267" y="6824663"/>
            <a:ext cx="14021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★ ☆ ☆ ☆</a:t>
            </a:r>
            <a:endParaRPr lang="en-US" sz="1275" dirty="0"/>
          </a:p>
        </p:txBody>
      </p:sp>
      <p:sp>
        <p:nvSpPr>
          <p:cNvPr id="140" name="Shape 137"/>
          <p:cNvSpPr/>
          <p:nvPr/>
        </p:nvSpPr>
        <p:spPr>
          <a:xfrm>
            <a:off x="14150727" y="7291388"/>
            <a:ext cx="333762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1" name="Text 138"/>
          <p:cNvSpPr/>
          <p:nvPr/>
        </p:nvSpPr>
        <p:spPr>
          <a:xfrm>
            <a:off x="14322177" y="6824663"/>
            <a:ext cx="30948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[Hold]</a:t>
            </a:r>
            <a:endParaRPr lang="en-US" sz="1275" dirty="0"/>
          </a:p>
        </p:txBody>
      </p:sp>
      <p:sp>
        <p:nvSpPr>
          <p:cNvPr id="142" name="Shape 139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3" name="Text 140"/>
          <p:cNvSpPr/>
          <p:nvPr/>
        </p:nvSpPr>
        <p:spPr>
          <a:xfrm>
            <a:off x="800100" y="9410700"/>
            <a:ext cx="74284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criteria: revenue [&gt;RM XXm], EBITDA margin [&gt;XX%], strategic adjacency, governance fit. Detailed scorecards in appendix.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64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3513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CORPORATE EXERCISE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TARGET · PROFILE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 A] — [one-line description: what they do, where they play, why they fit]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2895600"/>
            <a:ext cx="30902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(FY25)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0100" y="3105150"/>
            <a:ext cx="309023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[XXX]m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00100" y="3581400"/>
            <a:ext cx="309023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[+XX%] YoY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4067026" y="2895600"/>
            <a:ext cx="309038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067026" y="3105150"/>
            <a:ext cx="309038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4067026" y="3581400"/>
            <a:ext cx="309038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median [XX]%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7334101" y="2895600"/>
            <a:ext cx="309038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34101" y="3105150"/>
            <a:ext cx="309038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7334101" y="3581400"/>
            <a:ext cx="309038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 engineering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800100" y="4452938"/>
            <a:ext cx="3051125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6" name="Text 13"/>
          <p:cNvSpPr/>
          <p:nvPr/>
        </p:nvSpPr>
        <p:spPr>
          <a:xfrm>
            <a:off x="971550" y="4095750"/>
            <a:ext cx="279975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851225" y="4452938"/>
            <a:ext cx="64834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8" name="Text 15"/>
          <p:cNvSpPr/>
          <p:nvPr/>
        </p:nvSpPr>
        <p:spPr>
          <a:xfrm>
            <a:off x="4022675" y="4095750"/>
            <a:ext cx="633500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[Founder XX%] · [PE fund XX%] · [Management XX%]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0100" y="4976813"/>
            <a:ext cx="3051125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0" name="Text 17"/>
          <p:cNvSpPr/>
          <p:nvPr/>
        </p:nvSpPr>
        <p:spPr>
          <a:xfrm>
            <a:off x="971550" y="4614863"/>
            <a:ext cx="27997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851225" y="4976813"/>
            <a:ext cx="64834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2" name="Text 19"/>
          <p:cNvSpPr/>
          <p:nvPr/>
        </p:nvSpPr>
        <p:spPr>
          <a:xfrm>
            <a:off x="4022675" y="4614863"/>
            <a:ext cx="63350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[Markets served]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00100" y="5500688"/>
            <a:ext cx="3051125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4" name="Text 21"/>
          <p:cNvSpPr/>
          <p:nvPr/>
        </p:nvSpPr>
        <p:spPr>
          <a:xfrm>
            <a:off x="971550" y="5138738"/>
            <a:ext cx="27997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851225" y="5500688"/>
            <a:ext cx="64834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6" name="Text 23"/>
          <p:cNvSpPr/>
          <p:nvPr/>
        </p:nvSpPr>
        <p:spPr>
          <a:xfrm>
            <a:off x="4022675" y="5138738"/>
            <a:ext cx="63350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[Product lines / segments]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00100" y="6024563"/>
            <a:ext cx="3051125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8" name="Text 25"/>
          <p:cNvSpPr/>
          <p:nvPr/>
        </p:nvSpPr>
        <p:spPr>
          <a:xfrm>
            <a:off x="971550" y="5662613"/>
            <a:ext cx="27997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CUSTOMERS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851225" y="6024563"/>
            <a:ext cx="64834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0" name="Text 27"/>
          <p:cNvSpPr/>
          <p:nvPr/>
        </p:nvSpPr>
        <p:spPr>
          <a:xfrm>
            <a:off x="4022675" y="5662613"/>
            <a:ext cx="63350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[Anchor accounts; concentration]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0100" y="6548438"/>
            <a:ext cx="3051125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32" name="Text 29"/>
          <p:cNvSpPr/>
          <p:nvPr/>
        </p:nvSpPr>
        <p:spPr>
          <a:xfrm>
            <a:off x="971550" y="6186488"/>
            <a:ext cx="27997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STATUS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851225" y="6548438"/>
            <a:ext cx="64834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4" name="Text 31"/>
          <p:cNvSpPr/>
          <p:nvPr/>
        </p:nvSpPr>
        <p:spPr>
          <a:xfrm>
            <a:off x="4022675" y="6186488"/>
            <a:ext cx="63350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[Licences held; restrictions]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00100" y="7072313"/>
            <a:ext cx="3051125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36" name="Text 33"/>
          <p:cNvSpPr/>
          <p:nvPr/>
        </p:nvSpPr>
        <p:spPr>
          <a:xfrm>
            <a:off x="971550" y="6710363"/>
            <a:ext cx="27997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ACTIVITY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851225" y="7072313"/>
            <a:ext cx="64834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8" name="Text 35"/>
          <p:cNvSpPr/>
          <p:nvPr/>
        </p:nvSpPr>
        <p:spPr>
          <a:xfrm>
            <a:off x="4022675" y="6710363"/>
            <a:ext cx="63350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[Funding rounds, acquisitions, leadership changes in last 24m]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0677376" y="2895600"/>
            <a:ext cx="6810375" cy="2114550"/>
          </a:xfrm>
          <a:prstGeom prst="roundRect">
            <a:avLst>
              <a:gd name="adj" fmla="val 1802"/>
            </a:avLst>
          </a:prstGeom>
          <a:solidFill>
            <a:srgbClr val="FAFAF8"/>
          </a:solidFill>
          <a:ln w="9525">
            <a:solidFill>
              <a:srgbClr val="C9C3B5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10584746" y="2905125"/>
            <a:ext cx="6995636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spc="144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 LOGO / HERO IMAGE]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10677376" y="5181600"/>
            <a:ext cx="6810375" cy="107632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42" name="Shape 39"/>
          <p:cNvSpPr/>
          <p:nvPr/>
        </p:nvSpPr>
        <p:spPr>
          <a:xfrm>
            <a:off x="10677376" y="5181600"/>
            <a:ext cx="38100" cy="1076325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43" name="Text 40"/>
          <p:cNvSpPr/>
          <p:nvPr/>
        </p:nvSpPr>
        <p:spPr>
          <a:xfrm>
            <a:off x="10925026" y="5353050"/>
            <a:ext cx="65437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ONE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0925026" y="5591175"/>
            <a:ext cx="585893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[Three lines on why Target A wins on the screen — capability, customer overlap, geographic complementarity.]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0677376" y="6429375"/>
            <a:ext cx="6810375" cy="819150"/>
          </a:xfrm>
          <a:prstGeom prst="rect">
            <a:avLst/>
          </a:prstGeom>
          <a:solidFill>
            <a:srgbClr val="FBF1EE"/>
          </a:solidFill>
          <a:ln/>
        </p:spPr>
      </p:sp>
      <p:sp>
        <p:nvSpPr>
          <p:cNvPr id="46" name="Shape 43"/>
          <p:cNvSpPr/>
          <p:nvPr/>
        </p:nvSpPr>
        <p:spPr>
          <a:xfrm>
            <a:off x="10677376" y="6429375"/>
            <a:ext cx="38100" cy="81915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47" name="Text 44"/>
          <p:cNvSpPr/>
          <p:nvPr/>
        </p:nvSpPr>
        <p:spPr>
          <a:xfrm>
            <a:off x="10925026" y="6600825"/>
            <a:ext cx="65437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CONCERNS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0925026" y="6838950"/>
            <a:ext cx="64244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concentration, founder retention risk, FX exposure on receivables.]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0" name="Text 47"/>
          <p:cNvSpPr/>
          <p:nvPr/>
        </p:nvSpPr>
        <p:spPr>
          <a:xfrm>
            <a:off x="800100" y="9410700"/>
            <a:ext cx="53514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[Target management presentation], company filings, OSK analysis. All figures unaudited.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64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3513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CORPORATE EXERCISE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CREATION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[RM XXX m] of run-rate synergies — two-thirds cost, one-third revenue, net of [RM XX m] dis-synergies</a:t>
            </a:r>
            <a:endParaRPr lang="en-US" sz="3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857500"/>
            <a:ext cx="16687800" cy="54234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0100" y="8433346"/>
            <a:ext cx="105251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synergy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2043113" y="8433346"/>
            <a:ext cx="129406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synergy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527673" y="8433346"/>
            <a:ext cx="207778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Dis-synergy / cost-to-achieve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" name="Text 7"/>
          <p:cNvSpPr/>
          <p:nvPr/>
        </p:nvSpPr>
        <p:spPr>
          <a:xfrm>
            <a:off x="800100" y="9410700"/>
            <a:ext cx="65505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OSK synergy model, [v0.3]. Phased to run-rate in [Y3]. Cost to achieve: [RM XX m], paid back in [XX] months.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64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3513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CORPORATE EXERCISE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RANGE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methodologies bracket equity value at [RM XXX–YYY m] — anchor on DCF, sense-check on comps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3124200"/>
            <a:ext cx="304800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" y="2895600"/>
            <a:ext cx="31394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076700" y="3124200"/>
            <a:ext cx="1203960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9" name="Text 6"/>
          <p:cNvSpPr/>
          <p:nvPr/>
        </p:nvSpPr>
        <p:spPr>
          <a:xfrm>
            <a:off x="4076700" y="2895600"/>
            <a:ext cx="124007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(RM M, EQUITY VALUE)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344900" y="3124200"/>
            <a:ext cx="114300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1" name="Text 8"/>
          <p:cNvSpPr/>
          <p:nvPr/>
        </p:nvSpPr>
        <p:spPr>
          <a:xfrm>
            <a:off x="16268700" y="2895600"/>
            <a:ext cx="1219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00100" y="3719512"/>
            <a:ext cx="30480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" name="Text 10"/>
          <p:cNvSpPr/>
          <p:nvPr/>
        </p:nvSpPr>
        <p:spPr>
          <a:xfrm>
            <a:off x="800100" y="3328988"/>
            <a:ext cx="3139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· base case</a:t>
            </a:r>
            <a:endParaRPr lang="en-US" sz="1275" dirty="0"/>
          </a:p>
        </p:txBody>
      </p:sp>
      <p:sp>
        <p:nvSpPr>
          <p:cNvPr id="14" name="Shape 11"/>
          <p:cNvSpPr/>
          <p:nvPr/>
        </p:nvSpPr>
        <p:spPr>
          <a:xfrm>
            <a:off x="4076700" y="3743325"/>
            <a:ext cx="120396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" name="Shape 12"/>
          <p:cNvSpPr/>
          <p:nvPr/>
        </p:nvSpPr>
        <p:spPr>
          <a:xfrm>
            <a:off x="4076700" y="3305175"/>
            <a:ext cx="12039600" cy="2667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6" name="Shape 13"/>
          <p:cNvSpPr/>
          <p:nvPr/>
        </p:nvSpPr>
        <p:spPr>
          <a:xfrm>
            <a:off x="7447657" y="3343275"/>
            <a:ext cx="2705844" cy="190500"/>
          </a:xfrm>
          <a:prstGeom prst="rect">
            <a:avLst/>
          </a:prstGeom>
          <a:solidFill>
            <a:srgbClr val="DBAF63"/>
          </a:solidFill>
          <a:ln/>
        </p:spPr>
      </p:sp>
      <p:sp>
        <p:nvSpPr>
          <p:cNvPr id="17" name="Shape 14"/>
          <p:cNvSpPr/>
          <p:nvPr/>
        </p:nvSpPr>
        <p:spPr>
          <a:xfrm>
            <a:off x="7447657" y="3343275"/>
            <a:ext cx="28575" cy="190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8" name="Shape 15"/>
          <p:cNvSpPr/>
          <p:nvPr/>
        </p:nvSpPr>
        <p:spPr>
          <a:xfrm>
            <a:off x="10124926" y="3343275"/>
            <a:ext cx="28575" cy="190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9" name="Shape 16"/>
          <p:cNvSpPr/>
          <p:nvPr/>
        </p:nvSpPr>
        <p:spPr>
          <a:xfrm>
            <a:off x="8800505" y="3305175"/>
            <a:ext cx="19050" cy="266700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0" name="Shape 17"/>
          <p:cNvSpPr/>
          <p:nvPr/>
        </p:nvSpPr>
        <p:spPr>
          <a:xfrm>
            <a:off x="16344900" y="3714750"/>
            <a:ext cx="11430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1" name="Text 18"/>
          <p:cNvSpPr/>
          <p:nvPr/>
        </p:nvSpPr>
        <p:spPr>
          <a:xfrm>
            <a:off x="16268700" y="3333750"/>
            <a:ext cx="1219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[420–520]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0100" y="4338638"/>
            <a:ext cx="30480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3" name="Text 20"/>
          <p:cNvSpPr/>
          <p:nvPr/>
        </p:nvSpPr>
        <p:spPr>
          <a:xfrm>
            <a:off x="800100" y="3948112"/>
            <a:ext cx="3139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· upside scenario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4076700" y="4362450"/>
            <a:ext cx="120396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Shape 22"/>
          <p:cNvSpPr/>
          <p:nvPr/>
        </p:nvSpPr>
        <p:spPr>
          <a:xfrm>
            <a:off x="4076700" y="3924300"/>
            <a:ext cx="12039600" cy="2667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6" name="Shape 23"/>
          <p:cNvSpPr/>
          <p:nvPr/>
        </p:nvSpPr>
        <p:spPr>
          <a:xfrm>
            <a:off x="9133284" y="3962400"/>
            <a:ext cx="3428107" cy="190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27" name="Shape 24"/>
          <p:cNvSpPr/>
          <p:nvPr/>
        </p:nvSpPr>
        <p:spPr>
          <a:xfrm>
            <a:off x="9133284" y="3962400"/>
            <a:ext cx="28575" cy="190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28" name="Shape 25"/>
          <p:cNvSpPr/>
          <p:nvPr/>
        </p:nvSpPr>
        <p:spPr>
          <a:xfrm>
            <a:off x="12532816" y="3962400"/>
            <a:ext cx="28575" cy="190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29" name="Shape 26"/>
          <p:cNvSpPr/>
          <p:nvPr/>
        </p:nvSpPr>
        <p:spPr>
          <a:xfrm>
            <a:off x="16344900" y="4333875"/>
            <a:ext cx="11430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0" name="Text 27"/>
          <p:cNvSpPr/>
          <p:nvPr/>
        </p:nvSpPr>
        <p:spPr>
          <a:xfrm>
            <a:off x="16268700" y="3952875"/>
            <a:ext cx="1219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[560–700]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0100" y="4957763"/>
            <a:ext cx="30480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2" name="Text 29"/>
          <p:cNvSpPr/>
          <p:nvPr/>
        </p:nvSpPr>
        <p:spPr>
          <a:xfrm>
            <a:off x="800100" y="4567238"/>
            <a:ext cx="3139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comps · EV/EBITDA</a:t>
            </a:r>
            <a:endParaRPr lang="en-US" sz="1275" dirty="0"/>
          </a:p>
        </p:txBody>
      </p:sp>
      <p:sp>
        <p:nvSpPr>
          <p:cNvPr id="33" name="Shape 30"/>
          <p:cNvSpPr/>
          <p:nvPr/>
        </p:nvSpPr>
        <p:spPr>
          <a:xfrm>
            <a:off x="4076700" y="4981575"/>
            <a:ext cx="120396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4" name="Shape 31"/>
          <p:cNvSpPr/>
          <p:nvPr/>
        </p:nvSpPr>
        <p:spPr>
          <a:xfrm>
            <a:off x="4076700" y="4543425"/>
            <a:ext cx="12039600" cy="2667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6198" y="4581525"/>
            <a:ext cx="3668911" cy="190500"/>
          </a:xfrm>
          <a:prstGeom prst="rect">
            <a:avLst/>
          </a:prstGeom>
          <a:solidFill>
            <a:srgbClr val="DBAF63"/>
          </a:solidFill>
          <a:ln/>
        </p:spPr>
      </p:sp>
      <p:sp>
        <p:nvSpPr>
          <p:cNvPr id="36" name="Shape 33"/>
          <p:cNvSpPr/>
          <p:nvPr/>
        </p:nvSpPr>
        <p:spPr>
          <a:xfrm>
            <a:off x="6966198" y="4581525"/>
            <a:ext cx="28575" cy="190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37" name="Shape 34"/>
          <p:cNvSpPr/>
          <p:nvPr/>
        </p:nvSpPr>
        <p:spPr>
          <a:xfrm>
            <a:off x="10606534" y="4581525"/>
            <a:ext cx="28575" cy="190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38" name="Shape 35"/>
          <p:cNvSpPr/>
          <p:nvPr/>
        </p:nvSpPr>
        <p:spPr>
          <a:xfrm>
            <a:off x="16344900" y="4953000"/>
            <a:ext cx="11430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9" name="Text 36"/>
          <p:cNvSpPr/>
          <p:nvPr/>
        </p:nvSpPr>
        <p:spPr>
          <a:xfrm>
            <a:off x="16268700" y="4572000"/>
            <a:ext cx="1219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[380–580]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00100" y="5576888"/>
            <a:ext cx="30480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1" name="Text 38"/>
          <p:cNvSpPr/>
          <p:nvPr/>
        </p:nvSpPr>
        <p:spPr>
          <a:xfrm>
            <a:off x="800100" y="5186363"/>
            <a:ext cx="3139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comps · EV/Revenue</a:t>
            </a:r>
            <a:endParaRPr lang="en-US" sz="1275" dirty="0"/>
          </a:p>
        </p:txBody>
      </p:sp>
      <p:sp>
        <p:nvSpPr>
          <p:cNvPr id="42" name="Shape 39"/>
          <p:cNvSpPr/>
          <p:nvPr/>
        </p:nvSpPr>
        <p:spPr>
          <a:xfrm>
            <a:off x="4076700" y="5600700"/>
            <a:ext cx="120396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3" name="Shape 40"/>
          <p:cNvSpPr/>
          <p:nvPr/>
        </p:nvSpPr>
        <p:spPr>
          <a:xfrm>
            <a:off x="4076700" y="5162550"/>
            <a:ext cx="12039600" cy="2667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4" name="Shape 41"/>
          <p:cNvSpPr/>
          <p:nvPr/>
        </p:nvSpPr>
        <p:spPr>
          <a:xfrm>
            <a:off x="7929265" y="5200650"/>
            <a:ext cx="2946648" cy="190500"/>
          </a:xfrm>
          <a:prstGeom prst="rect">
            <a:avLst/>
          </a:prstGeom>
          <a:solidFill>
            <a:srgbClr val="DBAF63"/>
          </a:solidFill>
          <a:ln/>
        </p:spPr>
      </p:sp>
      <p:sp>
        <p:nvSpPr>
          <p:cNvPr id="45" name="Shape 42"/>
          <p:cNvSpPr/>
          <p:nvPr/>
        </p:nvSpPr>
        <p:spPr>
          <a:xfrm>
            <a:off x="7929265" y="5200650"/>
            <a:ext cx="28575" cy="190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46" name="Shape 43"/>
          <p:cNvSpPr/>
          <p:nvPr/>
        </p:nvSpPr>
        <p:spPr>
          <a:xfrm>
            <a:off x="10847338" y="5200650"/>
            <a:ext cx="28575" cy="190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47" name="Shape 44"/>
          <p:cNvSpPr/>
          <p:nvPr/>
        </p:nvSpPr>
        <p:spPr>
          <a:xfrm>
            <a:off x="16344900" y="5572125"/>
            <a:ext cx="11430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8" name="Text 45"/>
          <p:cNvSpPr/>
          <p:nvPr/>
        </p:nvSpPr>
        <p:spPr>
          <a:xfrm>
            <a:off x="16268700" y="5191125"/>
            <a:ext cx="1219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[460–600]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800100" y="6196013"/>
            <a:ext cx="30480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0" name="Text 47"/>
          <p:cNvSpPr/>
          <p:nvPr/>
        </p:nvSpPr>
        <p:spPr>
          <a:xfrm>
            <a:off x="800100" y="5805488"/>
            <a:ext cx="3139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 transactions</a:t>
            </a:r>
            <a:endParaRPr lang="en-US" sz="1275" dirty="0"/>
          </a:p>
        </p:txBody>
      </p:sp>
      <p:sp>
        <p:nvSpPr>
          <p:cNvPr id="51" name="Shape 48"/>
          <p:cNvSpPr/>
          <p:nvPr/>
        </p:nvSpPr>
        <p:spPr>
          <a:xfrm>
            <a:off x="4076700" y="6219825"/>
            <a:ext cx="120396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2" name="Shape 49"/>
          <p:cNvSpPr/>
          <p:nvPr/>
        </p:nvSpPr>
        <p:spPr>
          <a:xfrm>
            <a:off x="4076700" y="5781675"/>
            <a:ext cx="12039600" cy="2667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3" name="Shape 50"/>
          <p:cNvSpPr/>
          <p:nvPr/>
        </p:nvSpPr>
        <p:spPr>
          <a:xfrm>
            <a:off x="8651677" y="5819775"/>
            <a:ext cx="3428107" cy="190500"/>
          </a:xfrm>
          <a:prstGeom prst="rect">
            <a:avLst/>
          </a:prstGeom>
          <a:solidFill>
            <a:srgbClr val="DBAF63"/>
          </a:solidFill>
          <a:ln/>
        </p:spPr>
      </p:sp>
      <p:sp>
        <p:nvSpPr>
          <p:cNvPr id="54" name="Shape 51"/>
          <p:cNvSpPr/>
          <p:nvPr/>
        </p:nvSpPr>
        <p:spPr>
          <a:xfrm>
            <a:off x="8651677" y="5819775"/>
            <a:ext cx="28575" cy="190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55" name="Shape 52"/>
          <p:cNvSpPr/>
          <p:nvPr/>
        </p:nvSpPr>
        <p:spPr>
          <a:xfrm>
            <a:off x="12051209" y="5819775"/>
            <a:ext cx="28575" cy="190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56" name="Shape 53"/>
          <p:cNvSpPr/>
          <p:nvPr/>
        </p:nvSpPr>
        <p:spPr>
          <a:xfrm>
            <a:off x="16344900" y="6191250"/>
            <a:ext cx="11430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7" name="Text 54"/>
          <p:cNvSpPr/>
          <p:nvPr/>
        </p:nvSpPr>
        <p:spPr>
          <a:xfrm>
            <a:off x="16268700" y="5810250"/>
            <a:ext cx="1219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[520–680]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00100" y="6424613"/>
            <a:ext cx="3139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offer range</a:t>
            </a:r>
            <a:endParaRPr lang="en-US" sz="1275" dirty="0"/>
          </a:p>
        </p:txBody>
      </p:sp>
      <p:sp>
        <p:nvSpPr>
          <p:cNvPr id="59" name="Shape 56"/>
          <p:cNvSpPr/>
          <p:nvPr/>
        </p:nvSpPr>
        <p:spPr>
          <a:xfrm>
            <a:off x="4076700" y="6400800"/>
            <a:ext cx="12039600" cy="2667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0" name="Shape 57"/>
          <p:cNvSpPr/>
          <p:nvPr/>
        </p:nvSpPr>
        <p:spPr>
          <a:xfrm>
            <a:off x="8410873" y="6438900"/>
            <a:ext cx="1983432" cy="190500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61" name="Shape 58"/>
          <p:cNvSpPr/>
          <p:nvPr/>
        </p:nvSpPr>
        <p:spPr>
          <a:xfrm>
            <a:off x="8410873" y="6438900"/>
            <a:ext cx="28575" cy="190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62" name="Shape 59"/>
          <p:cNvSpPr/>
          <p:nvPr/>
        </p:nvSpPr>
        <p:spPr>
          <a:xfrm>
            <a:off x="10365730" y="6438900"/>
            <a:ext cx="28575" cy="1905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63" name="Shape 60"/>
          <p:cNvSpPr/>
          <p:nvPr/>
        </p:nvSpPr>
        <p:spPr>
          <a:xfrm>
            <a:off x="9402514" y="6400800"/>
            <a:ext cx="19050" cy="2667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64" name="Text 61"/>
          <p:cNvSpPr/>
          <p:nvPr/>
        </p:nvSpPr>
        <p:spPr>
          <a:xfrm>
            <a:off x="16268700" y="6429375"/>
            <a:ext cx="1219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[500–580]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800100" y="7010400"/>
            <a:ext cx="189145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Axis: RM 0 m ··· RM 1,000 m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2882057" y="7010400"/>
            <a:ext cx="6706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3743176" y="7010400"/>
            <a:ext cx="84445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Mid-point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9" name="Text 66"/>
          <p:cNvSpPr/>
          <p:nvPr/>
        </p:nvSpPr>
        <p:spPr>
          <a:xfrm>
            <a:off x="800100" y="9410700"/>
            <a:ext cx="67948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OSK valuation model [v0.3]. DCF: WACC [X.X]%, terminal growth [X.X]%. Comps set: [list]. All values pre-synergy.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64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3513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CORPORATE EXERCISE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STRUCTURE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[60%] cash acquisition via a Malaysian SPV — founders retain [40%] with a put/call at year [3]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1215985" y="2819400"/>
            <a:ext cx="64600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215985" y="3614738"/>
            <a:ext cx="2508796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8" name="Text 5"/>
          <p:cNvSpPr/>
          <p:nvPr/>
        </p:nvSpPr>
        <p:spPr>
          <a:xfrm>
            <a:off x="11387435" y="3257550"/>
            <a:ext cx="224209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3724781" y="3614738"/>
            <a:ext cx="37632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" name="Text 7"/>
          <p:cNvSpPr/>
          <p:nvPr/>
        </p:nvSpPr>
        <p:spPr>
          <a:xfrm>
            <a:off x="13896231" y="3257550"/>
            <a:ext cx="353326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[XXX m] · [60%] cash, [40%] roll-over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1215985" y="4138613"/>
            <a:ext cx="2508796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2" name="Text 9"/>
          <p:cNvSpPr/>
          <p:nvPr/>
        </p:nvSpPr>
        <p:spPr>
          <a:xfrm>
            <a:off x="11387435" y="3776662"/>
            <a:ext cx="22420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MIX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3724781" y="4138613"/>
            <a:ext cx="37632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" name="Text 11"/>
          <p:cNvSpPr/>
          <p:nvPr/>
        </p:nvSpPr>
        <p:spPr>
          <a:xfrm>
            <a:off x="13896231" y="3776662"/>
            <a:ext cx="353326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[60%] cash from balance sheet, [40%] new debt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215985" y="4662488"/>
            <a:ext cx="2508796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6" name="Text 13"/>
          <p:cNvSpPr/>
          <p:nvPr/>
        </p:nvSpPr>
        <p:spPr>
          <a:xfrm>
            <a:off x="11387435" y="4300538"/>
            <a:ext cx="22420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MULTIPLE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3724781" y="4662488"/>
            <a:ext cx="37632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8" name="Text 15"/>
          <p:cNvSpPr/>
          <p:nvPr/>
        </p:nvSpPr>
        <p:spPr>
          <a:xfrm>
            <a:off x="13896231" y="4300538"/>
            <a:ext cx="353326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[X.X]× EV/EBITDA · [X.X]× EV/Revenue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1215985" y="5186363"/>
            <a:ext cx="2508796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0" name="Text 17"/>
          <p:cNvSpPr/>
          <p:nvPr/>
        </p:nvSpPr>
        <p:spPr>
          <a:xfrm>
            <a:off x="11387435" y="4824413"/>
            <a:ext cx="22420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LOCK-UP / EARN-OUT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3724781" y="5186363"/>
            <a:ext cx="37632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2" name="Text 19"/>
          <p:cNvSpPr/>
          <p:nvPr/>
        </p:nvSpPr>
        <p:spPr>
          <a:xfrm>
            <a:off x="13896231" y="4824413"/>
            <a:ext cx="353326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[3-year] earn-out tied to [EBITDA target]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1215985" y="5919788"/>
            <a:ext cx="2508796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4" name="Text 21"/>
          <p:cNvSpPr/>
          <p:nvPr/>
        </p:nvSpPr>
        <p:spPr>
          <a:xfrm>
            <a:off x="11387435" y="5348288"/>
            <a:ext cx="224209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3724781" y="5919788"/>
            <a:ext cx="37632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6" name="Text 23"/>
          <p:cNvSpPr/>
          <p:nvPr/>
        </p:nvSpPr>
        <p:spPr>
          <a:xfrm>
            <a:off x="13896231" y="5348288"/>
            <a:ext cx="353326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OSK appoints [3] of [5] board seats; reserved matters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215985" y="6653213"/>
            <a:ext cx="2508796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8" name="Text 25"/>
          <p:cNvSpPr/>
          <p:nvPr/>
        </p:nvSpPr>
        <p:spPr>
          <a:xfrm>
            <a:off x="11387435" y="6081713"/>
            <a:ext cx="224209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PRECEDENT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3724781" y="6653213"/>
            <a:ext cx="37632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0" name="Text 27"/>
          <p:cNvSpPr/>
          <p:nvPr/>
        </p:nvSpPr>
        <p:spPr>
          <a:xfrm>
            <a:off x="13896231" y="6081713"/>
            <a:ext cx="353326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[Regulatory] · [shareholder] · [key-man] approvals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1215985" y="7177088"/>
            <a:ext cx="2508796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32" name="Text 29"/>
          <p:cNvSpPr/>
          <p:nvPr/>
        </p:nvSpPr>
        <p:spPr>
          <a:xfrm>
            <a:off x="11387435" y="6815138"/>
            <a:ext cx="22420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CLOSE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3724781" y="7177088"/>
            <a:ext cx="37632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4" name="Text 31"/>
          <p:cNvSpPr/>
          <p:nvPr/>
        </p:nvSpPr>
        <p:spPr>
          <a:xfrm>
            <a:off x="13896231" y="6815138"/>
            <a:ext cx="353326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[Q4 FY2026]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6" name="Text 33"/>
          <p:cNvSpPr/>
          <p:nvPr/>
        </p:nvSpPr>
        <p:spPr>
          <a:xfrm>
            <a:off x="800100" y="9410700"/>
            <a:ext cx="84522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structure subject to legal &amp; tax review. Final structure may use a Labuan / Singapore intermediary depending on dividend repatriation analysis.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64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3513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CORPORATE EXERCISE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POST-CLOSE INTEGRATION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Day-1 stability, Day-100 momentum, Year-1 synergy — three horizons with clear exit criteria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2933700"/>
            <a:ext cx="5410200" cy="643890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9363075"/>
            <a:ext cx="54102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933700"/>
            <a:ext cx="5410200" cy="381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2933700"/>
            <a:ext cx="9525" cy="64389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" name="Shape 7"/>
          <p:cNvSpPr/>
          <p:nvPr/>
        </p:nvSpPr>
        <p:spPr>
          <a:xfrm>
            <a:off x="6200775" y="2933700"/>
            <a:ext cx="9525" cy="64389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" name="Text 8"/>
          <p:cNvSpPr/>
          <p:nvPr/>
        </p:nvSpPr>
        <p:spPr>
          <a:xfrm>
            <a:off x="1076325" y="3238500"/>
            <a:ext cx="50034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 · DAY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6325" y="3467100"/>
            <a:ext cx="50034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 &amp; reassure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79195" y="3933825"/>
            <a:ext cx="483108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[Day-1 comms to staff, customers, regulators]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[Retention packages for top [XX] roles]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[IT &amp; data access continuity]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[Integration Management Office stood up]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[Joint scorecard published]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76325" y="5553075"/>
            <a:ext cx="50034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CRITERION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6325" y="5762625"/>
            <a:ext cx="500348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 churn of top-20 customers; key-talent retention &gt; 95%.]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38900" y="2933700"/>
            <a:ext cx="5410200" cy="643890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17" name="Shape 14"/>
          <p:cNvSpPr/>
          <p:nvPr/>
        </p:nvSpPr>
        <p:spPr>
          <a:xfrm>
            <a:off x="6438900" y="9363075"/>
            <a:ext cx="54102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8" name="Shape 15"/>
          <p:cNvSpPr/>
          <p:nvPr/>
        </p:nvSpPr>
        <p:spPr>
          <a:xfrm>
            <a:off x="6438900" y="2933700"/>
            <a:ext cx="5410200" cy="381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9" name="Shape 16"/>
          <p:cNvSpPr/>
          <p:nvPr/>
        </p:nvSpPr>
        <p:spPr>
          <a:xfrm>
            <a:off x="6438900" y="2933700"/>
            <a:ext cx="9525" cy="64389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0" name="Shape 17"/>
          <p:cNvSpPr/>
          <p:nvPr/>
        </p:nvSpPr>
        <p:spPr>
          <a:xfrm>
            <a:off x="11839575" y="2933700"/>
            <a:ext cx="9525" cy="64389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1" name="Text 18"/>
          <p:cNvSpPr/>
          <p:nvPr/>
        </p:nvSpPr>
        <p:spPr>
          <a:xfrm>
            <a:off x="6715125" y="3238500"/>
            <a:ext cx="50034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 · DAY 100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15125" y="3467100"/>
            <a:ext cx="50034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operating rhythm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817995" y="3933825"/>
            <a:ext cx="483108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[Combined ELT operating model live]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[First synergy quick-wins captured]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[Single P&amp;L view across entities]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[Joint product / GTM plan signed]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[Cultural integration plan in flight]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715125" y="5553075"/>
            <a:ext cx="50034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CRITERION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715125" y="5762625"/>
            <a:ext cx="500348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[[RM XX m] run-rate synergies banked; integration NPS &gt; [XX].]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2077700" y="2933700"/>
            <a:ext cx="5410200" cy="6438900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7" name="Text 24"/>
          <p:cNvSpPr/>
          <p:nvPr/>
        </p:nvSpPr>
        <p:spPr>
          <a:xfrm>
            <a:off x="12344400" y="3200400"/>
            <a:ext cx="502310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 · YEAR 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2344400" y="3429000"/>
            <a:ext cx="502310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the synergies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2447270" y="3895725"/>
            <a:ext cx="485013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[Tech / data migration phase 1 complete]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[Procurement consolidation captured]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[Cross-sell motion in market]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[Org redesign live · attrition managed]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[Integration office wound down]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2344400" y="5514975"/>
            <a:ext cx="502310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CRITERION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2344400" y="5724525"/>
            <a:ext cx="502310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[[XX]% of Y3 synergies on run-rate; combined EBITDA on plan.]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3" name="Text 30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64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386138"/>
            <a:ext cx="1648206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405438"/>
            <a:ext cx="1275397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&amp; Market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6272213"/>
            <a:ext cx="882967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industry is moving, who is competing, how value is priced, and where the openings are.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9191625"/>
            <a:ext cx="11799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18159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4859" y="9191625"/>
            <a:ext cx="132159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01703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68403" y="9191625"/>
            <a:ext cx="11599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OPTIONS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23620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90320" y="9191625"/>
            <a:ext cx="19576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RECOMMENDATION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43255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09955" y="9191625"/>
            <a:ext cx="12273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ROADMAP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32590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799290" y="9191625"/>
            <a:ext cx="222870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CORPORATE EXERCISE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123241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389941" y="9191625"/>
            <a:ext cx="21925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INDUSTRY &amp; MARKET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677727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944427" y="9191625"/>
            <a:ext cx="76066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ASK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/ 64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2312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INDUSTRY &amp; MARKET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STRUCTURE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attractiveness is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buyer power is the binding constraint, not new entrants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079331" y="2857500"/>
            <a:ext cx="6129338" cy="2024509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7" name="Shape 4"/>
          <p:cNvSpPr/>
          <p:nvPr/>
        </p:nvSpPr>
        <p:spPr>
          <a:xfrm>
            <a:off x="6079331" y="2857500"/>
            <a:ext cx="6129338" cy="381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8" name="Text 5"/>
          <p:cNvSpPr/>
          <p:nvPr/>
        </p:nvSpPr>
        <p:spPr>
          <a:xfrm>
            <a:off x="6288881" y="3105150"/>
            <a:ext cx="588154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ENTRANTS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88881" y="3352800"/>
            <a:ext cx="588154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[Low — High capital, regulatory and brand barriers protect incumbents.]</a:t>
            </a:r>
            <a:endParaRPr lang="en-US" sz="1425" dirty="0"/>
          </a:p>
        </p:txBody>
      </p:sp>
      <p:sp>
        <p:nvSpPr>
          <p:cNvPr id="10" name="Text 7"/>
          <p:cNvSpPr/>
          <p:nvPr/>
        </p:nvSpPr>
        <p:spPr>
          <a:xfrm>
            <a:off x="6288881" y="3886200"/>
            <a:ext cx="58815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[Two new entrants in [3] years, neither at scale. Licence regime is a hard moat.]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6288881" y="4572446"/>
            <a:ext cx="152400" cy="57150"/>
          </a:xfrm>
          <a:prstGeom prst="roundRect">
            <a:avLst>
              <a:gd name="adj" fmla="val 16667"/>
            </a:avLst>
          </a:prstGeom>
          <a:solidFill>
            <a:srgbClr val="A27C49"/>
          </a:solidFill>
          <a:ln/>
        </p:spPr>
      </p:sp>
      <p:sp>
        <p:nvSpPr>
          <p:cNvPr id="12" name="Shape 9"/>
          <p:cNvSpPr/>
          <p:nvPr/>
        </p:nvSpPr>
        <p:spPr>
          <a:xfrm>
            <a:off x="6469856" y="4572446"/>
            <a:ext cx="152400" cy="57150"/>
          </a:xfrm>
          <a:prstGeom prst="roundRect">
            <a:avLst>
              <a:gd name="adj" fmla="val 16667"/>
            </a:avLst>
          </a:prstGeom>
          <a:solidFill>
            <a:srgbClr val="A27C49"/>
          </a:solidFill>
          <a:ln/>
        </p:spPr>
      </p:sp>
      <p:sp>
        <p:nvSpPr>
          <p:cNvPr id="13" name="Shape 10"/>
          <p:cNvSpPr/>
          <p:nvPr/>
        </p:nvSpPr>
        <p:spPr>
          <a:xfrm>
            <a:off x="6650831" y="4572446"/>
            <a:ext cx="152400" cy="57150"/>
          </a:xfrm>
          <a:prstGeom prst="roundRect">
            <a:avLst>
              <a:gd name="adj" fmla="val 16667"/>
            </a:avLst>
          </a:prstGeom>
          <a:solidFill>
            <a:srgbClr val="E5E1D8"/>
          </a:solidFill>
          <a:ln/>
        </p:spPr>
      </p:sp>
      <p:sp>
        <p:nvSpPr>
          <p:cNvPr id="14" name="Shape 11"/>
          <p:cNvSpPr/>
          <p:nvPr/>
        </p:nvSpPr>
        <p:spPr>
          <a:xfrm>
            <a:off x="6831806" y="4572446"/>
            <a:ext cx="152400" cy="57150"/>
          </a:xfrm>
          <a:prstGeom prst="roundRect">
            <a:avLst>
              <a:gd name="adj" fmla="val 16667"/>
            </a:avLst>
          </a:prstGeom>
          <a:solidFill>
            <a:srgbClr val="E5E1D8"/>
          </a:solidFill>
          <a:ln/>
        </p:spPr>
      </p:sp>
      <p:sp>
        <p:nvSpPr>
          <p:cNvPr id="15" name="Shape 12"/>
          <p:cNvSpPr/>
          <p:nvPr/>
        </p:nvSpPr>
        <p:spPr>
          <a:xfrm>
            <a:off x="7012781" y="4572446"/>
            <a:ext cx="152400" cy="57150"/>
          </a:xfrm>
          <a:prstGeom prst="roundRect">
            <a:avLst>
              <a:gd name="adj" fmla="val 16667"/>
            </a:avLst>
          </a:prstGeom>
          <a:solidFill>
            <a:srgbClr val="E5E1D8"/>
          </a:solidFill>
          <a:ln/>
        </p:spPr>
      </p:sp>
      <p:sp>
        <p:nvSpPr>
          <p:cNvPr id="16" name="Text 13"/>
          <p:cNvSpPr/>
          <p:nvPr/>
        </p:nvSpPr>
        <p:spPr>
          <a:xfrm>
            <a:off x="7193756" y="4539109"/>
            <a:ext cx="3513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9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25" dirty="0"/>
          </a:p>
        </p:txBody>
      </p:sp>
      <p:sp>
        <p:nvSpPr>
          <p:cNvPr id="17" name="Shape 14"/>
          <p:cNvSpPr/>
          <p:nvPr/>
        </p:nvSpPr>
        <p:spPr>
          <a:xfrm>
            <a:off x="800100" y="5053459"/>
            <a:ext cx="5107781" cy="2123182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18" name="Shape 15"/>
          <p:cNvSpPr/>
          <p:nvPr/>
        </p:nvSpPr>
        <p:spPr>
          <a:xfrm>
            <a:off x="800100" y="5053459"/>
            <a:ext cx="5107781" cy="381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9" name="Text 16"/>
          <p:cNvSpPr/>
          <p:nvPr/>
        </p:nvSpPr>
        <p:spPr>
          <a:xfrm>
            <a:off x="1009650" y="5301109"/>
            <a:ext cx="48293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POWER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09650" y="5548759"/>
            <a:ext cx="482934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[Med — concentrated upstream, but multiple options.]</a:t>
            </a:r>
            <a:endParaRPr lang="en-US" sz="1425" dirty="0"/>
          </a:p>
        </p:txBody>
      </p:sp>
      <p:sp>
        <p:nvSpPr>
          <p:cNvPr id="21" name="Text 18"/>
          <p:cNvSpPr/>
          <p:nvPr/>
        </p:nvSpPr>
        <p:spPr>
          <a:xfrm>
            <a:off x="1009650" y="5863084"/>
            <a:ext cx="482934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[Top-3 suppliers control [XX]% of input; long-term contracts cushion volatility.]</a:t>
            </a:r>
            <a:endParaRPr lang="en-US" sz="1125" dirty="0"/>
          </a:p>
        </p:txBody>
      </p:sp>
      <p:sp>
        <p:nvSpPr>
          <p:cNvPr id="22" name="Shape 19"/>
          <p:cNvSpPr/>
          <p:nvPr/>
        </p:nvSpPr>
        <p:spPr>
          <a:xfrm>
            <a:off x="1009650" y="6867079"/>
            <a:ext cx="152400" cy="57150"/>
          </a:xfrm>
          <a:prstGeom prst="roundRect">
            <a:avLst>
              <a:gd name="adj" fmla="val 16667"/>
            </a:avLst>
          </a:prstGeom>
          <a:solidFill>
            <a:srgbClr val="A27C49"/>
          </a:solidFill>
          <a:ln/>
        </p:spPr>
      </p:sp>
      <p:sp>
        <p:nvSpPr>
          <p:cNvPr id="23" name="Shape 20"/>
          <p:cNvSpPr/>
          <p:nvPr/>
        </p:nvSpPr>
        <p:spPr>
          <a:xfrm>
            <a:off x="1190625" y="6867079"/>
            <a:ext cx="152400" cy="57150"/>
          </a:xfrm>
          <a:prstGeom prst="roundRect">
            <a:avLst>
              <a:gd name="adj" fmla="val 16667"/>
            </a:avLst>
          </a:prstGeom>
          <a:solidFill>
            <a:srgbClr val="A27C49"/>
          </a:solidFill>
          <a:ln/>
        </p:spPr>
      </p:sp>
      <p:sp>
        <p:nvSpPr>
          <p:cNvPr id="24" name="Shape 21"/>
          <p:cNvSpPr/>
          <p:nvPr/>
        </p:nvSpPr>
        <p:spPr>
          <a:xfrm>
            <a:off x="1371600" y="6867079"/>
            <a:ext cx="152400" cy="57150"/>
          </a:xfrm>
          <a:prstGeom prst="roundRect">
            <a:avLst>
              <a:gd name="adj" fmla="val 16667"/>
            </a:avLst>
          </a:prstGeom>
          <a:solidFill>
            <a:srgbClr val="A27C49"/>
          </a:solidFill>
          <a:ln/>
        </p:spPr>
      </p:sp>
      <p:sp>
        <p:nvSpPr>
          <p:cNvPr id="25" name="Shape 22"/>
          <p:cNvSpPr/>
          <p:nvPr/>
        </p:nvSpPr>
        <p:spPr>
          <a:xfrm>
            <a:off x="1552575" y="6867079"/>
            <a:ext cx="152400" cy="57150"/>
          </a:xfrm>
          <a:prstGeom prst="roundRect">
            <a:avLst>
              <a:gd name="adj" fmla="val 16667"/>
            </a:avLst>
          </a:prstGeom>
          <a:solidFill>
            <a:srgbClr val="E5E1D8"/>
          </a:solidFill>
          <a:ln/>
        </p:spPr>
      </p:sp>
      <p:sp>
        <p:nvSpPr>
          <p:cNvPr id="26" name="Shape 23"/>
          <p:cNvSpPr/>
          <p:nvPr/>
        </p:nvSpPr>
        <p:spPr>
          <a:xfrm>
            <a:off x="1733550" y="6867079"/>
            <a:ext cx="152400" cy="57150"/>
          </a:xfrm>
          <a:prstGeom prst="roundRect">
            <a:avLst>
              <a:gd name="adj" fmla="val 16667"/>
            </a:avLst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1914525" y="6833741"/>
            <a:ext cx="582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9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6079331" y="5053459"/>
            <a:ext cx="6129338" cy="2123182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9" name="Text 26"/>
          <p:cNvSpPr/>
          <p:nvPr/>
        </p:nvSpPr>
        <p:spPr>
          <a:xfrm>
            <a:off x="8399859" y="5263009"/>
            <a:ext cx="14882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b="1" spc="144" kern="0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RIVALRY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206226" y="5491609"/>
            <a:ext cx="38754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[High — three credible incumbents]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337974" y="6186041"/>
            <a:ext cx="56119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[Price discipline is fragile; differentiation has moved to service and ecosystem.]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892332" y="6681341"/>
            <a:ext cx="5033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380119" y="5053459"/>
            <a:ext cx="5107781" cy="2123182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34" name="Shape 31"/>
          <p:cNvSpPr/>
          <p:nvPr/>
        </p:nvSpPr>
        <p:spPr>
          <a:xfrm>
            <a:off x="12380119" y="5053459"/>
            <a:ext cx="5107781" cy="381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35" name="Text 32"/>
          <p:cNvSpPr/>
          <p:nvPr/>
        </p:nvSpPr>
        <p:spPr>
          <a:xfrm>
            <a:off x="12589669" y="5301109"/>
            <a:ext cx="48293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POWER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589669" y="5548759"/>
            <a:ext cx="482934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[High — concentrated enterprise buyers with sophisticated procurement.]</a:t>
            </a:r>
            <a:endParaRPr lang="en-US" sz="1425" dirty="0"/>
          </a:p>
        </p:txBody>
      </p:sp>
      <p:sp>
        <p:nvSpPr>
          <p:cNvPr id="37" name="Text 34"/>
          <p:cNvSpPr/>
          <p:nvPr/>
        </p:nvSpPr>
        <p:spPr>
          <a:xfrm>
            <a:off x="12589669" y="6082159"/>
            <a:ext cx="482934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[Top-20 customers = [XX]% of revenue. Multi-year RFPs with switching enabled.]</a:t>
            </a:r>
            <a:endParaRPr lang="en-US" sz="1125" dirty="0"/>
          </a:p>
        </p:txBody>
      </p:sp>
      <p:sp>
        <p:nvSpPr>
          <p:cNvPr id="38" name="Shape 35"/>
          <p:cNvSpPr/>
          <p:nvPr/>
        </p:nvSpPr>
        <p:spPr>
          <a:xfrm>
            <a:off x="12589669" y="6867079"/>
            <a:ext cx="152400" cy="57150"/>
          </a:xfrm>
          <a:prstGeom prst="roundRect">
            <a:avLst>
              <a:gd name="adj" fmla="val 16667"/>
            </a:avLst>
          </a:prstGeom>
          <a:solidFill>
            <a:srgbClr val="A27C49"/>
          </a:solidFill>
          <a:ln/>
        </p:spPr>
      </p:sp>
      <p:sp>
        <p:nvSpPr>
          <p:cNvPr id="39" name="Shape 36"/>
          <p:cNvSpPr/>
          <p:nvPr/>
        </p:nvSpPr>
        <p:spPr>
          <a:xfrm>
            <a:off x="12770644" y="6867079"/>
            <a:ext cx="152400" cy="57150"/>
          </a:xfrm>
          <a:prstGeom prst="roundRect">
            <a:avLst>
              <a:gd name="adj" fmla="val 16667"/>
            </a:avLst>
          </a:prstGeom>
          <a:solidFill>
            <a:srgbClr val="A27C49"/>
          </a:solidFill>
          <a:ln/>
        </p:spPr>
      </p:sp>
      <p:sp>
        <p:nvSpPr>
          <p:cNvPr id="40" name="Shape 37"/>
          <p:cNvSpPr/>
          <p:nvPr/>
        </p:nvSpPr>
        <p:spPr>
          <a:xfrm>
            <a:off x="12951619" y="6867079"/>
            <a:ext cx="152400" cy="57150"/>
          </a:xfrm>
          <a:prstGeom prst="roundRect">
            <a:avLst>
              <a:gd name="adj" fmla="val 16667"/>
            </a:avLst>
          </a:prstGeom>
          <a:solidFill>
            <a:srgbClr val="A27C49"/>
          </a:solidFill>
          <a:ln/>
        </p:spPr>
      </p:sp>
      <p:sp>
        <p:nvSpPr>
          <p:cNvPr id="41" name="Shape 38"/>
          <p:cNvSpPr/>
          <p:nvPr/>
        </p:nvSpPr>
        <p:spPr>
          <a:xfrm>
            <a:off x="13132594" y="6867079"/>
            <a:ext cx="152400" cy="57150"/>
          </a:xfrm>
          <a:prstGeom prst="roundRect">
            <a:avLst>
              <a:gd name="adj" fmla="val 16667"/>
            </a:avLst>
          </a:prstGeom>
          <a:solidFill>
            <a:srgbClr val="A27C49"/>
          </a:solidFill>
          <a:ln/>
        </p:spPr>
      </p:sp>
      <p:sp>
        <p:nvSpPr>
          <p:cNvPr id="42" name="Shape 39"/>
          <p:cNvSpPr/>
          <p:nvPr/>
        </p:nvSpPr>
        <p:spPr>
          <a:xfrm>
            <a:off x="13313569" y="6867079"/>
            <a:ext cx="152400" cy="57150"/>
          </a:xfrm>
          <a:prstGeom prst="roundRect">
            <a:avLst>
              <a:gd name="adj" fmla="val 16667"/>
            </a:avLst>
          </a:prstGeom>
          <a:solidFill>
            <a:srgbClr val="E5E1D8"/>
          </a:solidFill>
          <a:ln/>
        </p:spPr>
      </p:sp>
      <p:sp>
        <p:nvSpPr>
          <p:cNvPr id="43" name="Text 40"/>
          <p:cNvSpPr/>
          <p:nvPr/>
        </p:nvSpPr>
        <p:spPr>
          <a:xfrm>
            <a:off x="13494544" y="6833741"/>
            <a:ext cx="3907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9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25" dirty="0"/>
          </a:p>
        </p:txBody>
      </p:sp>
      <p:sp>
        <p:nvSpPr>
          <p:cNvPr id="44" name="Shape 41"/>
          <p:cNvSpPr/>
          <p:nvPr/>
        </p:nvSpPr>
        <p:spPr>
          <a:xfrm>
            <a:off x="6079331" y="7348091"/>
            <a:ext cx="6129338" cy="2024509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45" name="Shape 42"/>
          <p:cNvSpPr/>
          <p:nvPr/>
        </p:nvSpPr>
        <p:spPr>
          <a:xfrm>
            <a:off x="6079331" y="7348091"/>
            <a:ext cx="6129338" cy="381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46" name="Text 43"/>
          <p:cNvSpPr/>
          <p:nvPr/>
        </p:nvSpPr>
        <p:spPr>
          <a:xfrm>
            <a:off x="6288881" y="7595741"/>
            <a:ext cx="588154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288881" y="7843391"/>
            <a:ext cx="58815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[Med — adjacent in-house solutions emerging, not yet at parity.]</a:t>
            </a:r>
            <a:endParaRPr lang="en-US" sz="1425" dirty="0"/>
          </a:p>
        </p:txBody>
      </p:sp>
      <p:sp>
        <p:nvSpPr>
          <p:cNvPr id="48" name="Text 45"/>
          <p:cNvSpPr/>
          <p:nvPr/>
        </p:nvSpPr>
        <p:spPr>
          <a:xfrm>
            <a:off x="6288881" y="8157716"/>
            <a:ext cx="588154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[Build-vs-buy decisions trending towards buy for now; AI-driven disintermediation a watch-item.]</a:t>
            </a:r>
            <a:endParaRPr lang="en-US" sz="1125" dirty="0"/>
          </a:p>
        </p:txBody>
      </p:sp>
      <p:sp>
        <p:nvSpPr>
          <p:cNvPr id="49" name="Shape 46"/>
          <p:cNvSpPr/>
          <p:nvPr/>
        </p:nvSpPr>
        <p:spPr>
          <a:xfrm>
            <a:off x="6288881" y="9063038"/>
            <a:ext cx="152400" cy="57150"/>
          </a:xfrm>
          <a:prstGeom prst="roundRect">
            <a:avLst>
              <a:gd name="adj" fmla="val 16667"/>
            </a:avLst>
          </a:prstGeom>
          <a:solidFill>
            <a:srgbClr val="A27C49"/>
          </a:solidFill>
          <a:ln/>
        </p:spPr>
      </p:sp>
      <p:sp>
        <p:nvSpPr>
          <p:cNvPr id="50" name="Shape 47"/>
          <p:cNvSpPr/>
          <p:nvPr/>
        </p:nvSpPr>
        <p:spPr>
          <a:xfrm>
            <a:off x="6469856" y="9063038"/>
            <a:ext cx="152400" cy="57150"/>
          </a:xfrm>
          <a:prstGeom prst="roundRect">
            <a:avLst>
              <a:gd name="adj" fmla="val 16667"/>
            </a:avLst>
          </a:prstGeom>
          <a:solidFill>
            <a:srgbClr val="A27C49"/>
          </a:solidFill>
          <a:ln/>
        </p:spPr>
      </p:sp>
      <p:sp>
        <p:nvSpPr>
          <p:cNvPr id="51" name="Shape 48"/>
          <p:cNvSpPr/>
          <p:nvPr/>
        </p:nvSpPr>
        <p:spPr>
          <a:xfrm>
            <a:off x="6650831" y="9063038"/>
            <a:ext cx="152400" cy="57150"/>
          </a:xfrm>
          <a:prstGeom prst="roundRect">
            <a:avLst>
              <a:gd name="adj" fmla="val 16667"/>
            </a:avLst>
          </a:prstGeom>
          <a:solidFill>
            <a:srgbClr val="A27C49"/>
          </a:solidFill>
          <a:ln/>
        </p:spPr>
      </p:sp>
      <p:sp>
        <p:nvSpPr>
          <p:cNvPr id="52" name="Shape 49"/>
          <p:cNvSpPr/>
          <p:nvPr/>
        </p:nvSpPr>
        <p:spPr>
          <a:xfrm>
            <a:off x="6831806" y="9063038"/>
            <a:ext cx="152400" cy="57150"/>
          </a:xfrm>
          <a:prstGeom prst="roundRect">
            <a:avLst>
              <a:gd name="adj" fmla="val 16667"/>
            </a:avLst>
          </a:prstGeom>
          <a:solidFill>
            <a:srgbClr val="E5E1D8"/>
          </a:solidFill>
          <a:ln/>
        </p:spPr>
      </p:sp>
      <p:sp>
        <p:nvSpPr>
          <p:cNvPr id="53" name="Shape 50"/>
          <p:cNvSpPr/>
          <p:nvPr/>
        </p:nvSpPr>
        <p:spPr>
          <a:xfrm>
            <a:off x="7012781" y="9063038"/>
            <a:ext cx="152400" cy="57150"/>
          </a:xfrm>
          <a:prstGeom prst="roundRect">
            <a:avLst>
              <a:gd name="adj" fmla="val 16667"/>
            </a:avLst>
          </a:prstGeom>
          <a:solidFill>
            <a:srgbClr val="E5E1D8"/>
          </a:solidFill>
          <a:ln/>
        </p:spPr>
      </p:sp>
      <p:sp>
        <p:nvSpPr>
          <p:cNvPr id="54" name="Text 51"/>
          <p:cNvSpPr/>
          <p:nvPr/>
        </p:nvSpPr>
        <p:spPr>
          <a:xfrm>
            <a:off x="7193756" y="9029700"/>
            <a:ext cx="582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9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25" dirty="0"/>
          </a:p>
        </p:txBody>
      </p:sp>
      <p:sp>
        <p:nvSpPr>
          <p:cNvPr id="55" name="Shape 52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6" name="Text 53"/>
          <p:cNvSpPr/>
          <p:nvPr/>
        </p:nvSpPr>
        <p:spPr>
          <a:xfrm>
            <a:off x="800100" y="9410700"/>
            <a:ext cx="54434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OSK industry analysis, FY2025. Intensity scored on a 1–5 scale; methodology in appendix.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64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2312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INDUSTRY &amp; MARKET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SITS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shifting from upstream production toward downstream service and customer relationship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2933700"/>
            <a:ext cx="171884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ACTIVITIES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00100" y="3181350"/>
            <a:ext cx="3291780" cy="10668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8" name="Text 5"/>
          <p:cNvSpPr/>
          <p:nvPr/>
        </p:nvSpPr>
        <p:spPr>
          <a:xfrm>
            <a:off x="971550" y="3390900"/>
            <a:ext cx="303734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logistics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1550" y="3657600"/>
            <a:ext cx="303734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[Sourcing, intake, supplier mgmt.]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971550" y="3886200"/>
            <a:ext cx="30373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~[X]% of cost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49030" y="3181350"/>
            <a:ext cx="3291780" cy="1066800"/>
          </a:xfrm>
          <a:prstGeom prst="rect">
            <a:avLst/>
          </a:prstGeom>
          <a:solidFill>
            <a:srgbClr val="DBAF63"/>
          </a:solidFill>
          <a:ln/>
        </p:spPr>
      </p:sp>
      <p:sp>
        <p:nvSpPr>
          <p:cNvPr id="12" name="Text 9"/>
          <p:cNvSpPr/>
          <p:nvPr/>
        </p:nvSpPr>
        <p:spPr>
          <a:xfrm>
            <a:off x="4320480" y="3390900"/>
            <a:ext cx="303734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20480" y="3657600"/>
            <a:ext cx="303734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12102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[Production, processing, build.]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4320480" y="3886200"/>
            <a:ext cx="30373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2102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~[X]% of cost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497961" y="3181350"/>
            <a:ext cx="3291929" cy="10668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6" name="Text 13"/>
          <p:cNvSpPr/>
          <p:nvPr/>
        </p:nvSpPr>
        <p:spPr>
          <a:xfrm>
            <a:off x="7669411" y="3390900"/>
            <a:ext cx="3037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logistics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69411" y="3657600"/>
            <a:ext cx="3037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[Distribution, fulfilment, delivery.]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7669411" y="3886200"/>
            <a:ext cx="30375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~[X]% of cost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0847040" y="3181350"/>
            <a:ext cx="3291780" cy="1066800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0" name="Text 17"/>
          <p:cNvSpPr/>
          <p:nvPr/>
        </p:nvSpPr>
        <p:spPr>
          <a:xfrm>
            <a:off x="11018490" y="3390900"/>
            <a:ext cx="303734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018490" y="3657600"/>
            <a:ext cx="303734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[Demand generation, deal closing.]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1018490" y="3886200"/>
            <a:ext cx="30373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~[X]% of cost · highest margin lever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4195971" y="3181350"/>
            <a:ext cx="3291929" cy="1066800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4" name="Text 21"/>
          <p:cNvSpPr/>
          <p:nvPr/>
        </p:nvSpPr>
        <p:spPr>
          <a:xfrm>
            <a:off x="14367421" y="3390900"/>
            <a:ext cx="3037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4367421" y="3657600"/>
            <a:ext cx="3037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[Retention, expansion, support.]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14367421" y="3886200"/>
            <a:ext cx="30375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~[X]% of cost · highest LTV lever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00100" y="4514850"/>
            <a:ext cx="171884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ACTIVITIES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00100" y="4819650"/>
            <a:ext cx="4129088" cy="676275"/>
          </a:xfrm>
          <a:prstGeom prst="rect">
            <a:avLst/>
          </a:prstGeom>
          <a:solidFill>
            <a:srgbClr val="4C4D4C"/>
          </a:solidFill>
          <a:ln/>
        </p:spPr>
      </p:sp>
      <p:sp>
        <p:nvSpPr>
          <p:cNvPr id="29" name="Text 26"/>
          <p:cNvSpPr/>
          <p:nvPr/>
        </p:nvSpPr>
        <p:spPr>
          <a:xfrm>
            <a:off x="971550" y="4972050"/>
            <a:ext cx="389977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 infrastructure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71550" y="5191125"/>
            <a:ext cx="3899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[Finance, legal, planning.]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986338" y="4819650"/>
            <a:ext cx="4129088" cy="676275"/>
          </a:xfrm>
          <a:prstGeom prst="rect">
            <a:avLst/>
          </a:prstGeom>
          <a:solidFill>
            <a:srgbClr val="4C4D4C"/>
          </a:solidFill>
          <a:ln/>
        </p:spPr>
      </p:sp>
      <p:sp>
        <p:nvSpPr>
          <p:cNvPr id="32" name="Text 29"/>
          <p:cNvSpPr/>
          <p:nvPr/>
        </p:nvSpPr>
        <p:spPr>
          <a:xfrm>
            <a:off x="5157788" y="4972050"/>
            <a:ext cx="389977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resource management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157788" y="5191125"/>
            <a:ext cx="3899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[Hiring, capability, retention.]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172575" y="4819650"/>
            <a:ext cx="4129088" cy="676275"/>
          </a:xfrm>
          <a:prstGeom prst="rect">
            <a:avLst/>
          </a:prstGeom>
          <a:solidFill>
            <a:srgbClr val="4C4D4C"/>
          </a:solidFill>
          <a:ln/>
        </p:spPr>
      </p:sp>
      <p:sp>
        <p:nvSpPr>
          <p:cNvPr id="35" name="Text 32"/>
          <p:cNvSpPr/>
          <p:nvPr/>
        </p:nvSpPr>
        <p:spPr>
          <a:xfrm>
            <a:off x="9344025" y="4972050"/>
            <a:ext cx="389977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data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9344025" y="5191125"/>
            <a:ext cx="3899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[Platform, analytics, AI.]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3358813" y="4819650"/>
            <a:ext cx="4129088" cy="676275"/>
          </a:xfrm>
          <a:prstGeom prst="rect">
            <a:avLst/>
          </a:prstGeom>
          <a:solidFill>
            <a:srgbClr val="4C4D4C"/>
          </a:solidFill>
          <a:ln/>
        </p:spPr>
      </p:sp>
      <p:sp>
        <p:nvSpPr>
          <p:cNvPr id="38" name="Text 35"/>
          <p:cNvSpPr/>
          <p:nvPr/>
        </p:nvSpPr>
        <p:spPr>
          <a:xfrm>
            <a:off x="13530263" y="4972050"/>
            <a:ext cx="389977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3530263" y="5191125"/>
            <a:ext cx="3899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[Strategic sourcing.]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00100" y="5762625"/>
            <a:ext cx="16687800" cy="81915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41" name="Shape 38"/>
          <p:cNvSpPr/>
          <p:nvPr/>
        </p:nvSpPr>
        <p:spPr>
          <a:xfrm>
            <a:off x="800100" y="5762625"/>
            <a:ext cx="38100" cy="81915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42" name="Text 39"/>
          <p:cNvSpPr/>
          <p:nvPr/>
        </p:nvSpPr>
        <p:spPr>
          <a:xfrm>
            <a:off x="1047750" y="5934075"/>
            <a:ext cx="167175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47750" y="6172200"/>
            <a:ext cx="108872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[We should redirect investment from operations efficiency to downstream service capability, where margin pools are concentrating.]</a:t>
            </a:r>
            <a:endParaRPr lang="en-US" sz="1425" dirty="0"/>
          </a:p>
        </p:txBody>
      </p:sp>
      <p:sp>
        <p:nvSpPr>
          <p:cNvPr id="44" name="Shape 41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5" name="Text 42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64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2312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INDUSTRY &amp; MARKET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top-right quadrant — broad offering, premium positioning — is contested by two players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9363075"/>
            <a:ext cx="10896600" cy="9525"/>
          </a:xfrm>
          <a:prstGeom prst="rect">
            <a:avLst/>
          </a:prstGeom>
          <a:solidFill>
            <a:srgbClr val="E5E1D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819400"/>
            <a:ext cx="10896600" cy="63912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2039600" y="2819400"/>
            <a:ext cx="5448300" cy="107632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9" name="Shape 5"/>
          <p:cNvSpPr/>
          <p:nvPr/>
        </p:nvSpPr>
        <p:spPr>
          <a:xfrm>
            <a:off x="12039600" y="2819400"/>
            <a:ext cx="38100" cy="1076325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0" name="Text 6"/>
          <p:cNvSpPr/>
          <p:nvPr/>
        </p:nvSpPr>
        <p:spPr>
          <a:xfrm>
            <a:off x="12287250" y="2990850"/>
            <a:ext cx="51408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PLAY TODAY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2287250" y="3228975"/>
            <a:ext cx="444824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[OSK sits mid-breadth, mid-premium — a credible but undifferentiated middle.]</a:t>
            </a:r>
            <a:endParaRPr lang="en-US" sz="1425" dirty="0"/>
          </a:p>
        </p:txBody>
      </p:sp>
      <p:sp>
        <p:nvSpPr>
          <p:cNvPr id="12" name="Shape 8"/>
          <p:cNvSpPr/>
          <p:nvPr/>
        </p:nvSpPr>
        <p:spPr>
          <a:xfrm>
            <a:off x="12039600" y="4048125"/>
            <a:ext cx="5448300" cy="107632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13" name="Shape 9"/>
          <p:cNvSpPr/>
          <p:nvPr/>
        </p:nvSpPr>
        <p:spPr>
          <a:xfrm>
            <a:off x="12039600" y="4048125"/>
            <a:ext cx="38100" cy="10763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4" name="Text 10"/>
          <p:cNvSpPr/>
          <p:nvPr/>
        </p:nvSpPr>
        <p:spPr>
          <a:xfrm>
            <a:off x="12287250" y="4219575"/>
            <a:ext cx="51408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SHOULD HEAD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2287250" y="4457700"/>
            <a:ext cx="509320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[Move up and right — broader offering at premium positioning — into the contested top-right quadrant.]</a:t>
            </a:r>
            <a:endParaRPr lang="en-US" sz="1425" dirty="0"/>
          </a:p>
        </p:txBody>
      </p:sp>
      <p:sp>
        <p:nvSpPr>
          <p:cNvPr id="16" name="Text 12"/>
          <p:cNvSpPr/>
          <p:nvPr/>
        </p:nvSpPr>
        <p:spPr>
          <a:xfrm>
            <a:off x="12039600" y="5276850"/>
            <a:ext cx="561174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SIZE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2039600" y="5524500"/>
            <a:ext cx="50851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size = [FY25 revenue, RM m]. OSK position is current-state; arrow shows aspiration over the plan horizon.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9" name="Text 15"/>
          <p:cNvSpPr/>
          <p:nvPr/>
        </p:nvSpPr>
        <p:spPr>
          <a:xfrm>
            <a:off x="800100" y="9410700"/>
            <a:ext cx="64058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filings, OSK analysis. Positioning is qualitative based on product breadth and average price point.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64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2312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INDUSTRY &amp; MARKET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PROFILES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competitors deserve close watch — each has a different theory of how to win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2857500"/>
            <a:ext cx="5422850" cy="6515100"/>
          </a:xfrm>
          <a:prstGeom prst="rect">
            <a:avLst/>
          </a:prstGeom>
          <a:ln w="9525">
            <a:solidFill>
              <a:srgbClr val="E5E1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8225" y="3095625"/>
            <a:ext cx="29298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 A]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38225" y="3305175"/>
            <a:ext cx="29298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[Premium ecosystem play]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986635" y="3095625"/>
            <a:ext cx="998190" cy="314325"/>
          </a:xfrm>
          <a:prstGeom prst="roundRect">
            <a:avLst>
              <a:gd name="adj" fmla="val 50000"/>
            </a:avLst>
          </a:prstGeom>
          <a:solidFill>
            <a:srgbClr val="F8E6E3"/>
          </a:solidFill>
          <a:ln w="9525">
            <a:solidFill>
              <a:srgbClr val="ECCA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9510" y="3162300"/>
            <a:ext cx="7886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8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threat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38225" y="3752850"/>
            <a:ext cx="25018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(FY25)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38225" y="3905250"/>
            <a:ext cx="25018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[XXX] m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3559076" y="3752850"/>
            <a:ext cx="2501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3-YR CAGR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559076" y="3905250"/>
            <a:ext cx="250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2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+[XX]%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038225" y="4324350"/>
            <a:ext cx="50949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38225" y="4514850"/>
            <a:ext cx="509499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[Bundle product + service + financing into long-term contracts; lock customers in via ecosystem.]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38225" y="5048250"/>
            <a:ext cx="50949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38225" y="5238750"/>
            <a:ext cx="50949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[Capital, brand, customer relationships.]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38225" y="5572125"/>
            <a:ext cx="50949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VULNERABILITIES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38225" y="5762625"/>
            <a:ext cx="50949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[Slow on AI / digital; weak in emerging markets.]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32500" y="2857500"/>
            <a:ext cx="5422850" cy="6515100"/>
          </a:xfrm>
          <a:prstGeom prst="rect">
            <a:avLst/>
          </a:prstGeom>
          <a:ln w="9525">
            <a:solidFill>
              <a:srgbClr val="E5E1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70625" y="3095625"/>
            <a:ext cx="28789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 B]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670625" y="3305175"/>
            <a:ext cx="28789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[Digital-native challenger]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0898237" y="3095625"/>
            <a:ext cx="718989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041112" y="3162300"/>
            <a:ext cx="5094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670625" y="3752850"/>
            <a:ext cx="25018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(FY25)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670625" y="3905250"/>
            <a:ext cx="25018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[XXX] m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9191476" y="3752850"/>
            <a:ext cx="2501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3-YR CAGR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191476" y="3905250"/>
            <a:ext cx="250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2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+[XX]%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6670625" y="4324350"/>
            <a:ext cx="50949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670625" y="4514850"/>
            <a:ext cx="509499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[Disrupt at the entry-tier; reach scale via lower cost-to-serve; expand upmarket later.]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670625" y="5048250"/>
            <a:ext cx="50949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670625" y="5238750"/>
            <a:ext cx="50949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[Tech stack, unit economics, agility.]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70625" y="5572125"/>
            <a:ext cx="50949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VULNERABILITIES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670625" y="5762625"/>
            <a:ext cx="50949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[Thin balance sheet; no enterprise track record.]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2064901" y="2857500"/>
            <a:ext cx="5422999" cy="651510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37" name="Shape 34"/>
          <p:cNvSpPr/>
          <p:nvPr/>
        </p:nvSpPr>
        <p:spPr>
          <a:xfrm>
            <a:off x="12064901" y="2857500"/>
            <a:ext cx="5422999" cy="381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38" name="Text 35"/>
          <p:cNvSpPr/>
          <p:nvPr/>
        </p:nvSpPr>
        <p:spPr>
          <a:xfrm>
            <a:off x="12293501" y="3124200"/>
            <a:ext cx="29102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 C]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2293501" y="3333750"/>
            <a:ext cx="29102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[Scale incumbent — value]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16137731" y="3124200"/>
            <a:ext cx="1121569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6280606" y="3190875"/>
            <a:ext cx="91201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Manageable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12293501" y="3781425"/>
            <a:ext cx="25114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(FY25)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2293501" y="3933825"/>
            <a:ext cx="25114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[XXX] m</a:t>
            </a:r>
            <a:endParaRPr lang="en-US" sz="1650" dirty="0"/>
          </a:p>
        </p:txBody>
      </p:sp>
      <p:sp>
        <p:nvSpPr>
          <p:cNvPr id="44" name="Text 41"/>
          <p:cNvSpPr/>
          <p:nvPr/>
        </p:nvSpPr>
        <p:spPr>
          <a:xfrm>
            <a:off x="14824025" y="3781425"/>
            <a:ext cx="25114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3-YR CAGR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4824025" y="3933825"/>
            <a:ext cx="25114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+[X]%</a:t>
            </a:r>
            <a:endParaRPr lang="en-US" sz="1650" dirty="0"/>
          </a:p>
        </p:txBody>
      </p:sp>
      <p:sp>
        <p:nvSpPr>
          <p:cNvPr id="46" name="Text 43"/>
          <p:cNvSpPr/>
          <p:nvPr/>
        </p:nvSpPr>
        <p:spPr>
          <a:xfrm>
            <a:off x="12293501" y="4352925"/>
            <a:ext cx="5114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2293501" y="4543425"/>
            <a:ext cx="51147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[Win on price and ubiquity; defend share via scale rather than innovation.]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12293501" y="4876800"/>
            <a:ext cx="5114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2293501" y="5067300"/>
            <a:ext cx="51147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[Distribution, cost base, regulatory ties.]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12293501" y="5400675"/>
            <a:ext cx="5114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VULNERABILITIES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2293501" y="5591175"/>
            <a:ext cx="51147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[Stagnant growth; eroding NPS; legacy tech debt.]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3" name="Text 50"/>
          <p:cNvSpPr/>
          <p:nvPr/>
        </p:nvSpPr>
        <p:spPr>
          <a:xfrm>
            <a:off x="800100" y="9410700"/>
            <a:ext cx="63185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annual reports, broker research, OSK competitive intelligence. All figures FY2025 unless stated.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/ 64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2312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INDUSTRY &amp; MARKET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[RM XXX bn] addressable market — but only [RM XX bn] is realistically winnable in five years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2064990" y="3476625"/>
            <a:ext cx="5162550" cy="5162550"/>
          </a:xfrm>
          <a:prstGeom prst="ellipse">
            <a:avLst/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36515" y="4248150"/>
            <a:ext cx="3619500" cy="3619500"/>
          </a:xfrm>
          <a:prstGeom prst="ellipse">
            <a:avLst/>
          </a:prstGeom>
          <a:solidFill>
            <a:srgbClr val="EFE6D2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789015" y="5200650"/>
            <a:ext cx="1714500" cy="1714500"/>
          </a:xfrm>
          <a:prstGeom prst="ellipse">
            <a:avLst/>
          </a:prstGeom>
          <a:solidFill>
            <a:srgbClr val="A27C49"/>
          </a:solidFill>
          <a:ln/>
        </p:spPr>
      </p:sp>
      <p:sp>
        <p:nvSpPr>
          <p:cNvPr id="9" name="Text 6"/>
          <p:cNvSpPr/>
          <p:nvPr/>
        </p:nvSpPr>
        <p:spPr>
          <a:xfrm>
            <a:off x="4454872" y="5357813"/>
            <a:ext cx="38278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b="1" spc="149" kern="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750915" y="5538788"/>
            <a:ext cx="179070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[XX] bn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4217491" y="6586538"/>
            <a:ext cx="8575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[Y5 ambition]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4477196" y="3657600"/>
            <a:ext cx="4164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470053" y="4438650"/>
            <a:ext cx="42847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025979" y="4672013"/>
            <a:ext cx="285750" cy="285750"/>
          </a:xfrm>
          <a:prstGeom prst="ellipse">
            <a:avLst/>
          </a:prstGeom>
          <a:solidFill>
            <a:srgbClr val="F6F2EB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78429" y="4633913"/>
            <a:ext cx="81467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578429" y="4786313"/>
            <a:ext cx="81467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[XXX] bn · TAM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578429" y="5214938"/>
            <a:ext cx="81467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[All buyers, all geographies — the theoretical ceiling. Growing at [XX]% CAGR through [2030].]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025979" y="5691188"/>
            <a:ext cx="285750" cy="285750"/>
          </a:xfrm>
          <a:prstGeom prst="ellipse">
            <a:avLst/>
          </a:prstGeom>
          <a:solidFill>
            <a:srgbClr val="EFE6D2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78429" y="5653088"/>
            <a:ext cx="81467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ADDRESSABLE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578429" y="5805488"/>
            <a:ext cx="81467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[XX] bn · SAM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9578429" y="6234113"/>
            <a:ext cx="81467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[Buyers we can reach with our current licences, channels and product fit — [XX]% of TAM.]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025979" y="6710363"/>
            <a:ext cx="266700" cy="266700"/>
          </a:xfrm>
          <a:prstGeom prst="ellipse">
            <a:avLst/>
          </a:prstGeom>
          <a:solidFill>
            <a:srgbClr val="A27C49"/>
          </a:solidFill>
          <a:ln/>
        </p:spPr>
      </p:sp>
      <p:sp>
        <p:nvSpPr>
          <p:cNvPr id="23" name="Text 20"/>
          <p:cNvSpPr/>
          <p:nvPr/>
        </p:nvSpPr>
        <p:spPr>
          <a:xfrm>
            <a:off x="9578429" y="6672263"/>
            <a:ext cx="81467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WE WILL WIN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578429" y="6824663"/>
            <a:ext cx="81467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[XX] bn · SOM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578429" y="7253288"/>
            <a:ext cx="81467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[Realistic 5-year capture given capacity, brand and competitive response — [XX]% share of SAM.]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800100" y="9410700"/>
            <a:ext cx="72452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[Market intelligence provider], OSK demand model FY2025. TAM/SAM definitions in appendix; SOM tied to plan-of-record.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64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2312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INDUSTRY &amp; MARKET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MULTIPLES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comps trade at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[X.X]–[Y.Y]× EV/EBITDA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OSK at the low end despite better growth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3519488"/>
            <a:ext cx="3337768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7" name="Text 4"/>
          <p:cNvSpPr/>
          <p:nvPr/>
        </p:nvSpPr>
        <p:spPr>
          <a:xfrm>
            <a:off x="971550" y="3009900"/>
            <a:ext cx="309500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137868" y="3519488"/>
            <a:ext cx="166881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9" name="Text 6"/>
          <p:cNvSpPr/>
          <p:nvPr/>
        </p:nvSpPr>
        <p:spPr>
          <a:xfrm>
            <a:off x="4309318" y="3009900"/>
            <a:ext cx="14021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06678" y="3519488"/>
            <a:ext cx="166881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1" name="Text 8"/>
          <p:cNvSpPr/>
          <p:nvPr/>
        </p:nvSpPr>
        <p:spPr>
          <a:xfrm>
            <a:off x="5901928" y="3009900"/>
            <a:ext cx="14021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 CAP (RM M)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75488" y="3519488"/>
            <a:ext cx="166881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3" name="Text 10"/>
          <p:cNvSpPr/>
          <p:nvPr/>
        </p:nvSpPr>
        <p:spPr>
          <a:xfrm>
            <a:off x="7570738" y="3009900"/>
            <a:ext cx="14021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FY25 (RM M)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44298" y="3519488"/>
            <a:ext cx="129793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5" name="Text 12"/>
          <p:cNvSpPr/>
          <p:nvPr/>
        </p:nvSpPr>
        <p:spPr>
          <a:xfrm>
            <a:off x="9239548" y="3009900"/>
            <a:ext cx="103123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GROWTH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442228" y="3519488"/>
            <a:ext cx="1483519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7" name="Text 14"/>
          <p:cNvSpPr/>
          <p:nvPr/>
        </p:nvSpPr>
        <p:spPr>
          <a:xfrm>
            <a:off x="10537478" y="3009900"/>
            <a:ext cx="121681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1925746" y="3519488"/>
            <a:ext cx="1483519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9" name="Text 16"/>
          <p:cNvSpPr/>
          <p:nvPr/>
        </p:nvSpPr>
        <p:spPr>
          <a:xfrm>
            <a:off x="12020996" y="3009900"/>
            <a:ext cx="121681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/ REV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3409265" y="3519488"/>
            <a:ext cx="1483519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1" name="Text 18"/>
          <p:cNvSpPr/>
          <p:nvPr/>
        </p:nvSpPr>
        <p:spPr>
          <a:xfrm>
            <a:off x="13504515" y="3009900"/>
            <a:ext cx="121681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/ EBITDA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4892784" y="3519488"/>
            <a:ext cx="111249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3" name="Text 20"/>
          <p:cNvSpPr/>
          <p:nvPr/>
        </p:nvSpPr>
        <p:spPr>
          <a:xfrm>
            <a:off x="14988034" y="3009900"/>
            <a:ext cx="84579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6005274" y="3519488"/>
            <a:ext cx="1483519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5" name="Text 22"/>
          <p:cNvSpPr/>
          <p:nvPr/>
        </p:nvSpPr>
        <p:spPr>
          <a:xfrm>
            <a:off x="16100524" y="3009900"/>
            <a:ext cx="121681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 YIELD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00100" y="4033837"/>
            <a:ext cx="33377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971550" y="3681413"/>
            <a:ext cx="309500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[Listed Peer 1]</a:t>
            </a:r>
            <a:endParaRPr lang="en-US" sz="1125" dirty="0"/>
          </a:p>
        </p:txBody>
      </p:sp>
      <p:sp>
        <p:nvSpPr>
          <p:cNvPr id="28" name="Shape 25"/>
          <p:cNvSpPr/>
          <p:nvPr/>
        </p:nvSpPr>
        <p:spPr>
          <a:xfrm>
            <a:off x="4137868" y="4033837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Text 26"/>
          <p:cNvSpPr/>
          <p:nvPr/>
        </p:nvSpPr>
        <p:spPr>
          <a:xfrm>
            <a:off x="4309318" y="368141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[MY]</a:t>
            </a:r>
            <a:endParaRPr lang="en-US" sz="1125" dirty="0"/>
          </a:p>
        </p:txBody>
      </p:sp>
      <p:sp>
        <p:nvSpPr>
          <p:cNvPr id="30" name="Shape 27"/>
          <p:cNvSpPr/>
          <p:nvPr/>
        </p:nvSpPr>
        <p:spPr>
          <a:xfrm>
            <a:off x="5806678" y="4033837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1" name="Text 28"/>
          <p:cNvSpPr/>
          <p:nvPr/>
        </p:nvSpPr>
        <p:spPr>
          <a:xfrm>
            <a:off x="5901928" y="368141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32" name="Shape 29"/>
          <p:cNvSpPr/>
          <p:nvPr/>
        </p:nvSpPr>
        <p:spPr>
          <a:xfrm>
            <a:off x="7475488" y="4033837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3" name="Text 30"/>
          <p:cNvSpPr/>
          <p:nvPr/>
        </p:nvSpPr>
        <p:spPr>
          <a:xfrm>
            <a:off x="7570738" y="368141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34" name="Shape 31"/>
          <p:cNvSpPr/>
          <p:nvPr/>
        </p:nvSpPr>
        <p:spPr>
          <a:xfrm>
            <a:off x="9144298" y="4033837"/>
            <a:ext cx="129793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5" name="Text 32"/>
          <p:cNvSpPr/>
          <p:nvPr/>
        </p:nvSpPr>
        <p:spPr>
          <a:xfrm>
            <a:off x="9239548" y="3681413"/>
            <a:ext cx="10312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+[XX]%</a:t>
            </a:r>
            <a:endParaRPr lang="en-US" sz="1125" dirty="0"/>
          </a:p>
        </p:txBody>
      </p:sp>
      <p:sp>
        <p:nvSpPr>
          <p:cNvPr id="36" name="Shape 33"/>
          <p:cNvSpPr/>
          <p:nvPr/>
        </p:nvSpPr>
        <p:spPr>
          <a:xfrm>
            <a:off x="10442228" y="4033837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7" name="Text 34"/>
          <p:cNvSpPr/>
          <p:nvPr/>
        </p:nvSpPr>
        <p:spPr>
          <a:xfrm>
            <a:off x="10537478" y="36814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38" name="Shape 35"/>
          <p:cNvSpPr/>
          <p:nvPr/>
        </p:nvSpPr>
        <p:spPr>
          <a:xfrm>
            <a:off x="11925746" y="4033837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9" name="Text 36"/>
          <p:cNvSpPr/>
          <p:nvPr/>
        </p:nvSpPr>
        <p:spPr>
          <a:xfrm>
            <a:off x="12020996" y="36814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[X.X]×</a:t>
            </a:r>
            <a:endParaRPr lang="en-US" sz="1125" dirty="0"/>
          </a:p>
        </p:txBody>
      </p:sp>
      <p:sp>
        <p:nvSpPr>
          <p:cNvPr id="40" name="Shape 37"/>
          <p:cNvSpPr/>
          <p:nvPr/>
        </p:nvSpPr>
        <p:spPr>
          <a:xfrm>
            <a:off x="13409265" y="4033837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1" name="Text 38"/>
          <p:cNvSpPr/>
          <p:nvPr/>
        </p:nvSpPr>
        <p:spPr>
          <a:xfrm>
            <a:off x="13504515" y="36814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[XX.X]×</a:t>
            </a:r>
            <a:endParaRPr lang="en-US" sz="1125" dirty="0"/>
          </a:p>
        </p:txBody>
      </p:sp>
      <p:sp>
        <p:nvSpPr>
          <p:cNvPr id="42" name="Shape 39"/>
          <p:cNvSpPr/>
          <p:nvPr/>
        </p:nvSpPr>
        <p:spPr>
          <a:xfrm>
            <a:off x="14892784" y="4033837"/>
            <a:ext cx="111249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3" name="Text 40"/>
          <p:cNvSpPr/>
          <p:nvPr/>
        </p:nvSpPr>
        <p:spPr>
          <a:xfrm>
            <a:off x="14988034" y="3681413"/>
            <a:ext cx="8457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[XX]×</a:t>
            </a:r>
            <a:endParaRPr lang="en-US" sz="1125" dirty="0"/>
          </a:p>
        </p:txBody>
      </p:sp>
      <p:sp>
        <p:nvSpPr>
          <p:cNvPr id="44" name="Shape 41"/>
          <p:cNvSpPr/>
          <p:nvPr/>
        </p:nvSpPr>
        <p:spPr>
          <a:xfrm>
            <a:off x="16005274" y="4033837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5" name="Text 42"/>
          <p:cNvSpPr/>
          <p:nvPr/>
        </p:nvSpPr>
        <p:spPr>
          <a:xfrm>
            <a:off x="16100524" y="36814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[X.X]%</a:t>
            </a:r>
            <a:endParaRPr lang="en-US" sz="1125" dirty="0"/>
          </a:p>
        </p:txBody>
      </p:sp>
      <p:sp>
        <p:nvSpPr>
          <p:cNvPr id="46" name="Shape 43"/>
          <p:cNvSpPr/>
          <p:nvPr/>
        </p:nvSpPr>
        <p:spPr>
          <a:xfrm>
            <a:off x="800100" y="4548188"/>
            <a:ext cx="33377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7" name="Text 44"/>
          <p:cNvSpPr/>
          <p:nvPr/>
        </p:nvSpPr>
        <p:spPr>
          <a:xfrm>
            <a:off x="971550" y="4195763"/>
            <a:ext cx="309500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[Listed Peer 2]</a:t>
            </a:r>
            <a:endParaRPr lang="en-US" sz="1125" dirty="0"/>
          </a:p>
        </p:txBody>
      </p:sp>
      <p:sp>
        <p:nvSpPr>
          <p:cNvPr id="48" name="Shape 45"/>
          <p:cNvSpPr/>
          <p:nvPr/>
        </p:nvSpPr>
        <p:spPr>
          <a:xfrm>
            <a:off x="4137868" y="45481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9" name="Text 46"/>
          <p:cNvSpPr/>
          <p:nvPr/>
        </p:nvSpPr>
        <p:spPr>
          <a:xfrm>
            <a:off x="4309318" y="419576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[SG]</a:t>
            </a:r>
            <a:endParaRPr lang="en-US" sz="1125" dirty="0"/>
          </a:p>
        </p:txBody>
      </p:sp>
      <p:sp>
        <p:nvSpPr>
          <p:cNvPr id="50" name="Shape 47"/>
          <p:cNvSpPr/>
          <p:nvPr/>
        </p:nvSpPr>
        <p:spPr>
          <a:xfrm>
            <a:off x="5806678" y="45481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1" name="Text 48"/>
          <p:cNvSpPr/>
          <p:nvPr/>
        </p:nvSpPr>
        <p:spPr>
          <a:xfrm>
            <a:off x="5901928" y="419576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52" name="Shape 49"/>
          <p:cNvSpPr/>
          <p:nvPr/>
        </p:nvSpPr>
        <p:spPr>
          <a:xfrm>
            <a:off x="7475488" y="45481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3" name="Text 50"/>
          <p:cNvSpPr/>
          <p:nvPr/>
        </p:nvSpPr>
        <p:spPr>
          <a:xfrm>
            <a:off x="7570738" y="419576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54" name="Shape 51"/>
          <p:cNvSpPr/>
          <p:nvPr/>
        </p:nvSpPr>
        <p:spPr>
          <a:xfrm>
            <a:off x="9144298" y="4548188"/>
            <a:ext cx="129793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5" name="Text 52"/>
          <p:cNvSpPr/>
          <p:nvPr/>
        </p:nvSpPr>
        <p:spPr>
          <a:xfrm>
            <a:off x="9239548" y="4195763"/>
            <a:ext cx="10312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+[XX]%</a:t>
            </a:r>
            <a:endParaRPr lang="en-US" sz="1125" dirty="0"/>
          </a:p>
        </p:txBody>
      </p:sp>
      <p:sp>
        <p:nvSpPr>
          <p:cNvPr id="56" name="Shape 53"/>
          <p:cNvSpPr/>
          <p:nvPr/>
        </p:nvSpPr>
        <p:spPr>
          <a:xfrm>
            <a:off x="10442228" y="454818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7" name="Text 54"/>
          <p:cNvSpPr/>
          <p:nvPr/>
        </p:nvSpPr>
        <p:spPr>
          <a:xfrm>
            <a:off x="10537478" y="419576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58" name="Shape 55"/>
          <p:cNvSpPr/>
          <p:nvPr/>
        </p:nvSpPr>
        <p:spPr>
          <a:xfrm>
            <a:off x="11925746" y="454818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9" name="Text 56"/>
          <p:cNvSpPr/>
          <p:nvPr/>
        </p:nvSpPr>
        <p:spPr>
          <a:xfrm>
            <a:off x="12020996" y="419576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[X.X]×</a:t>
            </a:r>
            <a:endParaRPr lang="en-US" sz="1125" dirty="0"/>
          </a:p>
        </p:txBody>
      </p:sp>
      <p:sp>
        <p:nvSpPr>
          <p:cNvPr id="60" name="Shape 57"/>
          <p:cNvSpPr/>
          <p:nvPr/>
        </p:nvSpPr>
        <p:spPr>
          <a:xfrm>
            <a:off x="13409265" y="454818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1" name="Text 58"/>
          <p:cNvSpPr/>
          <p:nvPr/>
        </p:nvSpPr>
        <p:spPr>
          <a:xfrm>
            <a:off x="13504515" y="419576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[XX.X]×</a:t>
            </a:r>
            <a:endParaRPr lang="en-US" sz="1125" dirty="0"/>
          </a:p>
        </p:txBody>
      </p:sp>
      <p:sp>
        <p:nvSpPr>
          <p:cNvPr id="62" name="Shape 59"/>
          <p:cNvSpPr/>
          <p:nvPr/>
        </p:nvSpPr>
        <p:spPr>
          <a:xfrm>
            <a:off x="14892784" y="4548188"/>
            <a:ext cx="111249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3" name="Text 60"/>
          <p:cNvSpPr/>
          <p:nvPr/>
        </p:nvSpPr>
        <p:spPr>
          <a:xfrm>
            <a:off x="14988034" y="4195763"/>
            <a:ext cx="8457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[XX]×</a:t>
            </a:r>
            <a:endParaRPr lang="en-US" sz="1125" dirty="0"/>
          </a:p>
        </p:txBody>
      </p:sp>
      <p:sp>
        <p:nvSpPr>
          <p:cNvPr id="64" name="Shape 61"/>
          <p:cNvSpPr/>
          <p:nvPr/>
        </p:nvSpPr>
        <p:spPr>
          <a:xfrm>
            <a:off x="16005274" y="454818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5" name="Text 62"/>
          <p:cNvSpPr/>
          <p:nvPr/>
        </p:nvSpPr>
        <p:spPr>
          <a:xfrm>
            <a:off x="16100524" y="419576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[X.X]%</a:t>
            </a:r>
            <a:endParaRPr lang="en-US" sz="1125" dirty="0"/>
          </a:p>
        </p:txBody>
      </p:sp>
      <p:sp>
        <p:nvSpPr>
          <p:cNvPr id="66" name="Shape 63"/>
          <p:cNvSpPr/>
          <p:nvPr/>
        </p:nvSpPr>
        <p:spPr>
          <a:xfrm>
            <a:off x="800100" y="5062538"/>
            <a:ext cx="33377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7" name="Text 64"/>
          <p:cNvSpPr/>
          <p:nvPr/>
        </p:nvSpPr>
        <p:spPr>
          <a:xfrm>
            <a:off x="971550" y="4710113"/>
            <a:ext cx="309500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[Listed Peer 3]</a:t>
            </a:r>
            <a:endParaRPr lang="en-US" sz="1125" dirty="0"/>
          </a:p>
        </p:txBody>
      </p:sp>
      <p:sp>
        <p:nvSpPr>
          <p:cNvPr id="68" name="Shape 65"/>
          <p:cNvSpPr/>
          <p:nvPr/>
        </p:nvSpPr>
        <p:spPr>
          <a:xfrm>
            <a:off x="4137868" y="50625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9" name="Text 66"/>
          <p:cNvSpPr/>
          <p:nvPr/>
        </p:nvSpPr>
        <p:spPr>
          <a:xfrm>
            <a:off x="4309318" y="471011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[TH]</a:t>
            </a:r>
            <a:endParaRPr lang="en-US" sz="1125" dirty="0"/>
          </a:p>
        </p:txBody>
      </p:sp>
      <p:sp>
        <p:nvSpPr>
          <p:cNvPr id="70" name="Shape 67"/>
          <p:cNvSpPr/>
          <p:nvPr/>
        </p:nvSpPr>
        <p:spPr>
          <a:xfrm>
            <a:off x="5806678" y="50625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1" name="Text 68"/>
          <p:cNvSpPr/>
          <p:nvPr/>
        </p:nvSpPr>
        <p:spPr>
          <a:xfrm>
            <a:off x="5901928" y="471011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72" name="Shape 69"/>
          <p:cNvSpPr/>
          <p:nvPr/>
        </p:nvSpPr>
        <p:spPr>
          <a:xfrm>
            <a:off x="7475488" y="50625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3" name="Text 70"/>
          <p:cNvSpPr/>
          <p:nvPr/>
        </p:nvSpPr>
        <p:spPr>
          <a:xfrm>
            <a:off x="7570738" y="471011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74" name="Shape 71"/>
          <p:cNvSpPr/>
          <p:nvPr/>
        </p:nvSpPr>
        <p:spPr>
          <a:xfrm>
            <a:off x="9144298" y="5062538"/>
            <a:ext cx="129793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5" name="Text 72"/>
          <p:cNvSpPr/>
          <p:nvPr/>
        </p:nvSpPr>
        <p:spPr>
          <a:xfrm>
            <a:off x="9239548" y="4710113"/>
            <a:ext cx="10312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+[X]%</a:t>
            </a:r>
            <a:endParaRPr lang="en-US" sz="1125" dirty="0"/>
          </a:p>
        </p:txBody>
      </p:sp>
      <p:sp>
        <p:nvSpPr>
          <p:cNvPr id="76" name="Shape 73"/>
          <p:cNvSpPr/>
          <p:nvPr/>
        </p:nvSpPr>
        <p:spPr>
          <a:xfrm>
            <a:off x="10442228" y="506253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7" name="Text 74"/>
          <p:cNvSpPr/>
          <p:nvPr/>
        </p:nvSpPr>
        <p:spPr>
          <a:xfrm>
            <a:off x="10537478" y="47101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78" name="Shape 75"/>
          <p:cNvSpPr/>
          <p:nvPr/>
        </p:nvSpPr>
        <p:spPr>
          <a:xfrm>
            <a:off x="11925746" y="506253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9" name="Text 76"/>
          <p:cNvSpPr/>
          <p:nvPr/>
        </p:nvSpPr>
        <p:spPr>
          <a:xfrm>
            <a:off x="12020996" y="47101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[X.X]×</a:t>
            </a:r>
            <a:endParaRPr lang="en-US" sz="1125" dirty="0"/>
          </a:p>
        </p:txBody>
      </p:sp>
      <p:sp>
        <p:nvSpPr>
          <p:cNvPr id="80" name="Shape 77"/>
          <p:cNvSpPr/>
          <p:nvPr/>
        </p:nvSpPr>
        <p:spPr>
          <a:xfrm>
            <a:off x="13409265" y="506253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1" name="Text 78"/>
          <p:cNvSpPr/>
          <p:nvPr/>
        </p:nvSpPr>
        <p:spPr>
          <a:xfrm>
            <a:off x="13504515" y="47101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[XX.X]×</a:t>
            </a:r>
            <a:endParaRPr lang="en-US" sz="1125" dirty="0"/>
          </a:p>
        </p:txBody>
      </p:sp>
      <p:sp>
        <p:nvSpPr>
          <p:cNvPr id="82" name="Shape 79"/>
          <p:cNvSpPr/>
          <p:nvPr/>
        </p:nvSpPr>
        <p:spPr>
          <a:xfrm>
            <a:off x="14892784" y="5062538"/>
            <a:ext cx="111249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3" name="Text 80"/>
          <p:cNvSpPr/>
          <p:nvPr/>
        </p:nvSpPr>
        <p:spPr>
          <a:xfrm>
            <a:off x="14988034" y="4710113"/>
            <a:ext cx="8457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[XX]×</a:t>
            </a:r>
            <a:endParaRPr lang="en-US" sz="1125" dirty="0"/>
          </a:p>
        </p:txBody>
      </p:sp>
      <p:sp>
        <p:nvSpPr>
          <p:cNvPr id="84" name="Shape 81"/>
          <p:cNvSpPr/>
          <p:nvPr/>
        </p:nvSpPr>
        <p:spPr>
          <a:xfrm>
            <a:off x="16005274" y="506253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5" name="Text 82"/>
          <p:cNvSpPr/>
          <p:nvPr/>
        </p:nvSpPr>
        <p:spPr>
          <a:xfrm>
            <a:off x="16100524" y="47101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[X.X]%</a:t>
            </a:r>
            <a:endParaRPr lang="en-US" sz="1125" dirty="0"/>
          </a:p>
        </p:txBody>
      </p:sp>
      <p:sp>
        <p:nvSpPr>
          <p:cNvPr id="86" name="Shape 83"/>
          <p:cNvSpPr/>
          <p:nvPr/>
        </p:nvSpPr>
        <p:spPr>
          <a:xfrm>
            <a:off x="800100" y="5576888"/>
            <a:ext cx="33377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7" name="Text 84"/>
          <p:cNvSpPr/>
          <p:nvPr/>
        </p:nvSpPr>
        <p:spPr>
          <a:xfrm>
            <a:off x="971550" y="5224463"/>
            <a:ext cx="309500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[Listed Peer 4]</a:t>
            </a:r>
            <a:endParaRPr lang="en-US" sz="1125" dirty="0"/>
          </a:p>
        </p:txBody>
      </p:sp>
      <p:sp>
        <p:nvSpPr>
          <p:cNvPr id="88" name="Shape 85"/>
          <p:cNvSpPr/>
          <p:nvPr/>
        </p:nvSpPr>
        <p:spPr>
          <a:xfrm>
            <a:off x="4137868" y="55768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9" name="Text 86"/>
          <p:cNvSpPr/>
          <p:nvPr/>
        </p:nvSpPr>
        <p:spPr>
          <a:xfrm>
            <a:off x="4309318" y="522446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[ID]</a:t>
            </a:r>
            <a:endParaRPr lang="en-US" sz="1125" dirty="0"/>
          </a:p>
        </p:txBody>
      </p:sp>
      <p:sp>
        <p:nvSpPr>
          <p:cNvPr id="90" name="Shape 87"/>
          <p:cNvSpPr/>
          <p:nvPr/>
        </p:nvSpPr>
        <p:spPr>
          <a:xfrm>
            <a:off x="5806678" y="55768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1" name="Text 88"/>
          <p:cNvSpPr/>
          <p:nvPr/>
        </p:nvSpPr>
        <p:spPr>
          <a:xfrm>
            <a:off x="5901928" y="522446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92" name="Shape 89"/>
          <p:cNvSpPr/>
          <p:nvPr/>
        </p:nvSpPr>
        <p:spPr>
          <a:xfrm>
            <a:off x="7475488" y="55768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3" name="Text 90"/>
          <p:cNvSpPr/>
          <p:nvPr/>
        </p:nvSpPr>
        <p:spPr>
          <a:xfrm>
            <a:off x="7570738" y="522446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94" name="Shape 91"/>
          <p:cNvSpPr/>
          <p:nvPr/>
        </p:nvSpPr>
        <p:spPr>
          <a:xfrm>
            <a:off x="9144298" y="5576888"/>
            <a:ext cx="129793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5" name="Text 92"/>
          <p:cNvSpPr/>
          <p:nvPr/>
        </p:nvSpPr>
        <p:spPr>
          <a:xfrm>
            <a:off x="9239548" y="5224463"/>
            <a:ext cx="10312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+[XX]%</a:t>
            </a:r>
            <a:endParaRPr lang="en-US" sz="1125" dirty="0"/>
          </a:p>
        </p:txBody>
      </p:sp>
      <p:sp>
        <p:nvSpPr>
          <p:cNvPr id="96" name="Shape 93"/>
          <p:cNvSpPr/>
          <p:nvPr/>
        </p:nvSpPr>
        <p:spPr>
          <a:xfrm>
            <a:off x="10442228" y="557688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7" name="Text 94"/>
          <p:cNvSpPr/>
          <p:nvPr/>
        </p:nvSpPr>
        <p:spPr>
          <a:xfrm>
            <a:off x="10537478" y="522446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98" name="Shape 95"/>
          <p:cNvSpPr/>
          <p:nvPr/>
        </p:nvSpPr>
        <p:spPr>
          <a:xfrm>
            <a:off x="11925746" y="557688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9" name="Text 96"/>
          <p:cNvSpPr/>
          <p:nvPr/>
        </p:nvSpPr>
        <p:spPr>
          <a:xfrm>
            <a:off x="12020996" y="522446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[X.X]×</a:t>
            </a:r>
            <a:endParaRPr lang="en-US" sz="1125" dirty="0"/>
          </a:p>
        </p:txBody>
      </p:sp>
      <p:sp>
        <p:nvSpPr>
          <p:cNvPr id="100" name="Shape 97"/>
          <p:cNvSpPr/>
          <p:nvPr/>
        </p:nvSpPr>
        <p:spPr>
          <a:xfrm>
            <a:off x="13409265" y="557688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1" name="Text 98"/>
          <p:cNvSpPr/>
          <p:nvPr/>
        </p:nvSpPr>
        <p:spPr>
          <a:xfrm>
            <a:off x="13504515" y="522446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[XX.X]×</a:t>
            </a:r>
            <a:endParaRPr lang="en-US" sz="1125" dirty="0"/>
          </a:p>
        </p:txBody>
      </p:sp>
      <p:sp>
        <p:nvSpPr>
          <p:cNvPr id="102" name="Shape 99"/>
          <p:cNvSpPr/>
          <p:nvPr/>
        </p:nvSpPr>
        <p:spPr>
          <a:xfrm>
            <a:off x="14892784" y="5576888"/>
            <a:ext cx="111249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3" name="Text 100"/>
          <p:cNvSpPr/>
          <p:nvPr/>
        </p:nvSpPr>
        <p:spPr>
          <a:xfrm>
            <a:off x="14988034" y="5224463"/>
            <a:ext cx="8457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[XX]×</a:t>
            </a:r>
            <a:endParaRPr lang="en-US" sz="1125" dirty="0"/>
          </a:p>
        </p:txBody>
      </p:sp>
      <p:sp>
        <p:nvSpPr>
          <p:cNvPr id="104" name="Shape 101"/>
          <p:cNvSpPr/>
          <p:nvPr/>
        </p:nvSpPr>
        <p:spPr>
          <a:xfrm>
            <a:off x="16005274" y="557688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5" name="Text 102"/>
          <p:cNvSpPr/>
          <p:nvPr/>
        </p:nvSpPr>
        <p:spPr>
          <a:xfrm>
            <a:off x="16100524" y="522446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[X.X]%</a:t>
            </a:r>
            <a:endParaRPr lang="en-US" sz="1125" dirty="0"/>
          </a:p>
        </p:txBody>
      </p:sp>
      <p:sp>
        <p:nvSpPr>
          <p:cNvPr id="106" name="Shape 103"/>
          <p:cNvSpPr/>
          <p:nvPr/>
        </p:nvSpPr>
        <p:spPr>
          <a:xfrm>
            <a:off x="800100" y="6091238"/>
            <a:ext cx="33377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7" name="Text 104"/>
          <p:cNvSpPr/>
          <p:nvPr/>
        </p:nvSpPr>
        <p:spPr>
          <a:xfrm>
            <a:off x="971550" y="5738813"/>
            <a:ext cx="309500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[Listed Peer 5]</a:t>
            </a:r>
            <a:endParaRPr lang="en-US" sz="1125" dirty="0"/>
          </a:p>
        </p:txBody>
      </p:sp>
      <p:sp>
        <p:nvSpPr>
          <p:cNvPr id="108" name="Shape 105"/>
          <p:cNvSpPr/>
          <p:nvPr/>
        </p:nvSpPr>
        <p:spPr>
          <a:xfrm>
            <a:off x="4137868" y="60912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9" name="Text 106"/>
          <p:cNvSpPr/>
          <p:nvPr/>
        </p:nvSpPr>
        <p:spPr>
          <a:xfrm>
            <a:off x="4309318" y="573881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[PH]</a:t>
            </a:r>
            <a:endParaRPr lang="en-US" sz="1125" dirty="0"/>
          </a:p>
        </p:txBody>
      </p:sp>
      <p:sp>
        <p:nvSpPr>
          <p:cNvPr id="110" name="Shape 107"/>
          <p:cNvSpPr/>
          <p:nvPr/>
        </p:nvSpPr>
        <p:spPr>
          <a:xfrm>
            <a:off x="5806678" y="60912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1" name="Text 108"/>
          <p:cNvSpPr/>
          <p:nvPr/>
        </p:nvSpPr>
        <p:spPr>
          <a:xfrm>
            <a:off x="5901928" y="573881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112" name="Shape 109"/>
          <p:cNvSpPr/>
          <p:nvPr/>
        </p:nvSpPr>
        <p:spPr>
          <a:xfrm>
            <a:off x="7475488" y="60912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3" name="Text 110"/>
          <p:cNvSpPr/>
          <p:nvPr/>
        </p:nvSpPr>
        <p:spPr>
          <a:xfrm>
            <a:off x="7570738" y="573881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114" name="Shape 111"/>
          <p:cNvSpPr/>
          <p:nvPr/>
        </p:nvSpPr>
        <p:spPr>
          <a:xfrm>
            <a:off x="9144298" y="6091238"/>
            <a:ext cx="129793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5" name="Text 112"/>
          <p:cNvSpPr/>
          <p:nvPr/>
        </p:nvSpPr>
        <p:spPr>
          <a:xfrm>
            <a:off x="9239548" y="5738813"/>
            <a:ext cx="10312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+[X]%</a:t>
            </a:r>
            <a:endParaRPr lang="en-US" sz="1125" dirty="0"/>
          </a:p>
        </p:txBody>
      </p:sp>
      <p:sp>
        <p:nvSpPr>
          <p:cNvPr id="116" name="Shape 113"/>
          <p:cNvSpPr/>
          <p:nvPr/>
        </p:nvSpPr>
        <p:spPr>
          <a:xfrm>
            <a:off x="10442228" y="609123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7" name="Text 114"/>
          <p:cNvSpPr/>
          <p:nvPr/>
        </p:nvSpPr>
        <p:spPr>
          <a:xfrm>
            <a:off x="10537478" y="57388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118" name="Shape 115"/>
          <p:cNvSpPr/>
          <p:nvPr/>
        </p:nvSpPr>
        <p:spPr>
          <a:xfrm>
            <a:off x="11925746" y="609123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9" name="Text 116"/>
          <p:cNvSpPr/>
          <p:nvPr/>
        </p:nvSpPr>
        <p:spPr>
          <a:xfrm>
            <a:off x="12020996" y="57388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[X.X]×</a:t>
            </a:r>
            <a:endParaRPr lang="en-US" sz="1125" dirty="0"/>
          </a:p>
        </p:txBody>
      </p:sp>
      <p:sp>
        <p:nvSpPr>
          <p:cNvPr id="120" name="Shape 117"/>
          <p:cNvSpPr/>
          <p:nvPr/>
        </p:nvSpPr>
        <p:spPr>
          <a:xfrm>
            <a:off x="13409265" y="609123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1" name="Text 118"/>
          <p:cNvSpPr/>
          <p:nvPr/>
        </p:nvSpPr>
        <p:spPr>
          <a:xfrm>
            <a:off x="13504515" y="57388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[XX.X]×</a:t>
            </a:r>
            <a:endParaRPr lang="en-US" sz="1125" dirty="0"/>
          </a:p>
        </p:txBody>
      </p:sp>
      <p:sp>
        <p:nvSpPr>
          <p:cNvPr id="122" name="Shape 119"/>
          <p:cNvSpPr/>
          <p:nvPr/>
        </p:nvSpPr>
        <p:spPr>
          <a:xfrm>
            <a:off x="14892784" y="6091238"/>
            <a:ext cx="111249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3" name="Text 120"/>
          <p:cNvSpPr/>
          <p:nvPr/>
        </p:nvSpPr>
        <p:spPr>
          <a:xfrm>
            <a:off x="14988034" y="5738813"/>
            <a:ext cx="8457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[XX]×</a:t>
            </a:r>
            <a:endParaRPr lang="en-US" sz="1125" dirty="0"/>
          </a:p>
        </p:txBody>
      </p:sp>
      <p:sp>
        <p:nvSpPr>
          <p:cNvPr id="124" name="Shape 121"/>
          <p:cNvSpPr/>
          <p:nvPr/>
        </p:nvSpPr>
        <p:spPr>
          <a:xfrm>
            <a:off x="16005274" y="609123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5" name="Text 122"/>
          <p:cNvSpPr/>
          <p:nvPr/>
        </p:nvSpPr>
        <p:spPr>
          <a:xfrm>
            <a:off x="16100524" y="57388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[X.X]%</a:t>
            </a:r>
            <a:endParaRPr lang="en-US" sz="1125" dirty="0"/>
          </a:p>
        </p:txBody>
      </p:sp>
      <p:sp>
        <p:nvSpPr>
          <p:cNvPr id="126" name="Shape 123"/>
          <p:cNvSpPr/>
          <p:nvPr/>
        </p:nvSpPr>
        <p:spPr>
          <a:xfrm>
            <a:off x="800100" y="6100763"/>
            <a:ext cx="16687800" cy="51435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127" name="Shape 124"/>
          <p:cNvSpPr/>
          <p:nvPr/>
        </p:nvSpPr>
        <p:spPr>
          <a:xfrm>
            <a:off x="800100" y="6605588"/>
            <a:ext cx="33377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8" name="Text 125"/>
          <p:cNvSpPr/>
          <p:nvPr/>
        </p:nvSpPr>
        <p:spPr>
          <a:xfrm>
            <a:off x="971550" y="6253163"/>
            <a:ext cx="309500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median</a:t>
            </a:r>
            <a:endParaRPr lang="en-US" sz="1125" dirty="0"/>
          </a:p>
        </p:txBody>
      </p:sp>
      <p:sp>
        <p:nvSpPr>
          <p:cNvPr id="129" name="Shape 126"/>
          <p:cNvSpPr/>
          <p:nvPr/>
        </p:nvSpPr>
        <p:spPr>
          <a:xfrm>
            <a:off x="4137868" y="66055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0" name="Shape 127"/>
          <p:cNvSpPr/>
          <p:nvPr/>
        </p:nvSpPr>
        <p:spPr>
          <a:xfrm>
            <a:off x="5806678" y="66055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1" name="Text 128"/>
          <p:cNvSpPr/>
          <p:nvPr/>
        </p:nvSpPr>
        <p:spPr>
          <a:xfrm>
            <a:off x="5901928" y="625316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132" name="Shape 129"/>
          <p:cNvSpPr/>
          <p:nvPr/>
        </p:nvSpPr>
        <p:spPr>
          <a:xfrm>
            <a:off x="7475488" y="660558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3" name="Text 130"/>
          <p:cNvSpPr/>
          <p:nvPr/>
        </p:nvSpPr>
        <p:spPr>
          <a:xfrm>
            <a:off x="7570738" y="625316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134" name="Shape 131"/>
          <p:cNvSpPr/>
          <p:nvPr/>
        </p:nvSpPr>
        <p:spPr>
          <a:xfrm>
            <a:off x="9144298" y="6605588"/>
            <a:ext cx="129793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5" name="Text 132"/>
          <p:cNvSpPr/>
          <p:nvPr/>
        </p:nvSpPr>
        <p:spPr>
          <a:xfrm>
            <a:off x="9239548" y="6253163"/>
            <a:ext cx="10312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+[XX]%</a:t>
            </a:r>
            <a:endParaRPr lang="en-US" sz="1125" dirty="0"/>
          </a:p>
        </p:txBody>
      </p:sp>
      <p:sp>
        <p:nvSpPr>
          <p:cNvPr id="136" name="Shape 133"/>
          <p:cNvSpPr/>
          <p:nvPr/>
        </p:nvSpPr>
        <p:spPr>
          <a:xfrm>
            <a:off x="10442228" y="660558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7" name="Text 134"/>
          <p:cNvSpPr/>
          <p:nvPr/>
        </p:nvSpPr>
        <p:spPr>
          <a:xfrm>
            <a:off x="10537478" y="625316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138" name="Shape 135"/>
          <p:cNvSpPr/>
          <p:nvPr/>
        </p:nvSpPr>
        <p:spPr>
          <a:xfrm>
            <a:off x="11925746" y="660558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9" name="Text 136"/>
          <p:cNvSpPr/>
          <p:nvPr/>
        </p:nvSpPr>
        <p:spPr>
          <a:xfrm>
            <a:off x="12020996" y="625316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[X.X]×</a:t>
            </a:r>
            <a:endParaRPr lang="en-US" sz="1125" dirty="0"/>
          </a:p>
        </p:txBody>
      </p:sp>
      <p:sp>
        <p:nvSpPr>
          <p:cNvPr id="140" name="Shape 137"/>
          <p:cNvSpPr/>
          <p:nvPr/>
        </p:nvSpPr>
        <p:spPr>
          <a:xfrm>
            <a:off x="13409265" y="660558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1" name="Text 138"/>
          <p:cNvSpPr/>
          <p:nvPr/>
        </p:nvSpPr>
        <p:spPr>
          <a:xfrm>
            <a:off x="13504515" y="625316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[XX.X]×</a:t>
            </a:r>
            <a:endParaRPr lang="en-US" sz="1125" dirty="0"/>
          </a:p>
        </p:txBody>
      </p:sp>
      <p:sp>
        <p:nvSpPr>
          <p:cNvPr id="142" name="Shape 139"/>
          <p:cNvSpPr/>
          <p:nvPr/>
        </p:nvSpPr>
        <p:spPr>
          <a:xfrm>
            <a:off x="14892784" y="6605588"/>
            <a:ext cx="111249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3" name="Text 140"/>
          <p:cNvSpPr/>
          <p:nvPr/>
        </p:nvSpPr>
        <p:spPr>
          <a:xfrm>
            <a:off x="14988034" y="6253163"/>
            <a:ext cx="8457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[XX]×</a:t>
            </a:r>
            <a:endParaRPr lang="en-US" sz="1125" dirty="0"/>
          </a:p>
        </p:txBody>
      </p:sp>
      <p:sp>
        <p:nvSpPr>
          <p:cNvPr id="144" name="Shape 141"/>
          <p:cNvSpPr/>
          <p:nvPr/>
        </p:nvSpPr>
        <p:spPr>
          <a:xfrm>
            <a:off x="16005274" y="660558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5" name="Text 142"/>
          <p:cNvSpPr/>
          <p:nvPr/>
        </p:nvSpPr>
        <p:spPr>
          <a:xfrm>
            <a:off x="16100524" y="625316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[X.X]%</a:t>
            </a:r>
            <a:endParaRPr lang="en-US" sz="1125" dirty="0"/>
          </a:p>
        </p:txBody>
      </p:sp>
      <p:sp>
        <p:nvSpPr>
          <p:cNvPr id="146" name="Shape 143"/>
          <p:cNvSpPr/>
          <p:nvPr/>
        </p:nvSpPr>
        <p:spPr>
          <a:xfrm>
            <a:off x="800100" y="6615113"/>
            <a:ext cx="16687800" cy="514350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47" name="Shape 144"/>
          <p:cNvSpPr/>
          <p:nvPr/>
        </p:nvSpPr>
        <p:spPr>
          <a:xfrm>
            <a:off x="800100" y="7119938"/>
            <a:ext cx="33377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8" name="Text 145"/>
          <p:cNvSpPr/>
          <p:nvPr/>
        </p:nvSpPr>
        <p:spPr>
          <a:xfrm>
            <a:off x="971550" y="6767513"/>
            <a:ext cx="309500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OSK Holdings</a:t>
            </a:r>
            <a:endParaRPr lang="en-US" sz="1125" dirty="0"/>
          </a:p>
        </p:txBody>
      </p:sp>
      <p:sp>
        <p:nvSpPr>
          <p:cNvPr id="149" name="Shape 146"/>
          <p:cNvSpPr/>
          <p:nvPr/>
        </p:nvSpPr>
        <p:spPr>
          <a:xfrm>
            <a:off x="4137868" y="71199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0" name="Text 147"/>
          <p:cNvSpPr/>
          <p:nvPr/>
        </p:nvSpPr>
        <p:spPr>
          <a:xfrm>
            <a:off x="4309318" y="676751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[MY]</a:t>
            </a:r>
            <a:endParaRPr lang="en-US" sz="1125" dirty="0"/>
          </a:p>
        </p:txBody>
      </p:sp>
      <p:sp>
        <p:nvSpPr>
          <p:cNvPr id="151" name="Shape 148"/>
          <p:cNvSpPr/>
          <p:nvPr/>
        </p:nvSpPr>
        <p:spPr>
          <a:xfrm>
            <a:off x="5806678" y="71199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2" name="Text 149"/>
          <p:cNvSpPr/>
          <p:nvPr/>
        </p:nvSpPr>
        <p:spPr>
          <a:xfrm>
            <a:off x="5901928" y="676751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153" name="Shape 150"/>
          <p:cNvSpPr/>
          <p:nvPr/>
        </p:nvSpPr>
        <p:spPr>
          <a:xfrm>
            <a:off x="7475488" y="7119938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4" name="Text 151"/>
          <p:cNvSpPr/>
          <p:nvPr/>
        </p:nvSpPr>
        <p:spPr>
          <a:xfrm>
            <a:off x="7570738" y="6767513"/>
            <a:ext cx="14021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155" name="Shape 152"/>
          <p:cNvSpPr/>
          <p:nvPr/>
        </p:nvSpPr>
        <p:spPr>
          <a:xfrm>
            <a:off x="9144298" y="7119938"/>
            <a:ext cx="129793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6" name="Text 153"/>
          <p:cNvSpPr/>
          <p:nvPr/>
        </p:nvSpPr>
        <p:spPr>
          <a:xfrm>
            <a:off x="9239548" y="6767513"/>
            <a:ext cx="10312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+[XX]%</a:t>
            </a:r>
            <a:endParaRPr lang="en-US" sz="1125" dirty="0"/>
          </a:p>
        </p:txBody>
      </p:sp>
      <p:sp>
        <p:nvSpPr>
          <p:cNvPr id="157" name="Shape 154"/>
          <p:cNvSpPr/>
          <p:nvPr/>
        </p:nvSpPr>
        <p:spPr>
          <a:xfrm>
            <a:off x="10442228" y="711993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8" name="Text 155"/>
          <p:cNvSpPr/>
          <p:nvPr/>
        </p:nvSpPr>
        <p:spPr>
          <a:xfrm>
            <a:off x="10537478" y="67675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159" name="Shape 156"/>
          <p:cNvSpPr/>
          <p:nvPr/>
        </p:nvSpPr>
        <p:spPr>
          <a:xfrm>
            <a:off x="11925746" y="711993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60" name="Text 157"/>
          <p:cNvSpPr/>
          <p:nvPr/>
        </p:nvSpPr>
        <p:spPr>
          <a:xfrm>
            <a:off x="12020996" y="67675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[X.X]×</a:t>
            </a:r>
            <a:endParaRPr lang="en-US" sz="1125" dirty="0"/>
          </a:p>
        </p:txBody>
      </p:sp>
      <p:sp>
        <p:nvSpPr>
          <p:cNvPr id="161" name="Shape 158"/>
          <p:cNvSpPr/>
          <p:nvPr/>
        </p:nvSpPr>
        <p:spPr>
          <a:xfrm>
            <a:off x="13409265" y="711993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62" name="Text 159"/>
          <p:cNvSpPr/>
          <p:nvPr/>
        </p:nvSpPr>
        <p:spPr>
          <a:xfrm>
            <a:off x="13504515" y="67675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[X.X]×</a:t>
            </a:r>
            <a:endParaRPr lang="en-US" sz="1125" dirty="0"/>
          </a:p>
        </p:txBody>
      </p:sp>
      <p:sp>
        <p:nvSpPr>
          <p:cNvPr id="163" name="Shape 160"/>
          <p:cNvSpPr/>
          <p:nvPr/>
        </p:nvSpPr>
        <p:spPr>
          <a:xfrm>
            <a:off x="14892784" y="7119938"/>
            <a:ext cx="111249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64" name="Text 161"/>
          <p:cNvSpPr/>
          <p:nvPr/>
        </p:nvSpPr>
        <p:spPr>
          <a:xfrm>
            <a:off x="14988034" y="6767513"/>
            <a:ext cx="8457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[XX]×</a:t>
            </a:r>
            <a:endParaRPr lang="en-US" sz="1125" dirty="0"/>
          </a:p>
        </p:txBody>
      </p:sp>
      <p:sp>
        <p:nvSpPr>
          <p:cNvPr id="165" name="Shape 162"/>
          <p:cNvSpPr/>
          <p:nvPr/>
        </p:nvSpPr>
        <p:spPr>
          <a:xfrm>
            <a:off x="16005274" y="7119938"/>
            <a:ext cx="148351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66" name="Text 163"/>
          <p:cNvSpPr/>
          <p:nvPr/>
        </p:nvSpPr>
        <p:spPr>
          <a:xfrm>
            <a:off x="16100524" y="6767513"/>
            <a:ext cx="12168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[X.X]%</a:t>
            </a:r>
            <a:endParaRPr lang="en-US" sz="1125" dirty="0"/>
          </a:p>
        </p:txBody>
      </p:sp>
      <p:sp>
        <p:nvSpPr>
          <p:cNvPr id="167" name="Shape 164"/>
          <p:cNvSpPr/>
          <p:nvPr/>
        </p:nvSpPr>
        <p:spPr>
          <a:xfrm>
            <a:off x="800100" y="7324725"/>
            <a:ext cx="16687800" cy="81915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168" name="Shape 165"/>
          <p:cNvSpPr/>
          <p:nvPr/>
        </p:nvSpPr>
        <p:spPr>
          <a:xfrm>
            <a:off x="800100" y="7324725"/>
            <a:ext cx="38100" cy="81915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69" name="Text 166"/>
          <p:cNvSpPr/>
          <p:nvPr/>
        </p:nvSpPr>
        <p:spPr>
          <a:xfrm>
            <a:off x="1047750" y="7496175"/>
            <a:ext cx="167175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1047750" y="7734300"/>
            <a:ext cx="134614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[We trade at a [X]% discount to the peer median on EV/EBITDA. Re-rating to median multiple implies [RM X.X bn] of equity upside, holding fundamentals constant.]</a:t>
            </a:r>
            <a:endParaRPr lang="en-US" sz="1425" dirty="0"/>
          </a:p>
        </p:txBody>
      </p:sp>
      <p:sp>
        <p:nvSpPr>
          <p:cNvPr id="171" name="Shape 168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72" name="Text 169"/>
          <p:cNvSpPr/>
          <p:nvPr/>
        </p:nvSpPr>
        <p:spPr>
          <a:xfrm>
            <a:off x="800100" y="9410700"/>
            <a:ext cx="73603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[Bloomberg, S&amp;P Capital IQ], company filings, OSK analysis. Pricing as at [DD Mmm YYYY]. NTM consensus where available.</a:t>
            </a:r>
            <a:endParaRPr lang="en-US" sz="900" dirty="0"/>
          </a:p>
        </p:txBody>
      </p:sp>
      <p:sp>
        <p:nvSpPr>
          <p:cNvPr id="173" name="Text 170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/ 64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2312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INDUSTRY &amp; MARKET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TRENDS · PESTEL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forces will reshape the operating environment — four are high-impact, near-term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3338513"/>
            <a:ext cx="2102495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7" name="Text 4"/>
          <p:cNvSpPr/>
          <p:nvPr/>
        </p:nvSpPr>
        <p:spPr>
          <a:xfrm>
            <a:off x="971550" y="3009900"/>
            <a:ext cx="183579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02595" y="3338513"/>
            <a:ext cx="2867025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9" name="Text 6"/>
          <p:cNvSpPr/>
          <p:nvPr/>
        </p:nvSpPr>
        <p:spPr>
          <a:xfrm>
            <a:off x="3074045" y="3009900"/>
            <a:ext cx="261013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9620" y="3338513"/>
            <a:ext cx="1529209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1" name="Text 8"/>
          <p:cNvSpPr/>
          <p:nvPr/>
        </p:nvSpPr>
        <p:spPr>
          <a:xfrm>
            <a:off x="5941070" y="3009900"/>
            <a:ext cx="126250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298829" y="3338513"/>
            <a:ext cx="1529209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3" name="Text 10"/>
          <p:cNvSpPr/>
          <p:nvPr/>
        </p:nvSpPr>
        <p:spPr>
          <a:xfrm>
            <a:off x="7470279" y="3009900"/>
            <a:ext cx="126250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828038" y="3338513"/>
            <a:ext cx="1529209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5" name="Text 12"/>
          <p:cNvSpPr/>
          <p:nvPr/>
        </p:nvSpPr>
        <p:spPr>
          <a:xfrm>
            <a:off x="8999488" y="3009900"/>
            <a:ext cx="126250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0100" y="4014788"/>
            <a:ext cx="210249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7" name="Text 14"/>
          <p:cNvSpPr/>
          <p:nvPr/>
        </p:nvSpPr>
        <p:spPr>
          <a:xfrm>
            <a:off x="971550" y="3500438"/>
            <a:ext cx="18357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902595" y="4014788"/>
            <a:ext cx="28670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9" name="Text 16"/>
          <p:cNvSpPr/>
          <p:nvPr/>
        </p:nvSpPr>
        <p:spPr>
          <a:xfrm>
            <a:off x="3074045" y="3500438"/>
            <a:ext cx="261013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[Industrial policy shift toward national champions]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769620" y="3348038"/>
            <a:ext cx="1529209" cy="676275"/>
          </a:xfrm>
          <a:prstGeom prst="rect">
            <a:avLst/>
          </a:prstGeom>
          <a:solidFill>
            <a:srgbClr val="D5B679"/>
          </a:solidFill>
          <a:ln/>
        </p:spPr>
      </p:sp>
      <p:sp>
        <p:nvSpPr>
          <p:cNvPr id="21" name="Shape 18"/>
          <p:cNvSpPr/>
          <p:nvPr/>
        </p:nvSpPr>
        <p:spPr>
          <a:xfrm>
            <a:off x="5769620" y="401478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2" name="Text 19"/>
          <p:cNvSpPr/>
          <p:nvPr/>
        </p:nvSpPr>
        <p:spPr>
          <a:xfrm>
            <a:off x="5941070" y="3500438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yr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298829" y="3348038"/>
            <a:ext cx="1529209" cy="676275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24" name="Shape 21"/>
          <p:cNvSpPr/>
          <p:nvPr/>
        </p:nvSpPr>
        <p:spPr>
          <a:xfrm>
            <a:off x="7298829" y="401478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2"/>
          <p:cNvSpPr/>
          <p:nvPr/>
        </p:nvSpPr>
        <p:spPr>
          <a:xfrm>
            <a:off x="7470279" y="3500438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828038" y="401478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8999488" y="3500438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Tailwind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00100" y="4510088"/>
            <a:ext cx="210249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Text 26"/>
          <p:cNvSpPr/>
          <p:nvPr/>
        </p:nvSpPr>
        <p:spPr>
          <a:xfrm>
            <a:off x="971550" y="4176713"/>
            <a:ext cx="18357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902595" y="4510088"/>
            <a:ext cx="28670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1" name="Text 28"/>
          <p:cNvSpPr/>
          <p:nvPr/>
        </p:nvSpPr>
        <p:spPr>
          <a:xfrm>
            <a:off x="3074045" y="4176713"/>
            <a:ext cx="26101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[Higher cost of capital, FX volatility]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769620" y="4024313"/>
            <a:ext cx="1529209" cy="495300"/>
          </a:xfrm>
          <a:prstGeom prst="rect">
            <a:avLst/>
          </a:prstGeom>
          <a:solidFill>
            <a:srgbClr val="E8DAB6"/>
          </a:solidFill>
          <a:ln/>
        </p:spPr>
      </p:sp>
      <p:sp>
        <p:nvSpPr>
          <p:cNvPr id="33" name="Shape 30"/>
          <p:cNvSpPr/>
          <p:nvPr/>
        </p:nvSpPr>
        <p:spPr>
          <a:xfrm>
            <a:off x="5769620" y="451008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4" name="Text 31"/>
          <p:cNvSpPr/>
          <p:nvPr/>
        </p:nvSpPr>
        <p:spPr>
          <a:xfrm>
            <a:off x="5941070" y="4176713"/>
            <a:ext cx="12625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 yr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298829" y="4024313"/>
            <a:ext cx="1529209" cy="495300"/>
          </a:xfrm>
          <a:prstGeom prst="rect">
            <a:avLst/>
          </a:prstGeom>
          <a:solidFill>
            <a:srgbClr val="D5B679"/>
          </a:solidFill>
          <a:ln/>
        </p:spPr>
      </p:sp>
      <p:sp>
        <p:nvSpPr>
          <p:cNvPr id="36" name="Shape 33"/>
          <p:cNvSpPr/>
          <p:nvPr/>
        </p:nvSpPr>
        <p:spPr>
          <a:xfrm>
            <a:off x="7298829" y="451008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7" name="Text 34"/>
          <p:cNvSpPr/>
          <p:nvPr/>
        </p:nvSpPr>
        <p:spPr>
          <a:xfrm>
            <a:off x="7470279" y="4176713"/>
            <a:ext cx="12625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828038" y="451008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9" name="Text 36"/>
          <p:cNvSpPr/>
          <p:nvPr/>
        </p:nvSpPr>
        <p:spPr>
          <a:xfrm>
            <a:off x="8999488" y="4176713"/>
            <a:ext cx="12625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Headwind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00100" y="5186363"/>
            <a:ext cx="210249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1" name="Text 38"/>
          <p:cNvSpPr/>
          <p:nvPr/>
        </p:nvSpPr>
        <p:spPr>
          <a:xfrm>
            <a:off x="971550" y="4672013"/>
            <a:ext cx="18357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2902595" y="5186363"/>
            <a:ext cx="28670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3" name="Text 40"/>
          <p:cNvSpPr/>
          <p:nvPr/>
        </p:nvSpPr>
        <p:spPr>
          <a:xfrm>
            <a:off x="3074045" y="4672013"/>
            <a:ext cx="261013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expectations on service speed and digital UX]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5769620" y="4519613"/>
            <a:ext cx="1529209" cy="676275"/>
          </a:xfrm>
          <a:prstGeom prst="rect">
            <a:avLst/>
          </a:prstGeom>
          <a:solidFill>
            <a:srgbClr val="E8DAB6"/>
          </a:solidFill>
          <a:ln/>
        </p:spPr>
      </p:sp>
      <p:sp>
        <p:nvSpPr>
          <p:cNvPr id="45" name="Shape 42"/>
          <p:cNvSpPr/>
          <p:nvPr/>
        </p:nvSpPr>
        <p:spPr>
          <a:xfrm>
            <a:off x="5769620" y="518636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6" name="Text 43"/>
          <p:cNvSpPr/>
          <p:nvPr/>
        </p:nvSpPr>
        <p:spPr>
          <a:xfrm>
            <a:off x="5941070" y="4672013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0-2 yr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7298829" y="4519613"/>
            <a:ext cx="1529209" cy="676275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48" name="Shape 45"/>
          <p:cNvSpPr/>
          <p:nvPr/>
        </p:nvSpPr>
        <p:spPr>
          <a:xfrm>
            <a:off x="7298829" y="518636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9" name="Text 46"/>
          <p:cNvSpPr/>
          <p:nvPr/>
        </p:nvSpPr>
        <p:spPr>
          <a:xfrm>
            <a:off x="7470279" y="4672013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828038" y="518636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1" name="Text 48"/>
          <p:cNvSpPr/>
          <p:nvPr/>
        </p:nvSpPr>
        <p:spPr>
          <a:xfrm>
            <a:off x="8999488" y="4672013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Forces action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00100" y="5862638"/>
            <a:ext cx="210249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3" name="Text 50"/>
          <p:cNvSpPr/>
          <p:nvPr/>
        </p:nvSpPr>
        <p:spPr>
          <a:xfrm>
            <a:off x="971550" y="5348288"/>
            <a:ext cx="18357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Technological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2902595" y="5862638"/>
            <a:ext cx="28670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5" name="Text 52"/>
          <p:cNvSpPr/>
          <p:nvPr/>
        </p:nvSpPr>
        <p:spPr>
          <a:xfrm>
            <a:off x="3074045" y="5348288"/>
            <a:ext cx="261013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[Generative AI in operations &amp; customer service]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5769620" y="5195888"/>
            <a:ext cx="1529209" cy="676275"/>
          </a:xfrm>
          <a:prstGeom prst="rect">
            <a:avLst/>
          </a:prstGeom>
          <a:solidFill>
            <a:srgbClr val="E8DAB6"/>
          </a:solidFill>
          <a:ln/>
        </p:spPr>
      </p:sp>
      <p:sp>
        <p:nvSpPr>
          <p:cNvPr id="57" name="Shape 54"/>
          <p:cNvSpPr/>
          <p:nvPr/>
        </p:nvSpPr>
        <p:spPr>
          <a:xfrm>
            <a:off x="5769620" y="586263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8" name="Text 55"/>
          <p:cNvSpPr/>
          <p:nvPr/>
        </p:nvSpPr>
        <p:spPr>
          <a:xfrm>
            <a:off x="5941070" y="5348288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0-2 yr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7298829" y="5195888"/>
            <a:ext cx="1529209" cy="67627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60" name="Shape 57"/>
          <p:cNvSpPr/>
          <p:nvPr/>
        </p:nvSpPr>
        <p:spPr>
          <a:xfrm>
            <a:off x="7298829" y="586263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1" name="Text 58"/>
          <p:cNvSpPr/>
          <p:nvPr/>
        </p:nvSpPr>
        <p:spPr>
          <a:xfrm>
            <a:off x="7470279" y="5348288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8828038" y="586263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3" name="Text 60"/>
          <p:cNvSpPr/>
          <p:nvPr/>
        </p:nvSpPr>
        <p:spPr>
          <a:xfrm>
            <a:off x="8999488" y="5348288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Disruptive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800100" y="6357938"/>
            <a:ext cx="210249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5" name="Text 62"/>
          <p:cNvSpPr/>
          <p:nvPr/>
        </p:nvSpPr>
        <p:spPr>
          <a:xfrm>
            <a:off x="971550" y="6024563"/>
            <a:ext cx="18357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Technological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2902595" y="6357938"/>
            <a:ext cx="28670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7" name="Text 64"/>
          <p:cNvSpPr/>
          <p:nvPr/>
        </p:nvSpPr>
        <p:spPr>
          <a:xfrm>
            <a:off x="3074045" y="6024563"/>
            <a:ext cx="26101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[Cloud / data platform consolidation]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5769620" y="5872163"/>
            <a:ext cx="1529209" cy="495300"/>
          </a:xfrm>
          <a:prstGeom prst="rect">
            <a:avLst/>
          </a:prstGeom>
          <a:solidFill>
            <a:srgbClr val="D5B679"/>
          </a:solidFill>
          <a:ln/>
        </p:spPr>
      </p:sp>
      <p:sp>
        <p:nvSpPr>
          <p:cNvPr id="69" name="Shape 66"/>
          <p:cNvSpPr/>
          <p:nvPr/>
        </p:nvSpPr>
        <p:spPr>
          <a:xfrm>
            <a:off x="5769620" y="635793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0" name="Text 67"/>
          <p:cNvSpPr/>
          <p:nvPr/>
        </p:nvSpPr>
        <p:spPr>
          <a:xfrm>
            <a:off x="5941070" y="6024563"/>
            <a:ext cx="12625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yr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7298829" y="5872163"/>
            <a:ext cx="1529209" cy="495300"/>
          </a:xfrm>
          <a:prstGeom prst="rect">
            <a:avLst/>
          </a:prstGeom>
          <a:solidFill>
            <a:srgbClr val="D5B679"/>
          </a:solidFill>
          <a:ln/>
        </p:spPr>
      </p:sp>
      <p:sp>
        <p:nvSpPr>
          <p:cNvPr id="72" name="Shape 69"/>
          <p:cNvSpPr/>
          <p:nvPr/>
        </p:nvSpPr>
        <p:spPr>
          <a:xfrm>
            <a:off x="7298829" y="635793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3" name="Text 70"/>
          <p:cNvSpPr/>
          <p:nvPr/>
        </p:nvSpPr>
        <p:spPr>
          <a:xfrm>
            <a:off x="7470279" y="6024563"/>
            <a:ext cx="12625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8828038" y="635793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5" name="Text 72"/>
          <p:cNvSpPr/>
          <p:nvPr/>
        </p:nvSpPr>
        <p:spPr>
          <a:xfrm>
            <a:off x="8999488" y="6024563"/>
            <a:ext cx="12625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Neutral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800100" y="7034213"/>
            <a:ext cx="210249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7" name="Text 74"/>
          <p:cNvSpPr/>
          <p:nvPr/>
        </p:nvSpPr>
        <p:spPr>
          <a:xfrm>
            <a:off x="971550" y="6519863"/>
            <a:ext cx="18357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1050" dirty="0"/>
          </a:p>
        </p:txBody>
      </p:sp>
      <p:sp>
        <p:nvSpPr>
          <p:cNvPr id="78" name="Shape 75"/>
          <p:cNvSpPr/>
          <p:nvPr/>
        </p:nvSpPr>
        <p:spPr>
          <a:xfrm>
            <a:off x="2902595" y="7034213"/>
            <a:ext cx="28670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9" name="Text 76"/>
          <p:cNvSpPr/>
          <p:nvPr/>
        </p:nvSpPr>
        <p:spPr>
          <a:xfrm>
            <a:off x="3074045" y="6519863"/>
            <a:ext cx="261013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[Climate disclosure &amp; transition financing requirements]</a:t>
            </a:r>
            <a:endParaRPr lang="en-US" sz="1050" dirty="0"/>
          </a:p>
        </p:txBody>
      </p:sp>
      <p:sp>
        <p:nvSpPr>
          <p:cNvPr id="80" name="Shape 77"/>
          <p:cNvSpPr/>
          <p:nvPr/>
        </p:nvSpPr>
        <p:spPr>
          <a:xfrm>
            <a:off x="5769620" y="6367463"/>
            <a:ext cx="1529209" cy="676275"/>
          </a:xfrm>
          <a:prstGeom prst="rect">
            <a:avLst/>
          </a:prstGeom>
          <a:solidFill>
            <a:srgbClr val="D5B679"/>
          </a:solidFill>
          <a:ln/>
        </p:spPr>
      </p:sp>
      <p:sp>
        <p:nvSpPr>
          <p:cNvPr id="81" name="Shape 78"/>
          <p:cNvSpPr/>
          <p:nvPr/>
        </p:nvSpPr>
        <p:spPr>
          <a:xfrm>
            <a:off x="5769620" y="703421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2" name="Text 79"/>
          <p:cNvSpPr/>
          <p:nvPr/>
        </p:nvSpPr>
        <p:spPr>
          <a:xfrm>
            <a:off x="5941070" y="6519863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yr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7298829" y="6367463"/>
            <a:ext cx="1529209" cy="676275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84" name="Shape 81"/>
          <p:cNvSpPr/>
          <p:nvPr/>
        </p:nvSpPr>
        <p:spPr>
          <a:xfrm>
            <a:off x="7298829" y="703421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5" name="Text 82"/>
          <p:cNvSpPr/>
          <p:nvPr/>
        </p:nvSpPr>
        <p:spPr>
          <a:xfrm>
            <a:off x="7470279" y="6519863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86" name="Shape 83"/>
          <p:cNvSpPr/>
          <p:nvPr/>
        </p:nvSpPr>
        <p:spPr>
          <a:xfrm>
            <a:off x="8828038" y="703421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7" name="Text 84"/>
          <p:cNvSpPr/>
          <p:nvPr/>
        </p:nvSpPr>
        <p:spPr>
          <a:xfrm>
            <a:off x="8999488" y="6519863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Tailwind for prepared firms</a:t>
            </a:r>
            <a:endParaRPr lang="en-US" sz="1050" dirty="0"/>
          </a:p>
        </p:txBody>
      </p:sp>
      <p:sp>
        <p:nvSpPr>
          <p:cNvPr id="88" name="Shape 85"/>
          <p:cNvSpPr/>
          <p:nvPr/>
        </p:nvSpPr>
        <p:spPr>
          <a:xfrm>
            <a:off x="800100" y="7710487"/>
            <a:ext cx="210249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9" name="Text 86"/>
          <p:cNvSpPr/>
          <p:nvPr/>
        </p:nvSpPr>
        <p:spPr>
          <a:xfrm>
            <a:off x="971550" y="7196138"/>
            <a:ext cx="18357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1050" dirty="0"/>
          </a:p>
        </p:txBody>
      </p:sp>
      <p:sp>
        <p:nvSpPr>
          <p:cNvPr id="90" name="Shape 87"/>
          <p:cNvSpPr/>
          <p:nvPr/>
        </p:nvSpPr>
        <p:spPr>
          <a:xfrm>
            <a:off x="2902595" y="7710487"/>
            <a:ext cx="28670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1" name="Text 88"/>
          <p:cNvSpPr/>
          <p:nvPr/>
        </p:nvSpPr>
        <p:spPr>
          <a:xfrm>
            <a:off x="3074045" y="7196138"/>
            <a:ext cx="261013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[Physical climate risk on assets / supply chain]</a:t>
            </a:r>
            <a:endParaRPr lang="en-US" sz="1050" dirty="0"/>
          </a:p>
        </p:txBody>
      </p:sp>
      <p:sp>
        <p:nvSpPr>
          <p:cNvPr id="92" name="Shape 89"/>
          <p:cNvSpPr/>
          <p:nvPr/>
        </p:nvSpPr>
        <p:spPr>
          <a:xfrm>
            <a:off x="5769620" y="7043738"/>
            <a:ext cx="1529209" cy="676275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93" name="Shape 90"/>
          <p:cNvSpPr/>
          <p:nvPr/>
        </p:nvSpPr>
        <p:spPr>
          <a:xfrm>
            <a:off x="5769620" y="7710487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4" name="Text 91"/>
          <p:cNvSpPr/>
          <p:nvPr/>
        </p:nvSpPr>
        <p:spPr>
          <a:xfrm>
            <a:off x="5941070" y="7196138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yr</a:t>
            </a:r>
            <a:endParaRPr lang="en-US" sz="1050" dirty="0"/>
          </a:p>
        </p:txBody>
      </p:sp>
      <p:sp>
        <p:nvSpPr>
          <p:cNvPr id="95" name="Shape 92"/>
          <p:cNvSpPr/>
          <p:nvPr/>
        </p:nvSpPr>
        <p:spPr>
          <a:xfrm>
            <a:off x="7298829" y="7043738"/>
            <a:ext cx="1529209" cy="676275"/>
          </a:xfrm>
          <a:prstGeom prst="rect">
            <a:avLst/>
          </a:prstGeom>
          <a:solidFill>
            <a:srgbClr val="D5B679"/>
          </a:solidFill>
          <a:ln/>
        </p:spPr>
      </p:sp>
      <p:sp>
        <p:nvSpPr>
          <p:cNvPr id="96" name="Shape 93"/>
          <p:cNvSpPr/>
          <p:nvPr/>
        </p:nvSpPr>
        <p:spPr>
          <a:xfrm>
            <a:off x="7298829" y="7710487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7" name="Text 94"/>
          <p:cNvSpPr/>
          <p:nvPr/>
        </p:nvSpPr>
        <p:spPr>
          <a:xfrm>
            <a:off x="7470279" y="7196138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98" name="Shape 95"/>
          <p:cNvSpPr/>
          <p:nvPr/>
        </p:nvSpPr>
        <p:spPr>
          <a:xfrm>
            <a:off x="8828038" y="7710487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9" name="Text 96"/>
          <p:cNvSpPr/>
          <p:nvPr/>
        </p:nvSpPr>
        <p:spPr>
          <a:xfrm>
            <a:off x="8999488" y="7196138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Headwind</a:t>
            </a:r>
            <a:endParaRPr lang="en-US" sz="1050" dirty="0"/>
          </a:p>
        </p:txBody>
      </p:sp>
      <p:sp>
        <p:nvSpPr>
          <p:cNvPr id="100" name="Shape 97"/>
          <p:cNvSpPr/>
          <p:nvPr/>
        </p:nvSpPr>
        <p:spPr>
          <a:xfrm>
            <a:off x="800100" y="8386763"/>
            <a:ext cx="210249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1" name="Text 98"/>
          <p:cNvSpPr/>
          <p:nvPr/>
        </p:nvSpPr>
        <p:spPr>
          <a:xfrm>
            <a:off x="971550" y="7872413"/>
            <a:ext cx="18357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050" dirty="0"/>
          </a:p>
        </p:txBody>
      </p:sp>
      <p:sp>
        <p:nvSpPr>
          <p:cNvPr id="102" name="Shape 99"/>
          <p:cNvSpPr/>
          <p:nvPr/>
        </p:nvSpPr>
        <p:spPr>
          <a:xfrm>
            <a:off x="2902595" y="8386763"/>
            <a:ext cx="28670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3" name="Text 100"/>
          <p:cNvSpPr/>
          <p:nvPr/>
        </p:nvSpPr>
        <p:spPr>
          <a:xfrm>
            <a:off x="3074045" y="7872413"/>
            <a:ext cx="261013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[Data protection &amp; AI regulation tightening]</a:t>
            </a:r>
            <a:endParaRPr lang="en-US" sz="1050" dirty="0"/>
          </a:p>
        </p:txBody>
      </p:sp>
      <p:sp>
        <p:nvSpPr>
          <p:cNvPr id="104" name="Shape 101"/>
          <p:cNvSpPr/>
          <p:nvPr/>
        </p:nvSpPr>
        <p:spPr>
          <a:xfrm>
            <a:off x="5769620" y="7720013"/>
            <a:ext cx="1529209" cy="676275"/>
          </a:xfrm>
          <a:prstGeom prst="rect">
            <a:avLst/>
          </a:prstGeom>
          <a:solidFill>
            <a:srgbClr val="E8DAB6"/>
          </a:solidFill>
          <a:ln/>
        </p:spPr>
      </p:sp>
      <p:sp>
        <p:nvSpPr>
          <p:cNvPr id="105" name="Shape 102"/>
          <p:cNvSpPr/>
          <p:nvPr/>
        </p:nvSpPr>
        <p:spPr>
          <a:xfrm>
            <a:off x="5769620" y="838676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6" name="Text 103"/>
          <p:cNvSpPr/>
          <p:nvPr/>
        </p:nvSpPr>
        <p:spPr>
          <a:xfrm>
            <a:off x="5941070" y="7872413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 yr</a:t>
            </a:r>
            <a:endParaRPr lang="en-US" sz="1050" dirty="0"/>
          </a:p>
        </p:txBody>
      </p:sp>
      <p:sp>
        <p:nvSpPr>
          <p:cNvPr id="107" name="Shape 104"/>
          <p:cNvSpPr/>
          <p:nvPr/>
        </p:nvSpPr>
        <p:spPr>
          <a:xfrm>
            <a:off x="7298829" y="7720013"/>
            <a:ext cx="1529209" cy="676275"/>
          </a:xfrm>
          <a:prstGeom prst="rect">
            <a:avLst/>
          </a:prstGeom>
          <a:solidFill>
            <a:srgbClr val="D5B679"/>
          </a:solidFill>
          <a:ln/>
        </p:spPr>
      </p:sp>
      <p:sp>
        <p:nvSpPr>
          <p:cNvPr id="108" name="Shape 105"/>
          <p:cNvSpPr/>
          <p:nvPr/>
        </p:nvSpPr>
        <p:spPr>
          <a:xfrm>
            <a:off x="7298829" y="838676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9" name="Text 106"/>
          <p:cNvSpPr/>
          <p:nvPr/>
        </p:nvSpPr>
        <p:spPr>
          <a:xfrm>
            <a:off x="7470279" y="7872413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110" name="Shape 107"/>
          <p:cNvSpPr/>
          <p:nvPr/>
        </p:nvSpPr>
        <p:spPr>
          <a:xfrm>
            <a:off x="8828038" y="838676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1" name="Text 108"/>
          <p:cNvSpPr/>
          <p:nvPr/>
        </p:nvSpPr>
        <p:spPr>
          <a:xfrm>
            <a:off x="8999488" y="7872413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Forces action</a:t>
            </a:r>
            <a:endParaRPr lang="en-US" sz="1050" dirty="0"/>
          </a:p>
        </p:txBody>
      </p:sp>
      <p:sp>
        <p:nvSpPr>
          <p:cNvPr id="112" name="Shape 109"/>
          <p:cNvSpPr/>
          <p:nvPr/>
        </p:nvSpPr>
        <p:spPr>
          <a:xfrm>
            <a:off x="800100" y="9063038"/>
            <a:ext cx="210249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3" name="Text 110"/>
          <p:cNvSpPr/>
          <p:nvPr/>
        </p:nvSpPr>
        <p:spPr>
          <a:xfrm>
            <a:off x="971550" y="8548687"/>
            <a:ext cx="18357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050" dirty="0"/>
          </a:p>
        </p:txBody>
      </p:sp>
      <p:sp>
        <p:nvSpPr>
          <p:cNvPr id="114" name="Shape 111"/>
          <p:cNvSpPr/>
          <p:nvPr/>
        </p:nvSpPr>
        <p:spPr>
          <a:xfrm>
            <a:off x="2902595" y="9063038"/>
            <a:ext cx="28670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5" name="Text 112"/>
          <p:cNvSpPr/>
          <p:nvPr/>
        </p:nvSpPr>
        <p:spPr>
          <a:xfrm>
            <a:off x="3074045" y="8548687"/>
            <a:ext cx="261013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[ASEAN cross-border services framework]</a:t>
            </a:r>
            <a:endParaRPr lang="en-US" sz="1050" dirty="0"/>
          </a:p>
        </p:txBody>
      </p:sp>
      <p:sp>
        <p:nvSpPr>
          <p:cNvPr id="116" name="Shape 113"/>
          <p:cNvSpPr/>
          <p:nvPr/>
        </p:nvSpPr>
        <p:spPr>
          <a:xfrm>
            <a:off x="5769620" y="8396288"/>
            <a:ext cx="1529209" cy="676275"/>
          </a:xfrm>
          <a:prstGeom prst="rect">
            <a:avLst/>
          </a:prstGeom>
          <a:solidFill>
            <a:srgbClr val="D5B679"/>
          </a:solidFill>
          <a:ln/>
        </p:spPr>
      </p:sp>
      <p:sp>
        <p:nvSpPr>
          <p:cNvPr id="117" name="Shape 114"/>
          <p:cNvSpPr/>
          <p:nvPr/>
        </p:nvSpPr>
        <p:spPr>
          <a:xfrm>
            <a:off x="5769620" y="906303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8" name="Text 115"/>
          <p:cNvSpPr/>
          <p:nvPr/>
        </p:nvSpPr>
        <p:spPr>
          <a:xfrm>
            <a:off x="5941070" y="8548687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yr</a:t>
            </a:r>
            <a:endParaRPr lang="en-US" sz="1050" dirty="0"/>
          </a:p>
        </p:txBody>
      </p:sp>
      <p:sp>
        <p:nvSpPr>
          <p:cNvPr id="119" name="Shape 116"/>
          <p:cNvSpPr/>
          <p:nvPr/>
        </p:nvSpPr>
        <p:spPr>
          <a:xfrm>
            <a:off x="7298829" y="8396288"/>
            <a:ext cx="1529209" cy="676275"/>
          </a:xfrm>
          <a:prstGeom prst="rect">
            <a:avLst/>
          </a:prstGeom>
          <a:solidFill>
            <a:srgbClr val="D5B679"/>
          </a:solidFill>
          <a:ln/>
        </p:spPr>
      </p:sp>
      <p:sp>
        <p:nvSpPr>
          <p:cNvPr id="120" name="Shape 117"/>
          <p:cNvSpPr/>
          <p:nvPr/>
        </p:nvSpPr>
        <p:spPr>
          <a:xfrm>
            <a:off x="7298829" y="906303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1" name="Text 118"/>
          <p:cNvSpPr/>
          <p:nvPr/>
        </p:nvSpPr>
        <p:spPr>
          <a:xfrm>
            <a:off x="7470279" y="8548687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122" name="Shape 119"/>
          <p:cNvSpPr/>
          <p:nvPr/>
        </p:nvSpPr>
        <p:spPr>
          <a:xfrm>
            <a:off x="8828038" y="9063038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3" name="Text 120"/>
          <p:cNvSpPr/>
          <p:nvPr/>
        </p:nvSpPr>
        <p:spPr>
          <a:xfrm>
            <a:off x="8999488" y="8548687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Tailwind</a:t>
            </a:r>
            <a:endParaRPr lang="en-US" sz="1050" dirty="0"/>
          </a:p>
        </p:txBody>
      </p:sp>
      <p:sp>
        <p:nvSpPr>
          <p:cNvPr id="124" name="Shape 121"/>
          <p:cNvSpPr/>
          <p:nvPr/>
        </p:nvSpPr>
        <p:spPr>
          <a:xfrm>
            <a:off x="800100" y="9739313"/>
            <a:ext cx="210249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5" name="Text 122"/>
          <p:cNvSpPr/>
          <p:nvPr/>
        </p:nvSpPr>
        <p:spPr>
          <a:xfrm>
            <a:off x="971550" y="9224963"/>
            <a:ext cx="18357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</a:t>
            </a:r>
            <a:endParaRPr lang="en-US" sz="1050" dirty="0"/>
          </a:p>
        </p:txBody>
      </p:sp>
      <p:sp>
        <p:nvSpPr>
          <p:cNvPr id="126" name="Shape 123"/>
          <p:cNvSpPr/>
          <p:nvPr/>
        </p:nvSpPr>
        <p:spPr>
          <a:xfrm>
            <a:off x="2902595" y="9739313"/>
            <a:ext cx="28670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7" name="Text 124"/>
          <p:cNvSpPr/>
          <p:nvPr/>
        </p:nvSpPr>
        <p:spPr>
          <a:xfrm>
            <a:off x="3074045" y="9224963"/>
            <a:ext cx="261013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[Ageing customer cohorts in core markets]</a:t>
            </a:r>
            <a:endParaRPr lang="en-US" sz="1050" dirty="0"/>
          </a:p>
        </p:txBody>
      </p:sp>
      <p:sp>
        <p:nvSpPr>
          <p:cNvPr id="128" name="Shape 125"/>
          <p:cNvSpPr/>
          <p:nvPr/>
        </p:nvSpPr>
        <p:spPr>
          <a:xfrm>
            <a:off x="5769620" y="9072563"/>
            <a:ext cx="1529209" cy="676275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29" name="Shape 126"/>
          <p:cNvSpPr/>
          <p:nvPr/>
        </p:nvSpPr>
        <p:spPr>
          <a:xfrm>
            <a:off x="5769620" y="973931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0" name="Text 127"/>
          <p:cNvSpPr/>
          <p:nvPr/>
        </p:nvSpPr>
        <p:spPr>
          <a:xfrm>
            <a:off x="5941070" y="9224963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yr</a:t>
            </a:r>
            <a:endParaRPr lang="en-US" sz="1050" dirty="0"/>
          </a:p>
        </p:txBody>
      </p:sp>
      <p:sp>
        <p:nvSpPr>
          <p:cNvPr id="131" name="Shape 128"/>
          <p:cNvSpPr/>
          <p:nvPr/>
        </p:nvSpPr>
        <p:spPr>
          <a:xfrm>
            <a:off x="7298829" y="9072563"/>
            <a:ext cx="1529209" cy="676275"/>
          </a:xfrm>
          <a:prstGeom prst="rect">
            <a:avLst/>
          </a:prstGeom>
          <a:solidFill>
            <a:srgbClr val="E8DAB6"/>
          </a:solidFill>
          <a:ln/>
        </p:spPr>
      </p:sp>
      <p:sp>
        <p:nvSpPr>
          <p:cNvPr id="132" name="Shape 129"/>
          <p:cNvSpPr/>
          <p:nvPr/>
        </p:nvSpPr>
        <p:spPr>
          <a:xfrm>
            <a:off x="7298829" y="973931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3" name="Text 130"/>
          <p:cNvSpPr/>
          <p:nvPr/>
        </p:nvSpPr>
        <p:spPr>
          <a:xfrm>
            <a:off x="7470279" y="9224963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50" dirty="0"/>
          </a:p>
        </p:txBody>
      </p:sp>
      <p:sp>
        <p:nvSpPr>
          <p:cNvPr id="134" name="Shape 131"/>
          <p:cNvSpPr/>
          <p:nvPr/>
        </p:nvSpPr>
        <p:spPr>
          <a:xfrm>
            <a:off x="8828038" y="973931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5" name="Text 132"/>
          <p:cNvSpPr/>
          <p:nvPr/>
        </p:nvSpPr>
        <p:spPr>
          <a:xfrm>
            <a:off x="8999488" y="9224963"/>
            <a:ext cx="12625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Slow drag</a:t>
            </a:r>
            <a:endParaRPr lang="en-US" sz="1050" dirty="0"/>
          </a:p>
        </p:txBody>
      </p:sp>
      <p:sp>
        <p:nvSpPr>
          <p:cNvPr id="136" name="Shape 133"/>
          <p:cNvSpPr/>
          <p:nvPr/>
        </p:nvSpPr>
        <p:spPr>
          <a:xfrm>
            <a:off x="800100" y="10234613"/>
            <a:ext cx="210249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7" name="Text 134"/>
          <p:cNvSpPr/>
          <p:nvPr/>
        </p:nvSpPr>
        <p:spPr>
          <a:xfrm>
            <a:off x="971550" y="9901238"/>
            <a:ext cx="18357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Geopolitical</a:t>
            </a:r>
            <a:endParaRPr lang="en-US" sz="1050" dirty="0"/>
          </a:p>
        </p:txBody>
      </p:sp>
      <p:sp>
        <p:nvSpPr>
          <p:cNvPr id="138" name="Shape 135"/>
          <p:cNvSpPr/>
          <p:nvPr/>
        </p:nvSpPr>
        <p:spPr>
          <a:xfrm>
            <a:off x="2902595" y="10234613"/>
            <a:ext cx="28670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9" name="Text 136"/>
          <p:cNvSpPr/>
          <p:nvPr/>
        </p:nvSpPr>
        <p:spPr>
          <a:xfrm>
            <a:off x="3074045" y="9901238"/>
            <a:ext cx="26101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[Supply-chain reshoring within ASEAN]</a:t>
            </a:r>
            <a:endParaRPr lang="en-US" sz="1050" dirty="0"/>
          </a:p>
        </p:txBody>
      </p:sp>
      <p:sp>
        <p:nvSpPr>
          <p:cNvPr id="140" name="Shape 137"/>
          <p:cNvSpPr/>
          <p:nvPr/>
        </p:nvSpPr>
        <p:spPr>
          <a:xfrm>
            <a:off x="5769620" y="9748838"/>
            <a:ext cx="1529209" cy="495300"/>
          </a:xfrm>
          <a:prstGeom prst="rect">
            <a:avLst/>
          </a:prstGeom>
          <a:solidFill>
            <a:srgbClr val="D5B679"/>
          </a:solidFill>
          <a:ln/>
        </p:spPr>
      </p:sp>
      <p:sp>
        <p:nvSpPr>
          <p:cNvPr id="141" name="Shape 138"/>
          <p:cNvSpPr/>
          <p:nvPr/>
        </p:nvSpPr>
        <p:spPr>
          <a:xfrm>
            <a:off x="5769620" y="1023461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2" name="Text 139"/>
          <p:cNvSpPr/>
          <p:nvPr/>
        </p:nvSpPr>
        <p:spPr>
          <a:xfrm>
            <a:off x="5941070" y="9901238"/>
            <a:ext cx="12625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yr</a:t>
            </a:r>
            <a:endParaRPr lang="en-US" sz="1050" dirty="0"/>
          </a:p>
        </p:txBody>
      </p:sp>
      <p:sp>
        <p:nvSpPr>
          <p:cNvPr id="143" name="Shape 140"/>
          <p:cNvSpPr/>
          <p:nvPr/>
        </p:nvSpPr>
        <p:spPr>
          <a:xfrm>
            <a:off x="7298829" y="9748838"/>
            <a:ext cx="1529209" cy="4953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44" name="Shape 141"/>
          <p:cNvSpPr/>
          <p:nvPr/>
        </p:nvSpPr>
        <p:spPr>
          <a:xfrm>
            <a:off x="7298829" y="1023461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5" name="Text 142"/>
          <p:cNvSpPr/>
          <p:nvPr/>
        </p:nvSpPr>
        <p:spPr>
          <a:xfrm>
            <a:off x="7470279" y="9901238"/>
            <a:ext cx="12625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146" name="Shape 143"/>
          <p:cNvSpPr/>
          <p:nvPr/>
        </p:nvSpPr>
        <p:spPr>
          <a:xfrm>
            <a:off x="8828038" y="10234613"/>
            <a:ext cx="1529209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7" name="Text 144"/>
          <p:cNvSpPr/>
          <p:nvPr/>
        </p:nvSpPr>
        <p:spPr>
          <a:xfrm>
            <a:off x="8999488" y="9901238"/>
            <a:ext cx="12625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Tailwind</a:t>
            </a:r>
            <a:endParaRPr lang="en-US" sz="1050" dirty="0"/>
          </a:p>
        </p:txBody>
      </p:sp>
      <p:sp>
        <p:nvSpPr>
          <p:cNvPr id="148" name="Shape 145"/>
          <p:cNvSpPr/>
          <p:nvPr/>
        </p:nvSpPr>
        <p:spPr>
          <a:xfrm>
            <a:off x="10661600" y="2857500"/>
            <a:ext cx="6826300" cy="1438275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149" name="Shape 146"/>
          <p:cNvSpPr/>
          <p:nvPr/>
        </p:nvSpPr>
        <p:spPr>
          <a:xfrm>
            <a:off x="10661600" y="2857500"/>
            <a:ext cx="38100" cy="1438275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50" name="Text 147"/>
          <p:cNvSpPr/>
          <p:nvPr/>
        </p:nvSpPr>
        <p:spPr>
          <a:xfrm>
            <a:off x="10909250" y="3028950"/>
            <a:ext cx="65601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TOP-FOUR TRENDS TO PLAY OFFENSIVELY</a:t>
            </a:r>
            <a:endParaRPr lang="en-US" sz="900" dirty="0"/>
          </a:p>
        </p:txBody>
      </p:sp>
      <p:sp>
        <p:nvSpPr>
          <p:cNvPr id="151" name="Text 148"/>
          <p:cNvSpPr/>
          <p:nvPr/>
        </p:nvSpPr>
        <p:spPr>
          <a:xfrm>
            <a:off x="10885438" y="3248025"/>
            <a:ext cx="65782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4313" indent="-214313">
              <a:lnSpc>
                <a:spcPct val="155000"/>
              </a:lnSpc>
              <a:buSzPct val="100000"/>
              <a:buFont typeface="+mj-lt"/>
              <a:buAutoNum type="arabicPeriod" startAt="1"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[Generative AI]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reshape cost-to-serve and product experience.</a:t>
            </a:r>
            <a:endParaRPr lang="en-US" sz="1125" dirty="0"/>
          </a:p>
        </p:txBody>
      </p:sp>
      <p:sp>
        <p:nvSpPr>
          <p:cNvPr id="152" name="Text 149"/>
          <p:cNvSpPr/>
          <p:nvPr/>
        </p:nvSpPr>
        <p:spPr>
          <a:xfrm>
            <a:off x="10885438" y="3467100"/>
            <a:ext cx="65782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4313" indent="-214313">
              <a:lnSpc>
                <a:spcPct val="155000"/>
              </a:lnSpc>
              <a:buSzPct val="100000"/>
              <a:buFont typeface="+mj-lt"/>
              <a:buAutoNum type="arabicPeriod" startAt="2"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[Industrial policy]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position OSK as a national champion in [sector].</a:t>
            </a:r>
            <a:endParaRPr lang="en-US" sz="1125" dirty="0"/>
          </a:p>
        </p:txBody>
      </p:sp>
      <p:sp>
        <p:nvSpPr>
          <p:cNvPr id="153" name="Text 150"/>
          <p:cNvSpPr/>
          <p:nvPr/>
        </p:nvSpPr>
        <p:spPr>
          <a:xfrm>
            <a:off x="10885438" y="3686175"/>
            <a:ext cx="65782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4313" indent="-214313">
              <a:lnSpc>
                <a:spcPct val="155000"/>
              </a:lnSpc>
              <a:buSzPct val="100000"/>
              <a:buFont typeface="+mj-lt"/>
              <a:buAutoNum type="arabicPeriod" startAt="3"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[Climate transition financing]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first-mover advantage on green offerings.</a:t>
            </a:r>
            <a:endParaRPr lang="en-US" sz="1125" dirty="0"/>
          </a:p>
        </p:txBody>
      </p:sp>
      <p:sp>
        <p:nvSpPr>
          <p:cNvPr id="154" name="Text 151"/>
          <p:cNvSpPr/>
          <p:nvPr/>
        </p:nvSpPr>
        <p:spPr>
          <a:xfrm>
            <a:off x="10885438" y="3905250"/>
            <a:ext cx="65782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4313" indent="-214313">
              <a:lnSpc>
                <a:spcPct val="155000"/>
              </a:lnSpc>
              <a:buSzPct val="100000"/>
              <a:buFont typeface="+mj-lt"/>
              <a:buAutoNum type="arabicPeriod" startAt="4"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[ASEAN cross-border]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accelerate regional expansion ahead of the framework.</a:t>
            </a:r>
            <a:endParaRPr lang="en-US" sz="1125" dirty="0"/>
          </a:p>
        </p:txBody>
      </p:sp>
      <p:sp>
        <p:nvSpPr>
          <p:cNvPr id="155" name="Shape 152"/>
          <p:cNvSpPr/>
          <p:nvPr/>
        </p:nvSpPr>
        <p:spPr>
          <a:xfrm>
            <a:off x="10661600" y="4448175"/>
            <a:ext cx="6826300" cy="1076325"/>
          </a:xfrm>
          <a:prstGeom prst="rect">
            <a:avLst/>
          </a:prstGeom>
          <a:solidFill>
            <a:srgbClr val="FBF1EE"/>
          </a:solidFill>
          <a:ln/>
        </p:spPr>
      </p:sp>
      <p:sp>
        <p:nvSpPr>
          <p:cNvPr id="156" name="Shape 153"/>
          <p:cNvSpPr/>
          <p:nvPr/>
        </p:nvSpPr>
        <p:spPr>
          <a:xfrm>
            <a:off x="10661600" y="4448175"/>
            <a:ext cx="38100" cy="1076325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57" name="Text 154"/>
          <p:cNvSpPr/>
          <p:nvPr/>
        </p:nvSpPr>
        <p:spPr>
          <a:xfrm>
            <a:off x="10909250" y="4619625"/>
            <a:ext cx="65601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WATCH-ITEMS</a:t>
            </a:r>
            <a:endParaRPr lang="en-US" sz="900" dirty="0"/>
          </a:p>
        </p:txBody>
      </p:sp>
      <p:sp>
        <p:nvSpPr>
          <p:cNvPr id="158" name="Text 155"/>
          <p:cNvSpPr/>
          <p:nvPr/>
        </p:nvSpPr>
        <p:spPr>
          <a:xfrm>
            <a:off x="10909250" y="4857750"/>
            <a:ext cx="642498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[Cost of capital &amp; FX · physical climate risk on regional assets · AI regulation in financial services.]</a:t>
            </a:r>
            <a:endParaRPr lang="en-US" sz="1425" dirty="0"/>
          </a:p>
        </p:txBody>
      </p:sp>
      <p:sp>
        <p:nvSpPr>
          <p:cNvPr id="159" name="Shape 156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60" name="Text 157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/ 64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2312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INDUSTRY &amp; MARKET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&amp; CHALLENGES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openings worth playing for; five challenges we must actively manage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2419350"/>
            <a:ext cx="8191500" cy="6953250"/>
          </a:xfrm>
          <a:prstGeom prst="rect">
            <a:avLst/>
          </a:prstGeom>
          <a:solidFill>
            <a:srgbClr val="F1F8F4"/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2419350"/>
            <a:ext cx="8191500" cy="38100"/>
          </a:xfrm>
          <a:prstGeom prst="rect">
            <a:avLst/>
          </a:prstGeom>
          <a:solidFill>
            <a:srgbClr val="2F8F5F"/>
          </a:solidFill>
          <a:ln/>
        </p:spPr>
      </p:sp>
      <p:sp>
        <p:nvSpPr>
          <p:cNvPr id="8" name="Text 5"/>
          <p:cNvSpPr/>
          <p:nvPr/>
        </p:nvSpPr>
        <p:spPr>
          <a:xfrm>
            <a:off x="1066800" y="2724150"/>
            <a:ext cx="78878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2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66800" y="3752850"/>
            <a:ext cx="7658100" cy="9525"/>
          </a:xfrm>
          <a:prstGeom prst="rect">
            <a:avLst/>
          </a:prstGeom>
          <a:solidFill>
            <a:srgbClr val="2F8F5F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66800" y="3143250"/>
            <a:ext cx="381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2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1504950" y="3143250"/>
            <a:ext cx="338562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[Regional ASEAN expansion]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[RM XX bn] addressable, low OSK presence today.</a:t>
            </a:r>
            <a:endParaRPr lang="en-US" sz="1275" dirty="0"/>
          </a:p>
        </p:txBody>
      </p:sp>
      <p:sp>
        <p:nvSpPr>
          <p:cNvPr id="12" name="Shape 9"/>
          <p:cNvSpPr/>
          <p:nvPr/>
        </p:nvSpPr>
        <p:spPr>
          <a:xfrm>
            <a:off x="1066800" y="4505325"/>
            <a:ext cx="7658100" cy="9525"/>
          </a:xfrm>
          <a:prstGeom prst="rect">
            <a:avLst/>
          </a:prstGeom>
          <a:solidFill>
            <a:srgbClr val="2F8F5F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066800" y="3895725"/>
            <a:ext cx="381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2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1504950" y="3895725"/>
            <a:ext cx="303964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[AI-led service transformation]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 cost-to-serve reduction at parity NPS.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1066800" y="5257800"/>
            <a:ext cx="7658100" cy="9525"/>
          </a:xfrm>
          <a:prstGeom prst="rect">
            <a:avLst/>
          </a:prstGeom>
          <a:solidFill>
            <a:srgbClr val="2F8F5F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066800" y="4648200"/>
            <a:ext cx="381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2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504950" y="4648200"/>
            <a:ext cx="276233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[Green / transition products]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advantage in [sub-segment].</a:t>
            </a:r>
            <a:endParaRPr lang="en-US" sz="1275" dirty="0"/>
          </a:p>
        </p:txBody>
      </p:sp>
      <p:sp>
        <p:nvSpPr>
          <p:cNvPr id="18" name="Shape 15"/>
          <p:cNvSpPr/>
          <p:nvPr/>
        </p:nvSpPr>
        <p:spPr>
          <a:xfrm>
            <a:off x="1066800" y="6010275"/>
            <a:ext cx="7658100" cy="9525"/>
          </a:xfrm>
          <a:prstGeom prst="rect">
            <a:avLst/>
          </a:prstGeom>
          <a:solidFill>
            <a:srgbClr val="2F8F5F">
              <a:alpha val="2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066800" y="5400675"/>
            <a:ext cx="381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2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75" dirty="0"/>
          </a:p>
        </p:txBody>
      </p:sp>
      <p:sp>
        <p:nvSpPr>
          <p:cNvPr id="20" name="Text 17"/>
          <p:cNvSpPr/>
          <p:nvPr/>
        </p:nvSpPr>
        <p:spPr>
          <a:xfrm>
            <a:off x="1504950" y="5400675"/>
            <a:ext cx="366216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[Inorganic — Target A]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Capability, customer and geographic complementarity.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1066800" y="6153150"/>
            <a:ext cx="381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2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1504950" y="6153150"/>
            <a:ext cx="414657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[Premium service tier]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Untapped willingness-to-pay among top [XX]% of customers.</a:t>
            </a:r>
            <a:endParaRPr lang="en-US" sz="1275" dirty="0"/>
          </a:p>
        </p:txBody>
      </p:sp>
      <p:sp>
        <p:nvSpPr>
          <p:cNvPr id="23" name="Shape 20"/>
          <p:cNvSpPr/>
          <p:nvPr/>
        </p:nvSpPr>
        <p:spPr>
          <a:xfrm>
            <a:off x="9296400" y="2419350"/>
            <a:ext cx="8191500" cy="6953250"/>
          </a:xfrm>
          <a:prstGeom prst="rect">
            <a:avLst/>
          </a:prstGeom>
          <a:solidFill>
            <a:srgbClr val="FBF1EE"/>
          </a:solidFill>
          <a:ln/>
        </p:spPr>
      </p:sp>
      <p:sp>
        <p:nvSpPr>
          <p:cNvPr id="24" name="Shape 21"/>
          <p:cNvSpPr/>
          <p:nvPr/>
        </p:nvSpPr>
        <p:spPr>
          <a:xfrm>
            <a:off x="9296400" y="2419350"/>
            <a:ext cx="8191500" cy="3810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25" name="Text 22"/>
          <p:cNvSpPr/>
          <p:nvPr/>
        </p:nvSpPr>
        <p:spPr>
          <a:xfrm>
            <a:off x="9563100" y="2724150"/>
            <a:ext cx="78878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563100" y="3752850"/>
            <a:ext cx="7658100" cy="9525"/>
          </a:xfrm>
          <a:prstGeom prst="rect">
            <a:avLst/>
          </a:prstGeom>
          <a:solidFill>
            <a:srgbClr val="C44536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9563100" y="3143250"/>
            <a:ext cx="381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75" dirty="0"/>
          </a:p>
        </p:txBody>
      </p:sp>
      <p:sp>
        <p:nvSpPr>
          <p:cNvPr id="28" name="Text 25"/>
          <p:cNvSpPr/>
          <p:nvPr/>
        </p:nvSpPr>
        <p:spPr>
          <a:xfrm>
            <a:off x="10001250" y="3143250"/>
            <a:ext cx="339406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[Talent — AI / data capability]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market; build-vs-acquire-vs-partner trade-off.</a:t>
            </a:r>
            <a:endParaRPr lang="en-US" sz="1275" dirty="0"/>
          </a:p>
        </p:txBody>
      </p:sp>
      <p:sp>
        <p:nvSpPr>
          <p:cNvPr id="29" name="Shape 26"/>
          <p:cNvSpPr/>
          <p:nvPr/>
        </p:nvSpPr>
        <p:spPr>
          <a:xfrm>
            <a:off x="9563100" y="4505325"/>
            <a:ext cx="7658100" cy="9525"/>
          </a:xfrm>
          <a:prstGeom prst="rect">
            <a:avLst/>
          </a:prstGeom>
          <a:solidFill>
            <a:srgbClr val="C44536">
              <a:alpha val="2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9563100" y="3895725"/>
            <a:ext cx="381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75" dirty="0"/>
          </a:p>
        </p:txBody>
      </p:sp>
      <p:sp>
        <p:nvSpPr>
          <p:cNvPr id="31" name="Text 28"/>
          <p:cNvSpPr/>
          <p:nvPr/>
        </p:nvSpPr>
        <p:spPr>
          <a:xfrm>
            <a:off x="10001250" y="3895725"/>
            <a:ext cx="331312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[Cost of capital]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Hurdle rate up [XX]bps; tightens deal economics.</a:t>
            </a:r>
            <a:endParaRPr lang="en-US" sz="1275" dirty="0"/>
          </a:p>
        </p:txBody>
      </p:sp>
      <p:sp>
        <p:nvSpPr>
          <p:cNvPr id="32" name="Shape 29"/>
          <p:cNvSpPr/>
          <p:nvPr/>
        </p:nvSpPr>
        <p:spPr>
          <a:xfrm>
            <a:off x="9563100" y="5257800"/>
            <a:ext cx="7658100" cy="9525"/>
          </a:xfrm>
          <a:prstGeom prst="rect">
            <a:avLst/>
          </a:prstGeom>
          <a:solidFill>
            <a:srgbClr val="C44536">
              <a:alpha val="2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9563100" y="4648200"/>
            <a:ext cx="381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75" dirty="0"/>
          </a:p>
        </p:txBody>
      </p:sp>
      <p:sp>
        <p:nvSpPr>
          <p:cNvPr id="34" name="Text 31"/>
          <p:cNvSpPr/>
          <p:nvPr/>
        </p:nvSpPr>
        <p:spPr>
          <a:xfrm>
            <a:off x="10001250" y="4648200"/>
            <a:ext cx="299013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[Regulatory shifts]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AI, climate disclosure — compounding.</a:t>
            </a:r>
            <a:endParaRPr lang="en-US" sz="1275" dirty="0"/>
          </a:p>
        </p:txBody>
      </p:sp>
      <p:sp>
        <p:nvSpPr>
          <p:cNvPr id="35" name="Shape 32"/>
          <p:cNvSpPr/>
          <p:nvPr/>
        </p:nvSpPr>
        <p:spPr>
          <a:xfrm>
            <a:off x="9563100" y="6010275"/>
            <a:ext cx="7658100" cy="9525"/>
          </a:xfrm>
          <a:prstGeom prst="rect">
            <a:avLst/>
          </a:prstGeom>
          <a:solidFill>
            <a:srgbClr val="C44536">
              <a:alpha val="2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9563100" y="5400675"/>
            <a:ext cx="381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75" dirty="0"/>
          </a:p>
        </p:txBody>
      </p:sp>
      <p:sp>
        <p:nvSpPr>
          <p:cNvPr id="37" name="Text 34"/>
          <p:cNvSpPr/>
          <p:nvPr/>
        </p:nvSpPr>
        <p:spPr>
          <a:xfrm>
            <a:off x="10001250" y="5400675"/>
            <a:ext cx="367136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 pre-emption]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 A] capable of matching our move at scale.</a:t>
            </a:r>
            <a:endParaRPr lang="en-US" sz="1275" dirty="0"/>
          </a:p>
        </p:txBody>
      </p:sp>
      <p:sp>
        <p:nvSpPr>
          <p:cNvPr id="38" name="Text 35"/>
          <p:cNvSpPr/>
          <p:nvPr/>
        </p:nvSpPr>
        <p:spPr>
          <a:xfrm>
            <a:off x="9563100" y="6153150"/>
            <a:ext cx="381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75" dirty="0"/>
          </a:p>
        </p:txBody>
      </p:sp>
      <p:sp>
        <p:nvSpPr>
          <p:cNvPr id="39" name="Text 36"/>
          <p:cNvSpPr/>
          <p:nvPr/>
        </p:nvSpPr>
        <p:spPr>
          <a:xfrm>
            <a:off x="10001250" y="6153150"/>
            <a:ext cx="372517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[Execution bandwidth]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transformation + M&amp;A stretches leadership.</a:t>
            </a:r>
            <a:endParaRPr lang="en-US" sz="1275" dirty="0"/>
          </a:p>
        </p:txBody>
      </p:sp>
      <p:sp>
        <p:nvSpPr>
          <p:cNvPr id="40" name="Shape 37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1" name="Text 38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/ 64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543300"/>
            <a:ext cx="1648206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143000" y="5562600"/>
            <a:ext cx="1275397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6429375"/>
            <a:ext cx="88296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this audience to move forward — decisions, capital, next steps.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9191625"/>
            <a:ext cx="11799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18159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4859" y="9191625"/>
            <a:ext cx="132159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01703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68403" y="9191625"/>
            <a:ext cx="11599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OPTIONS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23620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90320" y="9191625"/>
            <a:ext cx="19576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RECOMMENDATION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43255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09955" y="9191625"/>
            <a:ext cx="12273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ROADMAP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32590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799290" y="9191625"/>
            <a:ext cx="222870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CORPORATE EXERCISE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123241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389941" y="9191625"/>
            <a:ext cx="21138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INDUSTRY &amp; MARKET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598997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865697" y="9191625"/>
            <a:ext cx="79533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ASK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/ 64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8032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ASK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REQUIRED TODAY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explicit decisions — each with a decision-maker, a deadline, and a consequence of delay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3376613"/>
            <a:ext cx="1001316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7" name="Text 4"/>
          <p:cNvSpPr/>
          <p:nvPr/>
        </p:nvSpPr>
        <p:spPr>
          <a:xfrm>
            <a:off x="971550" y="3048000"/>
            <a:ext cx="73461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801416" y="3376613"/>
            <a:ext cx="7008912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9" name="Text 6"/>
          <p:cNvSpPr/>
          <p:nvPr/>
        </p:nvSpPr>
        <p:spPr>
          <a:xfrm>
            <a:off x="1972866" y="3048000"/>
            <a:ext cx="687627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810327" y="3376613"/>
            <a:ext cx="2670125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1" name="Text 8"/>
          <p:cNvSpPr/>
          <p:nvPr/>
        </p:nvSpPr>
        <p:spPr>
          <a:xfrm>
            <a:off x="8981777" y="3048000"/>
            <a:ext cx="240732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1480453" y="3376613"/>
            <a:ext cx="2002631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3" name="Text 10"/>
          <p:cNvSpPr/>
          <p:nvPr/>
        </p:nvSpPr>
        <p:spPr>
          <a:xfrm>
            <a:off x="11651903" y="3048000"/>
            <a:ext cx="173593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3483084" y="3376613"/>
            <a:ext cx="4005114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5" name="Text 12"/>
          <p:cNvSpPr/>
          <p:nvPr/>
        </p:nvSpPr>
        <p:spPr>
          <a:xfrm>
            <a:off x="13654534" y="3048000"/>
            <a:ext cx="378236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DELAY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0100" y="4167188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7" name="Text 14"/>
          <p:cNvSpPr/>
          <p:nvPr/>
        </p:nvSpPr>
        <p:spPr>
          <a:xfrm>
            <a:off x="971550" y="3538538"/>
            <a:ext cx="73461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801416" y="4167188"/>
            <a:ext cx="700891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9" name="Text 16"/>
          <p:cNvSpPr/>
          <p:nvPr/>
        </p:nvSpPr>
        <p:spPr>
          <a:xfrm>
            <a:off x="1972866" y="3538538"/>
            <a:ext cx="687627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recommended option and authorise full programme funding of [RM XXX m].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810327" y="4167188"/>
            <a:ext cx="26701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1" name="Text 18"/>
          <p:cNvSpPr/>
          <p:nvPr/>
        </p:nvSpPr>
        <p:spPr>
          <a:xfrm>
            <a:off x="8981777" y="3538538"/>
            <a:ext cx="240732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[Board]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11480453" y="4167188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3" name="Text 20"/>
          <p:cNvSpPr/>
          <p:nvPr/>
        </p:nvSpPr>
        <p:spPr>
          <a:xfrm>
            <a:off x="11651903" y="3538538"/>
            <a:ext cx="173593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[Today]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3483084" y="4167188"/>
            <a:ext cx="400511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2"/>
          <p:cNvSpPr/>
          <p:nvPr/>
        </p:nvSpPr>
        <p:spPr>
          <a:xfrm>
            <a:off x="13654534" y="3538538"/>
            <a:ext cx="378236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[6-month slip; competitor window closes.]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800100" y="4719638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971550" y="4329113"/>
            <a:ext cx="73461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1801416" y="4719638"/>
            <a:ext cx="700891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Text 26"/>
          <p:cNvSpPr/>
          <p:nvPr/>
        </p:nvSpPr>
        <p:spPr>
          <a:xfrm>
            <a:off x="1972866" y="4329113"/>
            <a:ext cx="687627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approach to [Target A] with non-binding offer at [RM XXX m].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8810327" y="4719638"/>
            <a:ext cx="26701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1" name="Text 28"/>
          <p:cNvSpPr/>
          <p:nvPr/>
        </p:nvSpPr>
        <p:spPr>
          <a:xfrm>
            <a:off x="8981777" y="4329113"/>
            <a:ext cx="24073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[Board investment committee]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11480453" y="4719638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3" name="Text 30"/>
          <p:cNvSpPr/>
          <p:nvPr/>
        </p:nvSpPr>
        <p:spPr>
          <a:xfrm>
            <a:off x="11651903" y="4329113"/>
            <a:ext cx="17359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[End Q2]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13483084" y="4719638"/>
            <a:ext cx="400511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5" name="Text 32"/>
          <p:cNvSpPr/>
          <p:nvPr/>
        </p:nvSpPr>
        <p:spPr>
          <a:xfrm>
            <a:off x="13654534" y="4329113"/>
            <a:ext cx="378236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 enters discussion with [Competitor A].]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800100" y="5272088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7" name="Text 34"/>
          <p:cNvSpPr/>
          <p:nvPr/>
        </p:nvSpPr>
        <p:spPr>
          <a:xfrm>
            <a:off x="971550" y="4881563"/>
            <a:ext cx="73461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1801416" y="5272088"/>
            <a:ext cx="700891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9" name="Text 36"/>
          <p:cNvSpPr/>
          <p:nvPr/>
        </p:nvSpPr>
        <p:spPr>
          <a:xfrm>
            <a:off x="1972866" y="4881563"/>
            <a:ext cx="687627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the proposed operating-model changes and headcount envelope.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8810327" y="5272088"/>
            <a:ext cx="26701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1" name="Text 38"/>
          <p:cNvSpPr/>
          <p:nvPr/>
        </p:nvSpPr>
        <p:spPr>
          <a:xfrm>
            <a:off x="8981777" y="4881563"/>
            <a:ext cx="24073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[CEO + CHRO]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11480453" y="5272088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3" name="Text 40"/>
          <p:cNvSpPr/>
          <p:nvPr/>
        </p:nvSpPr>
        <p:spPr>
          <a:xfrm>
            <a:off x="11651903" y="4881563"/>
            <a:ext cx="17359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[End Q2]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13483084" y="5272088"/>
            <a:ext cx="400511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5" name="Text 42"/>
          <p:cNvSpPr/>
          <p:nvPr/>
        </p:nvSpPr>
        <p:spPr>
          <a:xfrm>
            <a:off x="13654534" y="4881563"/>
            <a:ext cx="378236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[Capability gap widens; hiring season missed.]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800100" y="5824538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7" name="Text 44"/>
          <p:cNvSpPr/>
          <p:nvPr/>
        </p:nvSpPr>
        <p:spPr>
          <a:xfrm>
            <a:off x="971550" y="5434013"/>
            <a:ext cx="73461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1801416" y="5824538"/>
            <a:ext cx="700891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9" name="Text 46"/>
          <p:cNvSpPr/>
          <p:nvPr/>
        </p:nvSpPr>
        <p:spPr>
          <a:xfrm>
            <a:off x="1972866" y="5434013"/>
            <a:ext cx="687627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executive sponsor and named programme lead.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8810327" y="5824538"/>
            <a:ext cx="267012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1" name="Text 48"/>
          <p:cNvSpPr/>
          <p:nvPr/>
        </p:nvSpPr>
        <p:spPr>
          <a:xfrm>
            <a:off x="8981777" y="5434013"/>
            <a:ext cx="24073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[CEO]</a:t>
            </a:r>
            <a:endParaRPr lang="en-US" sz="1350" dirty="0"/>
          </a:p>
        </p:txBody>
      </p:sp>
      <p:sp>
        <p:nvSpPr>
          <p:cNvPr id="52" name="Shape 49"/>
          <p:cNvSpPr/>
          <p:nvPr/>
        </p:nvSpPr>
        <p:spPr>
          <a:xfrm>
            <a:off x="11480453" y="5824538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3" name="Text 50"/>
          <p:cNvSpPr/>
          <p:nvPr/>
        </p:nvSpPr>
        <p:spPr>
          <a:xfrm>
            <a:off x="11651903" y="5434013"/>
            <a:ext cx="17359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[Within 2 weeks]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13483084" y="5824538"/>
            <a:ext cx="4005114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5" name="Text 52"/>
          <p:cNvSpPr/>
          <p:nvPr/>
        </p:nvSpPr>
        <p:spPr>
          <a:xfrm>
            <a:off x="13654534" y="5434013"/>
            <a:ext cx="378236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[Mobilisation drifts; gate-1 at risk.]</a:t>
            </a:r>
            <a:endParaRPr lang="en-US" sz="1350" dirty="0"/>
          </a:p>
        </p:txBody>
      </p:sp>
      <p:sp>
        <p:nvSpPr>
          <p:cNvPr id="56" name="Shape 53"/>
          <p:cNvSpPr/>
          <p:nvPr/>
        </p:nvSpPr>
        <p:spPr>
          <a:xfrm>
            <a:off x="800100" y="6105525"/>
            <a:ext cx="16687800" cy="81915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57" name="Shape 54"/>
          <p:cNvSpPr/>
          <p:nvPr/>
        </p:nvSpPr>
        <p:spPr>
          <a:xfrm>
            <a:off x="800100" y="6105525"/>
            <a:ext cx="38100" cy="81915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58" name="Text 55"/>
          <p:cNvSpPr/>
          <p:nvPr/>
        </p:nvSpPr>
        <p:spPr>
          <a:xfrm>
            <a:off x="1047750" y="6276975"/>
            <a:ext cx="167175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</a:t>
            </a:r>
            <a:pPr algn="l" indent="0" marL="0">
              <a:lnSpc>
                <a:spcPct val="145000"/>
              </a:lnSpc>
              <a:buNone/>
            </a:pPr>
            <a:r>
              <a:rPr lang="en-US" sz="900" b="1" i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pPr algn="l" indent="0" marL="0">
              <a:lnSpc>
                <a:spcPct val="145000"/>
              </a:lnSpc>
              <a:buNone/>
            </a:pPr>
            <a:r>
              <a:rPr lang="en-US" sz="900" b="1" spc="14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1047750" y="6515100"/>
            <a:ext cx="135730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[We are not seeking a decision on detailed tech vendor selection, target country sequencing beyond market 1, or final transaction structure — those return at gate 1.]</a:t>
            </a:r>
            <a:endParaRPr lang="en-US" sz="1425" dirty="0"/>
          </a:p>
        </p:txBody>
      </p:sp>
      <p:sp>
        <p:nvSpPr>
          <p:cNvPr id="60" name="Shape 57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1" name="Text 58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/ 64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8032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ASK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ASK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[XXX] m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[3] years — recovered in [year 4] and creating [RM X.X bn] NPV through year [10]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2857500"/>
            <a:ext cx="7302570" cy="365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0" b="1" spc="-60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</a:t>
            </a:r>
            <a:pPr algn="l" indent="0" marL="0">
              <a:lnSpc>
                <a:spcPct val="95000"/>
              </a:lnSpc>
              <a:buNone/>
            </a:pPr>
            <a:r>
              <a:rPr lang="en-US" sz="4500" b="1" spc="-60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 </a:t>
            </a:r>
            <a:pPr algn="l" indent="0" marL="0">
              <a:lnSpc>
                <a:spcPct val="95000"/>
              </a:lnSpc>
              <a:buNone/>
            </a:pPr>
            <a:r>
              <a:rPr lang="en-US" sz="2400" spc="-600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 · total programme</a:t>
            </a:r>
            <a:endParaRPr lang="en-US" sz="15000" dirty="0"/>
          </a:p>
        </p:txBody>
      </p:sp>
      <p:sp>
        <p:nvSpPr>
          <p:cNvPr id="7" name="Text 4"/>
          <p:cNvSpPr/>
          <p:nvPr/>
        </p:nvSpPr>
        <p:spPr>
          <a:xfrm>
            <a:off x="800100" y="6858000"/>
            <a:ext cx="22615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0100" y="7010400"/>
            <a:ext cx="226159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[3.8] yr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3252192" y="6858000"/>
            <a:ext cx="22617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52192" y="7010400"/>
            <a:ext cx="226174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5704433" y="6858000"/>
            <a:ext cx="22615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10-YR NPV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04433" y="7010400"/>
            <a:ext cx="226159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[X.X] bn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8270974" y="2857500"/>
            <a:ext cx="94934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DEPLOYMENT BY CATEGORY &amp; PHASE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270974" y="3624263"/>
            <a:ext cx="2949327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5" name="Text 12"/>
          <p:cNvSpPr/>
          <p:nvPr/>
        </p:nvSpPr>
        <p:spPr>
          <a:xfrm>
            <a:off x="8442424" y="3295650"/>
            <a:ext cx="269490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1220301" y="3624263"/>
            <a:ext cx="1519238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7" name="Text 14"/>
          <p:cNvSpPr/>
          <p:nvPr/>
        </p:nvSpPr>
        <p:spPr>
          <a:xfrm>
            <a:off x="11315551" y="3295650"/>
            <a:ext cx="125253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2739539" y="3624263"/>
            <a:ext cx="1519238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9" name="Text 16"/>
          <p:cNvSpPr/>
          <p:nvPr/>
        </p:nvSpPr>
        <p:spPr>
          <a:xfrm>
            <a:off x="12834789" y="3295650"/>
            <a:ext cx="125253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4258776" y="3624263"/>
            <a:ext cx="1519238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1" name="Text 18"/>
          <p:cNvSpPr/>
          <p:nvPr/>
        </p:nvSpPr>
        <p:spPr>
          <a:xfrm>
            <a:off x="14354026" y="3295650"/>
            <a:ext cx="125253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FY28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5778014" y="3624263"/>
            <a:ext cx="1710035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3" name="Text 20"/>
          <p:cNvSpPr/>
          <p:nvPr/>
        </p:nvSpPr>
        <p:spPr>
          <a:xfrm>
            <a:off x="15873264" y="3295650"/>
            <a:ext cx="144333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270974" y="4148137"/>
            <a:ext cx="294932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2"/>
          <p:cNvSpPr/>
          <p:nvPr/>
        </p:nvSpPr>
        <p:spPr>
          <a:xfrm>
            <a:off x="8442424" y="3786188"/>
            <a:ext cx="26949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platform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1220301" y="4148137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11315551" y="3786188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2739539" y="4148137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Text 26"/>
          <p:cNvSpPr/>
          <p:nvPr/>
        </p:nvSpPr>
        <p:spPr>
          <a:xfrm>
            <a:off x="12834789" y="3786188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4258776" y="4148137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1" name="Text 28"/>
          <p:cNvSpPr/>
          <p:nvPr/>
        </p:nvSpPr>
        <p:spPr>
          <a:xfrm>
            <a:off x="14354026" y="3786188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5778014" y="4148137"/>
            <a:ext cx="171003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3" name="Text 30"/>
          <p:cNvSpPr/>
          <p:nvPr/>
        </p:nvSpPr>
        <p:spPr>
          <a:xfrm>
            <a:off x="15873264" y="3786188"/>
            <a:ext cx="14433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270974" y="4672013"/>
            <a:ext cx="294932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5" name="Text 32"/>
          <p:cNvSpPr/>
          <p:nvPr/>
        </p:nvSpPr>
        <p:spPr>
          <a:xfrm>
            <a:off x="8442424" y="4310063"/>
            <a:ext cx="26949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&amp; capability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1220301" y="4672013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7" name="Text 34"/>
          <p:cNvSpPr/>
          <p:nvPr/>
        </p:nvSpPr>
        <p:spPr>
          <a:xfrm>
            <a:off x="11315551" y="4310063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12739539" y="4672013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9" name="Text 36"/>
          <p:cNvSpPr/>
          <p:nvPr/>
        </p:nvSpPr>
        <p:spPr>
          <a:xfrm>
            <a:off x="12834789" y="4310063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14258776" y="4672013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1" name="Text 38"/>
          <p:cNvSpPr/>
          <p:nvPr/>
        </p:nvSpPr>
        <p:spPr>
          <a:xfrm>
            <a:off x="14354026" y="4310063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15778014" y="4672013"/>
            <a:ext cx="171003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3" name="Text 40"/>
          <p:cNvSpPr/>
          <p:nvPr/>
        </p:nvSpPr>
        <p:spPr>
          <a:xfrm>
            <a:off x="15873264" y="4310063"/>
            <a:ext cx="14433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8270974" y="5195888"/>
            <a:ext cx="294932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5" name="Text 42"/>
          <p:cNvSpPr/>
          <p:nvPr/>
        </p:nvSpPr>
        <p:spPr>
          <a:xfrm>
            <a:off x="8442424" y="4833938"/>
            <a:ext cx="26949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Inorganic — Target A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11220301" y="5195888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7" name="Text 44"/>
          <p:cNvSpPr/>
          <p:nvPr/>
        </p:nvSpPr>
        <p:spPr>
          <a:xfrm>
            <a:off x="11315551" y="4833938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12739539" y="5195888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9" name="Text 46"/>
          <p:cNvSpPr/>
          <p:nvPr/>
        </p:nvSpPr>
        <p:spPr>
          <a:xfrm>
            <a:off x="12834789" y="4833938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[—]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14258776" y="5195888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1" name="Text 48"/>
          <p:cNvSpPr/>
          <p:nvPr/>
        </p:nvSpPr>
        <p:spPr>
          <a:xfrm>
            <a:off x="14354026" y="4833938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[—]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15778014" y="5195888"/>
            <a:ext cx="171003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3" name="Text 50"/>
          <p:cNvSpPr/>
          <p:nvPr/>
        </p:nvSpPr>
        <p:spPr>
          <a:xfrm>
            <a:off x="15873264" y="4833938"/>
            <a:ext cx="14433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8270974" y="5719763"/>
            <a:ext cx="294932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5" name="Text 52"/>
          <p:cNvSpPr/>
          <p:nvPr/>
        </p:nvSpPr>
        <p:spPr>
          <a:xfrm>
            <a:off x="8442424" y="5357813"/>
            <a:ext cx="26949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/ GTM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11220301" y="5719763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7" name="Text 54"/>
          <p:cNvSpPr/>
          <p:nvPr/>
        </p:nvSpPr>
        <p:spPr>
          <a:xfrm>
            <a:off x="11315551" y="5357813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12739539" y="5719763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9" name="Text 56"/>
          <p:cNvSpPr/>
          <p:nvPr/>
        </p:nvSpPr>
        <p:spPr>
          <a:xfrm>
            <a:off x="12834789" y="5357813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14258776" y="5719763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1" name="Text 58"/>
          <p:cNvSpPr/>
          <p:nvPr/>
        </p:nvSpPr>
        <p:spPr>
          <a:xfrm>
            <a:off x="14354026" y="5357813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15778014" y="5719763"/>
            <a:ext cx="171003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3" name="Text 60"/>
          <p:cNvSpPr/>
          <p:nvPr/>
        </p:nvSpPr>
        <p:spPr>
          <a:xfrm>
            <a:off x="15873264" y="5357813"/>
            <a:ext cx="14433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8270974" y="6243638"/>
            <a:ext cx="294932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5" name="Text 62"/>
          <p:cNvSpPr/>
          <p:nvPr/>
        </p:nvSpPr>
        <p:spPr>
          <a:xfrm>
            <a:off x="8442424" y="5881688"/>
            <a:ext cx="26949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&amp; programme office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11220301" y="6243638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7" name="Text 64"/>
          <p:cNvSpPr/>
          <p:nvPr/>
        </p:nvSpPr>
        <p:spPr>
          <a:xfrm>
            <a:off x="11315551" y="5881688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12739539" y="6243638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9" name="Text 66"/>
          <p:cNvSpPr/>
          <p:nvPr/>
        </p:nvSpPr>
        <p:spPr>
          <a:xfrm>
            <a:off x="12834789" y="5881688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14258776" y="6243638"/>
            <a:ext cx="151923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1" name="Text 68"/>
          <p:cNvSpPr/>
          <p:nvPr/>
        </p:nvSpPr>
        <p:spPr>
          <a:xfrm>
            <a:off x="14354026" y="5881688"/>
            <a:ext cx="12525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15778014" y="6243638"/>
            <a:ext cx="1710035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3" name="Text 70"/>
          <p:cNvSpPr/>
          <p:nvPr/>
        </p:nvSpPr>
        <p:spPr>
          <a:xfrm>
            <a:off x="15873264" y="5881688"/>
            <a:ext cx="14433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8270974" y="6253163"/>
            <a:ext cx="9216926" cy="519113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75" name="Text 72"/>
          <p:cNvSpPr/>
          <p:nvPr/>
        </p:nvSpPr>
        <p:spPr>
          <a:xfrm>
            <a:off x="8442424" y="6405563"/>
            <a:ext cx="269490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050" dirty="0"/>
          </a:p>
        </p:txBody>
      </p:sp>
      <p:sp>
        <p:nvSpPr>
          <p:cNvPr id="76" name="Text 73"/>
          <p:cNvSpPr/>
          <p:nvPr/>
        </p:nvSpPr>
        <p:spPr>
          <a:xfrm>
            <a:off x="11315551" y="6405563"/>
            <a:ext cx="125253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12834789" y="6405563"/>
            <a:ext cx="125253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14354026" y="6405563"/>
            <a:ext cx="125253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15873264" y="6405563"/>
            <a:ext cx="144333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200" dirty="0"/>
          </a:p>
        </p:txBody>
      </p:sp>
      <p:sp>
        <p:nvSpPr>
          <p:cNvPr id="80" name="Text 77"/>
          <p:cNvSpPr/>
          <p:nvPr/>
        </p:nvSpPr>
        <p:spPr>
          <a:xfrm>
            <a:off x="8270974" y="6905625"/>
            <a:ext cx="949343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in RM millions. Funding mix: [60%] internal cash, [40%] new debt facility. Detailed cash-flow model in appendix.</a:t>
            </a:r>
            <a:endParaRPr lang="en-US" sz="1050" dirty="0"/>
          </a:p>
        </p:txBody>
      </p:sp>
      <p:sp>
        <p:nvSpPr>
          <p:cNvPr id="81" name="Shape 78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2" name="Text 79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/ 64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8032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ASK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90 DAYS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sprints, twelve actions — by day 90 the programme is funded, staffed and moving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2933700"/>
            <a:ext cx="5410200" cy="643890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9363075"/>
            <a:ext cx="54102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933700"/>
            <a:ext cx="5410200" cy="381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2933700"/>
            <a:ext cx="9525" cy="64389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" name="Shape 7"/>
          <p:cNvSpPr/>
          <p:nvPr/>
        </p:nvSpPr>
        <p:spPr>
          <a:xfrm>
            <a:off x="6200775" y="2933700"/>
            <a:ext cx="9525" cy="64389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" name="Text 8"/>
          <p:cNvSpPr/>
          <p:nvPr/>
        </p:nvSpPr>
        <p:spPr>
          <a:xfrm>
            <a:off x="1076325" y="3238500"/>
            <a:ext cx="50034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30 DAYS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6325" y="3467100"/>
            <a:ext cx="50034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Mobilise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179195" y="3886200"/>
            <a:ext cx="483108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[Programme charter signed]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[Executive sponsor &amp; lead named]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[Steering committee stood up]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[Funding gate cleared]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76325" y="5200650"/>
            <a:ext cx="50034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6325" y="5391150"/>
            <a:ext cx="500348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[CEO]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38900" y="2933700"/>
            <a:ext cx="5410200" cy="6438900"/>
          </a:xfrm>
          <a:prstGeom prst="rect">
            <a:avLst/>
          </a:prstGeom>
          <a:solidFill>
            <a:srgbClr val="FAF7F1"/>
          </a:solidFill>
          <a:ln/>
        </p:spPr>
      </p:sp>
      <p:sp>
        <p:nvSpPr>
          <p:cNvPr id="17" name="Shape 14"/>
          <p:cNvSpPr/>
          <p:nvPr/>
        </p:nvSpPr>
        <p:spPr>
          <a:xfrm>
            <a:off x="6438900" y="9363075"/>
            <a:ext cx="54102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8" name="Shape 15"/>
          <p:cNvSpPr/>
          <p:nvPr/>
        </p:nvSpPr>
        <p:spPr>
          <a:xfrm>
            <a:off x="6438900" y="2933700"/>
            <a:ext cx="5410200" cy="3810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19" name="Shape 16"/>
          <p:cNvSpPr/>
          <p:nvPr/>
        </p:nvSpPr>
        <p:spPr>
          <a:xfrm>
            <a:off x="6438900" y="2933700"/>
            <a:ext cx="9525" cy="64389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0" name="Shape 17"/>
          <p:cNvSpPr/>
          <p:nvPr/>
        </p:nvSpPr>
        <p:spPr>
          <a:xfrm>
            <a:off x="11839575" y="2933700"/>
            <a:ext cx="9525" cy="6438900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1" name="Text 18"/>
          <p:cNvSpPr/>
          <p:nvPr/>
        </p:nvSpPr>
        <p:spPr>
          <a:xfrm>
            <a:off x="6715125" y="3238500"/>
            <a:ext cx="50034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30–60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15125" y="3467100"/>
            <a:ext cx="50034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&amp; scope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6817995" y="3886200"/>
            <a:ext cx="483108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[Baseline KPI dashboard live]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[Approach letter sent to Target A]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[Workstream leads hired / assigned]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[Quick-win backlog approved]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715125" y="5200650"/>
            <a:ext cx="50034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715125" y="5391150"/>
            <a:ext cx="500348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[CSO]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2077700" y="2933700"/>
            <a:ext cx="5410200" cy="6438900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7" name="Text 24"/>
          <p:cNvSpPr/>
          <p:nvPr/>
        </p:nvSpPr>
        <p:spPr>
          <a:xfrm>
            <a:off x="12344400" y="3200400"/>
            <a:ext cx="502310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60–90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2344400" y="3429000"/>
            <a:ext cx="50231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Mobilise delivery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2447270" y="3848100"/>
            <a:ext cx="485013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[Tech architecture decisions logged]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 A — heads of terms drafted]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[Comms &amp; change plan in market]</a:t>
            </a:r>
            <a:endParaRPr lang="en-US" sz="1200" dirty="0"/>
          </a:p>
          <a:p>
            <a:pPr algn="l" marL="106680" indent="-106680">
              <a:lnSpc>
                <a:spcPct val="15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[Gate-1 readiness check]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2344400" y="5162550"/>
            <a:ext cx="502310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DBA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2344400" y="5353050"/>
            <a:ext cx="502310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[Programme lead]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3" name="Text 30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/ 64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05100" y="2643188"/>
            <a:ext cx="13264134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500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6500" dirty="0"/>
          </a:p>
        </p:txBody>
      </p:sp>
      <p:sp>
        <p:nvSpPr>
          <p:cNvPr id="4" name="Text 1"/>
          <p:cNvSpPr/>
          <p:nvPr/>
        </p:nvSpPr>
        <p:spPr>
          <a:xfrm>
            <a:off x="2705100" y="4471988"/>
            <a:ext cx="13264134" cy="1952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spc="-42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window for this move is open now and will close within twenty-four months. The cost of waiting is bigger than the cost of being wrong.]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2705100" y="7377113"/>
            <a:ext cx="609600" cy="609600"/>
          </a:xfrm>
          <a:prstGeom prst="ellipse">
            <a:avLst/>
          </a:prstGeom>
          <a:solidFill>
            <a:srgbClr val="12102C"/>
          </a:solidFill>
          <a:ln/>
        </p:spPr>
      </p:sp>
      <p:sp>
        <p:nvSpPr>
          <p:cNvPr id="6" name="Text 3"/>
          <p:cNvSpPr/>
          <p:nvPr/>
        </p:nvSpPr>
        <p:spPr>
          <a:xfrm>
            <a:off x="3486150" y="7434263"/>
            <a:ext cx="17390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 Surname]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3486150" y="7720013"/>
            <a:ext cx="173905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[Title · Organisation]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" name="Text 6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/ 64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21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0100" y="3262313"/>
            <a:ext cx="762000" cy="57150"/>
          </a:xfrm>
          <a:prstGeom prst="rect">
            <a:avLst/>
          </a:prstGeom>
          <a:solidFill>
            <a:srgbClr val="A27C49"/>
          </a:solidFill>
          <a:ln/>
        </p:spPr>
      </p:sp>
      <p:sp>
        <p:nvSpPr>
          <p:cNvPr id="4" name="Text 1"/>
          <p:cNvSpPr/>
          <p:nvPr/>
        </p:nvSpPr>
        <p:spPr>
          <a:xfrm>
            <a:off x="800100" y="3624263"/>
            <a:ext cx="1718843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800100" y="5033963"/>
            <a:ext cx="9810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closing sentence — what you want the room to do after they leave.]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00100" y="6367463"/>
            <a:ext cx="52061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LEAD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0100" y="6596063"/>
            <a:ext cx="52061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 Surname]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0100" y="6948488"/>
            <a:ext cx="520613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email@osk.com 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0100" y="7158038"/>
            <a:ext cx="520613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[+60 XX XXX XXXX]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16601" y="6367463"/>
            <a:ext cx="52061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616601" y="6596063"/>
            <a:ext cx="52061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 Surname]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16601" y="6948488"/>
            <a:ext cx="520613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email@osk.com ]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16601" y="7158038"/>
            <a:ext cx="520613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[+60 XX XXX XXXX]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433102" y="6367463"/>
            <a:ext cx="52061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2433102" y="6596063"/>
            <a:ext cx="52061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 Surname]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433102" y="6948488"/>
            <a:ext cx="520613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email@osk.com ]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433102" y="7158038"/>
            <a:ext cx="520613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[+60 XX XXX XXXX]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/ 64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829050"/>
            <a:ext cx="164820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b="1" spc="-420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1143000" y="5276850"/>
            <a:ext cx="1275397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6143625"/>
            <a:ext cx="88296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Methodology, detailed financials, assumptions and definitions for the analyses presented.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9191625"/>
            <a:ext cx="165556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· METHODOLOGY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93814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60514" y="9191625"/>
            <a:ext cx="222126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· DETAILED FINANCIALS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77024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43724" y="9191625"/>
            <a:ext cx="160645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· ASSUMPTIONS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45425" y="9191625"/>
            <a:ext cx="1714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12125" y="9191625"/>
            <a:ext cx="129659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· GLOSSARY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/ 64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3900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METHODOLOGY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· METHODOLOGY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analyses in this pack were built — inputs, models, validation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2419350"/>
            <a:ext cx="83587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89635" y="2667000"/>
            <a:ext cx="8101965" cy="162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[Internal management accounts FY21–FY25 (audited where applicable)]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[Group reporting database, extracted DD Mmm YYYY]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[Industry intelligence: Bloomberg, S&amp;P Capital IQ, [provider]]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survey, n=[XXX], fielded Q[X] FY25]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[Expert interviews, n=[XX] across [domains]]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0100" y="4524375"/>
            <a:ext cx="83587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 APPROACH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89635" y="4772025"/>
            <a:ext cx="8101965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[DCF: 10-year explicit forecast, terminal value via Gordon growth]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[Synergy model: bottom-up by lever, run-rate over [3] years]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[Sensitivities: ±[XX]% on volume, ±[XX]bps on margin]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372600" y="2419350"/>
            <a:ext cx="83587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462135" y="2667000"/>
            <a:ext cx="810196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[Internal stress-tests with [Finance, Risk, COO office]]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[External challenge session with [advisor], [date]]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[Triangulation across top-down and bottom-up sizing]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[Red-team review by [function], [date]]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372600" y="4191000"/>
            <a:ext cx="83587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12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462135" y="4438650"/>
            <a:ext cx="8101965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[All target financials unaudited and management-supplied]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[Macroeconomic assumptions held flat at consensus]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[Competitor response modelled at base case only]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" name="Text 12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/ 64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9858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DETAILED FINANCIALS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· PRO-FORMA P&amp;L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Five-year pro-forma · plan of record · all values RM millions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2862263"/>
            <a:ext cx="500628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7" name="Text 4"/>
          <p:cNvSpPr/>
          <p:nvPr/>
        </p:nvSpPr>
        <p:spPr>
          <a:xfrm>
            <a:off x="971550" y="2533650"/>
            <a:ext cx="481356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ITEM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06380" y="2862263"/>
            <a:ext cx="1539032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9" name="Text 6"/>
          <p:cNvSpPr/>
          <p:nvPr/>
        </p:nvSpPr>
        <p:spPr>
          <a:xfrm>
            <a:off x="5901630" y="2533650"/>
            <a:ext cx="127233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45412" y="2862263"/>
            <a:ext cx="1539032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1" name="Text 8"/>
          <p:cNvSpPr/>
          <p:nvPr/>
        </p:nvSpPr>
        <p:spPr>
          <a:xfrm>
            <a:off x="7440662" y="2533650"/>
            <a:ext cx="127233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884444" y="2862263"/>
            <a:ext cx="1539032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3" name="Text 10"/>
          <p:cNvSpPr/>
          <p:nvPr/>
        </p:nvSpPr>
        <p:spPr>
          <a:xfrm>
            <a:off x="8979694" y="2533650"/>
            <a:ext cx="127233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423475" y="2862263"/>
            <a:ext cx="1539032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8725" y="2533650"/>
            <a:ext cx="127233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FY28E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1962507" y="2862263"/>
            <a:ext cx="1539032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7" name="Text 14"/>
          <p:cNvSpPr/>
          <p:nvPr/>
        </p:nvSpPr>
        <p:spPr>
          <a:xfrm>
            <a:off x="12057757" y="2533650"/>
            <a:ext cx="127233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FY29E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3501539" y="2862263"/>
            <a:ext cx="1627287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9" name="Text 16"/>
          <p:cNvSpPr/>
          <p:nvPr/>
        </p:nvSpPr>
        <p:spPr>
          <a:xfrm>
            <a:off x="13596789" y="2533650"/>
            <a:ext cx="136058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FY30E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5128825" y="2862263"/>
            <a:ext cx="2359968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21" name="Text 18"/>
          <p:cNvSpPr/>
          <p:nvPr/>
        </p:nvSpPr>
        <p:spPr>
          <a:xfrm>
            <a:off x="15224075" y="2533650"/>
            <a:ext cx="209326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25–30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0100" y="3376613"/>
            <a:ext cx="50062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3" name="Text 20"/>
          <p:cNvSpPr/>
          <p:nvPr/>
        </p:nvSpPr>
        <p:spPr>
          <a:xfrm>
            <a:off x="971550" y="3024188"/>
            <a:ext cx="48135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125" dirty="0"/>
          </a:p>
        </p:txBody>
      </p:sp>
      <p:sp>
        <p:nvSpPr>
          <p:cNvPr id="24" name="Shape 21"/>
          <p:cNvSpPr/>
          <p:nvPr/>
        </p:nvSpPr>
        <p:spPr>
          <a:xfrm>
            <a:off x="5806380" y="33766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2"/>
          <p:cNvSpPr/>
          <p:nvPr/>
        </p:nvSpPr>
        <p:spPr>
          <a:xfrm>
            <a:off x="5901630" y="30241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7345412" y="33766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7440662" y="30241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28" name="Shape 25"/>
          <p:cNvSpPr/>
          <p:nvPr/>
        </p:nvSpPr>
        <p:spPr>
          <a:xfrm>
            <a:off x="8884444" y="33766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Text 26"/>
          <p:cNvSpPr/>
          <p:nvPr/>
        </p:nvSpPr>
        <p:spPr>
          <a:xfrm>
            <a:off x="8979694" y="30241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30" name="Shape 27"/>
          <p:cNvSpPr/>
          <p:nvPr/>
        </p:nvSpPr>
        <p:spPr>
          <a:xfrm>
            <a:off x="10423475" y="33766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1" name="Text 28"/>
          <p:cNvSpPr/>
          <p:nvPr/>
        </p:nvSpPr>
        <p:spPr>
          <a:xfrm>
            <a:off x="10518725" y="30241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32" name="Shape 29"/>
          <p:cNvSpPr/>
          <p:nvPr/>
        </p:nvSpPr>
        <p:spPr>
          <a:xfrm>
            <a:off x="11962507" y="33766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3" name="Text 30"/>
          <p:cNvSpPr/>
          <p:nvPr/>
        </p:nvSpPr>
        <p:spPr>
          <a:xfrm>
            <a:off x="12057757" y="30241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34" name="Shape 31"/>
          <p:cNvSpPr/>
          <p:nvPr/>
        </p:nvSpPr>
        <p:spPr>
          <a:xfrm>
            <a:off x="13501539" y="3376613"/>
            <a:ext cx="162728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5" name="Text 32"/>
          <p:cNvSpPr/>
          <p:nvPr/>
        </p:nvSpPr>
        <p:spPr>
          <a:xfrm>
            <a:off x="13596789" y="3024188"/>
            <a:ext cx="13605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36" name="Shape 33"/>
          <p:cNvSpPr/>
          <p:nvPr/>
        </p:nvSpPr>
        <p:spPr>
          <a:xfrm>
            <a:off x="15128825" y="3376613"/>
            <a:ext cx="23599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7" name="Text 34"/>
          <p:cNvSpPr/>
          <p:nvPr/>
        </p:nvSpPr>
        <p:spPr>
          <a:xfrm>
            <a:off x="15224075" y="3024188"/>
            <a:ext cx="20932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2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+[XX]%</a:t>
            </a:r>
            <a:endParaRPr lang="en-US" sz="1125" dirty="0"/>
          </a:p>
        </p:txBody>
      </p:sp>
      <p:sp>
        <p:nvSpPr>
          <p:cNvPr id="38" name="Shape 35"/>
          <p:cNvSpPr/>
          <p:nvPr/>
        </p:nvSpPr>
        <p:spPr>
          <a:xfrm>
            <a:off x="800100" y="3890962"/>
            <a:ext cx="50062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9" name="Text 36"/>
          <p:cNvSpPr/>
          <p:nvPr/>
        </p:nvSpPr>
        <p:spPr>
          <a:xfrm>
            <a:off x="1085850" y="3538538"/>
            <a:ext cx="46992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</a:t>
            </a:r>
            <a:endParaRPr lang="en-US" sz="1125" dirty="0"/>
          </a:p>
        </p:txBody>
      </p:sp>
      <p:sp>
        <p:nvSpPr>
          <p:cNvPr id="40" name="Shape 37"/>
          <p:cNvSpPr/>
          <p:nvPr/>
        </p:nvSpPr>
        <p:spPr>
          <a:xfrm>
            <a:off x="5806380" y="3890962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1" name="Text 38"/>
          <p:cNvSpPr/>
          <p:nvPr/>
        </p:nvSpPr>
        <p:spPr>
          <a:xfrm>
            <a:off x="5901630" y="35385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42" name="Shape 39"/>
          <p:cNvSpPr/>
          <p:nvPr/>
        </p:nvSpPr>
        <p:spPr>
          <a:xfrm>
            <a:off x="7345412" y="3890962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3" name="Text 40"/>
          <p:cNvSpPr/>
          <p:nvPr/>
        </p:nvSpPr>
        <p:spPr>
          <a:xfrm>
            <a:off x="7440662" y="35385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44" name="Shape 41"/>
          <p:cNvSpPr/>
          <p:nvPr/>
        </p:nvSpPr>
        <p:spPr>
          <a:xfrm>
            <a:off x="8884444" y="3890962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5" name="Text 42"/>
          <p:cNvSpPr/>
          <p:nvPr/>
        </p:nvSpPr>
        <p:spPr>
          <a:xfrm>
            <a:off x="8979694" y="35385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46" name="Shape 43"/>
          <p:cNvSpPr/>
          <p:nvPr/>
        </p:nvSpPr>
        <p:spPr>
          <a:xfrm>
            <a:off x="10423475" y="3890962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7" name="Text 44"/>
          <p:cNvSpPr/>
          <p:nvPr/>
        </p:nvSpPr>
        <p:spPr>
          <a:xfrm>
            <a:off x="10518725" y="35385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48" name="Shape 45"/>
          <p:cNvSpPr/>
          <p:nvPr/>
        </p:nvSpPr>
        <p:spPr>
          <a:xfrm>
            <a:off x="11962507" y="3890962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9" name="Text 46"/>
          <p:cNvSpPr/>
          <p:nvPr/>
        </p:nvSpPr>
        <p:spPr>
          <a:xfrm>
            <a:off x="12057757" y="35385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50" name="Shape 47"/>
          <p:cNvSpPr/>
          <p:nvPr/>
        </p:nvSpPr>
        <p:spPr>
          <a:xfrm>
            <a:off x="13501539" y="3890962"/>
            <a:ext cx="162728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1" name="Text 48"/>
          <p:cNvSpPr/>
          <p:nvPr/>
        </p:nvSpPr>
        <p:spPr>
          <a:xfrm>
            <a:off x="13596789" y="3538538"/>
            <a:ext cx="13605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52" name="Shape 49"/>
          <p:cNvSpPr/>
          <p:nvPr/>
        </p:nvSpPr>
        <p:spPr>
          <a:xfrm>
            <a:off x="15128825" y="3890962"/>
            <a:ext cx="23599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3" name="Text 50"/>
          <p:cNvSpPr/>
          <p:nvPr/>
        </p:nvSpPr>
        <p:spPr>
          <a:xfrm>
            <a:off x="15224075" y="3538538"/>
            <a:ext cx="20932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+[X]%</a:t>
            </a:r>
            <a:endParaRPr lang="en-US" sz="1125" dirty="0"/>
          </a:p>
        </p:txBody>
      </p:sp>
      <p:sp>
        <p:nvSpPr>
          <p:cNvPr id="54" name="Shape 51"/>
          <p:cNvSpPr/>
          <p:nvPr/>
        </p:nvSpPr>
        <p:spPr>
          <a:xfrm>
            <a:off x="800100" y="4405313"/>
            <a:ext cx="50062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5" name="Text 52"/>
          <p:cNvSpPr/>
          <p:nvPr/>
        </p:nvSpPr>
        <p:spPr>
          <a:xfrm>
            <a:off x="1085850" y="4052888"/>
            <a:ext cx="46992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Inorganic (Target A)</a:t>
            </a:r>
            <a:endParaRPr lang="en-US" sz="1125" dirty="0"/>
          </a:p>
        </p:txBody>
      </p:sp>
      <p:sp>
        <p:nvSpPr>
          <p:cNvPr id="56" name="Shape 53"/>
          <p:cNvSpPr/>
          <p:nvPr/>
        </p:nvSpPr>
        <p:spPr>
          <a:xfrm>
            <a:off x="5806380" y="44053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7" name="Text 54"/>
          <p:cNvSpPr/>
          <p:nvPr/>
        </p:nvSpPr>
        <p:spPr>
          <a:xfrm>
            <a:off x="5901630" y="40528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58" name="Shape 55"/>
          <p:cNvSpPr/>
          <p:nvPr/>
        </p:nvSpPr>
        <p:spPr>
          <a:xfrm>
            <a:off x="7345412" y="44053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9" name="Text 56"/>
          <p:cNvSpPr/>
          <p:nvPr/>
        </p:nvSpPr>
        <p:spPr>
          <a:xfrm>
            <a:off x="7440662" y="40528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endParaRPr lang="en-US" sz="1125" dirty="0"/>
          </a:p>
        </p:txBody>
      </p:sp>
      <p:sp>
        <p:nvSpPr>
          <p:cNvPr id="60" name="Shape 57"/>
          <p:cNvSpPr/>
          <p:nvPr/>
        </p:nvSpPr>
        <p:spPr>
          <a:xfrm>
            <a:off x="8884444" y="44053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1" name="Text 58"/>
          <p:cNvSpPr/>
          <p:nvPr/>
        </p:nvSpPr>
        <p:spPr>
          <a:xfrm>
            <a:off x="8979694" y="40528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62" name="Shape 59"/>
          <p:cNvSpPr/>
          <p:nvPr/>
        </p:nvSpPr>
        <p:spPr>
          <a:xfrm>
            <a:off x="10423475" y="44053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3" name="Text 60"/>
          <p:cNvSpPr/>
          <p:nvPr/>
        </p:nvSpPr>
        <p:spPr>
          <a:xfrm>
            <a:off x="10518725" y="40528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64" name="Shape 61"/>
          <p:cNvSpPr/>
          <p:nvPr/>
        </p:nvSpPr>
        <p:spPr>
          <a:xfrm>
            <a:off x="11962507" y="44053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5" name="Text 62"/>
          <p:cNvSpPr/>
          <p:nvPr/>
        </p:nvSpPr>
        <p:spPr>
          <a:xfrm>
            <a:off x="12057757" y="40528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66" name="Shape 63"/>
          <p:cNvSpPr/>
          <p:nvPr/>
        </p:nvSpPr>
        <p:spPr>
          <a:xfrm>
            <a:off x="13501539" y="4405313"/>
            <a:ext cx="162728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7" name="Text 64"/>
          <p:cNvSpPr/>
          <p:nvPr/>
        </p:nvSpPr>
        <p:spPr>
          <a:xfrm>
            <a:off x="13596789" y="4052888"/>
            <a:ext cx="13605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68" name="Shape 65"/>
          <p:cNvSpPr/>
          <p:nvPr/>
        </p:nvSpPr>
        <p:spPr>
          <a:xfrm>
            <a:off x="15128825" y="4405313"/>
            <a:ext cx="23599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9" name="Text 66"/>
          <p:cNvSpPr/>
          <p:nvPr/>
        </p:nvSpPr>
        <p:spPr>
          <a:xfrm>
            <a:off x="15224075" y="4052888"/>
            <a:ext cx="20932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70" name="Shape 67"/>
          <p:cNvSpPr/>
          <p:nvPr/>
        </p:nvSpPr>
        <p:spPr>
          <a:xfrm>
            <a:off x="800100" y="4919663"/>
            <a:ext cx="50062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1" name="Text 68"/>
          <p:cNvSpPr/>
          <p:nvPr/>
        </p:nvSpPr>
        <p:spPr>
          <a:xfrm>
            <a:off x="971550" y="4567238"/>
            <a:ext cx="48135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</a:t>
            </a:r>
            <a:endParaRPr lang="en-US" sz="1125" dirty="0"/>
          </a:p>
        </p:txBody>
      </p:sp>
      <p:sp>
        <p:nvSpPr>
          <p:cNvPr id="72" name="Shape 69"/>
          <p:cNvSpPr/>
          <p:nvPr/>
        </p:nvSpPr>
        <p:spPr>
          <a:xfrm>
            <a:off x="5806380" y="49196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3" name="Text 70"/>
          <p:cNvSpPr/>
          <p:nvPr/>
        </p:nvSpPr>
        <p:spPr>
          <a:xfrm>
            <a:off x="5901630" y="45672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74" name="Shape 71"/>
          <p:cNvSpPr/>
          <p:nvPr/>
        </p:nvSpPr>
        <p:spPr>
          <a:xfrm>
            <a:off x="7345412" y="49196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5" name="Text 72"/>
          <p:cNvSpPr/>
          <p:nvPr/>
        </p:nvSpPr>
        <p:spPr>
          <a:xfrm>
            <a:off x="7440662" y="45672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76" name="Shape 73"/>
          <p:cNvSpPr/>
          <p:nvPr/>
        </p:nvSpPr>
        <p:spPr>
          <a:xfrm>
            <a:off x="8884444" y="49196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7" name="Text 74"/>
          <p:cNvSpPr/>
          <p:nvPr/>
        </p:nvSpPr>
        <p:spPr>
          <a:xfrm>
            <a:off x="8979694" y="45672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78" name="Shape 75"/>
          <p:cNvSpPr/>
          <p:nvPr/>
        </p:nvSpPr>
        <p:spPr>
          <a:xfrm>
            <a:off x="10423475" y="49196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9" name="Text 76"/>
          <p:cNvSpPr/>
          <p:nvPr/>
        </p:nvSpPr>
        <p:spPr>
          <a:xfrm>
            <a:off x="10518725" y="45672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80" name="Shape 77"/>
          <p:cNvSpPr/>
          <p:nvPr/>
        </p:nvSpPr>
        <p:spPr>
          <a:xfrm>
            <a:off x="11962507" y="49196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1" name="Text 78"/>
          <p:cNvSpPr/>
          <p:nvPr/>
        </p:nvSpPr>
        <p:spPr>
          <a:xfrm>
            <a:off x="12057757" y="45672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82" name="Shape 79"/>
          <p:cNvSpPr/>
          <p:nvPr/>
        </p:nvSpPr>
        <p:spPr>
          <a:xfrm>
            <a:off x="13501539" y="4919663"/>
            <a:ext cx="162728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3" name="Text 80"/>
          <p:cNvSpPr/>
          <p:nvPr/>
        </p:nvSpPr>
        <p:spPr>
          <a:xfrm>
            <a:off x="13596789" y="4567238"/>
            <a:ext cx="13605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84" name="Shape 81"/>
          <p:cNvSpPr/>
          <p:nvPr/>
        </p:nvSpPr>
        <p:spPr>
          <a:xfrm>
            <a:off x="15128825" y="4919663"/>
            <a:ext cx="23599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5" name="Text 82"/>
          <p:cNvSpPr/>
          <p:nvPr/>
        </p:nvSpPr>
        <p:spPr>
          <a:xfrm>
            <a:off x="15224075" y="4567238"/>
            <a:ext cx="20932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+[XX]%</a:t>
            </a:r>
            <a:endParaRPr lang="en-US" sz="1125" dirty="0"/>
          </a:p>
        </p:txBody>
      </p:sp>
      <p:sp>
        <p:nvSpPr>
          <p:cNvPr id="86" name="Shape 83"/>
          <p:cNvSpPr/>
          <p:nvPr/>
        </p:nvSpPr>
        <p:spPr>
          <a:xfrm>
            <a:off x="800100" y="5434013"/>
            <a:ext cx="50062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7" name="Text 84"/>
          <p:cNvSpPr/>
          <p:nvPr/>
        </p:nvSpPr>
        <p:spPr>
          <a:xfrm>
            <a:off x="1085850" y="5081588"/>
            <a:ext cx="46992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margin</a:t>
            </a:r>
            <a:endParaRPr lang="en-US" sz="1125" dirty="0"/>
          </a:p>
        </p:txBody>
      </p:sp>
      <p:sp>
        <p:nvSpPr>
          <p:cNvPr id="88" name="Shape 85"/>
          <p:cNvSpPr/>
          <p:nvPr/>
        </p:nvSpPr>
        <p:spPr>
          <a:xfrm>
            <a:off x="5806380" y="54340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9" name="Text 86"/>
          <p:cNvSpPr/>
          <p:nvPr/>
        </p:nvSpPr>
        <p:spPr>
          <a:xfrm>
            <a:off x="5901630" y="50815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90" name="Shape 87"/>
          <p:cNvSpPr/>
          <p:nvPr/>
        </p:nvSpPr>
        <p:spPr>
          <a:xfrm>
            <a:off x="7345412" y="54340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1" name="Text 88"/>
          <p:cNvSpPr/>
          <p:nvPr/>
        </p:nvSpPr>
        <p:spPr>
          <a:xfrm>
            <a:off x="7440662" y="50815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92" name="Shape 89"/>
          <p:cNvSpPr/>
          <p:nvPr/>
        </p:nvSpPr>
        <p:spPr>
          <a:xfrm>
            <a:off x="8884444" y="54340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3" name="Text 90"/>
          <p:cNvSpPr/>
          <p:nvPr/>
        </p:nvSpPr>
        <p:spPr>
          <a:xfrm>
            <a:off x="8979694" y="50815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94" name="Shape 91"/>
          <p:cNvSpPr/>
          <p:nvPr/>
        </p:nvSpPr>
        <p:spPr>
          <a:xfrm>
            <a:off x="10423475" y="54340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5" name="Text 92"/>
          <p:cNvSpPr/>
          <p:nvPr/>
        </p:nvSpPr>
        <p:spPr>
          <a:xfrm>
            <a:off x="10518725" y="50815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96" name="Shape 93"/>
          <p:cNvSpPr/>
          <p:nvPr/>
        </p:nvSpPr>
        <p:spPr>
          <a:xfrm>
            <a:off x="11962507" y="54340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7" name="Text 94"/>
          <p:cNvSpPr/>
          <p:nvPr/>
        </p:nvSpPr>
        <p:spPr>
          <a:xfrm>
            <a:off x="12057757" y="50815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98" name="Shape 95"/>
          <p:cNvSpPr/>
          <p:nvPr/>
        </p:nvSpPr>
        <p:spPr>
          <a:xfrm>
            <a:off x="13501539" y="5434013"/>
            <a:ext cx="162728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9" name="Text 96"/>
          <p:cNvSpPr/>
          <p:nvPr/>
        </p:nvSpPr>
        <p:spPr>
          <a:xfrm>
            <a:off x="13596789" y="5081588"/>
            <a:ext cx="13605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100" name="Shape 97"/>
          <p:cNvSpPr/>
          <p:nvPr/>
        </p:nvSpPr>
        <p:spPr>
          <a:xfrm>
            <a:off x="15128825" y="5434013"/>
            <a:ext cx="23599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1" name="Text 98"/>
          <p:cNvSpPr/>
          <p:nvPr/>
        </p:nvSpPr>
        <p:spPr>
          <a:xfrm>
            <a:off x="15224075" y="5081588"/>
            <a:ext cx="20932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102" name="Shape 99"/>
          <p:cNvSpPr/>
          <p:nvPr/>
        </p:nvSpPr>
        <p:spPr>
          <a:xfrm>
            <a:off x="800100" y="5948363"/>
            <a:ext cx="50062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3" name="Text 100"/>
          <p:cNvSpPr/>
          <p:nvPr/>
        </p:nvSpPr>
        <p:spPr>
          <a:xfrm>
            <a:off x="971550" y="5595938"/>
            <a:ext cx="48135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expenses</a:t>
            </a:r>
            <a:endParaRPr lang="en-US" sz="1125" dirty="0"/>
          </a:p>
        </p:txBody>
      </p:sp>
      <p:sp>
        <p:nvSpPr>
          <p:cNvPr id="104" name="Shape 101"/>
          <p:cNvSpPr/>
          <p:nvPr/>
        </p:nvSpPr>
        <p:spPr>
          <a:xfrm>
            <a:off x="5806380" y="59483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5" name="Text 102"/>
          <p:cNvSpPr/>
          <p:nvPr/>
        </p:nvSpPr>
        <p:spPr>
          <a:xfrm>
            <a:off x="5901630" y="55959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([XXX])</a:t>
            </a:r>
            <a:endParaRPr lang="en-US" sz="1125" dirty="0"/>
          </a:p>
        </p:txBody>
      </p:sp>
      <p:sp>
        <p:nvSpPr>
          <p:cNvPr id="106" name="Shape 103"/>
          <p:cNvSpPr/>
          <p:nvPr/>
        </p:nvSpPr>
        <p:spPr>
          <a:xfrm>
            <a:off x="7345412" y="59483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7" name="Text 104"/>
          <p:cNvSpPr/>
          <p:nvPr/>
        </p:nvSpPr>
        <p:spPr>
          <a:xfrm>
            <a:off x="7440662" y="55959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([XXX])</a:t>
            </a:r>
            <a:endParaRPr lang="en-US" sz="1125" dirty="0"/>
          </a:p>
        </p:txBody>
      </p:sp>
      <p:sp>
        <p:nvSpPr>
          <p:cNvPr id="108" name="Shape 105"/>
          <p:cNvSpPr/>
          <p:nvPr/>
        </p:nvSpPr>
        <p:spPr>
          <a:xfrm>
            <a:off x="8884444" y="59483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9" name="Text 106"/>
          <p:cNvSpPr/>
          <p:nvPr/>
        </p:nvSpPr>
        <p:spPr>
          <a:xfrm>
            <a:off x="8979694" y="55959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([XXX])</a:t>
            </a:r>
            <a:endParaRPr lang="en-US" sz="1125" dirty="0"/>
          </a:p>
        </p:txBody>
      </p:sp>
      <p:sp>
        <p:nvSpPr>
          <p:cNvPr id="110" name="Shape 107"/>
          <p:cNvSpPr/>
          <p:nvPr/>
        </p:nvSpPr>
        <p:spPr>
          <a:xfrm>
            <a:off x="10423475" y="59483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1" name="Text 108"/>
          <p:cNvSpPr/>
          <p:nvPr/>
        </p:nvSpPr>
        <p:spPr>
          <a:xfrm>
            <a:off x="10518725" y="55959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([XXX])</a:t>
            </a:r>
            <a:endParaRPr lang="en-US" sz="1125" dirty="0"/>
          </a:p>
        </p:txBody>
      </p:sp>
      <p:sp>
        <p:nvSpPr>
          <p:cNvPr id="112" name="Shape 109"/>
          <p:cNvSpPr/>
          <p:nvPr/>
        </p:nvSpPr>
        <p:spPr>
          <a:xfrm>
            <a:off x="11962507" y="59483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3" name="Text 110"/>
          <p:cNvSpPr/>
          <p:nvPr/>
        </p:nvSpPr>
        <p:spPr>
          <a:xfrm>
            <a:off x="12057757" y="55959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([XXX])</a:t>
            </a:r>
            <a:endParaRPr lang="en-US" sz="1125" dirty="0"/>
          </a:p>
        </p:txBody>
      </p:sp>
      <p:sp>
        <p:nvSpPr>
          <p:cNvPr id="114" name="Shape 111"/>
          <p:cNvSpPr/>
          <p:nvPr/>
        </p:nvSpPr>
        <p:spPr>
          <a:xfrm>
            <a:off x="13501539" y="5948363"/>
            <a:ext cx="162728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5" name="Text 112"/>
          <p:cNvSpPr/>
          <p:nvPr/>
        </p:nvSpPr>
        <p:spPr>
          <a:xfrm>
            <a:off x="13596789" y="5595938"/>
            <a:ext cx="13605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([XXX])</a:t>
            </a:r>
            <a:endParaRPr lang="en-US" sz="1125" dirty="0"/>
          </a:p>
        </p:txBody>
      </p:sp>
      <p:sp>
        <p:nvSpPr>
          <p:cNvPr id="116" name="Shape 113"/>
          <p:cNvSpPr/>
          <p:nvPr/>
        </p:nvSpPr>
        <p:spPr>
          <a:xfrm>
            <a:off x="15128825" y="5948363"/>
            <a:ext cx="23599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7" name="Text 114"/>
          <p:cNvSpPr/>
          <p:nvPr/>
        </p:nvSpPr>
        <p:spPr>
          <a:xfrm>
            <a:off x="15224075" y="5595938"/>
            <a:ext cx="20932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+[X]%</a:t>
            </a:r>
            <a:endParaRPr lang="en-US" sz="1125" dirty="0"/>
          </a:p>
        </p:txBody>
      </p:sp>
      <p:sp>
        <p:nvSpPr>
          <p:cNvPr id="118" name="Shape 115"/>
          <p:cNvSpPr/>
          <p:nvPr/>
        </p:nvSpPr>
        <p:spPr>
          <a:xfrm>
            <a:off x="800100" y="6462713"/>
            <a:ext cx="50062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9" name="Text 116"/>
          <p:cNvSpPr/>
          <p:nvPr/>
        </p:nvSpPr>
        <p:spPr>
          <a:xfrm>
            <a:off x="971550" y="6110288"/>
            <a:ext cx="48135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1125" dirty="0"/>
          </a:p>
        </p:txBody>
      </p:sp>
      <p:sp>
        <p:nvSpPr>
          <p:cNvPr id="120" name="Shape 117"/>
          <p:cNvSpPr/>
          <p:nvPr/>
        </p:nvSpPr>
        <p:spPr>
          <a:xfrm>
            <a:off x="5806380" y="64627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1" name="Text 118"/>
          <p:cNvSpPr/>
          <p:nvPr/>
        </p:nvSpPr>
        <p:spPr>
          <a:xfrm>
            <a:off x="5901630" y="61102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22" name="Shape 119"/>
          <p:cNvSpPr/>
          <p:nvPr/>
        </p:nvSpPr>
        <p:spPr>
          <a:xfrm>
            <a:off x="7345412" y="64627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3" name="Text 120"/>
          <p:cNvSpPr/>
          <p:nvPr/>
        </p:nvSpPr>
        <p:spPr>
          <a:xfrm>
            <a:off x="7440662" y="61102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24" name="Shape 121"/>
          <p:cNvSpPr/>
          <p:nvPr/>
        </p:nvSpPr>
        <p:spPr>
          <a:xfrm>
            <a:off x="8884444" y="64627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5" name="Text 122"/>
          <p:cNvSpPr/>
          <p:nvPr/>
        </p:nvSpPr>
        <p:spPr>
          <a:xfrm>
            <a:off x="8979694" y="61102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26" name="Shape 123"/>
          <p:cNvSpPr/>
          <p:nvPr/>
        </p:nvSpPr>
        <p:spPr>
          <a:xfrm>
            <a:off x="10423475" y="64627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7" name="Text 124"/>
          <p:cNvSpPr/>
          <p:nvPr/>
        </p:nvSpPr>
        <p:spPr>
          <a:xfrm>
            <a:off x="10518725" y="61102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28" name="Shape 125"/>
          <p:cNvSpPr/>
          <p:nvPr/>
        </p:nvSpPr>
        <p:spPr>
          <a:xfrm>
            <a:off x="11962507" y="64627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9" name="Text 126"/>
          <p:cNvSpPr/>
          <p:nvPr/>
        </p:nvSpPr>
        <p:spPr>
          <a:xfrm>
            <a:off x="12057757" y="61102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30" name="Shape 127"/>
          <p:cNvSpPr/>
          <p:nvPr/>
        </p:nvSpPr>
        <p:spPr>
          <a:xfrm>
            <a:off x="13501539" y="6462713"/>
            <a:ext cx="162728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1" name="Text 128"/>
          <p:cNvSpPr/>
          <p:nvPr/>
        </p:nvSpPr>
        <p:spPr>
          <a:xfrm>
            <a:off x="13596789" y="6110288"/>
            <a:ext cx="13605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125" dirty="0"/>
          </a:p>
        </p:txBody>
      </p:sp>
      <p:sp>
        <p:nvSpPr>
          <p:cNvPr id="132" name="Shape 129"/>
          <p:cNvSpPr/>
          <p:nvPr/>
        </p:nvSpPr>
        <p:spPr>
          <a:xfrm>
            <a:off x="15128825" y="6462713"/>
            <a:ext cx="23599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3" name="Text 130"/>
          <p:cNvSpPr/>
          <p:nvPr/>
        </p:nvSpPr>
        <p:spPr>
          <a:xfrm>
            <a:off x="15224075" y="6110288"/>
            <a:ext cx="20932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2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+[XX]%</a:t>
            </a:r>
            <a:endParaRPr lang="en-US" sz="1125" dirty="0"/>
          </a:p>
        </p:txBody>
      </p:sp>
      <p:sp>
        <p:nvSpPr>
          <p:cNvPr id="134" name="Shape 131"/>
          <p:cNvSpPr/>
          <p:nvPr/>
        </p:nvSpPr>
        <p:spPr>
          <a:xfrm>
            <a:off x="800100" y="6977063"/>
            <a:ext cx="50062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5" name="Text 132"/>
          <p:cNvSpPr/>
          <p:nvPr/>
        </p:nvSpPr>
        <p:spPr>
          <a:xfrm>
            <a:off x="1085850" y="6624638"/>
            <a:ext cx="46992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</a:t>
            </a:r>
            <a:endParaRPr lang="en-US" sz="1125" dirty="0"/>
          </a:p>
        </p:txBody>
      </p:sp>
      <p:sp>
        <p:nvSpPr>
          <p:cNvPr id="136" name="Shape 133"/>
          <p:cNvSpPr/>
          <p:nvPr/>
        </p:nvSpPr>
        <p:spPr>
          <a:xfrm>
            <a:off x="5806380" y="69770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7" name="Text 134"/>
          <p:cNvSpPr/>
          <p:nvPr/>
        </p:nvSpPr>
        <p:spPr>
          <a:xfrm>
            <a:off x="5901630" y="66246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138" name="Shape 135"/>
          <p:cNvSpPr/>
          <p:nvPr/>
        </p:nvSpPr>
        <p:spPr>
          <a:xfrm>
            <a:off x="7345412" y="69770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9" name="Text 136"/>
          <p:cNvSpPr/>
          <p:nvPr/>
        </p:nvSpPr>
        <p:spPr>
          <a:xfrm>
            <a:off x="7440662" y="66246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140" name="Shape 137"/>
          <p:cNvSpPr/>
          <p:nvPr/>
        </p:nvSpPr>
        <p:spPr>
          <a:xfrm>
            <a:off x="8884444" y="69770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1" name="Text 138"/>
          <p:cNvSpPr/>
          <p:nvPr/>
        </p:nvSpPr>
        <p:spPr>
          <a:xfrm>
            <a:off x="8979694" y="66246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142" name="Shape 139"/>
          <p:cNvSpPr/>
          <p:nvPr/>
        </p:nvSpPr>
        <p:spPr>
          <a:xfrm>
            <a:off x="10423475" y="69770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3" name="Text 140"/>
          <p:cNvSpPr/>
          <p:nvPr/>
        </p:nvSpPr>
        <p:spPr>
          <a:xfrm>
            <a:off x="10518725" y="66246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144" name="Shape 141"/>
          <p:cNvSpPr/>
          <p:nvPr/>
        </p:nvSpPr>
        <p:spPr>
          <a:xfrm>
            <a:off x="11962507" y="69770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5" name="Text 142"/>
          <p:cNvSpPr/>
          <p:nvPr/>
        </p:nvSpPr>
        <p:spPr>
          <a:xfrm>
            <a:off x="12057757" y="662463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146" name="Shape 143"/>
          <p:cNvSpPr/>
          <p:nvPr/>
        </p:nvSpPr>
        <p:spPr>
          <a:xfrm>
            <a:off x="13501539" y="6977063"/>
            <a:ext cx="162728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7" name="Text 144"/>
          <p:cNvSpPr/>
          <p:nvPr/>
        </p:nvSpPr>
        <p:spPr>
          <a:xfrm>
            <a:off x="13596789" y="6624638"/>
            <a:ext cx="13605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125" dirty="0"/>
          </a:p>
        </p:txBody>
      </p:sp>
      <p:sp>
        <p:nvSpPr>
          <p:cNvPr id="148" name="Shape 145"/>
          <p:cNvSpPr/>
          <p:nvPr/>
        </p:nvSpPr>
        <p:spPr>
          <a:xfrm>
            <a:off x="15128825" y="6977063"/>
            <a:ext cx="23599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9" name="Text 146"/>
          <p:cNvSpPr/>
          <p:nvPr/>
        </p:nvSpPr>
        <p:spPr>
          <a:xfrm>
            <a:off x="15224075" y="6624638"/>
            <a:ext cx="20932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150" name="Shape 147"/>
          <p:cNvSpPr/>
          <p:nvPr/>
        </p:nvSpPr>
        <p:spPr>
          <a:xfrm>
            <a:off x="800100" y="7491413"/>
            <a:ext cx="50062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1" name="Text 148"/>
          <p:cNvSpPr/>
          <p:nvPr/>
        </p:nvSpPr>
        <p:spPr>
          <a:xfrm>
            <a:off x="971550" y="7138988"/>
            <a:ext cx="48135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 (NPAT)</a:t>
            </a:r>
            <a:endParaRPr lang="en-US" sz="1125" dirty="0"/>
          </a:p>
        </p:txBody>
      </p:sp>
      <p:sp>
        <p:nvSpPr>
          <p:cNvPr id="152" name="Shape 149"/>
          <p:cNvSpPr/>
          <p:nvPr/>
        </p:nvSpPr>
        <p:spPr>
          <a:xfrm>
            <a:off x="5806380" y="74914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3" name="Text 150"/>
          <p:cNvSpPr/>
          <p:nvPr/>
        </p:nvSpPr>
        <p:spPr>
          <a:xfrm>
            <a:off x="5901630" y="71389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54" name="Shape 151"/>
          <p:cNvSpPr/>
          <p:nvPr/>
        </p:nvSpPr>
        <p:spPr>
          <a:xfrm>
            <a:off x="7345412" y="74914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5" name="Text 152"/>
          <p:cNvSpPr/>
          <p:nvPr/>
        </p:nvSpPr>
        <p:spPr>
          <a:xfrm>
            <a:off x="7440662" y="71389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56" name="Shape 153"/>
          <p:cNvSpPr/>
          <p:nvPr/>
        </p:nvSpPr>
        <p:spPr>
          <a:xfrm>
            <a:off x="8884444" y="74914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7" name="Text 154"/>
          <p:cNvSpPr/>
          <p:nvPr/>
        </p:nvSpPr>
        <p:spPr>
          <a:xfrm>
            <a:off x="8979694" y="71389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58" name="Shape 155"/>
          <p:cNvSpPr/>
          <p:nvPr/>
        </p:nvSpPr>
        <p:spPr>
          <a:xfrm>
            <a:off x="10423475" y="74914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9" name="Text 156"/>
          <p:cNvSpPr/>
          <p:nvPr/>
        </p:nvSpPr>
        <p:spPr>
          <a:xfrm>
            <a:off x="10518725" y="71389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60" name="Shape 157"/>
          <p:cNvSpPr/>
          <p:nvPr/>
        </p:nvSpPr>
        <p:spPr>
          <a:xfrm>
            <a:off x="11962507" y="74914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61" name="Text 158"/>
          <p:cNvSpPr/>
          <p:nvPr/>
        </p:nvSpPr>
        <p:spPr>
          <a:xfrm>
            <a:off x="12057757" y="7138988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62" name="Shape 159"/>
          <p:cNvSpPr/>
          <p:nvPr/>
        </p:nvSpPr>
        <p:spPr>
          <a:xfrm>
            <a:off x="13501539" y="7491413"/>
            <a:ext cx="162728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63" name="Text 160"/>
          <p:cNvSpPr/>
          <p:nvPr/>
        </p:nvSpPr>
        <p:spPr>
          <a:xfrm>
            <a:off x="13596789" y="7138988"/>
            <a:ext cx="13605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64" name="Shape 161"/>
          <p:cNvSpPr/>
          <p:nvPr/>
        </p:nvSpPr>
        <p:spPr>
          <a:xfrm>
            <a:off x="15128825" y="7491413"/>
            <a:ext cx="23599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65" name="Text 162"/>
          <p:cNvSpPr/>
          <p:nvPr/>
        </p:nvSpPr>
        <p:spPr>
          <a:xfrm>
            <a:off x="15224075" y="7138988"/>
            <a:ext cx="20932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+[XX]%</a:t>
            </a:r>
            <a:endParaRPr lang="en-US" sz="1125" dirty="0"/>
          </a:p>
        </p:txBody>
      </p:sp>
      <p:sp>
        <p:nvSpPr>
          <p:cNvPr id="166" name="Shape 163"/>
          <p:cNvSpPr/>
          <p:nvPr/>
        </p:nvSpPr>
        <p:spPr>
          <a:xfrm>
            <a:off x="800100" y="8005763"/>
            <a:ext cx="50062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67" name="Text 164"/>
          <p:cNvSpPr/>
          <p:nvPr/>
        </p:nvSpPr>
        <p:spPr>
          <a:xfrm>
            <a:off x="971550" y="7653337"/>
            <a:ext cx="48135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cash flow</a:t>
            </a:r>
            <a:endParaRPr lang="en-US" sz="1125" dirty="0"/>
          </a:p>
        </p:txBody>
      </p:sp>
      <p:sp>
        <p:nvSpPr>
          <p:cNvPr id="168" name="Shape 165"/>
          <p:cNvSpPr/>
          <p:nvPr/>
        </p:nvSpPr>
        <p:spPr>
          <a:xfrm>
            <a:off x="5806380" y="80057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69" name="Text 166"/>
          <p:cNvSpPr/>
          <p:nvPr/>
        </p:nvSpPr>
        <p:spPr>
          <a:xfrm>
            <a:off x="5901630" y="7653337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70" name="Shape 167"/>
          <p:cNvSpPr/>
          <p:nvPr/>
        </p:nvSpPr>
        <p:spPr>
          <a:xfrm>
            <a:off x="7345412" y="80057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71" name="Text 168"/>
          <p:cNvSpPr/>
          <p:nvPr/>
        </p:nvSpPr>
        <p:spPr>
          <a:xfrm>
            <a:off x="7440662" y="7653337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([XX])</a:t>
            </a:r>
            <a:endParaRPr lang="en-US" sz="1125" dirty="0"/>
          </a:p>
        </p:txBody>
      </p:sp>
      <p:sp>
        <p:nvSpPr>
          <p:cNvPr id="172" name="Shape 169"/>
          <p:cNvSpPr/>
          <p:nvPr/>
        </p:nvSpPr>
        <p:spPr>
          <a:xfrm>
            <a:off x="8884444" y="80057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73" name="Text 170"/>
          <p:cNvSpPr/>
          <p:nvPr/>
        </p:nvSpPr>
        <p:spPr>
          <a:xfrm>
            <a:off x="8979694" y="7653337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</a:t>
            </a:r>
            <a:endParaRPr lang="en-US" sz="1125" dirty="0"/>
          </a:p>
        </p:txBody>
      </p:sp>
      <p:sp>
        <p:nvSpPr>
          <p:cNvPr id="174" name="Shape 171"/>
          <p:cNvSpPr/>
          <p:nvPr/>
        </p:nvSpPr>
        <p:spPr>
          <a:xfrm>
            <a:off x="10423475" y="80057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75" name="Text 172"/>
          <p:cNvSpPr/>
          <p:nvPr/>
        </p:nvSpPr>
        <p:spPr>
          <a:xfrm>
            <a:off x="10518725" y="7653337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76" name="Shape 173"/>
          <p:cNvSpPr/>
          <p:nvPr/>
        </p:nvSpPr>
        <p:spPr>
          <a:xfrm>
            <a:off x="11962507" y="800576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77" name="Text 174"/>
          <p:cNvSpPr/>
          <p:nvPr/>
        </p:nvSpPr>
        <p:spPr>
          <a:xfrm>
            <a:off x="12057757" y="7653337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78" name="Shape 175"/>
          <p:cNvSpPr/>
          <p:nvPr/>
        </p:nvSpPr>
        <p:spPr>
          <a:xfrm>
            <a:off x="13501539" y="8005763"/>
            <a:ext cx="162728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79" name="Text 176"/>
          <p:cNvSpPr/>
          <p:nvPr/>
        </p:nvSpPr>
        <p:spPr>
          <a:xfrm>
            <a:off x="13596789" y="7653337"/>
            <a:ext cx="13605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[XXX]</a:t>
            </a:r>
            <a:endParaRPr lang="en-US" sz="1125" dirty="0"/>
          </a:p>
        </p:txBody>
      </p:sp>
      <p:sp>
        <p:nvSpPr>
          <p:cNvPr id="180" name="Shape 177"/>
          <p:cNvSpPr/>
          <p:nvPr/>
        </p:nvSpPr>
        <p:spPr>
          <a:xfrm>
            <a:off x="15128825" y="8005763"/>
            <a:ext cx="23599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81" name="Text 178"/>
          <p:cNvSpPr/>
          <p:nvPr/>
        </p:nvSpPr>
        <p:spPr>
          <a:xfrm>
            <a:off x="15224075" y="7653337"/>
            <a:ext cx="20932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182" name="Shape 179"/>
          <p:cNvSpPr/>
          <p:nvPr/>
        </p:nvSpPr>
        <p:spPr>
          <a:xfrm>
            <a:off x="800100" y="8520113"/>
            <a:ext cx="500628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83" name="Text 180"/>
          <p:cNvSpPr/>
          <p:nvPr/>
        </p:nvSpPr>
        <p:spPr>
          <a:xfrm>
            <a:off x="971550" y="8167687"/>
            <a:ext cx="48135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125" dirty="0"/>
          </a:p>
        </p:txBody>
      </p:sp>
      <p:sp>
        <p:nvSpPr>
          <p:cNvPr id="184" name="Shape 181"/>
          <p:cNvSpPr/>
          <p:nvPr/>
        </p:nvSpPr>
        <p:spPr>
          <a:xfrm>
            <a:off x="5806380" y="85201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85" name="Text 182"/>
          <p:cNvSpPr/>
          <p:nvPr/>
        </p:nvSpPr>
        <p:spPr>
          <a:xfrm>
            <a:off x="5901630" y="8167687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([XX])</a:t>
            </a:r>
            <a:endParaRPr lang="en-US" sz="1125" dirty="0"/>
          </a:p>
        </p:txBody>
      </p:sp>
      <p:sp>
        <p:nvSpPr>
          <p:cNvPr id="186" name="Shape 183"/>
          <p:cNvSpPr/>
          <p:nvPr/>
        </p:nvSpPr>
        <p:spPr>
          <a:xfrm>
            <a:off x="7345412" y="85201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87" name="Text 184"/>
          <p:cNvSpPr/>
          <p:nvPr/>
        </p:nvSpPr>
        <p:spPr>
          <a:xfrm>
            <a:off x="7440662" y="8167687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([XXX])</a:t>
            </a:r>
            <a:endParaRPr lang="en-US" sz="1125" dirty="0"/>
          </a:p>
        </p:txBody>
      </p:sp>
      <p:sp>
        <p:nvSpPr>
          <p:cNvPr id="188" name="Shape 185"/>
          <p:cNvSpPr/>
          <p:nvPr/>
        </p:nvSpPr>
        <p:spPr>
          <a:xfrm>
            <a:off x="8884444" y="85201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89" name="Text 186"/>
          <p:cNvSpPr/>
          <p:nvPr/>
        </p:nvSpPr>
        <p:spPr>
          <a:xfrm>
            <a:off x="8979694" y="8167687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([XXX])</a:t>
            </a:r>
            <a:endParaRPr lang="en-US" sz="1125" dirty="0"/>
          </a:p>
        </p:txBody>
      </p:sp>
      <p:sp>
        <p:nvSpPr>
          <p:cNvPr id="190" name="Shape 187"/>
          <p:cNvSpPr/>
          <p:nvPr/>
        </p:nvSpPr>
        <p:spPr>
          <a:xfrm>
            <a:off x="10423475" y="85201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91" name="Text 188"/>
          <p:cNvSpPr/>
          <p:nvPr/>
        </p:nvSpPr>
        <p:spPr>
          <a:xfrm>
            <a:off x="10518725" y="8167687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([XX])</a:t>
            </a:r>
            <a:endParaRPr lang="en-US" sz="1125" dirty="0"/>
          </a:p>
        </p:txBody>
      </p:sp>
      <p:sp>
        <p:nvSpPr>
          <p:cNvPr id="192" name="Shape 189"/>
          <p:cNvSpPr/>
          <p:nvPr/>
        </p:nvSpPr>
        <p:spPr>
          <a:xfrm>
            <a:off x="11962507" y="8520113"/>
            <a:ext cx="1539032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93" name="Text 190"/>
          <p:cNvSpPr/>
          <p:nvPr/>
        </p:nvSpPr>
        <p:spPr>
          <a:xfrm>
            <a:off x="12057757" y="8167687"/>
            <a:ext cx="1272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([XX])</a:t>
            </a:r>
            <a:endParaRPr lang="en-US" sz="1125" dirty="0"/>
          </a:p>
        </p:txBody>
      </p:sp>
      <p:sp>
        <p:nvSpPr>
          <p:cNvPr id="194" name="Shape 191"/>
          <p:cNvSpPr/>
          <p:nvPr/>
        </p:nvSpPr>
        <p:spPr>
          <a:xfrm>
            <a:off x="13501539" y="8520113"/>
            <a:ext cx="1627287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95" name="Text 192"/>
          <p:cNvSpPr/>
          <p:nvPr/>
        </p:nvSpPr>
        <p:spPr>
          <a:xfrm>
            <a:off x="13596789" y="8167687"/>
            <a:ext cx="13605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([XX])</a:t>
            </a:r>
            <a:endParaRPr lang="en-US" sz="1125" dirty="0"/>
          </a:p>
        </p:txBody>
      </p:sp>
      <p:sp>
        <p:nvSpPr>
          <p:cNvPr id="196" name="Shape 193"/>
          <p:cNvSpPr/>
          <p:nvPr/>
        </p:nvSpPr>
        <p:spPr>
          <a:xfrm>
            <a:off x="15128825" y="8520113"/>
            <a:ext cx="235996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97" name="Text 194"/>
          <p:cNvSpPr/>
          <p:nvPr/>
        </p:nvSpPr>
        <p:spPr>
          <a:xfrm>
            <a:off x="15224075" y="8167687"/>
            <a:ext cx="20932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198" name="Shape 195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99" name="Text 196"/>
          <p:cNvSpPr/>
          <p:nvPr/>
        </p:nvSpPr>
        <p:spPr>
          <a:xfrm>
            <a:off x="800100" y="9410700"/>
            <a:ext cx="673814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OSK strategic plan model [v0.3], FY2026. A = actuals; E = estimate. Inorganic line assumes deal close [Q4 FY26].</a:t>
            </a:r>
            <a:endParaRPr lang="en-US" sz="900" dirty="0"/>
          </a:p>
        </p:txBody>
      </p:sp>
      <p:sp>
        <p:nvSpPr>
          <p:cNvPr id="200" name="Text 197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/ 64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23145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ASSUMPTIONS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· KEY ASSUMPTIONS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assumptions drive the plan — three are material and watch-listed for early sensitivity testing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00100" y="3338513"/>
            <a:ext cx="1001316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7" name="Text 4"/>
          <p:cNvSpPr/>
          <p:nvPr/>
        </p:nvSpPr>
        <p:spPr>
          <a:xfrm>
            <a:off x="971550" y="3009900"/>
            <a:ext cx="73461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801416" y="3338513"/>
            <a:ext cx="6341418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9" name="Text 6"/>
          <p:cNvSpPr/>
          <p:nvPr/>
        </p:nvSpPr>
        <p:spPr>
          <a:xfrm>
            <a:off x="1972866" y="3009900"/>
            <a:ext cx="618876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142833" y="3338513"/>
            <a:ext cx="3671441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1" name="Text 8"/>
          <p:cNvSpPr/>
          <p:nvPr/>
        </p:nvSpPr>
        <p:spPr>
          <a:xfrm>
            <a:off x="8314283" y="3009900"/>
            <a:ext cx="343868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1814274" y="3338513"/>
            <a:ext cx="2002631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3" name="Text 10"/>
          <p:cNvSpPr/>
          <p:nvPr/>
        </p:nvSpPr>
        <p:spPr>
          <a:xfrm>
            <a:off x="11985724" y="3009900"/>
            <a:ext cx="173593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3816905" y="3338513"/>
            <a:ext cx="2002631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5" name="Text 12"/>
          <p:cNvSpPr/>
          <p:nvPr/>
        </p:nvSpPr>
        <p:spPr>
          <a:xfrm>
            <a:off x="13988355" y="3009900"/>
            <a:ext cx="173593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5819537" y="3338513"/>
            <a:ext cx="1668810" cy="9525"/>
          </a:xfrm>
          <a:prstGeom prst="rect">
            <a:avLst/>
          </a:prstGeom>
          <a:solidFill>
            <a:srgbClr val="12102C"/>
          </a:solidFill>
          <a:ln/>
        </p:spPr>
      </p:sp>
      <p:sp>
        <p:nvSpPr>
          <p:cNvPr id="17" name="Text 14"/>
          <p:cNvSpPr/>
          <p:nvPr/>
        </p:nvSpPr>
        <p:spPr>
          <a:xfrm>
            <a:off x="15952887" y="3009900"/>
            <a:ext cx="14021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26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MATERIALITY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0100" y="3967163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9" name="Text 16"/>
          <p:cNvSpPr/>
          <p:nvPr/>
        </p:nvSpPr>
        <p:spPr>
          <a:xfrm>
            <a:off x="971550" y="3500438"/>
            <a:ext cx="7346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801416" y="3967163"/>
            <a:ext cx="634141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1" name="Text 18"/>
          <p:cNvSpPr/>
          <p:nvPr/>
        </p:nvSpPr>
        <p:spPr>
          <a:xfrm>
            <a:off x="1972866" y="3500438"/>
            <a:ext cx="61887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[Market growth · core segment]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42833" y="3967163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3" name="Text 20"/>
          <p:cNvSpPr/>
          <p:nvPr/>
        </p:nvSpPr>
        <p:spPr>
          <a:xfrm>
            <a:off x="8314283" y="3500438"/>
            <a:ext cx="3438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[X.X]% CAGR FY25–30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1814274" y="396716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5" name="Text 22"/>
          <p:cNvSpPr/>
          <p:nvPr/>
        </p:nvSpPr>
        <p:spPr>
          <a:xfrm>
            <a:off x="11985724" y="350043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[Bloomberg]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3816905" y="396716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7" name="Text 24"/>
          <p:cNvSpPr/>
          <p:nvPr/>
        </p:nvSpPr>
        <p:spPr>
          <a:xfrm>
            <a:off x="13988355" y="350043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±[X.X] pp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5819537" y="396716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9" name="Shape 26"/>
          <p:cNvSpPr/>
          <p:nvPr/>
        </p:nvSpPr>
        <p:spPr>
          <a:xfrm>
            <a:off x="16350258" y="3505200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F8E6E3"/>
          </a:solidFill>
          <a:ln w="9525">
            <a:solidFill>
              <a:srgbClr val="ECCAC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6455033" y="3571875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8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00100" y="4595813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2" name="Text 29"/>
          <p:cNvSpPr/>
          <p:nvPr/>
        </p:nvSpPr>
        <p:spPr>
          <a:xfrm>
            <a:off x="971550" y="4129088"/>
            <a:ext cx="7346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801416" y="4595813"/>
            <a:ext cx="634141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4" name="Text 31"/>
          <p:cNvSpPr/>
          <p:nvPr/>
        </p:nvSpPr>
        <p:spPr>
          <a:xfrm>
            <a:off x="1972866" y="4129088"/>
            <a:ext cx="61887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[Win-rate uplift from new proposition]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142833" y="4595813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6" name="Text 33"/>
          <p:cNvSpPr/>
          <p:nvPr/>
        </p:nvSpPr>
        <p:spPr>
          <a:xfrm>
            <a:off x="8314283" y="4129088"/>
            <a:ext cx="3438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 → [XX]%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11814274" y="459581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8" name="Text 35"/>
          <p:cNvSpPr/>
          <p:nvPr/>
        </p:nvSpPr>
        <p:spPr>
          <a:xfrm>
            <a:off x="11985724" y="412908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survey]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3816905" y="459581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0" name="Text 37"/>
          <p:cNvSpPr/>
          <p:nvPr/>
        </p:nvSpPr>
        <p:spPr>
          <a:xfrm>
            <a:off x="13988355" y="412908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±[X] pp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15819537" y="459581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2" name="Shape 39"/>
          <p:cNvSpPr/>
          <p:nvPr/>
        </p:nvSpPr>
        <p:spPr>
          <a:xfrm>
            <a:off x="16350258" y="4133850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F8E6E3"/>
          </a:solidFill>
          <a:ln w="9525">
            <a:solidFill>
              <a:srgbClr val="ECCA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455033" y="4200525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8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00100" y="5224463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5" name="Text 42"/>
          <p:cNvSpPr/>
          <p:nvPr/>
        </p:nvSpPr>
        <p:spPr>
          <a:xfrm>
            <a:off x="971550" y="4757738"/>
            <a:ext cx="7346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1801416" y="5224463"/>
            <a:ext cx="634141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7" name="Text 44"/>
          <p:cNvSpPr/>
          <p:nvPr/>
        </p:nvSpPr>
        <p:spPr>
          <a:xfrm>
            <a:off x="1972866" y="4757738"/>
            <a:ext cx="61887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[Cost-to-serve reduction from AI]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8142833" y="5224463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49" name="Text 46"/>
          <p:cNvSpPr/>
          <p:nvPr/>
        </p:nvSpPr>
        <p:spPr>
          <a:xfrm>
            <a:off x="8314283" y="4757738"/>
            <a:ext cx="3438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 by FY28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11814274" y="522446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1" name="Text 48"/>
          <p:cNvSpPr/>
          <p:nvPr/>
        </p:nvSpPr>
        <p:spPr>
          <a:xfrm>
            <a:off x="11985724" y="475773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[Internal pilot]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13816905" y="522446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3" name="Text 50"/>
          <p:cNvSpPr/>
          <p:nvPr/>
        </p:nvSpPr>
        <p:spPr>
          <a:xfrm>
            <a:off x="13988355" y="475773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±[X] pp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5819537" y="522446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5" name="Shape 52"/>
          <p:cNvSpPr/>
          <p:nvPr/>
        </p:nvSpPr>
        <p:spPr>
          <a:xfrm>
            <a:off x="16350258" y="4762500"/>
            <a:ext cx="607368" cy="314325"/>
          </a:xfrm>
          <a:prstGeom prst="roundRect">
            <a:avLst>
              <a:gd name="adj" fmla="val 50000"/>
            </a:avLst>
          </a:prstGeom>
          <a:solidFill>
            <a:srgbClr val="F8E6E3"/>
          </a:solidFill>
          <a:ln w="9525">
            <a:solidFill>
              <a:srgbClr val="ECCAC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6455033" y="4829175"/>
            <a:ext cx="3978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8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800100" y="5853113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58" name="Text 55"/>
          <p:cNvSpPr/>
          <p:nvPr/>
        </p:nvSpPr>
        <p:spPr>
          <a:xfrm>
            <a:off x="971550" y="5386388"/>
            <a:ext cx="7346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1801416" y="5853113"/>
            <a:ext cx="634141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0" name="Text 57"/>
          <p:cNvSpPr/>
          <p:nvPr/>
        </p:nvSpPr>
        <p:spPr>
          <a:xfrm>
            <a:off x="1972866" y="5386388"/>
            <a:ext cx="61887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[FX · MYR/USD]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8142833" y="5853113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2" name="Text 59"/>
          <p:cNvSpPr/>
          <p:nvPr/>
        </p:nvSpPr>
        <p:spPr>
          <a:xfrm>
            <a:off x="8314283" y="5386388"/>
            <a:ext cx="3438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[4.X]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11814274" y="585311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4" name="Text 61"/>
          <p:cNvSpPr/>
          <p:nvPr/>
        </p:nvSpPr>
        <p:spPr>
          <a:xfrm>
            <a:off x="11985724" y="538638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[Treasury]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13816905" y="585311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6" name="Text 63"/>
          <p:cNvSpPr/>
          <p:nvPr/>
        </p:nvSpPr>
        <p:spPr>
          <a:xfrm>
            <a:off x="13988355" y="538638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±[X]%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15819537" y="585311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68" name="Shape 65"/>
          <p:cNvSpPr/>
          <p:nvPr/>
        </p:nvSpPr>
        <p:spPr>
          <a:xfrm>
            <a:off x="16363355" y="5391150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6468130" y="5457825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800100" y="6481763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1" name="Text 68"/>
          <p:cNvSpPr/>
          <p:nvPr/>
        </p:nvSpPr>
        <p:spPr>
          <a:xfrm>
            <a:off x="971550" y="6015038"/>
            <a:ext cx="7346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1801416" y="6481763"/>
            <a:ext cx="634141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3" name="Text 70"/>
          <p:cNvSpPr/>
          <p:nvPr/>
        </p:nvSpPr>
        <p:spPr>
          <a:xfrm>
            <a:off x="1972866" y="6015038"/>
            <a:ext cx="61887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[Cost of debt]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8142833" y="6481763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5" name="Text 72"/>
          <p:cNvSpPr/>
          <p:nvPr/>
        </p:nvSpPr>
        <p:spPr>
          <a:xfrm>
            <a:off x="8314283" y="6015038"/>
            <a:ext cx="3438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[X.X]%</a:t>
            </a:r>
            <a:endParaRPr lang="en-US" sz="1200" dirty="0"/>
          </a:p>
        </p:txBody>
      </p:sp>
      <p:sp>
        <p:nvSpPr>
          <p:cNvPr id="76" name="Shape 73"/>
          <p:cNvSpPr/>
          <p:nvPr/>
        </p:nvSpPr>
        <p:spPr>
          <a:xfrm>
            <a:off x="11814274" y="648176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7" name="Text 74"/>
          <p:cNvSpPr/>
          <p:nvPr/>
        </p:nvSpPr>
        <p:spPr>
          <a:xfrm>
            <a:off x="11985724" y="601503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[Treasury]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13816905" y="648176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79" name="Text 76"/>
          <p:cNvSpPr/>
          <p:nvPr/>
        </p:nvSpPr>
        <p:spPr>
          <a:xfrm>
            <a:off x="13988355" y="601503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±[XX]bps</a:t>
            </a:r>
            <a:endParaRPr lang="en-US" sz="1200" dirty="0"/>
          </a:p>
        </p:txBody>
      </p:sp>
      <p:sp>
        <p:nvSpPr>
          <p:cNvPr id="80" name="Shape 77"/>
          <p:cNvSpPr/>
          <p:nvPr/>
        </p:nvSpPr>
        <p:spPr>
          <a:xfrm>
            <a:off x="15819537" y="648176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1" name="Shape 78"/>
          <p:cNvSpPr/>
          <p:nvPr/>
        </p:nvSpPr>
        <p:spPr>
          <a:xfrm>
            <a:off x="16363355" y="6019800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16468130" y="6086475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800100" y="7110413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4" name="Text 81"/>
          <p:cNvSpPr/>
          <p:nvPr/>
        </p:nvSpPr>
        <p:spPr>
          <a:xfrm>
            <a:off x="971550" y="6643688"/>
            <a:ext cx="7346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85" name="Shape 82"/>
          <p:cNvSpPr/>
          <p:nvPr/>
        </p:nvSpPr>
        <p:spPr>
          <a:xfrm>
            <a:off x="1801416" y="7110413"/>
            <a:ext cx="634141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6" name="Text 83"/>
          <p:cNvSpPr/>
          <p:nvPr/>
        </p:nvSpPr>
        <p:spPr>
          <a:xfrm>
            <a:off x="1972866" y="6643688"/>
            <a:ext cx="61887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[Headcount ramp]</a:t>
            </a:r>
            <a:endParaRPr lang="en-US" sz="1200" dirty="0"/>
          </a:p>
        </p:txBody>
      </p:sp>
      <p:sp>
        <p:nvSpPr>
          <p:cNvPr id="87" name="Shape 84"/>
          <p:cNvSpPr/>
          <p:nvPr/>
        </p:nvSpPr>
        <p:spPr>
          <a:xfrm>
            <a:off x="8142833" y="7110413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88" name="Text 85"/>
          <p:cNvSpPr/>
          <p:nvPr/>
        </p:nvSpPr>
        <p:spPr>
          <a:xfrm>
            <a:off x="8314283" y="6643688"/>
            <a:ext cx="3438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+[XXX] FTE by FY28</a:t>
            </a:r>
            <a:endParaRPr lang="en-US" sz="1200" dirty="0"/>
          </a:p>
        </p:txBody>
      </p:sp>
      <p:sp>
        <p:nvSpPr>
          <p:cNvPr id="89" name="Shape 86"/>
          <p:cNvSpPr/>
          <p:nvPr/>
        </p:nvSpPr>
        <p:spPr>
          <a:xfrm>
            <a:off x="11814274" y="711041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0" name="Text 87"/>
          <p:cNvSpPr/>
          <p:nvPr/>
        </p:nvSpPr>
        <p:spPr>
          <a:xfrm>
            <a:off x="11985724" y="664368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[Plan]</a:t>
            </a:r>
            <a:endParaRPr lang="en-US" sz="1200" dirty="0"/>
          </a:p>
        </p:txBody>
      </p:sp>
      <p:sp>
        <p:nvSpPr>
          <p:cNvPr id="91" name="Shape 88"/>
          <p:cNvSpPr/>
          <p:nvPr/>
        </p:nvSpPr>
        <p:spPr>
          <a:xfrm>
            <a:off x="13816905" y="711041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2" name="Text 89"/>
          <p:cNvSpPr/>
          <p:nvPr/>
        </p:nvSpPr>
        <p:spPr>
          <a:xfrm>
            <a:off x="13988355" y="664368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±[XX] FTE</a:t>
            </a:r>
            <a:endParaRPr lang="en-US" sz="1200" dirty="0"/>
          </a:p>
        </p:txBody>
      </p:sp>
      <p:sp>
        <p:nvSpPr>
          <p:cNvPr id="93" name="Shape 90"/>
          <p:cNvSpPr/>
          <p:nvPr/>
        </p:nvSpPr>
        <p:spPr>
          <a:xfrm>
            <a:off x="15819537" y="711041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4" name="Shape 91"/>
          <p:cNvSpPr/>
          <p:nvPr/>
        </p:nvSpPr>
        <p:spPr>
          <a:xfrm>
            <a:off x="16363355" y="6648450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16468130" y="6715125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96" name="Shape 93"/>
          <p:cNvSpPr/>
          <p:nvPr/>
        </p:nvSpPr>
        <p:spPr>
          <a:xfrm>
            <a:off x="800100" y="7739062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7" name="Text 94"/>
          <p:cNvSpPr/>
          <p:nvPr/>
        </p:nvSpPr>
        <p:spPr>
          <a:xfrm>
            <a:off x="971550" y="7272338"/>
            <a:ext cx="7346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98" name="Shape 95"/>
          <p:cNvSpPr/>
          <p:nvPr/>
        </p:nvSpPr>
        <p:spPr>
          <a:xfrm>
            <a:off x="1801416" y="7739062"/>
            <a:ext cx="634141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99" name="Text 96"/>
          <p:cNvSpPr/>
          <p:nvPr/>
        </p:nvSpPr>
        <p:spPr>
          <a:xfrm>
            <a:off x="1972866" y="7272338"/>
            <a:ext cx="61887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 A acquisition cost]</a:t>
            </a:r>
            <a:endParaRPr lang="en-US" sz="1200" dirty="0"/>
          </a:p>
        </p:txBody>
      </p:sp>
      <p:sp>
        <p:nvSpPr>
          <p:cNvPr id="100" name="Shape 97"/>
          <p:cNvSpPr/>
          <p:nvPr/>
        </p:nvSpPr>
        <p:spPr>
          <a:xfrm>
            <a:off x="8142833" y="7739062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1" name="Text 98"/>
          <p:cNvSpPr/>
          <p:nvPr/>
        </p:nvSpPr>
        <p:spPr>
          <a:xfrm>
            <a:off x="8314283" y="7272338"/>
            <a:ext cx="3438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[XXX] m</a:t>
            </a:r>
            <a:endParaRPr lang="en-US" sz="1200" dirty="0"/>
          </a:p>
        </p:txBody>
      </p:sp>
      <p:sp>
        <p:nvSpPr>
          <p:cNvPr id="102" name="Shape 99"/>
          <p:cNvSpPr/>
          <p:nvPr/>
        </p:nvSpPr>
        <p:spPr>
          <a:xfrm>
            <a:off x="11814274" y="7739062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3" name="Text 100"/>
          <p:cNvSpPr/>
          <p:nvPr/>
        </p:nvSpPr>
        <p:spPr>
          <a:xfrm>
            <a:off x="11985724" y="727233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[Valuation]</a:t>
            </a:r>
            <a:endParaRPr lang="en-US" sz="1200" dirty="0"/>
          </a:p>
        </p:txBody>
      </p:sp>
      <p:sp>
        <p:nvSpPr>
          <p:cNvPr id="104" name="Shape 101"/>
          <p:cNvSpPr/>
          <p:nvPr/>
        </p:nvSpPr>
        <p:spPr>
          <a:xfrm>
            <a:off x="13816905" y="7739062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5" name="Text 102"/>
          <p:cNvSpPr/>
          <p:nvPr/>
        </p:nvSpPr>
        <p:spPr>
          <a:xfrm>
            <a:off x="13988355" y="727233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±[XX]%</a:t>
            </a:r>
            <a:endParaRPr lang="en-US" sz="1200" dirty="0"/>
          </a:p>
        </p:txBody>
      </p:sp>
      <p:sp>
        <p:nvSpPr>
          <p:cNvPr id="106" name="Shape 103"/>
          <p:cNvSpPr/>
          <p:nvPr/>
        </p:nvSpPr>
        <p:spPr>
          <a:xfrm>
            <a:off x="15819537" y="7739062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07" name="Shape 104"/>
          <p:cNvSpPr/>
          <p:nvPr/>
        </p:nvSpPr>
        <p:spPr>
          <a:xfrm>
            <a:off x="16363355" y="7277100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6468130" y="7343775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109" name="Shape 106"/>
          <p:cNvSpPr/>
          <p:nvPr/>
        </p:nvSpPr>
        <p:spPr>
          <a:xfrm>
            <a:off x="800100" y="8367712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0" name="Text 107"/>
          <p:cNvSpPr/>
          <p:nvPr/>
        </p:nvSpPr>
        <p:spPr>
          <a:xfrm>
            <a:off x="971550" y="7900988"/>
            <a:ext cx="7346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111" name="Shape 108"/>
          <p:cNvSpPr/>
          <p:nvPr/>
        </p:nvSpPr>
        <p:spPr>
          <a:xfrm>
            <a:off x="1801416" y="8367712"/>
            <a:ext cx="634141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2" name="Text 109"/>
          <p:cNvSpPr/>
          <p:nvPr/>
        </p:nvSpPr>
        <p:spPr>
          <a:xfrm>
            <a:off x="1972866" y="7900988"/>
            <a:ext cx="61887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[Synergy realisation · Y3 run-rate]</a:t>
            </a:r>
            <a:endParaRPr lang="en-US" sz="1200" dirty="0"/>
          </a:p>
        </p:txBody>
      </p:sp>
      <p:sp>
        <p:nvSpPr>
          <p:cNvPr id="113" name="Shape 110"/>
          <p:cNvSpPr/>
          <p:nvPr/>
        </p:nvSpPr>
        <p:spPr>
          <a:xfrm>
            <a:off x="8142833" y="8367712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4" name="Text 111"/>
          <p:cNvSpPr/>
          <p:nvPr/>
        </p:nvSpPr>
        <p:spPr>
          <a:xfrm>
            <a:off x="8314283" y="7900988"/>
            <a:ext cx="3438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[XX] m</a:t>
            </a:r>
            <a:endParaRPr lang="en-US" sz="1200" dirty="0"/>
          </a:p>
        </p:txBody>
      </p:sp>
      <p:sp>
        <p:nvSpPr>
          <p:cNvPr id="115" name="Shape 112"/>
          <p:cNvSpPr/>
          <p:nvPr/>
        </p:nvSpPr>
        <p:spPr>
          <a:xfrm>
            <a:off x="11814274" y="8367712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6" name="Text 113"/>
          <p:cNvSpPr/>
          <p:nvPr/>
        </p:nvSpPr>
        <p:spPr>
          <a:xfrm>
            <a:off x="11985724" y="790098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[Synergy model]</a:t>
            </a:r>
            <a:endParaRPr lang="en-US" sz="1200" dirty="0"/>
          </a:p>
        </p:txBody>
      </p:sp>
      <p:sp>
        <p:nvSpPr>
          <p:cNvPr id="117" name="Shape 114"/>
          <p:cNvSpPr/>
          <p:nvPr/>
        </p:nvSpPr>
        <p:spPr>
          <a:xfrm>
            <a:off x="13816905" y="8367712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18" name="Text 115"/>
          <p:cNvSpPr/>
          <p:nvPr/>
        </p:nvSpPr>
        <p:spPr>
          <a:xfrm>
            <a:off x="13988355" y="790098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±[XX]%</a:t>
            </a:r>
            <a:endParaRPr lang="en-US" sz="1200" dirty="0"/>
          </a:p>
        </p:txBody>
      </p:sp>
      <p:sp>
        <p:nvSpPr>
          <p:cNvPr id="119" name="Shape 116"/>
          <p:cNvSpPr/>
          <p:nvPr/>
        </p:nvSpPr>
        <p:spPr>
          <a:xfrm>
            <a:off x="15819537" y="8367712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0" name="Shape 117"/>
          <p:cNvSpPr/>
          <p:nvPr/>
        </p:nvSpPr>
        <p:spPr>
          <a:xfrm>
            <a:off x="16363355" y="7905750"/>
            <a:ext cx="581025" cy="314325"/>
          </a:xfrm>
          <a:prstGeom prst="roundRect">
            <a:avLst>
              <a:gd name="adj" fmla="val 50000"/>
            </a:avLst>
          </a:prstGeom>
          <a:solidFill>
            <a:srgbClr val="FBF3DF"/>
          </a:solidFill>
          <a:ln w="9525">
            <a:solidFill>
              <a:srgbClr val="ECDDA5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16468130" y="7972425"/>
            <a:ext cx="3714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7A5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122" name="Shape 119"/>
          <p:cNvSpPr/>
          <p:nvPr/>
        </p:nvSpPr>
        <p:spPr>
          <a:xfrm>
            <a:off x="800100" y="8996363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3" name="Text 120"/>
          <p:cNvSpPr/>
          <p:nvPr/>
        </p:nvSpPr>
        <p:spPr>
          <a:xfrm>
            <a:off x="971550" y="8529638"/>
            <a:ext cx="7346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124" name="Shape 121"/>
          <p:cNvSpPr/>
          <p:nvPr/>
        </p:nvSpPr>
        <p:spPr>
          <a:xfrm>
            <a:off x="1801416" y="8996363"/>
            <a:ext cx="634141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5" name="Text 122"/>
          <p:cNvSpPr/>
          <p:nvPr/>
        </p:nvSpPr>
        <p:spPr>
          <a:xfrm>
            <a:off x="1972866" y="8529638"/>
            <a:ext cx="61887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retention · pilot]</a:t>
            </a:r>
            <a:endParaRPr lang="en-US" sz="1200" dirty="0"/>
          </a:p>
        </p:txBody>
      </p:sp>
      <p:sp>
        <p:nvSpPr>
          <p:cNvPr id="126" name="Shape 123"/>
          <p:cNvSpPr/>
          <p:nvPr/>
        </p:nvSpPr>
        <p:spPr>
          <a:xfrm>
            <a:off x="8142833" y="8996363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7" name="Text 124"/>
          <p:cNvSpPr/>
          <p:nvPr/>
        </p:nvSpPr>
        <p:spPr>
          <a:xfrm>
            <a:off x="8314283" y="8529638"/>
            <a:ext cx="3438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 YoY</a:t>
            </a:r>
            <a:endParaRPr lang="en-US" sz="1200" dirty="0"/>
          </a:p>
        </p:txBody>
      </p:sp>
      <p:sp>
        <p:nvSpPr>
          <p:cNvPr id="128" name="Shape 125"/>
          <p:cNvSpPr/>
          <p:nvPr/>
        </p:nvSpPr>
        <p:spPr>
          <a:xfrm>
            <a:off x="11814274" y="899636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29" name="Text 126"/>
          <p:cNvSpPr/>
          <p:nvPr/>
        </p:nvSpPr>
        <p:spPr>
          <a:xfrm>
            <a:off x="11985724" y="852963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[Internal]</a:t>
            </a:r>
            <a:endParaRPr lang="en-US" sz="1200" dirty="0"/>
          </a:p>
        </p:txBody>
      </p:sp>
      <p:sp>
        <p:nvSpPr>
          <p:cNvPr id="130" name="Shape 127"/>
          <p:cNvSpPr/>
          <p:nvPr/>
        </p:nvSpPr>
        <p:spPr>
          <a:xfrm>
            <a:off x="13816905" y="899636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1" name="Text 128"/>
          <p:cNvSpPr/>
          <p:nvPr/>
        </p:nvSpPr>
        <p:spPr>
          <a:xfrm>
            <a:off x="13988355" y="852963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±[X] pp</a:t>
            </a:r>
            <a:endParaRPr lang="en-US" sz="1200" dirty="0"/>
          </a:p>
        </p:txBody>
      </p:sp>
      <p:sp>
        <p:nvSpPr>
          <p:cNvPr id="132" name="Shape 129"/>
          <p:cNvSpPr/>
          <p:nvPr/>
        </p:nvSpPr>
        <p:spPr>
          <a:xfrm>
            <a:off x="15819537" y="899636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3" name="Shape 130"/>
          <p:cNvSpPr/>
          <p:nvPr/>
        </p:nvSpPr>
        <p:spPr>
          <a:xfrm>
            <a:off x="16373624" y="8534400"/>
            <a:ext cx="560636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16478399" y="8601075"/>
            <a:ext cx="3510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50" dirty="0"/>
          </a:p>
        </p:txBody>
      </p:sp>
      <p:sp>
        <p:nvSpPr>
          <p:cNvPr id="135" name="Shape 132"/>
          <p:cNvSpPr/>
          <p:nvPr/>
        </p:nvSpPr>
        <p:spPr>
          <a:xfrm>
            <a:off x="800100" y="9625013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6" name="Text 133"/>
          <p:cNvSpPr/>
          <p:nvPr/>
        </p:nvSpPr>
        <p:spPr>
          <a:xfrm>
            <a:off x="971550" y="9158288"/>
            <a:ext cx="7346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37" name="Shape 134"/>
          <p:cNvSpPr/>
          <p:nvPr/>
        </p:nvSpPr>
        <p:spPr>
          <a:xfrm>
            <a:off x="1801416" y="9625013"/>
            <a:ext cx="634141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38" name="Text 135"/>
          <p:cNvSpPr/>
          <p:nvPr/>
        </p:nvSpPr>
        <p:spPr>
          <a:xfrm>
            <a:off x="1972866" y="9158288"/>
            <a:ext cx="61887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[Effective tax rate]</a:t>
            </a:r>
            <a:endParaRPr lang="en-US" sz="1200" dirty="0"/>
          </a:p>
        </p:txBody>
      </p:sp>
      <p:sp>
        <p:nvSpPr>
          <p:cNvPr id="139" name="Shape 136"/>
          <p:cNvSpPr/>
          <p:nvPr/>
        </p:nvSpPr>
        <p:spPr>
          <a:xfrm>
            <a:off x="8142833" y="9625013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0" name="Text 137"/>
          <p:cNvSpPr/>
          <p:nvPr/>
        </p:nvSpPr>
        <p:spPr>
          <a:xfrm>
            <a:off x="8314283" y="9158288"/>
            <a:ext cx="3438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[XX]%</a:t>
            </a:r>
            <a:endParaRPr lang="en-US" sz="1200" dirty="0"/>
          </a:p>
        </p:txBody>
      </p:sp>
      <p:sp>
        <p:nvSpPr>
          <p:cNvPr id="141" name="Shape 138"/>
          <p:cNvSpPr/>
          <p:nvPr/>
        </p:nvSpPr>
        <p:spPr>
          <a:xfrm>
            <a:off x="11814274" y="962501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2" name="Text 139"/>
          <p:cNvSpPr/>
          <p:nvPr/>
        </p:nvSpPr>
        <p:spPr>
          <a:xfrm>
            <a:off x="11985724" y="915828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[Finance]</a:t>
            </a:r>
            <a:endParaRPr lang="en-US" sz="1200" dirty="0"/>
          </a:p>
        </p:txBody>
      </p:sp>
      <p:sp>
        <p:nvSpPr>
          <p:cNvPr id="143" name="Shape 140"/>
          <p:cNvSpPr/>
          <p:nvPr/>
        </p:nvSpPr>
        <p:spPr>
          <a:xfrm>
            <a:off x="13816905" y="962501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4" name="Text 141"/>
          <p:cNvSpPr/>
          <p:nvPr/>
        </p:nvSpPr>
        <p:spPr>
          <a:xfrm>
            <a:off x="13988355" y="915828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±[X] pp</a:t>
            </a:r>
            <a:endParaRPr lang="en-US" sz="1200" dirty="0"/>
          </a:p>
        </p:txBody>
      </p:sp>
      <p:sp>
        <p:nvSpPr>
          <p:cNvPr id="145" name="Shape 142"/>
          <p:cNvSpPr/>
          <p:nvPr/>
        </p:nvSpPr>
        <p:spPr>
          <a:xfrm>
            <a:off x="15819537" y="962501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6" name="Shape 143"/>
          <p:cNvSpPr/>
          <p:nvPr/>
        </p:nvSpPr>
        <p:spPr>
          <a:xfrm>
            <a:off x="16373624" y="9163050"/>
            <a:ext cx="560636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16478399" y="9229725"/>
            <a:ext cx="3510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50" dirty="0"/>
          </a:p>
        </p:txBody>
      </p:sp>
      <p:sp>
        <p:nvSpPr>
          <p:cNvPr id="148" name="Shape 145"/>
          <p:cNvSpPr/>
          <p:nvPr/>
        </p:nvSpPr>
        <p:spPr>
          <a:xfrm>
            <a:off x="800100" y="10253663"/>
            <a:ext cx="1001316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49" name="Text 146"/>
          <p:cNvSpPr/>
          <p:nvPr/>
        </p:nvSpPr>
        <p:spPr>
          <a:xfrm>
            <a:off x="971550" y="9786938"/>
            <a:ext cx="7346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150" name="Shape 147"/>
          <p:cNvSpPr/>
          <p:nvPr/>
        </p:nvSpPr>
        <p:spPr>
          <a:xfrm>
            <a:off x="1801416" y="10253663"/>
            <a:ext cx="6341418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1" name="Text 148"/>
          <p:cNvSpPr/>
          <p:nvPr/>
        </p:nvSpPr>
        <p:spPr>
          <a:xfrm>
            <a:off x="1972866" y="9786938"/>
            <a:ext cx="61887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[Terminal growth · DCF]</a:t>
            </a:r>
            <a:endParaRPr lang="en-US" sz="1200" dirty="0"/>
          </a:p>
        </p:txBody>
      </p:sp>
      <p:sp>
        <p:nvSpPr>
          <p:cNvPr id="152" name="Shape 149"/>
          <p:cNvSpPr/>
          <p:nvPr/>
        </p:nvSpPr>
        <p:spPr>
          <a:xfrm>
            <a:off x="8142833" y="10253663"/>
            <a:ext cx="367144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3" name="Text 150"/>
          <p:cNvSpPr/>
          <p:nvPr/>
        </p:nvSpPr>
        <p:spPr>
          <a:xfrm>
            <a:off x="8314283" y="9786938"/>
            <a:ext cx="3438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[X.X]%</a:t>
            </a:r>
            <a:endParaRPr lang="en-US" sz="1200" dirty="0"/>
          </a:p>
        </p:txBody>
      </p:sp>
      <p:sp>
        <p:nvSpPr>
          <p:cNvPr id="154" name="Shape 151"/>
          <p:cNvSpPr/>
          <p:nvPr/>
        </p:nvSpPr>
        <p:spPr>
          <a:xfrm>
            <a:off x="11814274" y="1025366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5" name="Text 152"/>
          <p:cNvSpPr/>
          <p:nvPr/>
        </p:nvSpPr>
        <p:spPr>
          <a:xfrm>
            <a:off x="11985724" y="978693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[Consensus]</a:t>
            </a:r>
            <a:endParaRPr lang="en-US" sz="1200" dirty="0"/>
          </a:p>
        </p:txBody>
      </p:sp>
      <p:sp>
        <p:nvSpPr>
          <p:cNvPr id="156" name="Shape 153"/>
          <p:cNvSpPr/>
          <p:nvPr/>
        </p:nvSpPr>
        <p:spPr>
          <a:xfrm>
            <a:off x="13816905" y="10253663"/>
            <a:ext cx="2002631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7" name="Text 154"/>
          <p:cNvSpPr/>
          <p:nvPr/>
        </p:nvSpPr>
        <p:spPr>
          <a:xfrm>
            <a:off x="13988355" y="9786938"/>
            <a:ext cx="17359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±[X.X] pp</a:t>
            </a:r>
            <a:endParaRPr lang="en-US" sz="1200" dirty="0"/>
          </a:p>
        </p:txBody>
      </p:sp>
      <p:sp>
        <p:nvSpPr>
          <p:cNvPr id="158" name="Shape 155"/>
          <p:cNvSpPr/>
          <p:nvPr/>
        </p:nvSpPr>
        <p:spPr>
          <a:xfrm>
            <a:off x="15819537" y="10253663"/>
            <a:ext cx="166881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59" name="Shape 156"/>
          <p:cNvSpPr/>
          <p:nvPr/>
        </p:nvSpPr>
        <p:spPr>
          <a:xfrm>
            <a:off x="16373624" y="9791700"/>
            <a:ext cx="560636" cy="314325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9525">
            <a:solidFill>
              <a:srgbClr val="C9E0D2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16478399" y="9858375"/>
            <a:ext cx="3510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42" kern="0" dirty="0">
                <a:solidFill>
                  <a:srgbClr val="1F5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50" dirty="0"/>
          </a:p>
        </p:txBody>
      </p:sp>
      <p:sp>
        <p:nvSpPr>
          <p:cNvPr id="161" name="Shape 158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162" name="Text 159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/ 64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6423184" y="571500"/>
            <a:ext cx="1064716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9648825"/>
            <a:ext cx="19864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GLOSSARY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00100" y="1257300"/>
            <a:ext cx="171884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264" kern="0" dirty="0">
                <a:solidFill>
                  <a:srgbClr val="A27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· GLOSSARY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0100" y="1638300"/>
            <a:ext cx="147161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33" kern="0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used throughout this pack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23812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Business-as-usual — steady-state operations after the programme winds down.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0100" y="29908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annual growth rate.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0100" y="36004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 (Conditions Precedent)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that must be satisfied before a transaction can close — typically regulatory and shareholder approvals.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0100" y="42100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Discounted cash flow — intrinsic-value approach to valuation.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0100" y="48196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before interest, tax, depreciation and amortisation.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0100" y="54292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 — equity value plus net debt.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0100" y="60388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cash flow — operating cash flow net of capex.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0100" y="66484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venture — separate legal entity owned by two or more parties.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48800" y="23812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promoter score — customer-advocacy metric.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48800" y="29908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framework: Responsible, Accountable, Consulted, Informed.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48800" y="36004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addressable market — share of TAM reachable with current capabilities.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448800" y="42100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obtainable market — realistic share of SAM we plan to capture.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448800" y="48196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SPV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Special-purpose vehicle — legal entity created to hold and ring-fence a transaction.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48800" y="54292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 — full demand for a product / category.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448800" y="60388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operating model — future-state design of how the firm runs.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448800" y="6648450"/>
            <a:ext cx="82802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121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WACC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Weighted-average cost of capital — discount rate used in DCF.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0100" y="9705975"/>
            <a:ext cx="16687800" cy="9525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23" name="Text 20"/>
          <p:cNvSpPr/>
          <p:nvPr/>
        </p:nvSpPr>
        <p:spPr>
          <a:xfrm>
            <a:off x="16907173" y="9620250"/>
            <a:ext cx="65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9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/ 64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2026-05-14T15:38:34Z</dcterms:created>
  <dcterms:modified xsi:type="dcterms:W3CDTF">2026-05-14T15:38:34Z</dcterms:modified>
</cp:coreProperties>
</file>