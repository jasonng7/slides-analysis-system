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69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73152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 b="1">
                <a:solidFill>
                  <a:srgbClr val="A37C49"/>
                </a:solidFill>
                <a:latin typeface="Aptos"/>
              </a:defRPr>
            </a:pPr>
            <a:r>
              <a:rPr lang="en-US" sz="2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[Company Name]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675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12102C"/>
                </a:solidFill>
                <a:latin typeface="Aptos"/>
              </a:defRPr>
            </a:pPr>
            <a:r>
              <a:rPr lang="en-US" sz="36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Strategy</a:t>
            </a:r>
            <a:endParaRPr lang="en-US" sz="3800" dirty="0"/>
          </a:p>
          <a:p>
            <a:pPr marL="0" indent="0" algn="l">
              <a:buNone/>
              <a:defRPr sz="3600" b="1">
                <a:solidFill>
                  <a:srgbClr val="12102C"/>
                </a:solidFill>
                <a:latin typeface="Aptos"/>
              </a:defRPr>
            </a:pPr>
            <a:r>
              <a:rPr lang="en-US" sz="36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Library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 b="0">
                <a:solidFill>
                  <a:srgbClr val="4D4D4C"/>
                </a:solidFill>
                <a:latin typeface="Aptos"/>
              </a:defRPr>
            </a:pPr>
            <a:r>
              <a:rPr lang="en-US" sz="2000" b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[Year]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892040"/>
            <a:ext cx="10195560" cy="530352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  <a:defRPr sz="1000" b="1">
                <a:solidFill>
                  <a:srgbClr val="000000"/>
                </a:solidFill>
                <a:latin typeface="Aptos"/>
              </a:defRPr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[Use this deck as a reusable consulting-style template library for board, CEO and head-of-department presentations.]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1171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881360" y="146304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12102C"/>
                </a:solidFill>
                <a:latin typeface="Aptos"/>
              </a:defRPr>
            </a:pPr>
            <a:r>
              <a:rPr lang="en-US" sz="36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91440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reference map to select the right template for the discussion.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1171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566928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07592" y="1325880"/>
            <a:ext cx="3977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12102C"/>
                </a:solidFill>
                <a:latin typeface="Aptos"/>
              </a:defRPr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 &amp; FRAMING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07592" y="1536192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3–9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94360" y="1993392"/>
            <a:ext cx="566928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07592" y="1993392"/>
            <a:ext cx="3977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12102C"/>
                </a:solidFill>
                <a:latin typeface="Aptos"/>
              </a:defRPr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CONTEXT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07592" y="2203704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10–19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94360" y="2660904"/>
            <a:ext cx="566928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07592" y="2660904"/>
            <a:ext cx="3977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12102C"/>
                </a:solidFill>
                <a:latin typeface="Aptos"/>
              </a:defRPr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&amp; PROBLEM FRAMING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07592" y="2871216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20–28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594360" y="3328416"/>
            <a:ext cx="566928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07592" y="3328416"/>
            <a:ext cx="3977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12102C"/>
                </a:solidFill>
                <a:latin typeface="Aptos"/>
              </a:defRPr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&amp; BENCHMARKING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07592" y="3538728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29–36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594360" y="3995928"/>
            <a:ext cx="566928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07592" y="3995928"/>
            <a:ext cx="3977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12102C"/>
                </a:solidFill>
                <a:latin typeface="Aptos"/>
              </a:defRPr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&amp; DATA ANALYSIS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07592" y="4206240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37–46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080760" y="1325880"/>
            <a:ext cx="566928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93992" y="1325880"/>
            <a:ext cx="3977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12102C"/>
                </a:solidFill>
                <a:latin typeface="Aptos"/>
              </a:defRPr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OPTIONS &amp; RECOMMENDATIONS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93992" y="1536192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47–56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080760" y="1993392"/>
            <a:ext cx="566928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93992" y="1993392"/>
            <a:ext cx="3977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12102C"/>
                </a:solidFill>
                <a:latin typeface="Aptos"/>
              </a:defRPr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&amp; OPERATING MODEL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93992" y="2203704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57–64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080760" y="2660904"/>
            <a:ext cx="566928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93992" y="2660904"/>
            <a:ext cx="3977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12102C"/>
                </a:solidFill>
                <a:latin typeface="Aptos"/>
              </a:defRPr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&amp; IMPLEMENTATION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93992" y="2871216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65–72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6080760" y="3328416"/>
            <a:ext cx="566928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93992" y="3328416"/>
            <a:ext cx="3977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12102C"/>
                </a:solidFill>
                <a:latin typeface="Aptos"/>
              </a:defRPr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93992" y="3538728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73–78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080760" y="3995928"/>
            <a:ext cx="566928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93992" y="3995928"/>
            <a:ext cx="3977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12102C"/>
                </a:solidFill>
                <a:latin typeface="Aptos"/>
              </a:defRPr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&amp; NEXT STEPS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93992" y="4206240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4D4D4C"/>
                </a:solidFill>
                <a:latin typeface="Aptos"/>
              </a:defRPr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79–83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594360" y="5303520"/>
            <a:ext cx="10332720" cy="56692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  <a:defRPr sz="1000" b="1">
                <a:solidFill>
                  <a:srgbClr val="000000"/>
                </a:solidFill>
                <a:latin typeface="Aptos"/>
              </a:defRPr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[Select the category closest to the audience question, then replace bracketed placeholders with project-specific content.]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81360" y="20116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1234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DCAF63"/>
                </a:solidFill>
                <a:latin typeface="Aptos"/>
              </a:defRPr>
            </a:pPr>
            <a:r>
              <a:rPr lang="en-US" sz="36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 &amp; FRAMING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>
                <a:solidFill>
                  <a:srgbClr val="BFC0BF"/>
                </a:solidFill>
                <a:latin typeface="Aptos"/>
              </a:defRPr>
            </a:pPr>
            <a:r>
              <a:rPr lang="en-US" sz="2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with the answer, frame the decision and make the meeting purpose explicit.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DCAF63"/>
                </a:solidFill>
                <a:latin typeface="Aptos"/>
              </a:defRPr>
            </a:pPr>
            <a:r>
              <a:rPr lang="en-US" sz="12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in this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8120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 / So What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/ Table of Contents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60920" y="291693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Objectives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360920" y="3264408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18120" y="3264408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Decision Memo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360920" y="361188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8120" y="361188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Narrative One-Pager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11411712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BFC0BF"/>
                </a:solidFill>
                <a:latin typeface="Aptos"/>
              </a:defRPr>
            </a:pPr>
            <a:r>
              <a:rPr lang="en-US" sz="800" i="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EXECUTIVE SUMMARY &amp;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Executive Summary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summarizing the situation, tension and recommended resolution for senior leaders.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1792" y="1444752"/>
            <a:ext cx="3453384" cy="329184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837944"/>
            <a:ext cx="3453384" cy="91440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situation statement]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2862072"/>
            <a:ext cx="3453384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supporting fact]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implication]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required action]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67200" y="1444752"/>
            <a:ext cx="3453384" cy="329184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67200" y="1837944"/>
            <a:ext cx="3453384" cy="91440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complication statement]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67200" y="2862072"/>
            <a:ext cx="3453384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supporting fact]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implication]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required action]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12608" y="1444752"/>
            <a:ext cx="3453384" cy="329184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12608" y="1837944"/>
            <a:ext cx="3453384" cy="91440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resolution statement]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12608" y="2862072"/>
            <a:ext cx="3453384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supporting fact]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implication]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required action]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5468112"/>
            <a:ext cx="10744200" cy="65836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executive ask / decision required]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EXECUTIVE SUMMARY &amp;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Key Takeaways / So What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forcing the story into the few messages leadership must remember.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13232" y="1444752"/>
            <a:ext cx="438912" cy="438912"/>
          </a:xfrm>
          <a:prstGeom prst="ellipse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53312" y="1426464"/>
            <a:ext cx="6035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takeaway 1]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53312" y="1764792"/>
            <a:ext cx="6583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concise evidence or implication supporting takeaway 1]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58200" y="1426464"/>
            <a:ext cx="2423160" cy="74980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[So what]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770632"/>
            <a:ext cx="438912" cy="438912"/>
          </a:xfrm>
          <a:prstGeom prst="ellipse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53312" y="2752344"/>
            <a:ext cx="6035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takeaway 2]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53312" y="3090672"/>
            <a:ext cx="6583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concise evidence or implication supporting takeaway 2]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58200" y="2752344"/>
            <a:ext cx="2423160" cy="74980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[So what]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4096512"/>
            <a:ext cx="438912" cy="438912"/>
          </a:xfrm>
          <a:prstGeom prst="ellipse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53312" y="4078224"/>
            <a:ext cx="6035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takeaway 3]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53312" y="4416552"/>
            <a:ext cx="6583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concise evidence or implication supporting takeaway 3]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58200" y="4078224"/>
            <a:ext cx="2423160" cy="74980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[So what]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5559552"/>
            <a:ext cx="10561320" cy="530352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recommended leadership response]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EXECUTIVE SUMMARY &amp;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Agenda / Table of Contents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sequencing a discussion from answer to evidence to decision.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502920" cy="347472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1463040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[Executive Answer]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472184"/>
            <a:ext cx="5303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discussion objective / output]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61288" y="1792224"/>
            <a:ext cx="0" cy="292608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2157984"/>
            <a:ext cx="502920" cy="34747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176272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[Context]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185416"/>
            <a:ext cx="5303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discussion objective / output]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61288" y="2505456"/>
            <a:ext cx="0" cy="292608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14400" y="2871216"/>
            <a:ext cx="502920" cy="34747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2889504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[Diagnosis]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898648"/>
            <a:ext cx="5303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discussion objective / output]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61288" y="3218688"/>
            <a:ext cx="0" cy="292608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4400" y="3584448"/>
            <a:ext cx="502920" cy="34747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602736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[Options]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611880"/>
            <a:ext cx="5303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discussion objective / output]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61288" y="3931920"/>
            <a:ext cx="0" cy="292608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4400" y="4297680"/>
            <a:ext cx="502920" cy="34747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4315968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[Recommendation]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4325112"/>
            <a:ext cx="5303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discussion objective / output]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61288" y="4645152"/>
            <a:ext cx="0" cy="292608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14400" y="5010912"/>
            <a:ext cx="502920" cy="34747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0200" y="5029200"/>
            <a:ext cx="3291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[Execution Ask]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5038344"/>
            <a:ext cx="5303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discussion objective / output]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61288" y="5358384"/>
            <a:ext cx="0" cy="292608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14400" y="5650992"/>
            <a:ext cx="9875520" cy="4572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[Meeting outcome: insert decision / alignment required]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EXECUTIVE SUMMARY &amp;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Meeting Objectives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setting decision objectives and expected outputs before a leadership session.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487168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856232"/>
            <a:ext cx="2487168" cy="91440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decide objective]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" y="2980944"/>
            <a:ext cx="2249424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[Input needed]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[Decision owner]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[Timing]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3474720" y="1444752"/>
            <a:ext cx="2487168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856232"/>
            <a:ext cx="2487168" cy="91440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align objective]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84448" y="2980944"/>
            <a:ext cx="2249424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[Input needed]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[Decision owner]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[Timing]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6263640" y="1444752"/>
            <a:ext cx="2487168" cy="320040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856232"/>
            <a:ext cx="2487168" cy="91440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resolve objective]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3368" y="2980944"/>
            <a:ext cx="2249424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[Input needed]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[Decision owner]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[Timing]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9052560" y="1444752"/>
            <a:ext cx="2487168" cy="32004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52560" y="1856232"/>
            <a:ext cx="2487168" cy="91440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commit objective]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62288" y="2980944"/>
            <a:ext cx="2249424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[Input needed]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[Decision owner]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[Timing]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685800" y="5193792"/>
            <a:ext cx="51206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pre-read / materials required]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80760" y="5193792"/>
            <a:ext cx="5120640" cy="6858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expected meeting output]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EXECUTIVE SUMMARY &amp;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Board Decision Memo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asking for a clear approval, endorsement or directional decision.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88036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requested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1810512"/>
            <a:ext cx="2880360" cy="9144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decision needed from leadership]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1444752"/>
            <a:ext cx="1890065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[Criteria]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5776265" y="1444752"/>
            <a:ext cx="179313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A]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569403" y="1444752"/>
            <a:ext cx="179313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B]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9362542" y="1444752"/>
            <a:ext cx="179313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C]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886200" y="1755648"/>
            <a:ext cx="1890065" cy="4251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[Strategic fit]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5776265" y="1755648"/>
            <a:ext cx="1793138" cy="4251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7569403" y="1755648"/>
            <a:ext cx="1793138" cy="4251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9362542" y="1755648"/>
            <a:ext cx="1793138" cy="4251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886200" y="2180844"/>
            <a:ext cx="1890065" cy="4251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[Financial impact]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776265" y="2180844"/>
            <a:ext cx="1793138" cy="4251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7569403" y="2180844"/>
            <a:ext cx="1793138" cy="4251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9362542" y="2180844"/>
            <a:ext cx="1793138" cy="4251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886200" y="2606040"/>
            <a:ext cx="1890065" cy="4251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776265" y="2606040"/>
            <a:ext cx="1793138" cy="4251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7569403" y="2606040"/>
            <a:ext cx="1793138" cy="4251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9362542" y="2606040"/>
            <a:ext cx="1793138" cy="4251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3886200" y="3031236"/>
            <a:ext cx="1890065" cy="4251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[Ease]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5776265" y="3031236"/>
            <a:ext cx="1793138" cy="4251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7569403" y="3031236"/>
            <a:ext cx="1793138" cy="4251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9362542" y="3031236"/>
            <a:ext cx="1793138" cy="4251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85800" y="3246120"/>
            <a:ext cx="288036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3611880"/>
            <a:ext cx="28803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recommended option and rationale]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3886200" y="3730752"/>
            <a:ext cx="3337560" cy="32004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 / guardrails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86200" y="4123944"/>
            <a:ext cx="333756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conditions for approval]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52360" y="3730752"/>
            <a:ext cx="3703320" cy="32004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52360" y="4123944"/>
            <a:ext cx="370332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immediate owner and next step]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5468112"/>
            <a:ext cx="10469880" cy="47548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implication if decision is delayed]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EXECUTIVE SUMMARY &amp;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Strategic Narrative One-Pager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turning a complex story into a standalone read-through storyline.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26464"/>
            <a:ext cx="411480" cy="41148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52728" y="1426464"/>
            <a:ext cx="2377440" cy="41148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[Where we are]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1444752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narrative sentence that can stand alone without voiceover]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2295144"/>
            <a:ext cx="411480" cy="41148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52728" y="2295144"/>
            <a:ext cx="2377440" cy="41148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changed]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2313432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narrative sentence that can stand alone without voiceover]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163824"/>
            <a:ext cx="411480" cy="41148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52728" y="3163824"/>
            <a:ext cx="2377440" cy="41148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means]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94760" y="3182112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narrative sentence that can stand alone without voiceover]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4032504"/>
            <a:ext cx="411480" cy="41148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52728" y="4032504"/>
            <a:ext cx="2377440" cy="41148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we recommend]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94760" y="4050792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narrative sentence that can stand alone without voiceover]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4901184"/>
            <a:ext cx="411480" cy="41148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52728" y="4901184"/>
            <a:ext cx="2377440" cy="41148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we need]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4919472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narrative sentence that can stand alone without voiceover]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5696712"/>
            <a:ext cx="10469880" cy="420624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one-sentence storyline summary]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81360" y="20116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1234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DCAF63"/>
                </a:solidFill>
                <a:latin typeface="Aptos"/>
              </a:defRPr>
            </a:pPr>
            <a:r>
              <a:rPr lang="en-US" sz="36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CONTEXT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>
                <a:solidFill>
                  <a:srgbClr val="BFC0BF"/>
                </a:solidFill>
                <a:latin typeface="Aptos"/>
              </a:defRPr>
            </a:pPr>
            <a:r>
              <a:rPr lang="en-US" sz="2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market, competitive context and strategic implications without overloading the audience.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DCAF63"/>
                </a:solidFill>
                <a:latin typeface="Aptos"/>
              </a:defRPr>
            </a:pPr>
            <a:r>
              <a:rPr lang="en-US" sz="12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in this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Landscape Overview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8120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PESTLE Analysis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Porter's Five Forces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60920" y="291693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SWOT Analysis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360920" y="3264408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18120" y="3264408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Sizing: TAM / SAM / SOM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360920" y="361188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8120" y="361188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Trend Analysis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360920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18120" y="395935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Segmentation &amp; Needs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7360920" y="430682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18120" y="430682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Opportunity Map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360920" y="465429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18120" y="465429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Attractiveness Matrix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11411712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b="1" i="0">
                <a:solidFill>
                  <a:srgbClr val="BFC0BF"/>
                </a:solidFill>
                <a:latin typeface="Aptos"/>
              </a:defRPr>
            </a:pPr>
            <a:r>
              <a:rPr lang="en-US" sz="800" b="1" i="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STRATEGIC CONTEXT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Strategic Landscape 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connecting external forces, internal position and strategic implications.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20040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forces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83664"/>
            <a:ext cx="3200400" cy="4389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[Market shift]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85800" y="2542032"/>
            <a:ext cx="3200400" cy="4389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[Competitive move]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3200400" cy="4389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[Regulatory change]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685800" y="3858768"/>
            <a:ext cx="3200400" cy="4389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[Customer demand]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251960" y="1444752"/>
            <a:ext cx="3200400" cy="310896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position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51960" y="1883664"/>
            <a:ext cx="32004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strength]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251960" y="2542032"/>
            <a:ext cx="32004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[Performance gap]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251960" y="3200400"/>
            <a:ext cx="32004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[Strategic constraint]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251960" y="3858768"/>
            <a:ext cx="32004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[Available asset]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818120" y="1444752"/>
            <a:ext cx="3337560" cy="310896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implication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18120" y="1883664"/>
            <a:ext cx="3337560" cy="1078992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implication for strategy]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3182112"/>
            <a:ext cx="3063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[Decision pressure]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[Timing urgency]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[What must change]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440680"/>
            <a:ext cx="10469880" cy="530352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context benchmark or key data point]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STRATEGIC CONTEXT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PESTLE Analysis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scanning macro forces that could change strategic priorities.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3246120" cy="29260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Political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324612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trend / issue]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impact]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response]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33672" y="1417320"/>
            <a:ext cx="3246120" cy="29260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33672" y="1783080"/>
            <a:ext cx="324612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trend / issue]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impact]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response]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81544" y="1417320"/>
            <a:ext cx="3246120" cy="29260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81544" y="1783080"/>
            <a:ext cx="324612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trend / issue]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impact]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response]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291840"/>
            <a:ext cx="3246120" cy="29260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Technological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3657600"/>
            <a:ext cx="324612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trend / issue]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impact]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response]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33672" y="3291840"/>
            <a:ext cx="3246120" cy="29260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33672" y="3657600"/>
            <a:ext cx="324612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trend / issue]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impact]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response]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81544" y="3291840"/>
            <a:ext cx="3246120" cy="29260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81544" y="3657600"/>
            <a:ext cx="324612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trend / issue]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impact]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response]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5404104"/>
            <a:ext cx="10515600" cy="47548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overall strategic implication]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STRATEGIC CONTEXT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Porter's Five Forces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assessing industry attractiveness and competitive pressure.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943600" y="3364992"/>
            <a:ext cx="100584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840480" y="3364992"/>
            <a:ext cx="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892040" y="2862072"/>
            <a:ext cx="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892040" y="3867912"/>
            <a:ext cx="0" cy="82296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669280" y="2953512"/>
            <a:ext cx="15544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840480" y="2862072"/>
            <a:ext cx="2103120" cy="10058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[Industry rivalry]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536192"/>
            <a:ext cx="2194560" cy="8229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[New entrants]</a:t>
            </a:r>
            <a:endParaRPr lang="en-US" sz="92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[Pressure: H/M/L]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60120" y="2862072"/>
            <a:ext cx="2194560" cy="8229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[Suppliers]</a:t>
            </a:r>
            <a:endParaRPr lang="en-US" sz="92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[Pressure: H/M/L]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772400" y="2862072"/>
            <a:ext cx="2194560" cy="8229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[Buyers]</a:t>
            </a:r>
            <a:endParaRPr lang="en-US" sz="92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[Pressure: H/M/L]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794760" y="4919472"/>
            <a:ext cx="2194560" cy="8229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[Substitutes]</a:t>
            </a:r>
            <a:endParaRPr lang="en-US" sz="92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[Pressure: H/M/L]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635240" y="1536192"/>
            <a:ext cx="2194560" cy="8229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[Complementors / regulation]</a:t>
            </a:r>
            <a:endParaRPr lang="en-US" sz="92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[Pressure: H/M/L]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85800" y="5879592"/>
            <a:ext cx="1046988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implication for industry attractiveness]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STRATEGIC CONTEXT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SWOT Analysis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summarizing strengths, weaknesses, opportunities and threats in one frame.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5143500" cy="29260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1792224"/>
            <a:ext cx="5143500" cy="166878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12180" y="1444752"/>
            <a:ext cx="5143500" cy="292608"/>
          </a:xfrm>
          <a:prstGeom prst="rect">
            <a:avLst/>
          </a:prstGeom>
          <a:solidFill>
            <a:srgbClr val="4D4D4C"/>
          </a:solidFill>
          <a:ln w="8890">
            <a:solidFill>
              <a:srgbClr val="4D4D4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Weaknesses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12180" y="1792224"/>
            <a:ext cx="5143500" cy="166878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616452"/>
            <a:ext cx="5143500" cy="29260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963924"/>
            <a:ext cx="5143500" cy="166878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12180" y="3616452"/>
            <a:ext cx="5143500" cy="292608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12180" y="3963924"/>
            <a:ext cx="5143500" cy="166878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5861304"/>
            <a:ext cx="1046988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strategic implication from SWOT]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STRATEGIC CONTEXT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Market Sizing: TAM / SAM / SOM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estimating the size of opportunity and defining addressable boundaries.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" y="1536192"/>
            <a:ext cx="594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[Total addressable market]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572768"/>
            <a:ext cx="4754880" cy="274320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921240" y="1536192"/>
            <a:ext cx="1143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[RM xx bn]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587752"/>
            <a:ext cx="594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2587752"/>
            <a:ext cx="3383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[Serviceable available market]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624328"/>
            <a:ext cx="3481251" cy="27432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921240" y="2587752"/>
            <a:ext cx="1143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[RM xx bn]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39312"/>
            <a:ext cx="594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[Serviceable obtainable market]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675888"/>
            <a:ext cx="1867989" cy="27432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921240" y="3639312"/>
            <a:ext cx="1143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[RM xx bn]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919472"/>
            <a:ext cx="267462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[Input]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451860" y="4919472"/>
            <a:ext cx="253746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[Assumption]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989320" y="4919472"/>
            <a:ext cx="253746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[Source]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8526780" y="4919472"/>
            <a:ext cx="253746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[Sensitivity]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777240" y="5230368"/>
            <a:ext cx="2674620" cy="301752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[Market boundary]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451860" y="5230368"/>
            <a:ext cx="2537460" cy="301752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5989320" y="5230368"/>
            <a:ext cx="2537460" cy="301752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8526780" y="5230368"/>
            <a:ext cx="2537460" cy="301752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777240" y="5532120"/>
            <a:ext cx="267462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[Adoption rate]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3451860" y="5532120"/>
            <a:ext cx="253746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5989320" y="5532120"/>
            <a:ext cx="253746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8526780" y="5532120"/>
            <a:ext cx="253746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777240" y="4096512"/>
            <a:ext cx="10287000" cy="420624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sizing conclusion and implication]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STRATEGIC CONTEXT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Industry Trend Analysis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how trends create urgency or opportunity.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33756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[Trend 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43000" y="2898648"/>
            <a:ext cx="2688336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143000" y="2020824"/>
            <a:ext cx="0" cy="877824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207008" y="2784805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831086" y="2655783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455164" y="2595067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079242" y="2428098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161288" y="2739085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5366" y="2610063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09444" y="2549347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33522" y="2382378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283714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 rot="16200000">
            <a:off x="365760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737360" y="3136392"/>
            <a:ext cx="1965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[Time]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5800" y="3456432"/>
            <a:ext cx="333756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evidence]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implication]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343400" y="1444752"/>
            <a:ext cx="3337560" cy="310896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[Trend 2]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898648"/>
            <a:ext cx="2688336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800600" y="2020824"/>
            <a:ext cx="0" cy="877824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864608" y="2693731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488686" y="2655783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112764" y="2534351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736842" y="2428098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818888" y="2648011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2966" y="2610063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67044" y="2488631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91122" y="2382378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2321662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 rot="16200000">
            <a:off x="4023360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94960" y="3136392"/>
            <a:ext cx="1965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[Time]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343400" y="3456432"/>
            <a:ext cx="333756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evidence]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implication]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8001000" y="1444752"/>
            <a:ext cx="3337560" cy="310896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[Trend 3]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458200" y="2898648"/>
            <a:ext cx="2688336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458200" y="2020824"/>
            <a:ext cx="0" cy="877824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522208" y="2602657"/>
            <a:ext cx="624078" cy="53127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9146286" y="2655783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9770364" y="2473635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0394442" y="2428098"/>
            <a:ext cx="6240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476488" y="2556937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00566" y="2610063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724644" y="2427915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348722" y="2382378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0" y="2359609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 rot="16200000">
            <a:off x="7680960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052560" y="3136392"/>
            <a:ext cx="1965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[Time]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001000" y="3456432"/>
            <a:ext cx="333756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evidence]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implication]</a:t>
            </a:r>
            <a:endParaRPr lang="en-US" sz="930" dirty="0"/>
          </a:p>
        </p:txBody>
      </p:sp>
      <p:sp>
        <p:nvSpPr>
          <p:cNvPr id="55" name="Text 53"/>
          <p:cNvSpPr/>
          <p:nvPr/>
        </p:nvSpPr>
        <p:spPr>
          <a:xfrm>
            <a:off x="685800" y="5468112"/>
            <a:ext cx="10652760" cy="530352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what these trends mean for the strategy]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STRATEGIC CONTEXT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Customer Segmentation &amp; Needs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identifying priority segments and what they value.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1592885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[Dimension]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78685" y="1444752"/>
            <a:ext cx="151119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[Segment A]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89883" y="1444752"/>
            <a:ext cx="151119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[Segment B]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01082" y="1444752"/>
            <a:ext cx="151119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[Segment C]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5800" y="1755648"/>
            <a:ext cx="1592885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[Size]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78685" y="1755648"/>
            <a:ext cx="1511198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789883" y="1755648"/>
            <a:ext cx="1511198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1082" y="1755648"/>
            <a:ext cx="1511198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5800" y="2388413"/>
            <a:ext cx="1592885" cy="63276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[Growth]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78685" y="2388413"/>
            <a:ext cx="1511198" cy="63276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789883" y="2388413"/>
            <a:ext cx="1511198" cy="63276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1082" y="2388413"/>
            <a:ext cx="1511198" cy="63276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" y="3021178"/>
            <a:ext cx="1592885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[Need]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78685" y="3021178"/>
            <a:ext cx="1511198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89883" y="3021178"/>
            <a:ext cx="1511198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01082" y="3021178"/>
            <a:ext cx="1511198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5800" y="3653942"/>
            <a:ext cx="1592885" cy="63276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[Pain point]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78685" y="3653942"/>
            <a:ext cx="1511198" cy="63276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89883" y="3653942"/>
            <a:ext cx="1511198" cy="63276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01082" y="3653942"/>
            <a:ext cx="1511198" cy="63276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" y="4286707"/>
            <a:ext cx="1592885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[Willingness]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78685" y="4286707"/>
            <a:ext cx="1511198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789883" y="4286707"/>
            <a:ext cx="1511198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01082" y="4286707"/>
            <a:ext cx="1511198" cy="63276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132320" y="1444752"/>
            <a:ext cx="3886200" cy="310896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segment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32320" y="1856232"/>
            <a:ext cx="3886200" cy="6858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selected segment]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2770632"/>
            <a:ext cx="35661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[Why attractive]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[What they need]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[How to win]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52360" y="5166360"/>
            <a:ext cx="3520440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452360" y="4169664"/>
            <a:ext cx="0" cy="99669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 rot="16200000">
            <a:off x="6675120" y="4187952"/>
            <a:ext cx="411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046720" y="5440680"/>
            <a:ext cx="2788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[X-Axis Label]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836408" y="4672584"/>
            <a:ext cx="768096" cy="493776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818120" y="5212080"/>
            <a:ext cx="80467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8805672" y="4820717"/>
            <a:ext cx="768096" cy="345643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787384" y="5212080"/>
            <a:ext cx="80467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9774936" y="4491533"/>
            <a:ext cx="768096" cy="674827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9756648" y="5212080"/>
            <a:ext cx="80467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STRATEGIC CONTEXT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Growth Opportunity 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prioritizing market opportunities by attractiveness and fit.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89120" y="1581912"/>
            <a:ext cx="0" cy="420624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97280" y="3685032"/>
            <a:ext cx="65836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97280" y="5806440"/>
            <a:ext cx="658368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60120" y="5788152"/>
            <a:ext cx="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017520" y="5870448"/>
            <a:ext cx="2743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[Market attractiveness]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 rot="16200000">
            <a:off x="438912" y="3611880"/>
            <a:ext cx="548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[Strategic fit]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70432" y="1655064"/>
            <a:ext cx="31455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[Prioritize]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462272" y="1655064"/>
            <a:ext cx="31455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[Invest selectively]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70432" y="5532120"/>
            <a:ext cx="31455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[Monitor]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462272" y="5532120"/>
            <a:ext cx="31455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[Deprioritize]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72938" y="2529230"/>
            <a:ext cx="329184" cy="29260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39466" y="2781605"/>
            <a:ext cx="329184" cy="29260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14570" y="4127602"/>
            <a:ext cx="329184" cy="292608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12771" y="4464101"/>
            <a:ext cx="329184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1719072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13648" y="1719072"/>
            <a:ext cx="2542032" cy="731520"/>
          </a:xfrm>
          <a:prstGeom prst="rect">
            <a:avLst/>
          </a:prstGeom>
          <a:solidFill>
            <a:srgbClr val="DCAF63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highest-priority opportunity]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2633472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13648" y="2633472"/>
            <a:ext cx="2542032" cy="731520"/>
          </a:xfrm>
          <a:prstGeom prst="rect">
            <a:avLst/>
          </a:prstGeom>
          <a:solidFill>
            <a:srgbClr val="97BDB5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rationale / proof point]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3547872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13648" y="3547872"/>
            <a:ext cx="2542032" cy="731520"/>
          </a:xfrm>
          <a:prstGeom prst="rect">
            <a:avLst/>
          </a:prstGeom>
          <a:solidFill>
            <a:srgbClr val="BFC0BF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resource implication]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5102352"/>
            <a:ext cx="2926080" cy="530352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portfolio implication]</a:t>
            </a:r>
            <a:endParaRPr lang="en-US" sz="10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STRATEGIC CONTEXT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Portfolio Attractiveness Matrix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assessing business units or markets by attractiveness and ability to win.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43400" y="1536192"/>
            <a:ext cx="0" cy="425196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68680" y="3662172"/>
            <a:ext cx="694944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68680" y="5806440"/>
            <a:ext cx="694944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5788152"/>
            <a:ext cx="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971800" y="5870448"/>
            <a:ext cx="2743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[Business attractiveness]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 rot="16200000">
            <a:off x="210312" y="3589020"/>
            <a:ext cx="548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[Ability to win]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" y="1609344"/>
            <a:ext cx="33284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[Scale / grow]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416552" y="1609344"/>
            <a:ext cx="33284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[Selective bets]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41832" y="5532120"/>
            <a:ext cx="33284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[Fix / harvest]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416552" y="5532120"/>
            <a:ext cx="33284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[Exit / deprioritize]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16168" y="2495398"/>
            <a:ext cx="329184" cy="29260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[BU1]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61842" y="2835554"/>
            <a:ext cx="329184" cy="29260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[BU2]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88920" y="4153662"/>
            <a:ext cx="329184" cy="292608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[BU3]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82235" y="4451299"/>
            <a:ext cx="329184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[BU4]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1581912"/>
            <a:ext cx="760781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[Criteria]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990381" y="1581912"/>
            <a:ext cx="216529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[Score]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1892808"/>
            <a:ext cx="760781" cy="523037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[Market]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990381" y="1892808"/>
            <a:ext cx="2165299" cy="523037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229600" y="2415845"/>
            <a:ext cx="760781" cy="523037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[Margin]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990381" y="2415845"/>
            <a:ext cx="2165299" cy="523037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229600" y="2938882"/>
            <a:ext cx="760781" cy="523037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[Synergy]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990381" y="2938882"/>
            <a:ext cx="2165299" cy="523037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29600" y="3461918"/>
            <a:ext cx="760781" cy="523037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990381" y="3461918"/>
            <a:ext cx="2165299" cy="523037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229600" y="3984955"/>
            <a:ext cx="760781" cy="523037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[Capital]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990381" y="3984955"/>
            <a:ext cx="2165299" cy="523037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229600" y="4873752"/>
            <a:ext cx="2926080" cy="59436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recommended portfolio posture]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81360" y="20116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1234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DCAF63"/>
                </a:solidFill>
                <a:latin typeface="Aptos"/>
              </a:defRPr>
            </a:pPr>
            <a:r>
              <a:rPr lang="en-US" sz="36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&amp; PROBLEM FRAMING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>
                <a:solidFill>
                  <a:srgbClr val="BFC0BF"/>
                </a:solidFill>
                <a:latin typeface="Aptos"/>
              </a:defRPr>
            </a:pPr>
            <a:r>
              <a:rPr lang="en-US" sz="2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down the problem, test hypotheses and identify the root cause before recommending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DCAF63"/>
                </a:solidFill>
                <a:latin typeface="Aptos"/>
              </a:defRPr>
            </a:pPr>
            <a:r>
              <a:rPr lang="en-US" sz="12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in this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 / Issue Tree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8120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Analysis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Analysis: Current vs Target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60920" y="291693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Hypothesis-Driven Diagnostic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360920" y="3264408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18120" y="3264408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 Tree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360920" y="361188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8120" y="361188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Journey Pain Points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360920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18120" y="395935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Funnel Diagnostic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7360920" y="430682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18120" y="430682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Leakage Map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1411712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b="1" i="0">
                <a:solidFill>
                  <a:srgbClr val="BFC0BF"/>
                </a:solidFill>
                <a:latin typeface="Aptos"/>
              </a:defRPr>
            </a:pPr>
            <a:r>
              <a:rPr lang="en-US" sz="800" b="1" i="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DIAGNOSIS &amp; PROBLEM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Problem Statement / Issue Tree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structuring a complex issue into MECE diagnostic drivers.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97480" y="2450592"/>
            <a:ext cx="82296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20440" y="2450592"/>
            <a:ext cx="73152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520440" y="2450592"/>
            <a:ext cx="731520" cy="27432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520440" y="2450592"/>
            <a:ext cx="731520" cy="118872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" y="2039112"/>
            <a:ext cx="2011680" cy="82296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[Core question / issue]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1581912"/>
            <a:ext cx="1965960" cy="56692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1]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865376"/>
            <a:ext cx="457200" cy="0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675120" y="1444752"/>
            <a:ext cx="196596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[Sub-driver 1]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869680" y="1444752"/>
            <a:ext cx="1463040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217920" y="1865376"/>
            <a:ext cx="457200" cy="164592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75120" y="1828800"/>
            <a:ext cx="196596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[Sub-driver 2]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69680" y="1828800"/>
            <a:ext cx="1463040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251960" y="2496312"/>
            <a:ext cx="1965960" cy="56692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2]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779776"/>
            <a:ext cx="457200" cy="0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675120" y="2359152"/>
            <a:ext cx="196596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[Sub-driver 1]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869680" y="2359152"/>
            <a:ext cx="1463040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6217920" y="2779776"/>
            <a:ext cx="457200" cy="164592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675120" y="2743200"/>
            <a:ext cx="196596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[Sub-driver 2]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869680" y="2743200"/>
            <a:ext cx="1463040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4251960" y="3410712"/>
            <a:ext cx="1965960" cy="56692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3]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694176"/>
            <a:ext cx="457200" cy="0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675120" y="3273552"/>
            <a:ext cx="196596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[Sub-driver 1]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869680" y="3273552"/>
            <a:ext cx="1463040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6217920" y="3694176"/>
            <a:ext cx="457200" cy="164592"/>
          </a:xfrm>
          <a:prstGeom prst="line">
            <a:avLst/>
          </a:prstGeom>
          <a:noFill/>
          <a:ln w="889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675120" y="3657600"/>
            <a:ext cx="196596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[Sub-driver 2]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869680" y="3657600"/>
            <a:ext cx="1463040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685800" y="5422392"/>
            <a:ext cx="10515600" cy="47548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diagnostic conclusion]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DIAGNOSIS &amp; PROBLEM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Root Cause Analysis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tracing observed problems back to specific drivers.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920240" y="3410712"/>
            <a:ext cx="8046720" cy="0"/>
          </a:xfrm>
          <a:prstGeom prst="line">
            <a:avLst/>
          </a:prstGeom>
          <a:noFill/>
          <a:ln w="1524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560320" y="1856232"/>
            <a:ext cx="457200" cy="1554480"/>
          </a:xfrm>
          <a:prstGeom prst="line">
            <a:avLst/>
          </a:prstGeom>
          <a:noFill/>
          <a:ln w="1143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828800" y="1536192"/>
            <a:ext cx="146304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[People]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1965960"/>
            <a:ext cx="1463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[Cause detail]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389120" y="1856232"/>
            <a:ext cx="457200" cy="1554480"/>
          </a:xfrm>
          <a:prstGeom prst="line">
            <a:avLst/>
          </a:prstGeom>
          <a:noFill/>
          <a:ln w="1143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657600" y="1536192"/>
            <a:ext cx="146304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[Process]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1965960"/>
            <a:ext cx="1463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[Cause detail]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217920" y="1856232"/>
            <a:ext cx="457200" cy="1554480"/>
          </a:xfrm>
          <a:prstGeom prst="line">
            <a:avLst/>
          </a:prstGeom>
          <a:noFill/>
          <a:ln w="1143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0" y="1536192"/>
            <a:ext cx="146304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[Systems]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1965960"/>
            <a:ext cx="1463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[Cause detail]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8046720" y="1856232"/>
            <a:ext cx="457200" cy="1554480"/>
          </a:xfrm>
          <a:prstGeom prst="line">
            <a:avLst/>
          </a:prstGeom>
          <a:noFill/>
          <a:ln w="1143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315200" y="1536192"/>
            <a:ext cx="146304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[External]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1965960"/>
            <a:ext cx="1463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[Cause detail]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474720" y="4416552"/>
            <a:ext cx="457200" cy="0"/>
          </a:xfrm>
          <a:prstGeom prst="line">
            <a:avLst/>
          </a:prstGeom>
          <a:noFill/>
          <a:ln w="1143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743200" y="4096512"/>
            <a:ext cx="1463040" cy="38404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[Policy]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0" y="4526280"/>
            <a:ext cx="1463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[Cause detail]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303520" y="4416552"/>
            <a:ext cx="457200" cy="0"/>
          </a:xfrm>
          <a:prstGeom prst="line">
            <a:avLst/>
          </a:prstGeom>
          <a:noFill/>
          <a:ln w="1143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572000" y="4096512"/>
            <a:ext cx="1463040" cy="38404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4526280"/>
            <a:ext cx="1463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[Cause detail]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7132320" y="4416552"/>
            <a:ext cx="457200" cy="0"/>
          </a:xfrm>
          <a:prstGeom prst="line">
            <a:avLst/>
          </a:prstGeom>
          <a:noFill/>
          <a:ln w="1143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400800" y="4096512"/>
            <a:ext cx="1463040" cy="38404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[Incentives]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4526280"/>
            <a:ext cx="14630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[Cause detail]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9464040" y="2999232"/>
            <a:ext cx="1645920" cy="822960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[Observed problem]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5605272"/>
            <a:ext cx="10287000" cy="438912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likely root cause and evidence]</a:t>
            </a:r>
            <a:endParaRPr lang="en-US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DIAGNOSIS &amp; PROBLEM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Gap Analysis: Current vs Target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what needs to change to reach the desired state.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536192"/>
            <a:ext cx="2926080" cy="310896"/>
          </a:xfrm>
          <a:prstGeom prst="rect">
            <a:avLst/>
          </a:prstGeom>
          <a:solidFill>
            <a:srgbClr val="4D4D4C"/>
          </a:solidFill>
          <a:ln w="8890">
            <a:solidFill>
              <a:srgbClr val="4D4D4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947672"/>
            <a:ext cx="2926080" cy="12801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current state]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0" y="1536192"/>
            <a:ext cx="2926080" cy="310896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state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1947672"/>
            <a:ext cx="2926080" cy="128016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target state]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2587752"/>
            <a:ext cx="4114800" cy="0"/>
          </a:xfrm>
          <a:prstGeom prst="line">
            <a:avLst/>
          </a:prstGeom>
          <a:noFill/>
          <a:ln w="1524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114800" y="2221992"/>
            <a:ext cx="1005840" cy="45720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[Gap 1]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49240" y="2221992"/>
            <a:ext cx="1005840" cy="457200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[Gap 2]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83680" y="2221992"/>
            <a:ext cx="1005840" cy="45720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[Gap 3]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3730752"/>
            <a:ext cx="269839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[Measure]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3384194" y="3730752"/>
            <a:ext cx="1920011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[Current]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5304206" y="3730752"/>
            <a:ext cx="1920011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[Target]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7224217" y="3730752"/>
            <a:ext cx="1920011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[Gap]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9144229" y="3730752"/>
            <a:ext cx="1920011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[Action]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685800" y="4041648"/>
            <a:ext cx="2698394" cy="4450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1]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3384194" y="4041648"/>
            <a:ext cx="1920011" cy="4450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5304206" y="4041648"/>
            <a:ext cx="1920011" cy="4450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7224217" y="4041648"/>
            <a:ext cx="1920011" cy="4450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9144229" y="4041648"/>
            <a:ext cx="1920011" cy="4450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685800" y="4486656"/>
            <a:ext cx="2698394" cy="4450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2]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3384194" y="4486656"/>
            <a:ext cx="1920011" cy="4450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5304206" y="4486656"/>
            <a:ext cx="1920011" cy="4450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7224217" y="4486656"/>
            <a:ext cx="1920011" cy="4450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9144229" y="4486656"/>
            <a:ext cx="1920011" cy="4450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685800" y="4931664"/>
            <a:ext cx="2698394" cy="4450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3]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3384194" y="4931664"/>
            <a:ext cx="1920011" cy="4450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5304206" y="4931664"/>
            <a:ext cx="1920011" cy="4450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7224217" y="4931664"/>
            <a:ext cx="1920011" cy="4450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9144229" y="4931664"/>
            <a:ext cx="1920011" cy="4450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DIAGNOSIS &amp; PROBLEM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Hypothesis-Driven Diagnostic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testing a working hypothesis with targeted evidence.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74904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56232"/>
            <a:ext cx="3749040" cy="96012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hypothesis statement]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444752"/>
            <a:ext cx="2971800" cy="310896"/>
          </a:xfrm>
          <a:prstGeom prst="rect">
            <a:avLst/>
          </a:prstGeom>
          <a:solidFill>
            <a:srgbClr val="4D4D4C"/>
          </a:solidFill>
          <a:ln w="8890">
            <a:solidFill>
              <a:srgbClr val="4D4D4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required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856232"/>
            <a:ext cx="297180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[Data cut 1]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[Benchmark]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[Interview input]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[Financial model]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0" y="1444752"/>
            <a:ext cx="2926080" cy="310896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rule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1856232"/>
            <a:ext cx="29260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[If evidence shows X, then do Y]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182112"/>
            <a:ext cx="267462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[Test]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60420" y="3182112"/>
            <a:ext cx="1903095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[Evidence]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63515" y="3182112"/>
            <a:ext cx="1903095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[Finding]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166610" y="3182112"/>
            <a:ext cx="1903095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[Confidence]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069705" y="3182112"/>
            <a:ext cx="1903095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[Implication]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85800" y="3493008"/>
            <a:ext cx="2674620" cy="4137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[Test 1]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60420" y="3493008"/>
            <a:ext cx="1903095" cy="4137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263515" y="3493008"/>
            <a:ext cx="1903095" cy="4137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66610" y="3493008"/>
            <a:ext cx="1903095" cy="4137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069705" y="3493008"/>
            <a:ext cx="1903095" cy="4137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5800" y="3906774"/>
            <a:ext cx="2674620" cy="4137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[Test 2]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60420" y="3906774"/>
            <a:ext cx="1903095" cy="4137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63515" y="3906774"/>
            <a:ext cx="1903095" cy="4137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66610" y="3906774"/>
            <a:ext cx="1903095" cy="4137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069705" y="3906774"/>
            <a:ext cx="1903095" cy="4137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5800" y="4320540"/>
            <a:ext cx="2674620" cy="4137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[Test 3]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60420" y="4320540"/>
            <a:ext cx="1903095" cy="4137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263515" y="4320540"/>
            <a:ext cx="1903095" cy="4137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166610" y="4320540"/>
            <a:ext cx="1903095" cy="4137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069705" y="4320540"/>
            <a:ext cx="1903095" cy="4137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85800" y="4734306"/>
            <a:ext cx="2674620" cy="4137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[Test 4]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60420" y="4734306"/>
            <a:ext cx="1903095" cy="4137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63515" y="4734306"/>
            <a:ext cx="1903095" cy="4137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166610" y="4734306"/>
            <a:ext cx="1903095" cy="4137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069705" y="4734306"/>
            <a:ext cx="1903095" cy="4137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DIAGNOSIS &amp; PROBLEM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KPI Driver Tree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linking the top KPI to the operational drivers that move it.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06040" y="2130552"/>
            <a:ext cx="82296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429000" y="2130552"/>
            <a:ext cx="594360" cy="0"/>
          </a:xfrm>
          <a:prstGeom prst="line">
            <a:avLst/>
          </a:prstGeom>
          <a:noFill/>
          <a:ln w="1143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429000" y="2130552"/>
            <a:ext cx="594360" cy="210312"/>
          </a:xfrm>
          <a:prstGeom prst="line">
            <a:avLst/>
          </a:prstGeom>
          <a:noFill/>
          <a:ln w="1143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29000" y="2130552"/>
            <a:ext cx="594360" cy="1014984"/>
          </a:xfrm>
          <a:prstGeom prst="line">
            <a:avLst/>
          </a:prstGeom>
          <a:noFill/>
          <a:ln w="1143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" y="1719072"/>
            <a:ext cx="1920240" cy="7772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[North Star KPI]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0" y="1536192"/>
            <a:ext cx="1691640" cy="438912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A]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1536192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7360920" y="1536192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8686800" y="1536192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[Action]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023360" y="2340864"/>
            <a:ext cx="1691640" cy="438912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B]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0" y="2340864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7360920" y="2340864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8686800" y="2340864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[Action]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4023360" y="3145536"/>
            <a:ext cx="1691640" cy="438912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C]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35040" y="3145536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7360920" y="3145536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8686800" y="3145536"/>
            <a:ext cx="11430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[Action]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1143000" y="5074920"/>
            <a:ext cx="9692640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43000" y="4078224"/>
            <a:ext cx="0" cy="99669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 rot="16200000">
            <a:off x="365760" y="4096512"/>
            <a:ext cx="411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737360" y="5349240"/>
            <a:ext cx="89611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[X-Axis Label]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527048" y="4457700"/>
            <a:ext cx="2068830" cy="61722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508760" y="5120640"/>
            <a:ext cx="210540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797046" y="4622292"/>
            <a:ext cx="2068830" cy="452628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778758" y="5120640"/>
            <a:ext cx="210540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067044" y="4786884"/>
            <a:ext cx="2068830" cy="288036"/>
          </a:xfrm>
          <a:prstGeom prst="rect">
            <a:avLst/>
          </a:prstGeom>
          <a:solidFill>
            <a:srgbClr val="A36431"/>
          </a:solidFill>
          <a:ln w="6350">
            <a:solidFill>
              <a:srgbClr val="A364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048756" y="5120640"/>
            <a:ext cx="210540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8337042" y="4334256"/>
            <a:ext cx="2068830" cy="740664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318754" y="5120640"/>
            <a:ext cx="210540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DIAGNOSIS &amp; PROBLEM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Customer Journey Pain Points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finding moments that create friction, leakage or dissatisfaction.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536192"/>
            <a:ext cx="18745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[Discover]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975104"/>
            <a:ext cx="18745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[Customer action]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85800" y="2587752"/>
            <a:ext cx="1874520" cy="50292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[Pain point]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1874520" cy="50292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[Opportunity]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834640" y="1536192"/>
            <a:ext cx="18745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[Evaluate]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1975104"/>
            <a:ext cx="18745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[Customer action]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834640" y="2587752"/>
            <a:ext cx="1874520" cy="50292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[Pain point]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834640" y="3200400"/>
            <a:ext cx="1874520" cy="50292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[Opportunity]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983480" y="1536192"/>
            <a:ext cx="187452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[Buy]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83480" y="1975104"/>
            <a:ext cx="18745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[Customer action]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983480" y="2587752"/>
            <a:ext cx="1874520" cy="50292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[Pain point]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983480" y="3200400"/>
            <a:ext cx="1874520" cy="50292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[Opportunity]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132320" y="1536192"/>
            <a:ext cx="18745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[Use]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32320" y="1975104"/>
            <a:ext cx="18745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[Customer action]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132320" y="2587752"/>
            <a:ext cx="1874520" cy="50292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[Pain point]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132320" y="3200400"/>
            <a:ext cx="1874520" cy="50292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[Opportunity]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281160" y="1536192"/>
            <a:ext cx="18745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[Renew]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81160" y="1975104"/>
            <a:ext cx="18745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[Customer action]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281160" y="2587752"/>
            <a:ext cx="1874520" cy="50292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[Pain point]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281160" y="3200400"/>
            <a:ext cx="1874520" cy="50292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[Opportunity]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85800" y="5513832"/>
            <a:ext cx="10424160" cy="47548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journey insight / bottleneck]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DIAGNOSIS &amp; PROBLEM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Performance Funnel Diagnostic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where conversion or execution performance drops off.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28800" y="1536192"/>
            <a:ext cx="71323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[Stage 1]   [xx%]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189720" y="1645920"/>
            <a:ext cx="2194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[Drop-off reason]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603504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[Stage 2]   [xx%]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641080" y="2395728"/>
            <a:ext cx="2194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[Drop-off reason]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2926080" y="3035808"/>
            <a:ext cx="493776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[Stage 3]   [xx%]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092440" y="3145536"/>
            <a:ext cx="2194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[Drop-off reason]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474720" y="3785616"/>
            <a:ext cx="384048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[Stage 4]   [xx%]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543800" y="3895344"/>
            <a:ext cx="2194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[Drop-off reason]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023360" y="4535424"/>
            <a:ext cx="2743200" cy="50292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[Outcome]   [xx%]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77240" y="4919472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61288" y="4919472"/>
            <a:ext cx="1719072" cy="548640"/>
          </a:xfrm>
          <a:prstGeom prst="rect">
            <a:avLst/>
          </a:prstGeom>
          <a:solidFill>
            <a:srgbClr val="DCAF63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[Largest leakage point]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0" y="3044952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45168" y="3044952"/>
            <a:ext cx="1627632" cy="640080"/>
          </a:xfrm>
          <a:prstGeom prst="rect">
            <a:avLst/>
          </a:prstGeom>
          <a:solidFill>
            <a:srgbClr val="97BDB5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[Priority fix]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5605272"/>
            <a:ext cx="7132320" cy="38404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conversion implication]</a:t>
            </a:r>
            <a:endParaRPr lang="en-US" sz="10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DIAGNOSIS &amp; PROBLEM FRAMING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Value Leakage 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quantifying where value is lost and where recovery is possible.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43000" y="4544568"/>
            <a:ext cx="6181344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43000" y="1719072"/>
            <a:ext cx="0" cy="282549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307592" y="3648456"/>
            <a:ext cx="502920" cy="896112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7899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[Start]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576322" y="3136392"/>
            <a:ext cx="502920" cy="1408176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34772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1]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2313432" y="4544568"/>
            <a:ext cx="26289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845052" y="3392424"/>
            <a:ext cx="502920" cy="1152144"/>
          </a:xfrm>
          <a:prstGeom prst="rect">
            <a:avLst/>
          </a:prstGeom>
          <a:solidFill>
            <a:srgbClr val="A36431"/>
          </a:solidFill>
          <a:ln w="6350">
            <a:solidFill>
              <a:srgbClr val="A364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6164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2]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3582162" y="4544568"/>
            <a:ext cx="26289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113782" y="2957170"/>
            <a:ext cx="502920" cy="1587398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8518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3]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4850892" y="4544568"/>
            <a:ext cx="26289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382512" y="2957170"/>
            <a:ext cx="502920" cy="1587398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15391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[End]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7863840" y="1673352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47888" y="1673352"/>
            <a:ext cx="2724912" cy="685800"/>
          </a:xfrm>
          <a:prstGeom prst="rect">
            <a:avLst/>
          </a:prstGeom>
          <a:solidFill>
            <a:srgbClr val="DCAF63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[Leakage pool with highest value]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2587752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47888" y="2587752"/>
            <a:ext cx="2724912" cy="685800"/>
          </a:xfrm>
          <a:prstGeom prst="rect">
            <a:avLst/>
          </a:prstGeom>
          <a:solidFill>
            <a:srgbClr val="BFC0BF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[Root cause of leakage]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3502152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47888" y="3502152"/>
            <a:ext cx="2724912" cy="685800"/>
          </a:xfrm>
          <a:prstGeom prst="rect">
            <a:avLst/>
          </a:prstGeom>
          <a:solidFill>
            <a:srgbClr val="97BDB5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[Recovery action]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376672"/>
            <a:ext cx="10195560" cy="512064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quantified opportunity / impact]</a:t>
            </a:r>
            <a:endParaRPr lang="en-US" sz="11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81360" y="20116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1234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DCAF63"/>
                </a:solidFill>
                <a:latin typeface="Aptos"/>
              </a:defRPr>
            </a:pPr>
            <a:r>
              <a:rPr lang="en-US" sz="36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&amp; BENCHMARKING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>
                <a:solidFill>
                  <a:srgbClr val="BFC0BF"/>
                </a:solidFill>
                <a:latin typeface="Aptos"/>
              </a:defRPr>
            </a:pPr>
            <a:r>
              <a:rPr lang="en-US" sz="2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choices, peers and capabilities in a way that makes trade-offs explicit.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DCAF63"/>
                </a:solidFill>
                <a:latin typeface="Aptos"/>
              </a:defRPr>
            </a:pPr>
            <a:r>
              <a:rPr lang="en-US" sz="12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in this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Side-by-Side Options Comparison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8120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Benchmarking Table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Best-in-Class Scorecard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60920" y="291693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 / Cons Matrix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360920" y="3264408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18120" y="3264408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Multiples / Valuation Benchmark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360920" y="361188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8120" y="361188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Benchmark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360920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18120" y="395935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/ Buy / Partner Comparison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11411712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b="1" i="0">
                <a:solidFill>
                  <a:srgbClr val="BFC0BF"/>
                </a:solidFill>
                <a:latin typeface="Aptos"/>
              </a:defRPr>
            </a:pPr>
            <a:r>
              <a:rPr lang="en-US" sz="800" b="1" i="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COMPARISON &amp; BENCHMARKING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Side-by-Side Options Comparison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comparing two or three options on benefits, risks and feasibility.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2461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A]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56232"/>
            <a:ext cx="3246120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is]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85800" y="2587752"/>
            <a:ext cx="324612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[Upside]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[Resources]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685800" y="4690872"/>
            <a:ext cx="3246120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[Recommendation stance]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343400" y="1444752"/>
            <a:ext cx="324612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B]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43400" y="1856232"/>
            <a:ext cx="3246120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is]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343400" y="2587752"/>
            <a:ext cx="324612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[Upside]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[Resources]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343400" y="4690872"/>
            <a:ext cx="3246120" cy="59436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[Recommendation stance]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8001000" y="1444752"/>
            <a:ext cx="32461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C]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01000" y="1856232"/>
            <a:ext cx="3246120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is]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001000" y="2587752"/>
            <a:ext cx="324612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[Upside]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[Resources]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8001000" y="4690872"/>
            <a:ext cx="3246120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[Recommendation stance]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85800" y="5696712"/>
            <a:ext cx="1056132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preferred option and reason]</a:t>
            </a:r>
            <a:endParaRPr lang="en-US" sz="10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COMPARISON &amp; BENCHMARKING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Competitor Benchmarking Table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how the company performs against peers on key metrics.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745943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[Benchmark metric]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3431743" y="1444752"/>
            <a:ext cx="19538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[Company A]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385587" y="1444752"/>
            <a:ext cx="19538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[Company B]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7339432" y="1444752"/>
            <a:ext cx="19538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[Company C]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9293276" y="1444752"/>
            <a:ext cx="19538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[Company D]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685800" y="1755648"/>
            <a:ext cx="2745943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1]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3431743" y="1755648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385587" y="1755648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7339432" y="1755648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9293276" y="1755648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685800" y="2336292"/>
            <a:ext cx="2745943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2]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3431743" y="2336292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5385587" y="2336292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7339432" y="2336292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9293276" y="2336292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685800" y="2916936"/>
            <a:ext cx="2745943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3]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3431743" y="2916936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5385587" y="2916936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7339432" y="2916936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9293276" y="2916936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85800" y="3497580"/>
            <a:ext cx="2745943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4]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3431743" y="3497580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5385587" y="3497580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7339432" y="3497580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9293276" y="3497580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685800" y="4078224"/>
            <a:ext cx="2745943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5]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431743" y="4078224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5385587" y="4078224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7339432" y="4078224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9293276" y="4078224"/>
            <a:ext cx="1953844" cy="58064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685800" y="4658868"/>
            <a:ext cx="2745943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6]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3431743" y="4658868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5385587" y="4658868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7339432" y="4658868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9293276" y="4658868"/>
            <a:ext cx="195384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8001000" y="5376672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85048" y="5376672"/>
            <a:ext cx="2633472" cy="502920"/>
          </a:xfrm>
          <a:prstGeom prst="rect">
            <a:avLst/>
          </a:prstGeom>
          <a:solidFill>
            <a:srgbClr val="DCAF63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[Best-in-class gap]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COMPARISON &amp; BENCHMARKING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Best-in-Class Scorecard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identifying gaps against target or best-practice performance.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171450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00300" y="1444752"/>
            <a:ext cx="171450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[Current]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0" y="1444752"/>
            <a:ext cx="171450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[Target]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829300" y="1444752"/>
            <a:ext cx="171450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[Peer]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5800" y="1755648"/>
            <a:ext cx="1714500" cy="72420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1]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00300" y="1755648"/>
            <a:ext cx="1714500" cy="72420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0" y="1755648"/>
            <a:ext cx="1714500" cy="724205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29300" y="1755648"/>
            <a:ext cx="1714500" cy="724205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5800" y="2479853"/>
            <a:ext cx="1714500" cy="72420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2]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00300" y="2479853"/>
            <a:ext cx="1714500" cy="724205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0" y="2479853"/>
            <a:ext cx="1714500" cy="724205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29300" y="2479853"/>
            <a:ext cx="1714500" cy="724205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" y="3204058"/>
            <a:ext cx="1714500" cy="72420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3]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400300" y="3204058"/>
            <a:ext cx="1714500" cy="724205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0" y="3204058"/>
            <a:ext cx="1714500" cy="724205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829300" y="3204058"/>
            <a:ext cx="1714500" cy="72420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5800" y="3928262"/>
            <a:ext cx="1714500" cy="72420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4]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400300" y="3928262"/>
            <a:ext cx="1714500" cy="724205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14800" y="3928262"/>
            <a:ext cx="1714500" cy="72420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29300" y="3928262"/>
            <a:ext cx="1714500" cy="724205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" y="4652467"/>
            <a:ext cx="1714500" cy="72420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5]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00300" y="4652467"/>
            <a:ext cx="1714500" cy="72420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114800" y="4652467"/>
            <a:ext cx="1714500" cy="724205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829300" y="4652467"/>
            <a:ext cx="1714500" cy="724205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001000" y="1444752"/>
            <a:ext cx="292608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guide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01000" y="1883664"/>
            <a:ext cx="2926080" cy="32918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 = weak]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001000" y="2386584"/>
            <a:ext cx="2926080" cy="329184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 = developing]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8001000" y="2889504"/>
            <a:ext cx="2926080" cy="329184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 = competitive]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001000" y="3392424"/>
            <a:ext cx="2926080" cy="329184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 = leading]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001000" y="4370832"/>
            <a:ext cx="2926080" cy="77724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capability priority]</a:t>
            </a:r>
            <a:endParaRPr lang="en-US" sz="10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COMPARISON &amp; BENCHMARKING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Pros / Cons Matrix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balancing upside, downsides and watch-outs before deciding.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90472"/>
            <a:ext cx="315468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929384"/>
            <a:ext cx="3154680" cy="28346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0" y="1490472"/>
            <a:ext cx="3154680" cy="320040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0" y="1929384"/>
            <a:ext cx="3154680" cy="28346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26680" y="1490472"/>
            <a:ext cx="315468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Watch-outs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26680" y="1929384"/>
            <a:ext cx="3154680" cy="28346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[Insert point]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5468112"/>
            <a:ext cx="10287000" cy="512064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balanced conclusion / decision implication]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COMPARISON &amp; BENCHMARKING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Peer Multiples / Valuation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placing valuation or financial metrics in market context.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05840" y="4572000"/>
            <a:ext cx="4937760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05840" y="1700784"/>
            <a:ext cx="0" cy="287121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 rot="16200000">
            <a:off x="228600" y="1719072"/>
            <a:ext cx="411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00200" y="4846320"/>
            <a:ext cx="42062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[X-Axis Label]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89888" y="3439058"/>
            <a:ext cx="663854" cy="1132942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371600" y="4617720"/>
            <a:ext cx="70043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254910" y="3088386"/>
            <a:ext cx="663854" cy="1483614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236622" y="4617720"/>
            <a:ext cx="70043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119933" y="3546958"/>
            <a:ext cx="663854" cy="1025042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101645" y="4617720"/>
            <a:ext cx="70043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984955" y="2467966"/>
            <a:ext cx="663854" cy="2104034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966667" y="4617720"/>
            <a:ext cx="70043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849978" y="2737714"/>
            <a:ext cx="663854" cy="1834286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831690" y="4617720"/>
            <a:ext cx="70043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492240" y="1536192"/>
            <a:ext cx="118872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680960" y="1536192"/>
            <a:ext cx="112776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[Peer A]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808720" y="1536192"/>
            <a:ext cx="112776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[Peer B]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9936480" y="1536192"/>
            <a:ext cx="112776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[Peer C]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492240" y="1847088"/>
            <a:ext cx="1188720" cy="6080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[P/E]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7680960" y="1847088"/>
            <a:ext cx="1127760" cy="6080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808720" y="1847088"/>
            <a:ext cx="1127760" cy="6080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9936480" y="1847088"/>
            <a:ext cx="1127760" cy="6080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6492240" y="2455164"/>
            <a:ext cx="1188720" cy="6080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[EV/EBITDA]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7680960" y="2455164"/>
            <a:ext cx="1127760" cy="6080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808720" y="2455164"/>
            <a:ext cx="1127760" cy="6080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9936480" y="2455164"/>
            <a:ext cx="1127760" cy="6080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6492240" y="3063240"/>
            <a:ext cx="1188720" cy="6080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[P/B]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7680960" y="3063240"/>
            <a:ext cx="1127760" cy="6080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8808720" y="3063240"/>
            <a:ext cx="1127760" cy="6080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9936480" y="3063240"/>
            <a:ext cx="1127760" cy="6080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6492240" y="3671316"/>
            <a:ext cx="1188720" cy="6080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[Market cap]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7680960" y="3671316"/>
            <a:ext cx="1127760" cy="6080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8808720" y="3671316"/>
            <a:ext cx="1127760" cy="6080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9936480" y="3671316"/>
            <a:ext cx="1127760" cy="6080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685800" y="5376672"/>
            <a:ext cx="10378440" cy="512064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valuation conclusion]</a:t>
            </a:r>
            <a:endParaRPr lang="en-US" sz="11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COMPARISON &amp; BENCHMARKING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Capability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highlighting capability gaps across peers or business units.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0665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52344" y="1444752"/>
            <a:ext cx="20665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[Company]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18888" y="1444752"/>
            <a:ext cx="20665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[Peer 1]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85432" y="1444752"/>
            <a:ext cx="20665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[Peer 2]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951976" y="1444752"/>
            <a:ext cx="20665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[Best practice]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1755648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[Commercial]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52344" y="1755648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18888" y="1755648"/>
            <a:ext cx="2066544" cy="641604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85432" y="1755648"/>
            <a:ext cx="2066544" cy="641604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951976" y="1755648"/>
            <a:ext cx="2066544" cy="641604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2397252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[Operations]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752344" y="2397252"/>
            <a:ext cx="2066544" cy="641604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18888" y="2397252"/>
            <a:ext cx="2066544" cy="641604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885432" y="2397252"/>
            <a:ext cx="2066544" cy="641604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51976" y="2397252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" y="3038856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[Digital]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52344" y="3038856"/>
            <a:ext cx="2066544" cy="641604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18888" y="3038856"/>
            <a:ext cx="2066544" cy="641604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85432" y="3038856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951976" y="3038856"/>
            <a:ext cx="2066544" cy="641604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" y="3680460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[Finance]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52344" y="3680460"/>
            <a:ext cx="2066544" cy="641604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18888" y="3680460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885432" y="3680460"/>
            <a:ext cx="2066544" cy="641604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951976" y="3680460"/>
            <a:ext cx="2066544" cy="641604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5800" y="4322064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[Governance]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752344" y="4322064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18888" y="4322064"/>
            <a:ext cx="2066544" cy="641604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885432" y="4322064"/>
            <a:ext cx="2066544" cy="641604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951976" y="4322064"/>
            <a:ext cx="2066544" cy="641604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5800" y="4963668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[Talent]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752344" y="4963668"/>
            <a:ext cx="2066544" cy="641604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18888" y="4963668"/>
            <a:ext cx="2066544" cy="641604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85432" y="4963668"/>
            <a:ext cx="2066544" cy="641604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951976" y="4963668"/>
            <a:ext cx="2066544" cy="64160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85800" y="5696712"/>
            <a:ext cx="1033272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capability investment priority]</a:t>
            </a:r>
            <a:endParaRPr lang="en-US" sz="10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COMPARISON &amp; BENCHMARKING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Make / Buy / Partner Comparison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choosing the best route to build a capability or enter a market.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2461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56232"/>
            <a:ext cx="3246120" cy="20574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[Best when]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[Speed]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[Capital]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[Control]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685800" y="4187952"/>
            <a:ext cx="3246120" cy="7315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rule]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1444752"/>
            <a:ext cx="324612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1856232"/>
            <a:ext cx="3246120" cy="20574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[Best when]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[Speed]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[Capital]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[Control]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343400" y="4187952"/>
            <a:ext cx="3246120" cy="73152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rule]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01000" y="1444752"/>
            <a:ext cx="32461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01000" y="1856232"/>
            <a:ext cx="3246120" cy="20574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[Best when]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[Speed]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[Capital]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[Control]</a:t>
            </a:r>
            <a:endParaRPr lang="en-US" sz="96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8001000" y="4187952"/>
            <a:ext cx="3246120" cy="7315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rule]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5559552"/>
            <a:ext cx="10561320" cy="47548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preferred route based on strategic need and constraints]</a:t>
            </a:r>
            <a:endParaRPr lang="en-US" sz="109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81360" y="20116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1234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DCAF63"/>
                </a:solidFill>
                <a:latin typeface="Aptos"/>
              </a:defRPr>
            </a:pPr>
            <a:r>
              <a:rPr lang="en-US" sz="36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&amp; DATA ANALYSIS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>
                <a:solidFill>
                  <a:srgbClr val="BFC0BF"/>
                </a:solidFill>
                <a:latin typeface="Aptos"/>
              </a:defRPr>
            </a:pPr>
            <a:r>
              <a:rPr lang="en-US" sz="2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simple charts and clean tables to make financial performance and sensitivities clear.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DCAF63"/>
                </a:solidFill>
                <a:latin typeface="Aptos"/>
              </a:defRPr>
            </a:pPr>
            <a:r>
              <a:rPr lang="en-US" sz="12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in this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Performance Dashboard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8120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Waterfall / Bridge Analysis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Year-on-Year Trend Chart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60920" y="291693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Scorecard / Metrics Dashboard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360920" y="3264408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18120" y="3264408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/ Scenario Analysis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360920" y="361188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8120" y="361188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Case Summary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360920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18120" y="395935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Table / Tornado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7360920" y="430682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18120" y="430682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Economics Analysis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360920" y="465429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18120" y="465429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Capital / Cash Conversion Cycle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11411712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b="1" i="0">
                <a:solidFill>
                  <a:srgbClr val="BFC0BF"/>
                </a:solidFill>
                <a:latin typeface="Aptos"/>
              </a:defRPr>
            </a:pPr>
            <a:r>
              <a:rPr lang="en-US" sz="800" b="1" i="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FINANCIAL &amp; DATA ANALYSIS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Financial Performance Dashboard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summarizing key financial metrics and management implications.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377440" cy="301752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[Revenue]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2377440" cy="77724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[RM xx]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[+/- xx%]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444752"/>
            <a:ext cx="2377440" cy="301752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[EBITDA]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77724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[RM xx]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[+/- xx%]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1444752"/>
            <a:ext cx="2377440" cy="301752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[Margin]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80760" y="1828800"/>
            <a:ext cx="2377440" cy="77724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[RM xx]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[+/- xx%]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0" y="1444752"/>
            <a:ext cx="2377440" cy="301752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[Cash]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78240" y="1828800"/>
            <a:ext cx="2377440" cy="77724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[RM xx]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[+/- xx%]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4892040"/>
            <a:ext cx="4572000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005840" y="2980944"/>
            <a:ext cx="0" cy="191109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 rot="16200000">
            <a:off x="228600" y="2999232"/>
            <a:ext cx="411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00200" y="5166360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[X-Axis Label]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389888" y="4110228"/>
            <a:ext cx="788670" cy="781812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371600" y="4937760"/>
            <a:ext cx="82524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379726" y="3814877"/>
            <a:ext cx="788670" cy="1077163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361438" y="4937760"/>
            <a:ext cx="82524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369564" y="3658514"/>
            <a:ext cx="788670" cy="1233526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351276" y="4937760"/>
            <a:ext cx="82524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359402" y="3953866"/>
            <a:ext cx="788670" cy="938174"/>
          </a:xfrm>
          <a:prstGeom prst="rect">
            <a:avLst/>
          </a:prstGeom>
          <a:solidFill>
            <a:srgbClr val="A36431"/>
          </a:solidFill>
          <a:ln w="6350">
            <a:solidFill>
              <a:srgbClr val="A364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341114" y="4937760"/>
            <a:ext cx="82524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492240" y="4928616"/>
            <a:ext cx="4517136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492240" y="2980944"/>
            <a:ext cx="0" cy="1947672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556248" y="4471416"/>
            <a:ext cx="10812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637526" y="4270248"/>
            <a:ext cx="10812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718804" y="4050792"/>
            <a:ext cx="1081278" cy="109728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800082" y="4160520"/>
            <a:ext cx="1081278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510528" y="4425696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91806" y="4224528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73084" y="4005072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54362" y="4114800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835640" y="3749040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 rot="16200000">
            <a:off x="5715000" y="2999232"/>
            <a:ext cx="411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086600" y="5166360"/>
            <a:ext cx="3794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[Time]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5800" y="5650992"/>
            <a:ext cx="10378440" cy="41148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financial so-what / action]</a:t>
            </a:r>
            <a:endParaRPr lang="en-US" sz="10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FINANCIAL &amp; DATA ANALYSIS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Waterfall / Bridge Analysis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explaining the drivers of movement from one value to another.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80160" y="5093208"/>
            <a:ext cx="6912864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280160" y="1719072"/>
            <a:ext cx="0" cy="337413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444752" y="4005072"/>
            <a:ext cx="502920" cy="1088136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16152" y="513892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[Start]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896362" y="3383280"/>
            <a:ext cx="502920" cy="1709928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667762" y="513892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1]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2450592" y="5093208"/>
            <a:ext cx="44577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347972" y="3694176"/>
            <a:ext cx="502920" cy="1399032"/>
          </a:xfrm>
          <a:prstGeom prst="rect">
            <a:avLst/>
          </a:prstGeom>
          <a:solidFill>
            <a:srgbClr val="A36431"/>
          </a:solidFill>
          <a:ln w="6350">
            <a:solidFill>
              <a:srgbClr val="A364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119372" y="513892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2]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3902202" y="5093208"/>
            <a:ext cx="44577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799582" y="3165653"/>
            <a:ext cx="502920" cy="1927555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570982" y="513892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3]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5353812" y="5093208"/>
            <a:ext cx="44577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251192" y="3165653"/>
            <a:ext cx="502920" cy="1927555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022592" y="513892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[End]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8732520" y="1719072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16568" y="1719072"/>
            <a:ext cx="1810512" cy="594360"/>
          </a:xfrm>
          <a:prstGeom prst="rect">
            <a:avLst/>
          </a:prstGeom>
          <a:solidFill>
            <a:srgbClr val="97BDB5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[Largest positive driver]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32520" y="2606040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16568" y="2606040"/>
            <a:ext cx="1810512" cy="594360"/>
          </a:xfrm>
          <a:prstGeom prst="rect">
            <a:avLst/>
          </a:prstGeom>
          <a:solidFill>
            <a:srgbClr val="DCAF63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[Largest negative driver]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32520" y="3493008"/>
            <a:ext cx="292608" cy="292608"/>
          </a:xfrm>
          <a:prstGeom prst="ellipse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16568" y="3493008"/>
            <a:ext cx="1810512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DCAF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[Management action]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5696712"/>
            <a:ext cx="1001268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bridge conclusion]</a:t>
            </a:r>
            <a:endParaRPr lang="en-US" sz="10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FINANCIAL &amp; DATA ANALYSIS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Year-on-Year Trend Chart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historical trajectory and change in momentum.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97280" y="4562856"/>
            <a:ext cx="5477256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97280" y="1700784"/>
            <a:ext cx="0" cy="2862072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161288" y="3877056"/>
            <a:ext cx="1057046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218334" y="3712464"/>
            <a:ext cx="1057046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75381" y="3246120"/>
            <a:ext cx="1057046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32427" y="2889504"/>
            <a:ext cx="1057046" cy="246888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389474" y="3136392"/>
            <a:ext cx="1057046" cy="0"/>
          </a:xfrm>
          <a:prstGeom prst="line">
            <a:avLst/>
          </a:prstGeom>
          <a:noFill/>
          <a:ln w="17780">
            <a:solidFill>
              <a:srgbClr val="A37C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115568" y="3831336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72614" y="3666744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29661" y="3200400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86707" y="2843784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3754" y="3090672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459736"/>
            <a:ext cx="91440" cy="914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 rot="16200000">
            <a:off x="320040" y="1719072"/>
            <a:ext cx="411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91640" y="4800600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[Time]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406640" y="4526280"/>
            <a:ext cx="3520440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406640" y="1700784"/>
            <a:ext cx="0" cy="282549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 rot="16200000">
            <a:off x="6629400" y="1719072"/>
            <a:ext cx="411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001000" y="4800600"/>
            <a:ext cx="2788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[X-Axis Label]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790688" y="2882189"/>
            <a:ext cx="380390" cy="1644091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772400" y="4572000"/>
            <a:ext cx="41696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8372246" y="3067812"/>
            <a:ext cx="380390" cy="1458468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353958" y="4572000"/>
            <a:ext cx="41696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953805" y="2670048"/>
            <a:ext cx="380390" cy="1856232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935517" y="4572000"/>
            <a:ext cx="41696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9535363" y="3200400"/>
            <a:ext cx="380390" cy="1325880"/>
          </a:xfrm>
          <a:prstGeom prst="rect">
            <a:avLst/>
          </a:prstGeom>
          <a:solidFill>
            <a:srgbClr val="A36431"/>
          </a:solidFill>
          <a:ln w="6350">
            <a:solidFill>
              <a:srgbClr val="A364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517075" y="4572000"/>
            <a:ext cx="41696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0116922" y="2298802"/>
            <a:ext cx="380390" cy="2227478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098634" y="4572000"/>
            <a:ext cx="41696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77240" y="5468112"/>
            <a:ext cx="10195560" cy="50292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trend interpretation]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FINANCIAL &amp; DATA ANALYSIS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KPI Scorecard / Metrics Dashboard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tracking performance against targets with clear owners.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73405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[KPI]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3419856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[Target]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4976165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[Actual]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32474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[Variance]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8088782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[Status]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9645091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85800" y="1755648"/>
            <a:ext cx="273405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[KPI 1]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3419856" y="1755648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4976165" y="1755648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6532474" y="1755648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8088782" y="1755648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9645091" y="1755648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685800" y="2534717"/>
            <a:ext cx="273405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[KPI 2]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3419856" y="2534717"/>
            <a:ext cx="1556309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4976165" y="2534717"/>
            <a:ext cx="1556309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6532474" y="2534717"/>
            <a:ext cx="1556309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8088782" y="2534717"/>
            <a:ext cx="1556309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9645091" y="2534717"/>
            <a:ext cx="1556309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85800" y="3313786"/>
            <a:ext cx="273405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[KPI 3]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3419856" y="3313786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4976165" y="3313786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6532474" y="3313786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8088782" y="3313786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9645091" y="3313786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685800" y="4092854"/>
            <a:ext cx="273405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[KPI 4]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3419856" y="4092854"/>
            <a:ext cx="1556309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4976165" y="4092854"/>
            <a:ext cx="1556309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6532474" y="4092854"/>
            <a:ext cx="1556309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8088782" y="4092854"/>
            <a:ext cx="1556309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9645091" y="4092854"/>
            <a:ext cx="1556309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685800" y="4871923"/>
            <a:ext cx="273405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[KPI 5]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3419856" y="4871923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4976165" y="4871923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6532474" y="4871923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8088782" y="4871923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9645091" y="4871923"/>
            <a:ext cx="1556309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685800" y="5715000"/>
            <a:ext cx="1051560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overall scorecard message]</a:t>
            </a:r>
            <a:endParaRPr lang="en-US" sz="10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FINANCIAL &amp; DATA ANALYSIS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Sensitivity / Scenario Analysis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how outcomes change under bear, base and bull assumptions.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2461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56232"/>
            <a:ext cx="324612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[Key assumptions]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[Revenue]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[Margin]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[Cash impact]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4626864"/>
            <a:ext cx="32461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[Implication]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343400" y="1444752"/>
            <a:ext cx="324612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1856232"/>
            <a:ext cx="3246120" cy="25146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[Key assumptions]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[Revenue]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[Margin]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[Cash impact]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43400" y="4626864"/>
            <a:ext cx="32461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[Implication]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001000" y="1444752"/>
            <a:ext cx="32461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01000" y="1856232"/>
            <a:ext cx="324612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[Key assumptions]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[Revenue]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[Margin]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[Cash impact]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01000" y="4626864"/>
            <a:ext cx="32461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[Implication]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85800" y="5650992"/>
            <a:ext cx="10561320" cy="41148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scenario conclusion and recommended contingency]</a:t>
            </a:r>
            <a:endParaRPr lang="en-US" sz="10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FINANCIAL &amp; DATA ANALYSIS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Business Case Summary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summarizing required investment, returns and strategic benefits.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10896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required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56232"/>
            <a:ext cx="3108960" cy="109728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[RM xx]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[Capex / opex split]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1444752"/>
            <a:ext cx="310896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returns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60520" y="1856232"/>
            <a:ext cx="3108960" cy="109728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[IRR]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[Payback]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[NPV]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35240" y="1444752"/>
            <a:ext cx="3108960" cy="32004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returns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1856232"/>
            <a:ext cx="3108960" cy="109728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[Growth]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 reduction]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1560" y="4956048"/>
            <a:ext cx="5084064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051560" y="3456432"/>
            <a:ext cx="0" cy="149961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216152" y="4523994"/>
            <a:ext cx="502920" cy="432054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87552" y="500176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[Start]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2210562" y="4277106"/>
            <a:ext cx="502920" cy="678942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981962" y="500176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1]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221992" y="4956048"/>
            <a:ext cx="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204972" y="4400550"/>
            <a:ext cx="502920" cy="555498"/>
          </a:xfrm>
          <a:prstGeom prst="rect">
            <a:avLst/>
          </a:prstGeom>
          <a:solidFill>
            <a:srgbClr val="A36431"/>
          </a:solidFill>
          <a:ln w="6350">
            <a:solidFill>
              <a:srgbClr val="A364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976372" y="500176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2]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3216402" y="4956048"/>
            <a:ext cx="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199382" y="4190695"/>
            <a:ext cx="502920" cy="765353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970782" y="500176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3]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210812" y="4956048"/>
            <a:ext cx="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193792" y="4190695"/>
            <a:ext cx="502920" cy="765353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965192" y="500176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[End]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675120" y="3227832"/>
            <a:ext cx="1117397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[Benefit]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7792517" y="3227832"/>
            <a:ext cx="106009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[Value]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8852611" y="3227832"/>
            <a:ext cx="106009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9912706" y="3227832"/>
            <a:ext cx="106009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[Confidence]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6675120" y="3538728"/>
            <a:ext cx="1117397" cy="47548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[Benefit 1]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7792517" y="3538728"/>
            <a:ext cx="1060094" cy="47548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37" name="Text 35"/>
          <p:cNvSpPr/>
          <p:nvPr/>
        </p:nvSpPr>
        <p:spPr>
          <a:xfrm>
            <a:off x="8852611" y="3538728"/>
            <a:ext cx="1060094" cy="47548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912706" y="3538728"/>
            <a:ext cx="1060094" cy="47548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39" name="Text 37"/>
          <p:cNvSpPr/>
          <p:nvPr/>
        </p:nvSpPr>
        <p:spPr>
          <a:xfrm>
            <a:off x="6675120" y="4014216"/>
            <a:ext cx="1117397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[Benefit 2]</a:t>
            </a:r>
            <a:endParaRPr lang="en-US" sz="710" dirty="0"/>
          </a:p>
        </p:txBody>
      </p:sp>
      <p:sp>
        <p:nvSpPr>
          <p:cNvPr id="40" name="Text 38"/>
          <p:cNvSpPr/>
          <p:nvPr/>
        </p:nvSpPr>
        <p:spPr>
          <a:xfrm>
            <a:off x="7792517" y="4014216"/>
            <a:ext cx="1060094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41" name="Text 39"/>
          <p:cNvSpPr/>
          <p:nvPr/>
        </p:nvSpPr>
        <p:spPr>
          <a:xfrm>
            <a:off x="8852611" y="4014216"/>
            <a:ext cx="1060094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42" name="Text 40"/>
          <p:cNvSpPr/>
          <p:nvPr/>
        </p:nvSpPr>
        <p:spPr>
          <a:xfrm>
            <a:off x="9912706" y="4014216"/>
            <a:ext cx="1060094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43" name="Text 41"/>
          <p:cNvSpPr/>
          <p:nvPr/>
        </p:nvSpPr>
        <p:spPr>
          <a:xfrm>
            <a:off x="6675120" y="4489704"/>
            <a:ext cx="1117397" cy="47548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[Benefit 3]</a:t>
            </a:r>
            <a:endParaRPr lang="en-US" sz="710" dirty="0"/>
          </a:p>
        </p:txBody>
      </p:sp>
      <p:sp>
        <p:nvSpPr>
          <p:cNvPr id="44" name="Text 42"/>
          <p:cNvSpPr/>
          <p:nvPr/>
        </p:nvSpPr>
        <p:spPr>
          <a:xfrm>
            <a:off x="7792517" y="4489704"/>
            <a:ext cx="1060094" cy="47548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45" name="Text 43"/>
          <p:cNvSpPr/>
          <p:nvPr/>
        </p:nvSpPr>
        <p:spPr>
          <a:xfrm>
            <a:off x="8852611" y="4489704"/>
            <a:ext cx="1060094" cy="47548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46" name="Text 44"/>
          <p:cNvSpPr/>
          <p:nvPr/>
        </p:nvSpPr>
        <p:spPr>
          <a:xfrm>
            <a:off x="9912706" y="4489704"/>
            <a:ext cx="1060094" cy="47548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FINANCIAL &amp; DATA ANALYSIS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Sensitivity Table / Tornado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identifying the assumptions that matter most to the case.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128381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[Input]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969618" y="1444752"/>
            <a:ext cx="1217981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[-10%]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187598" y="1444752"/>
            <a:ext cx="1217981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[Base]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405579" y="1444752"/>
            <a:ext cx="1217981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[+10%]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685800" y="1755648"/>
            <a:ext cx="1283818" cy="9509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[Variable 1]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969618" y="1755648"/>
            <a:ext cx="1217981" cy="9509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187598" y="1755648"/>
            <a:ext cx="1217981" cy="9509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4405579" y="1755648"/>
            <a:ext cx="1217981" cy="9509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85800" y="2706624"/>
            <a:ext cx="1283818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[Variable 2]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969618" y="2706624"/>
            <a:ext cx="1217981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187598" y="2706624"/>
            <a:ext cx="1217981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405579" y="2706624"/>
            <a:ext cx="1217981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85800" y="3657600"/>
            <a:ext cx="1283818" cy="9509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[Variable 3]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969618" y="3657600"/>
            <a:ext cx="1217981" cy="9509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187598" y="3657600"/>
            <a:ext cx="1217981" cy="9509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405579" y="3657600"/>
            <a:ext cx="1217981" cy="95097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85800" y="4608576"/>
            <a:ext cx="1283818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[Variable 4]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1969618" y="4608576"/>
            <a:ext cx="1217981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3187598" y="4608576"/>
            <a:ext cx="1217981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4405579" y="4608576"/>
            <a:ext cx="1217981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400800" y="1627632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[Variable 1]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12480" y="1673352"/>
            <a:ext cx="1005840" cy="164592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680960" y="1673352"/>
            <a:ext cx="731520" cy="164592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00800" y="2313432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[Variable 2]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12480" y="2359152"/>
            <a:ext cx="1234440" cy="164592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516368" y="2359152"/>
            <a:ext cx="896112" cy="164592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0" y="2999232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[Variable 3]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412480" y="3044952"/>
            <a:ext cx="1463040" cy="164592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351776" y="3044952"/>
            <a:ext cx="1060704" cy="164592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400800" y="3685032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[Variable 4]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412480" y="3730752"/>
            <a:ext cx="1691640" cy="164592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7187184" y="3730752"/>
            <a:ext cx="1225296" cy="164592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412480" y="1536192"/>
            <a:ext cx="0" cy="283464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400800" y="4553712"/>
            <a:ext cx="4114800" cy="6858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most sensitive assumption]</a:t>
            </a:r>
            <a:endParaRPr lang="en-US" sz="10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FINANCIAL &amp; DATA ANALYSIS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Unit Economics Analysis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explaining profitability at product, customer or transaction level.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51560" y="4224528"/>
            <a:ext cx="5449824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51560" y="1536192"/>
            <a:ext cx="0" cy="268833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216152" y="3376422"/>
            <a:ext cx="502920" cy="848106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87552" y="427024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[Start]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302002" y="2891790"/>
            <a:ext cx="502920" cy="1332738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073402" y="427024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1]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2221992" y="4224528"/>
            <a:ext cx="8001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387852" y="3134106"/>
            <a:ext cx="502920" cy="1090422"/>
          </a:xfrm>
          <a:prstGeom prst="rect">
            <a:avLst/>
          </a:prstGeom>
          <a:solidFill>
            <a:srgbClr val="A36431"/>
          </a:solidFill>
          <a:ln w="6350">
            <a:solidFill>
              <a:srgbClr val="A364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159252" y="427024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2]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3307842" y="4224528"/>
            <a:ext cx="8001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473702" y="2722169"/>
            <a:ext cx="502920" cy="1502359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245102" y="427024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3]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4393692" y="4224528"/>
            <a:ext cx="8001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559552" y="2722169"/>
            <a:ext cx="502920" cy="1502359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330952" y="427024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[End]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6995160" y="1444752"/>
            <a:ext cx="1081735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[Line item]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076895" y="1444752"/>
            <a:ext cx="1539392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[Per unit]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616288" y="1444752"/>
            <a:ext cx="1539392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[% of revenue]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95160" y="1755648"/>
            <a:ext cx="1081735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[Price]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076895" y="1755648"/>
            <a:ext cx="1539392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616288" y="1755648"/>
            <a:ext cx="1539392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95160" y="2409444"/>
            <a:ext cx="1081735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[Cost 1]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076895" y="2409444"/>
            <a:ext cx="1539392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616288" y="2409444"/>
            <a:ext cx="1539392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995160" y="3063240"/>
            <a:ext cx="1081735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[Cost 2]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076895" y="3063240"/>
            <a:ext cx="1539392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616288" y="3063240"/>
            <a:ext cx="1539392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95160" y="3717036"/>
            <a:ext cx="1081735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[Margin]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076895" y="3717036"/>
            <a:ext cx="1539392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616288" y="3717036"/>
            <a:ext cx="1539392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5800" y="5285232"/>
            <a:ext cx="10469880" cy="530352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unit economics implication]</a:t>
            </a:r>
            <a:endParaRPr lang="en-US" sz="113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FINANCIAL &amp; DATA ANALYSIS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Working Capital / Cash Conversion Cycle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diagnosing cash cycle constraints and improvement levers.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51760" y="2450592"/>
            <a:ext cx="6400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257800" y="2450592"/>
            <a:ext cx="6400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863840" y="2450592"/>
            <a:ext cx="6400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2130552"/>
            <a:ext cx="1737360" cy="65836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[Order]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953512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[Days]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20440" y="2130552"/>
            <a:ext cx="1737360" cy="65836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 / deliver]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953512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[Days]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26480" y="2130552"/>
            <a:ext cx="1737360" cy="65836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[Invoice]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953512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[Days]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732520" y="2130552"/>
            <a:ext cx="1737360" cy="65836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[Collect cash]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32520" y="2953512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[Days]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3867912"/>
            <a:ext cx="246065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75050" y="3867912"/>
            <a:ext cx="2334463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[Current days]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709514" y="3867912"/>
            <a:ext cx="2334463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[Target days]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043977" y="3867912"/>
            <a:ext cx="2334463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14400" y="4178808"/>
            <a:ext cx="2460650" cy="33832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[Receivables]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75050" y="4178808"/>
            <a:ext cx="2334463" cy="33832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709514" y="4178808"/>
            <a:ext cx="2334463" cy="33832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043977" y="4178808"/>
            <a:ext cx="2334463" cy="33832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14400" y="4517136"/>
            <a:ext cx="246065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[Inventory / WIP]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75050" y="4517136"/>
            <a:ext cx="2334463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709514" y="4517136"/>
            <a:ext cx="2334463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043977" y="4517136"/>
            <a:ext cx="2334463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14400" y="4855464"/>
            <a:ext cx="2460650" cy="33832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[Payables]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75050" y="4855464"/>
            <a:ext cx="2334463" cy="33832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709514" y="4855464"/>
            <a:ext cx="2334463" cy="33832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043977" y="4855464"/>
            <a:ext cx="2334463" cy="33832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14400" y="5559552"/>
            <a:ext cx="946404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cash conversion implication]</a:t>
            </a:r>
            <a:endParaRPr lang="en-US" sz="10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2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81360" y="20116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1234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DCAF63"/>
                </a:solidFill>
                <a:latin typeface="Aptos"/>
              </a:defRPr>
            </a:pPr>
            <a:r>
              <a:rPr lang="en-US" sz="36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OPTIONS &amp; RECOMMENDATIONS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>
                <a:solidFill>
                  <a:srgbClr val="BFC0BF"/>
                </a:solidFill>
                <a:latin typeface="Aptos"/>
              </a:defRPr>
            </a:pPr>
            <a:r>
              <a:rPr lang="en-US" sz="2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analysis into choices, recommendation, risk management and value creation.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DCAF63"/>
                </a:solidFill>
                <a:latin typeface="Aptos"/>
              </a:defRPr>
            </a:pPr>
            <a:r>
              <a:rPr lang="en-US" sz="12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in this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Options Overview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8120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Matrix / Weighted Scoring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Summary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60920" y="291693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&amp; Mitigation Matrix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360920" y="3264408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18120" y="3264408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Thesis / Deal Rationale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360920" y="361188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8120" y="361188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M&amp;A Target Screening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360920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18120" y="395935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Synergy Map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7360920" y="430682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18120" y="430682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Creation Plan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360920" y="465429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18120" y="465429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Choice / Trade-off Map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11411712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b="1" i="0">
                <a:solidFill>
                  <a:srgbClr val="BFC0BF"/>
                </a:solidFill>
                <a:latin typeface="Aptos"/>
              </a:defRPr>
            </a:pPr>
            <a:r>
              <a:rPr lang="en-US" sz="800" b="1" i="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STRATEGIC OPTIONS &amp; RECOMMENDATIONS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Strategic Options 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presenting the option set and highlighting trade-offs.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2461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A]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56232"/>
            <a:ext cx="3246120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is]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85800" y="2587752"/>
            <a:ext cx="324612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[Upside]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[Resources]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685800" y="4690872"/>
            <a:ext cx="3246120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[Recommendation stance]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343400" y="1444752"/>
            <a:ext cx="324612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B]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43400" y="1856232"/>
            <a:ext cx="3246120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is]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343400" y="2587752"/>
            <a:ext cx="324612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[Upside]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[Resources]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343400" y="4690872"/>
            <a:ext cx="3246120" cy="59436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[Recommendation stance]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8001000" y="1444752"/>
            <a:ext cx="32461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C]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01000" y="1856232"/>
            <a:ext cx="3246120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is]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001000" y="2587752"/>
            <a:ext cx="324612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[Upside]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[Resources]</a:t>
            </a:r>
            <a:endParaRPr lang="en-US" sz="93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8001000" y="4690872"/>
            <a:ext cx="3246120" cy="5943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[Recommendation stance]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85800" y="5696712"/>
            <a:ext cx="1056132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preferred option and reason]</a:t>
            </a:r>
            <a:endParaRPr lang="en-US" sz="10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STRATEGIC OPTIONS &amp; RECOMMENDATIONS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Decision Matrix / Weighted Scoring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objectively ranking options using weighted criteria.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192572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[Criteria]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611526" y="1444752"/>
            <a:ext cx="137022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[Weight]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3981755" y="1444752"/>
            <a:ext cx="137022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A]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5351983" y="1444752"/>
            <a:ext cx="137022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B]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6722212" y="1444752"/>
            <a:ext cx="137022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C]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685800" y="1755648"/>
            <a:ext cx="1925726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[Criteria 1]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2611526" y="1755648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3981755" y="1755648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5351983" y="1755648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6722212" y="1755648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685800" y="2516429"/>
            <a:ext cx="1925726" cy="760781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[Criteria 2]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2611526" y="2516429"/>
            <a:ext cx="1370228" cy="760781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3981755" y="2516429"/>
            <a:ext cx="1370228" cy="760781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5351983" y="2516429"/>
            <a:ext cx="1370228" cy="760781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6722212" y="2516429"/>
            <a:ext cx="1370228" cy="760781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685800" y="3277210"/>
            <a:ext cx="1925726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[Criteria 3]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2611526" y="3277210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3981755" y="3277210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5351983" y="3277210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6722212" y="3277210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85800" y="4037990"/>
            <a:ext cx="1925726" cy="760781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[Criteria 4]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2611526" y="4037990"/>
            <a:ext cx="1370228" cy="760781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3981755" y="4037990"/>
            <a:ext cx="1370228" cy="760781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5351983" y="4037990"/>
            <a:ext cx="1370228" cy="760781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6722212" y="4037990"/>
            <a:ext cx="1370228" cy="760781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685800" y="4798771"/>
            <a:ext cx="1925726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[Criteria 5]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2611526" y="4798771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981755" y="4798771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5351983" y="4798771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6722212" y="4798771"/>
            <a:ext cx="137022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8503920" y="1536192"/>
            <a:ext cx="242316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option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1993392"/>
            <a:ext cx="2423160" cy="6858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 B]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41080" y="2953512"/>
            <a:ext cx="2148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[Why it scores highest]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[Key trade-off]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[Required condition]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5800" y="5715000"/>
            <a:ext cx="1024128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decision logic]</a:t>
            </a:r>
            <a:endParaRPr lang="en-US" sz="10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STRATEGIC OPTIONS &amp; RECOMMENDATIONS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Recommendation Summary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making the recommended decision, rationale and expected impact explicit.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402336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83664"/>
            <a:ext cx="4023360" cy="123444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recommended decision]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44752"/>
            <a:ext cx="603504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1883664"/>
            <a:ext cx="60350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[Reason 1]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074920" y="2450592"/>
            <a:ext cx="60350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[Reason 2]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074920" y="3017520"/>
            <a:ext cx="60350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[Reason 3]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85800" y="3913632"/>
            <a:ext cx="2710282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[Dimension]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96082" y="3913632"/>
            <a:ext cx="2571293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[Expected impact]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67374" y="3913632"/>
            <a:ext cx="2571293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538667" y="3913632"/>
            <a:ext cx="2571293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[Mitigation]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4224528"/>
            <a:ext cx="2710282" cy="3688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[Financial]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96082" y="4224528"/>
            <a:ext cx="2571293" cy="3688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67374" y="4224528"/>
            <a:ext cx="2571293" cy="3688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538667" y="4224528"/>
            <a:ext cx="2571293" cy="3688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5800" y="4593336"/>
            <a:ext cx="2710282" cy="3688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[Strategic]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96082" y="4593336"/>
            <a:ext cx="2571293" cy="3688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967374" y="4593336"/>
            <a:ext cx="2571293" cy="3688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538667" y="4593336"/>
            <a:ext cx="2571293" cy="3688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5800" y="4962144"/>
            <a:ext cx="2710282" cy="3688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[Operational]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96082" y="4962144"/>
            <a:ext cx="2571293" cy="3688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67374" y="4962144"/>
            <a:ext cx="2571293" cy="3688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538667" y="4962144"/>
            <a:ext cx="2571293" cy="36880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STRATEGIC OPTIONS &amp; RECOMMENDATIONS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Risk &amp; Mitigation Matrix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prioritizing risks and specifying mitigation ownership.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73405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3419856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[Likelihood]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4976165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[Impact]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6532474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[Early warning]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8088782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[Mitigation]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9645091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685800" y="1755648"/>
            <a:ext cx="2734056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 1]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3419856" y="1755648"/>
            <a:ext cx="1556309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4976165" y="1755648"/>
            <a:ext cx="1556309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6532474" y="1755648"/>
            <a:ext cx="1556309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8088782" y="1755648"/>
            <a:ext cx="1556309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9645091" y="1755648"/>
            <a:ext cx="1556309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685800" y="2672334"/>
            <a:ext cx="2734056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 2]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3419856" y="2672334"/>
            <a:ext cx="1556309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976165" y="2672334"/>
            <a:ext cx="1556309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6532474" y="2672334"/>
            <a:ext cx="1556309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8088782" y="2672334"/>
            <a:ext cx="1556309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9645091" y="2672334"/>
            <a:ext cx="1556309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85800" y="3589020"/>
            <a:ext cx="2734056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 3]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3419856" y="3589020"/>
            <a:ext cx="1556309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4976165" y="3589020"/>
            <a:ext cx="1556309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6532474" y="3589020"/>
            <a:ext cx="1556309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8088782" y="3589020"/>
            <a:ext cx="1556309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9645091" y="3589020"/>
            <a:ext cx="1556309" cy="91668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685800" y="4505706"/>
            <a:ext cx="2734056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 4]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3419856" y="4505706"/>
            <a:ext cx="1556309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4976165" y="4505706"/>
            <a:ext cx="1556309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6532474" y="4505706"/>
            <a:ext cx="1556309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8088782" y="4505706"/>
            <a:ext cx="1556309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9645091" y="4505706"/>
            <a:ext cx="1556309" cy="91668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685800" y="5650992"/>
            <a:ext cx="1051560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highest-priority risk and management action]</a:t>
            </a:r>
            <a:endParaRPr lang="en-US" sz="10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STRATEGIC OPTIONS &amp; RECOMMENDATIONS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Investment Thesis / Deal Rationale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explaining why an investment or acquisition should be pursued.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489204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fit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48920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thesis statement]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[Evidence]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[Implication]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5989320" y="1444752"/>
            <a:ext cx="4892040" cy="310896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upside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1828800"/>
            <a:ext cx="48920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thesis statement]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[Evidence]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[Implication]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685800" y="3273552"/>
            <a:ext cx="489204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confidence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657600"/>
            <a:ext cx="48920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thesis statement]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[Evidence]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[Implication]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5989320" y="3273552"/>
            <a:ext cx="489204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control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3657600"/>
            <a:ext cx="48920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thesis statement]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[Evidence]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[Implication]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685800" y="5650992"/>
            <a:ext cx="10195560" cy="438912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investment conclusion / recommendation]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STRATEGIC OPTIONS &amp; RECOMMENDATIONS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M&amp;A Target Screening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shortlisting targets using screening criteria and decision rules.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73405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[Screening criteria]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3419856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[Target A]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365242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[Target B]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7310628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[Target C]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9256014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[Target D]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685800" y="1755648"/>
            <a:ext cx="273405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[Strategic fit]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3419856" y="1755648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365242" y="1755648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7310628" y="1755648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9256014" y="1755648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685800" y="2534717"/>
            <a:ext cx="273405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[Scale]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3419856" y="2534717"/>
            <a:ext cx="194538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5365242" y="2534717"/>
            <a:ext cx="194538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7310628" y="2534717"/>
            <a:ext cx="194538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9256014" y="2534717"/>
            <a:ext cx="194538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685800" y="3313786"/>
            <a:ext cx="273405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[Financial quality]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3419856" y="3313786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5365242" y="3313786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7310628" y="3313786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9256014" y="3313786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85800" y="4092854"/>
            <a:ext cx="273405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[Valuation]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3419856" y="4092854"/>
            <a:ext cx="194538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5365242" y="4092854"/>
            <a:ext cx="194538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7310628" y="4092854"/>
            <a:ext cx="194538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9256014" y="4092854"/>
            <a:ext cx="1945386" cy="77906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685800" y="4871923"/>
            <a:ext cx="273405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[Integration risk]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419856" y="4871923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5365242" y="4871923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7310628" y="4871923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9256014" y="4871923"/>
            <a:ext cx="1945386" cy="77906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685800" y="5696712"/>
            <a:ext cx="1051560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shortlist / no-go conclusion]</a:t>
            </a:r>
            <a:endParaRPr lang="en-US" sz="10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STRATEGIC OPTIONS &amp; RECOMMENDATIONS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Synergy 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mapping revenue, cost and capability synergy pools.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20040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synergies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444752"/>
            <a:ext cx="3200400" cy="32004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synergies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1444752"/>
            <a:ext cx="320040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synergies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1883664"/>
            <a:ext cx="3200400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[Synergy pool]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[Value estimate]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4251960" y="1883664"/>
            <a:ext cx="3200400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[Synergy pool]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[Value estimate]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7818120" y="1883664"/>
            <a:ext cx="3200400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[Synergy pool]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[Value estimate]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4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1280160" y="5458968"/>
            <a:ext cx="9381744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280160" y="4645152"/>
            <a:ext cx="0" cy="81381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444752" y="5266944"/>
            <a:ext cx="502920" cy="192024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16152" y="550468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[Start]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3513582" y="5157216"/>
            <a:ext cx="502920" cy="301752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284982" y="550468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1]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450592" y="5458968"/>
            <a:ext cx="106299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582412" y="5212080"/>
            <a:ext cx="502920" cy="246888"/>
          </a:xfrm>
          <a:prstGeom prst="rect">
            <a:avLst/>
          </a:prstGeom>
          <a:solidFill>
            <a:srgbClr val="A36431"/>
          </a:solidFill>
          <a:ln w="6350">
            <a:solidFill>
              <a:srgbClr val="A364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353812" y="550468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2]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4519422" y="5458968"/>
            <a:ext cx="106299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651242" y="5118811"/>
            <a:ext cx="502920" cy="340157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422642" y="550468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[Driver 3]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6588252" y="5458968"/>
            <a:ext cx="1062990" cy="0"/>
          </a:xfrm>
          <a:prstGeom prst="line">
            <a:avLst/>
          </a:prstGeom>
          <a:noFill/>
          <a:ln w="762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720072" y="5118811"/>
            <a:ext cx="502920" cy="340157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491472" y="5504688"/>
            <a:ext cx="960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[End]</a:t>
            </a:r>
            <a:endParaRPr lang="en-US" sz="6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STRATEGIC OPTIONS &amp; RECOMMENDATIONS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Value Creation Plan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translating strategy into levers with measurable impact.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33172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[Growth lever]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85800" y="1883664"/>
            <a:ext cx="2331720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[Value]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1444752"/>
            <a:ext cx="23317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[Margin lever]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337560" y="1883664"/>
            <a:ext cx="2331720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[Value]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1444752"/>
            <a:ext cx="23317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[Capital lever]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989320" y="1883664"/>
            <a:ext cx="2331720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[Value]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41080" y="1444752"/>
            <a:ext cx="23317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lever]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8641080" y="1883664"/>
            <a:ext cx="2331720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[Value]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34440" y="5349240"/>
            <a:ext cx="9418320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234440" y="4078224"/>
            <a:ext cx="0" cy="127101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 rot="16200000">
            <a:off x="457200" y="4096512"/>
            <a:ext cx="411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828800" y="5623560"/>
            <a:ext cx="86868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[X-Axis Label]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618488" y="4855464"/>
            <a:ext cx="2000250" cy="493776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600200" y="5394960"/>
            <a:ext cx="203682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819906" y="4636008"/>
            <a:ext cx="2000250" cy="713232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801618" y="5394960"/>
            <a:ext cx="203682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021324" y="4965192"/>
            <a:ext cx="2000250" cy="384048"/>
          </a:xfrm>
          <a:prstGeom prst="rect">
            <a:avLst/>
          </a:prstGeom>
          <a:solidFill>
            <a:srgbClr val="DCAF63"/>
          </a:solidFill>
          <a:ln w="6350">
            <a:solidFill>
              <a:srgbClr val="DCAF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003036" y="5394960"/>
            <a:ext cx="203682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8222742" y="4526280"/>
            <a:ext cx="2000250" cy="82296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204454" y="5394960"/>
            <a:ext cx="203682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STRATEGIC OPTIONS &amp; RECOMMENDATIONS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Strategic Choice / Trade-off 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making the trade-off behind a strategy explicit.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931920" y="1536192"/>
            <a:ext cx="0" cy="425196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68680" y="3662172"/>
            <a:ext cx="61264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68680" y="5806440"/>
            <a:ext cx="612648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5788152"/>
            <a:ext cx="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60320" y="5870448"/>
            <a:ext cx="2743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[Speed]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 rot="16200000">
            <a:off x="210312" y="3589020"/>
            <a:ext cx="548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[Control]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" y="1609344"/>
            <a:ext cx="29169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 now]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05072" y="1609344"/>
            <a:ext cx="29169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[Scale carefully]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41832" y="5532120"/>
            <a:ext cx="29169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[Outsource]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005072" y="5532120"/>
            <a:ext cx="29169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[Defer]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115154" y="2495398"/>
            <a:ext cx="329184" cy="29260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64562" y="2750515"/>
            <a:ext cx="329184" cy="29260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02506" y="4111142"/>
            <a:ext cx="329184" cy="292608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74443" y="4451299"/>
            <a:ext cx="329184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89520" y="1536192"/>
            <a:ext cx="338328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statement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1993392"/>
            <a:ext cx="3383280" cy="77724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[We will prioritize X over Y because Z]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818120" y="3182112"/>
            <a:ext cx="29260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[Trade-off accepted]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[Risk created]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[Mitigation]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[Decision owner]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2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81360" y="20116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1234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DCAF63"/>
                </a:solidFill>
                <a:latin typeface="Aptos"/>
              </a:defRPr>
            </a:pPr>
            <a:r>
              <a:rPr lang="en-US" sz="36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&amp; OPERATING MODEL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>
                <a:solidFill>
                  <a:srgbClr val="BFC0BF"/>
                </a:solidFill>
                <a:latin typeface="Aptos"/>
              </a:defRPr>
            </a:pPr>
            <a:r>
              <a:rPr lang="en-US" sz="2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work flows, who decides, and how the organization will operate.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DCAF63"/>
                </a:solidFill>
                <a:latin typeface="Aptos"/>
              </a:defRPr>
            </a:pPr>
            <a:r>
              <a:rPr lang="en-US" sz="12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in this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Flow / Value Chain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8120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 Diagram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&amp; Accountability Structure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60920" y="291693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RACI Matrix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360920" y="3264408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18120" y="3264408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Stage-Gate Decision Process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360920" y="361188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8120" y="361188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Engagement Map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360920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18120" y="395935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Rights Matrix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11411712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b="1" i="0">
                <a:solidFill>
                  <a:srgbClr val="BFC0BF"/>
                </a:solidFill>
                <a:latin typeface="Aptos"/>
              </a:defRPr>
            </a:pPr>
            <a:r>
              <a:rPr lang="en-US" sz="800" b="1" i="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PROCESS &amp; OPERATING MODEL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Process Flow / Value Chain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mapping a process and locating bottlenecks or improvement opportunities.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23160" y="2359152"/>
            <a:ext cx="4114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480560" y="2359152"/>
            <a:ext cx="4114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37960" y="2359152"/>
            <a:ext cx="4114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595360" y="2359152"/>
            <a:ext cx="4114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" y="2039112"/>
            <a:ext cx="1737360" cy="64008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1]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907792"/>
            <a:ext cx="17373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8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0" y="2039112"/>
            <a:ext cx="1737360" cy="64008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2]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907792"/>
            <a:ext cx="17373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8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2039112"/>
            <a:ext cx="1737360" cy="64008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3]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907792"/>
            <a:ext cx="17373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8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0" y="2039112"/>
            <a:ext cx="1737360" cy="64008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4]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907792"/>
            <a:ext cx="17373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8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915400" y="2039112"/>
            <a:ext cx="1737360" cy="64008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5]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15400" y="2907792"/>
            <a:ext cx="17373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8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5800" y="5285232"/>
            <a:ext cx="10287000" cy="493776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process improvement / bottleneck]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PROCESS &amp; OPERATING MODEL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Operating Model Diagram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how people, process, technology, data and governance fit together.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0" y="1536192"/>
            <a:ext cx="2560320" cy="50292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96312"/>
            <a:ext cx="2057400" cy="86868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95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design choice]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49040" y="2496312"/>
            <a:ext cx="2057400" cy="86868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95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design choice]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92240" y="2496312"/>
            <a:ext cx="2057400" cy="86868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95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design choice]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235440" y="2496312"/>
            <a:ext cx="2057400" cy="86868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95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design choice]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49040" y="4096512"/>
            <a:ext cx="2057400" cy="86868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design choice]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0" y="4096512"/>
            <a:ext cx="2057400" cy="86868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95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design choice]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52160" y="2039112"/>
            <a:ext cx="0" cy="457200"/>
          </a:xfrm>
          <a:prstGeom prst="line">
            <a:avLst/>
          </a:prstGeom>
          <a:noFill/>
          <a:ln w="1016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852160" y="2039112"/>
            <a:ext cx="0" cy="457200"/>
          </a:xfrm>
          <a:prstGeom prst="line">
            <a:avLst/>
          </a:prstGeom>
          <a:noFill/>
          <a:ln w="1016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852160" y="2039112"/>
            <a:ext cx="1645920" cy="457200"/>
          </a:xfrm>
          <a:prstGeom prst="line">
            <a:avLst/>
          </a:prstGeom>
          <a:noFill/>
          <a:ln w="1016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852160" y="2039112"/>
            <a:ext cx="4389120" cy="457200"/>
          </a:xfrm>
          <a:prstGeom prst="line">
            <a:avLst/>
          </a:prstGeom>
          <a:noFill/>
          <a:ln w="1016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5650992"/>
            <a:ext cx="1051560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operating model principle]</a:t>
            </a:r>
            <a:endParaRPr lang="en-US" sz="10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PROCESS &amp; OPERATING MODEL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Governance &amp; Accountability Structure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clarifying escalation paths, cadence and decision forums.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00200" y="1444752"/>
            <a:ext cx="3200400" cy="530352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[Board / ExCo]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57800" y="1444752"/>
            <a:ext cx="22860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rights]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772400" y="1444752"/>
            <a:ext cx="18288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[Cadence]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829800" y="1444752"/>
            <a:ext cx="14173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[Output]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200400" y="1975104"/>
            <a:ext cx="0" cy="310896"/>
          </a:xfrm>
          <a:prstGeom prst="line">
            <a:avLst/>
          </a:prstGeom>
          <a:noFill/>
          <a:ln w="1016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600200" y="2359152"/>
            <a:ext cx="3200400" cy="530352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[Steering Committee]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57800" y="2359152"/>
            <a:ext cx="22860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rights]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7772400" y="2359152"/>
            <a:ext cx="18288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[Cadence]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829800" y="2359152"/>
            <a:ext cx="14173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[Output]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200400" y="2889504"/>
            <a:ext cx="0" cy="310896"/>
          </a:xfrm>
          <a:prstGeom prst="line">
            <a:avLst/>
          </a:prstGeom>
          <a:noFill/>
          <a:ln w="1016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600200" y="3273552"/>
            <a:ext cx="3200400" cy="53035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[Working Team]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57800" y="3273552"/>
            <a:ext cx="22860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rights]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772400" y="3273552"/>
            <a:ext cx="18288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[Cadence]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829800" y="3273552"/>
            <a:ext cx="14173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[Output]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200400" y="3803904"/>
            <a:ext cx="0" cy="310896"/>
          </a:xfrm>
          <a:prstGeom prst="line">
            <a:avLst/>
          </a:prstGeom>
          <a:noFill/>
          <a:ln w="1016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600200" y="4187952"/>
            <a:ext cx="3200400" cy="53035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[Execution Pods]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57800" y="4187952"/>
            <a:ext cx="22860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rights]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772400" y="4187952"/>
            <a:ext cx="18288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[Cadence]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829800" y="4187952"/>
            <a:ext cx="14173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[Output]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85800" y="5696712"/>
            <a:ext cx="1051560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governance implication]</a:t>
            </a:r>
            <a:endParaRPr lang="en-US" sz="108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PROCESS &amp; OPERATING MODEL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RACI Matrix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clarifying accountability across activities and roles.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73405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[Activity]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419856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A]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976165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B]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532474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C]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8088782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D]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9645091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E]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685800" y="1755648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[Activity 1]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419856" y="1755648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976165" y="1755648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532474" y="1755648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8088782" y="1755648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9645091" y="1755648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85800" y="2488997"/>
            <a:ext cx="273405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[Activity 2]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419856" y="2488997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4976165" y="2488997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6532474" y="2488997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088782" y="2488997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9645091" y="2488997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85800" y="3222346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[Activity 3]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419856" y="3222346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4976165" y="3222346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6532474" y="3222346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088782" y="3222346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9645091" y="3222346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685800" y="3955694"/>
            <a:ext cx="273405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[Activity 4]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419856" y="3955694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976165" y="3955694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6532474" y="3955694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8088782" y="3955694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9645091" y="3955694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685800" y="4689043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[Activity 5]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419856" y="4689043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976165" y="4689043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6532474" y="4689043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8088782" y="4689043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9645091" y="4689043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85800" y="5742432"/>
            <a:ext cx="10515600" cy="25603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Legend: [R] Responsible   [A] Accountable   [C] Consulted   [I] Informed</a:t>
            </a:r>
            <a:endParaRPr lang="en-US" sz="88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PROCESS &amp; OPERATING MODEL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Stage-Gate Decision Process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control points, criteria and approvals across a process.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68880" y="2359152"/>
            <a:ext cx="4114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26280" y="2359152"/>
            <a:ext cx="4114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0" y="2359152"/>
            <a:ext cx="4114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641080" y="2359152"/>
            <a:ext cx="41148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1947672"/>
            <a:ext cx="1645920" cy="8229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[Gate 0]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999232"/>
            <a:ext cx="16459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criteria]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2834640" y="1947672"/>
            <a:ext cx="1645920" cy="8229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[Gate 1]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999232"/>
            <a:ext cx="16459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criteria]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892040" y="1947672"/>
            <a:ext cx="1645920" cy="82296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[Gate 2]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999232"/>
            <a:ext cx="16459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criteria]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6949440" y="1947672"/>
            <a:ext cx="1645920" cy="8229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[Gate 3]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2999232"/>
            <a:ext cx="16459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criteria]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9006840" y="1947672"/>
            <a:ext cx="1645920" cy="82296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[Gate 4]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06840" y="2999232"/>
            <a:ext cx="16459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criteria]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777240" y="5468112"/>
            <a:ext cx="9875520" cy="4572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stage-gate control point]</a:t>
            </a:r>
            <a:endParaRPr lang="en-US" sz="108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PROCESS &amp; OPERATING MODEL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Stakeholder Engagement 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planning engagement based on influence and support.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977640" y="1536192"/>
            <a:ext cx="0" cy="416052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68680" y="3616452"/>
            <a:ext cx="621792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68680" y="5833872"/>
            <a:ext cx="621792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5696712"/>
            <a:ext cx="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606040" y="5897880"/>
            <a:ext cx="2743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[Influence]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 rot="16200000">
            <a:off x="210312" y="3543300"/>
            <a:ext cx="548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[Support]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" y="1609344"/>
            <a:ext cx="29626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[Champion]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50792" y="1609344"/>
            <a:ext cx="29626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[Manage closely]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41832" y="5440680"/>
            <a:ext cx="29626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[Inform]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050792" y="5440680"/>
            <a:ext cx="29626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[Persuade]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67528" y="2305202"/>
            <a:ext cx="329184" cy="29260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[S1]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83557" y="3802990"/>
            <a:ext cx="329184" cy="292608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[S2]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9464" y="2804465"/>
            <a:ext cx="329184" cy="29260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[S3]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58568" y="4510278"/>
            <a:ext cx="329184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[S4]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89520" y="1536192"/>
            <a:ext cx="85587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[Stakeholder]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8445398" y="1536192"/>
            <a:ext cx="1217981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[Need]</a:t>
            </a:r>
            <a:endParaRPr lang="en-US" sz="710" dirty="0"/>
          </a:p>
        </p:txBody>
      </p:sp>
      <p:sp>
        <p:nvSpPr>
          <p:cNvPr id="26" name="Text 24"/>
          <p:cNvSpPr/>
          <p:nvPr/>
        </p:nvSpPr>
        <p:spPr>
          <a:xfrm>
            <a:off x="9663379" y="1536192"/>
            <a:ext cx="1217981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[Plan]</a:t>
            </a:r>
            <a:endParaRPr lang="en-US" sz="710" dirty="0"/>
          </a:p>
        </p:txBody>
      </p:sp>
      <p:sp>
        <p:nvSpPr>
          <p:cNvPr id="27" name="Text 25"/>
          <p:cNvSpPr/>
          <p:nvPr/>
        </p:nvSpPr>
        <p:spPr>
          <a:xfrm>
            <a:off x="7589520" y="1847088"/>
            <a:ext cx="855878" cy="74523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[Stakeholder 1]</a:t>
            </a:r>
            <a:endParaRPr lang="en-US" sz="710" dirty="0"/>
          </a:p>
        </p:txBody>
      </p:sp>
      <p:sp>
        <p:nvSpPr>
          <p:cNvPr id="28" name="Text 26"/>
          <p:cNvSpPr/>
          <p:nvPr/>
        </p:nvSpPr>
        <p:spPr>
          <a:xfrm>
            <a:off x="8445398" y="1847088"/>
            <a:ext cx="1217981" cy="74523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9663379" y="1847088"/>
            <a:ext cx="1217981" cy="74523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30" name="Text 28"/>
          <p:cNvSpPr/>
          <p:nvPr/>
        </p:nvSpPr>
        <p:spPr>
          <a:xfrm>
            <a:off x="7589520" y="2592324"/>
            <a:ext cx="855878" cy="74523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[Stakeholder 2]</a:t>
            </a:r>
            <a:endParaRPr lang="en-US" sz="710" dirty="0"/>
          </a:p>
        </p:txBody>
      </p:sp>
      <p:sp>
        <p:nvSpPr>
          <p:cNvPr id="31" name="Text 29"/>
          <p:cNvSpPr/>
          <p:nvPr/>
        </p:nvSpPr>
        <p:spPr>
          <a:xfrm>
            <a:off x="8445398" y="2592324"/>
            <a:ext cx="1217981" cy="74523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663379" y="2592324"/>
            <a:ext cx="1217981" cy="74523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7589520" y="3337560"/>
            <a:ext cx="855878" cy="74523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[Stakeholder 3]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8445398" y="3337560"/>
            <a:ext cx="1217981" cy="74523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9663379" y="3337560"/>
            <a:ext cx="1217981" cy="74523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7589520" y="4082796"/>
            <a:ext cx="855878" cy="74523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[Stakeholder 4]</a:t>
            </a:r>
            <a:endParaRPr lang="en-US" sz="710" dirty="0"/>
          </a:p>
        </p:txBody>
      </p:sp>
      <p:sp>
        <p:nvSpPr>
          <p:cNvPr id="37" name="Text 35"/>
          <p:cNvSpPr/>
          <p:nvPr/>
        </p:nvSpPr>
        <p:spPr>
          <a:xfrm>
            <a:off x="8445398" y="4082796"/>
            <a:ext cx="1217981" cy="74523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663379" y="4082796"/>
            <a:ext cx="1217981" cy="74523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1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PROCESS &amp; OPERATING MODEL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Decision Rights Matrix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clarifying who recommends, decides, executes and reviews.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73405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[Decision]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19856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[Recommend]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65242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[Decide]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0628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[Execute]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256014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[Review]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1755648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1]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19856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65242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10628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256014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2488997"/>
            <a:ext cx="273405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2]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19856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65242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0628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256014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" y="3222346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3]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19856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65242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10628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256014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" y="3955694"/>
            <a:ext cx="273405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4]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19856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65242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310628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256014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5800" y="4689043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5]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19856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365242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10628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256014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5800" y="5650992"/>
            <a:ext cx="10515600" cy="310896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decision rights clarification]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2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81360" y="20116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1234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DCAF63"/>
                </a:solidFill>
                <a:latin typeface="Aptos"/>
              </a:defRPr>
            </a:pPr>
            <a:r>
              <a:rPr lang="en-US" sz="36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&amp; IMPLEMENTATION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>
                <a:solidFill>
                  <a:srgbClr val="BFC0BF"/>
                </a:solidFill>
                <a:latin typeface="Aptos"/>
              </a:defRPr>
            </a:pPr>
            <a:r>
              <a:rPr lang="en-US" sz="2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strategy into sequenced initiatives, milestones, dependencies and delivery controls.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DCAF63"/>
                </a:solidFill>
                <a:latin typeface="Aptos"/>
              </a:defRPr>
            </a:pPr>
            <a:r>
              <a:rPr lang="en-US" sz="12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in this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Roadmap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8120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100-Day Plan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Initiative Prioritization Matrix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60920" y="291693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 Tracker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360920" y="3264408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18120" y="3264408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Tracking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360920" y="361188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8120" y="361188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&amp; Critical Path Map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360920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18120" y="395935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 Office Dashboard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11411712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b="1" i="0">
                <a:solidFill>
                  <a:srgbClr val="BFC0BF"/>
                </a:solidFill>
                <a:latin typeface="Aptos"/>
              </a:defRPr>
            </a:pPr>
            <a:r>
              <a:rPr lang="en-US" sz="800" b="1" i="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</a:t>
            </a:r>
            <a:endParaRPr lang="en-US" sz="7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ROADMAP &amp; IMPLEMENTATION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Strategic Roadmap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laying out workstreams across a multi-year horizon.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0" y="1627632"/>
            <a:ext cx="1828800" cy="292608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[Year 1]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709160" y="1627632"/>
            <a:ext cx="1828800" cy="292608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[Year 2]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675120" y="1627632"/>
            <a:ext cx="1828800" cy="292608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[Year 3]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641080" y="1627632"/>
            <a:ext cx="1828800" cy="292608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[Year 4]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14400" y="2039112"/>
            <a:ext cx="16459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[Workstream A]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0" y="2112264"/>
            <a:ext cx="7863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834640" y="2148840"/>
            <a:ext cx="2286000" cy="27432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[Initiative]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914400" y="2862072"/>
            <a:ext cx="16459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[Workstream B]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0" y="2935224"/>
            <a:ext cx="7863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520440" y="2971800"/>
            <a:ext cx="3291840" cy="27432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[Initiative]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914400" y="3685032"/>
            <a:ext cx="16459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[Workstream C]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0" y="3758184"/>
            <a:ext cx="7863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206240" y="3794760"/>
            <a:ext cx="2286000" cy="274320"/>
          </a:xfrm>
          <a:prstGeom prst="rect">
            <a:avLst/>
          </a:prstGeom>
          <a:solidFill>
            <a:srgbClr val="DCAF63"/>
          </a:solidFill>
          <a:ln w="8890">
            <a:solidFill>
              <a:srgbClr val="DCAF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[Initiative]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914400" y="4507992"/>
            <a:ext cx="1645920" cy="502920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[Workstream D]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0" y="4581144"/>
            <a:ext cx="7863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834640" y="4617720"/>
            <a:ext cx="3291840" cy="274320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[Initiative]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914400" y="5742432"/>
            <a:ext cx="969264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roadmap headline / critical path]</a:t>
            </a:r>
            <a:endParaRPr lang="en-US" sz="108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ROADMAP &amp; IMPLEMENTATION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100-Day Plan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aligning near-term actions, outputs and owners after approval.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24612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0–30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56232"/>
            <a:ext cx="3246120" cy="2971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[Priority actions]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[Action]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[Action]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[Outputs]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[Output]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43400" y="1444752"/>
            <a:ext cx="324612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31–60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1856232"/>
            <a:ext cx="3246120" cy="2971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[Priority actions]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[Action]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[Action]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[Outputs]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[Output]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01000" y="1444752"/>
            <a:ext cx="3246120" cy="32004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61–100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01000" y="1856232"/>
            <a:ext cx="3246120" cy="2971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[Priority actions]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[Action]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[Action]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[Outputs]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[Output]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5559552"/>
            <a:ext cx="10561320" cy="4572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100-day objective]</a:t>
            </a:r>
            <a:endParaRPr lang="en-US" sz="109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ROADMAP &amp; IMPLEMENTATION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Initiative Prioritization Matrix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ranking initiatives by impact and effort.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069080" y="1536192"/>
            <a:ext cx="0" cy="425196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68680" y="3662172"/>
            <a:ext cx="640080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68680" y="5806440"/>
            <a:ext cx="640080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5788152"/>
            <a:ext cx="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697480" y="5870448"/>
            <a:ext cx="2743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[Effort]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 rot="16200000">
            <a:off x="210312" y="3589020"/>
            <a:ext cx="548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[Impact]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" y="1609344"/>
            <a:ext cx="305409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[Quick wins]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42232" y="1609344"/>
            <a:ext cx="305409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[Major projects]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41832" y="5532120"/>
            <a:ext cx="305409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[Fill-ins]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42232" y="5532120"/>
            <a:ext cx="305409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[Defer]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496312" y="2325319"/>
            <a:ext cx="329184" cy="29260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[I1]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12664" y="2580437"/>
            <a:ext cx="329184" cy="29260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[I2]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68296" y="4366260"/>
            <a:ext cx="329184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[I3]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12664" y="4578858"/>
            <a:ext cx="329184" cy="292608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[I4]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26680" y="1536192"/>
            <a:ext cx="80833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[Initiative]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8535010" y="1536192"/>
            <a:ext cx="1150315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[Impact]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9685325" y="1536192"/>
            <a:ext cx="1150315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7726680" y="1847088"/>
            <a:ext cx="808330" cy="7680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[I1]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8535010" y="1847088"/>
            <a:ext cx="1150315" cy="7680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9685325" y="1847088"/>
            <a:ext cx="1150315" cy="7680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7726680" y="2615184"/>
            <a:ext cx="808330" cy="7680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[I2]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8535010" y="2615184"/>
            <a:ext cx="1150315" cy="7680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9685325" y="2615184"/>
            <a:ext cx="1150315" cy="7680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7726680" y="3383280"/>
            <a:ext cx="808330" cy="7680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[I3]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535010" y="3383280"/>
            <a:ext cx="1150315" cy="7680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9685325" y="3383280"/>
            <a:ext cx="1150315" cy="7680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7726680" y="4151376"/>
            <a:ext cx="808330" cy="7680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[I4]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8535010" y="4151376"/>
            <a:ext cx="1150315" cy="7680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9685325" y="4151376"/>
            <a:ext cx="1150315" cy="7680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2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ROADMAP &amp; IMPLEMENTATION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Milestone Tracker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tracking key milestones, status and escalation needs.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73405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[Milestone]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3419856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4976165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[Due date]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6532474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[Status]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8088782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9645091" y="1444752"/>
            <a:ext cx="155630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[Next action]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685800" y="1755648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[Milestone 1]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3419856" y="1755648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4976165" y="1755648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6532474" y="1755648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8088782" y="1755648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9645091" y="1755648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685800" y="2488997"/>
            <a:ext cx="273405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[Milestone 2]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3419856" y="2488997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976165" y="2488997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6532474" y="2488997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8088782" y="2488997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9645091" y="2488997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85800" y="3222346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[Milestone 3]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3419856" y="3222346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4976165" y="3222346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6532474" y="3222346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8088782" y="3222346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9645091" y="3222346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685800" y="3955694"/>
            <a:ext cx="273405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[Milestone 4]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3419856" y="3955694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4976165" y="3955694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6532474" y="3955694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8088782" y="3955694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9645091" y="3955694"/>
            <a:ext cx="1556309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685800" y="4689043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[Milestone 5]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3419856" y="4689043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4976165" y="4689043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6532474" y="4689043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8088782" y="4689043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45" name="Text 43"/>
          <p:cNvSpPr/>
          <p:nvPr/>
        </p:nvSpPr>
        <p:spPr>
          <a:xfrm>
            <a:off x="9645091" y="4689043"/>
            <a:ext cx="1556309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685800" y="5650992"/>
            <a:ext cx="10515600" cy="310896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schedule implication / escalation]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ROADMAP &amp; IMPLEMENTATION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Benefits Tracking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tracking whether expected benefits are being realized.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324612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[Benefit 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3017520"/>
            <a:ext cx="2880360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05840" y="2020824"/>
            <a:ext cx="0" cy="99669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 rot="16200000">
            <a:off x="228600" y="2039112"/>
            <a:ext cx="411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00200" y="3291840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[X-Axis Label]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89888" y="2647188"/>
            <a:ext cx="554736" cy="370332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371600" y="3063240"/>
            <a:ext cx="59131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145792" y="2482596"/>
            <a:ext cx="554736" cy="534924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127504" y="3063240"/>
            <a:ext cx="59131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901696" y="2342693"/>
            <a:ext cx="554736" cy="674827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883408" y="3063240"/>
            <a:ext cx="59131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85800" y="3593592"/>
            <a:ext cx="324612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[Realization plan]</a:t>
            </a:r>
            <a:endParaRPr lang="en-US" sz="92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2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343400" y="1444752"/>
            <a:ext cx="3246120" cy="310896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[Benefit 2]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2880360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663440" y="2020824"/>
            <a:ext cx="0" cy="99669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 rot="16200000">
            <a:off x="3886200" y="2039112"/>
            <a:ext cx="411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57800" y="3291840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[X-Axis Label]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047488" y="2647188"/>
            <a:ext cx="554736" cy="370332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029200" y="3063240"/>
            <a:ext cx="59131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803392" y="2482596"/>
            <a:ext cx="554736" cy="534924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785104" y="3063240"/>
            <a:ext cx="59131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559296" y="2342693"/>
            <a:ext cx="554736" cy="674827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541008" y="3063240"/>
            <a:ext cx="59131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343400" y="3593592"/>
            <a:ext cx="324612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[Realization plan]</a:t>
            </a:r>
            <a:endParaRPr lang="en-US" sz="92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2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8001000" y="1444752"/>
            <a:ext cx="324612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[Benefit 3]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21040" y="3017520"/>
            <a:ext cx="2880360" cy="0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321040" y="2020824"/>
            <a:ext cx="0" cy="996696"/>
          </a:xfrm>
          <a:prstGeom prst="line">
            <a:avLst/>
          </a:prstGeom>
          <a:noFill/>
          <a:ln w="8890">
            <a:solidFill>
              <a:srgbClr val="4D4D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 rot="16200000">
            <a:off x="7543800" y="2039112"/>
            <a:ext cx="411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[Y-Axis]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915400" y="3291840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[X-Axis Label]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705088" y="2647188"/>
            <a:ext cx="554736" cy="370332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686800" y="3063240"/>
            <a:ext cx="59131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9460992" y="2482596"/>
            <a:ext cx="554736" cy="534924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442704" y="3063240"/>
            <a:ext cx="59131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0216896" y="2342693"/>
            <a:ext cx="554736" cy="674827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0198608" y="3063240"/>
            <a:ext cx="59131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001000" y="3593592"/>
            <a:ext cx="324612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[Realization plan]</a:t>
            </a:r>
            <a:endParaRPr lang="en-US" sz="92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2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685800" y="5650992"/>
            <a:ext cx="10561320" cy="384048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benefits realization message]</a:t>
            </a:r>
            <a:endParaRPr lang="en-US" sz="108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ROADMAP &amp; IMPLEMENTATION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Dependency &amp; Critical Path 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dependencies that could delay implementation.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993392"/>
            <a:ext cx="82296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394960" y="1993392"/>
            <a:ext cx="82296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046720" y="1993392"/>
            <a:ext cx="82296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434840" y="2377440"/>
            <a:ext cx="0" cy="850392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536192"/>
            <a:ext cx="1920240" cy="7772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 A]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1536192"/>
            <a:ext cx="1920240" cy="77724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 B]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536192"/>
            <a:ext cx="1920240" cy="77724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 C]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78240" y="1536192"/>
            <a:ext cx="1920240" cy="7772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 D]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364992"/>
            <a:ext cx="2011680" cy="6858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[Critical dependency]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279392"/>
            <a:ext cx="2496312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[Workstream]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10712" y="4279392"/>
            <a:ext cx="1776222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[Dependency]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86934" y="4279392"/>
            <a:ext cx="1776222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963156" y="4279392"/>
            <a:ext cx="1776222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[Due]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739378" y="4279392"/>
            <a:ext cx="1776222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[Escalation]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14400" y="4590288"/>
            <a:ext cx="2496312" cy="27736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[Item 1]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10712" y="4590288"/>
            <a:ext cx="1776222" cy="27736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86934" y="4590288"/>
            <a:ext cx="1776222" cy="27736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963156" y="4590288"/>
            <a:ext cx="1776222" cy="27736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739378" y="4590288"/>
            <a:ext cx="1776222" cy="27736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14400" y="4867656"/>
            <a:ext cx="2496312" cy="2773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[Item 2]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10712" y="4867656"/>
            <a:ext cx="1776222" cy="2773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186934" y="4867656"/>
            <a:ext cx="1776222" cy="2773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963156" y="4867656"/>
            <a:ext cx="1776222" cy="2773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739378" y="4867656"/>
            <a:ext cx="1776222" cy="2773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14400" y="5145024"/>
            <a:ext cx="2496312" cy="27736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[Item 3]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10712" y="5145024"/>
            <a:ext cx="1776222" cy="27736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186934" y="5145024"/>
            <a:ext cx="1776222" cy="27736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63156" y="5145024"/>
            <a:ext cx="1776222" cy="27736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739378" y="5145024"/>
            <a:ext cx="1776222" cy="277368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ROADMAP &amp; IMPLEMENTATION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Transformation Office Dashboard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summarizing implementation health and decisions needed.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377440" cy="29260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[On track]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2377440" cy="65836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[xx]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444752"/>
            <a:ext cx="2377440" cy="292608"/>
          </a:xfrm>
          <a:prstGeom prst="rect">
            <a:avLst/>
          </a:prstGeom>
          <a:solidFill>
            <a:srgbClr val="DCAF63"/>
          </a:solidFill>
          <a:ln w="8890">
            <a:solidFill>
              <a:srgbClr val="DCAF63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[At risk]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65836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[xx]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80760" y="1444752"/>
            <a:ext cx="2377440" cy="292608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[Delayed]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1828800"/>
            <a:ext cx="2377440" cy="65836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[xx]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78240" y="1444752"/>
            <a:ext cx="2377440" cy="292608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[Decisions]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78240" y="1828800"/>
            <a:ext cx="2377440" cy="65836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[xx]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2999232"/>
            <a:ext cx="2745943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[Workstream]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431743" y="2999232"/>
            <a:ext cx="19538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[Status]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5385587" y="2999232"/>
            <a:ext cx="19538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7339432" y="2999232"/>
            <a:ext cx="19538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[Issue]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9293276" y="2999232"/>
            <a:ext cx="1953844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[Ask]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685800" y="3310128"/>
            <a:ext cx="2745943" cy="5280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[Workstream 1]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3431743" y="3310128"/>
            <a:ext cx="1953844" cy="5280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5385587" y="3310128"/>
            <a:ext cx="1953844" cy="5280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39432" y="3310128"/>
            <a:ext cx="1953844" cy="5280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9293276" y="3310128"/>
            <a:ext cx="1953844" cy="5280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85800" y="3838194"/>
            <a:ext cx="2745943" cy="5280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[Workstream 2]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3431743" y="3838194"/>
            <a:ext cx="1953844" cy="5280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5385587" y="3838194"/>
            <a:ext cx="1953844" cy="5280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7339432" y="3838194"/>
            <a:ext cx="1953844" cy="5280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9293276" y="3838194"/>
            <a:ext cx="1953844" cy="5280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685800" y="4366260"/>
            <a:ext cx="2745943" cy="5280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[Workstream 3]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3431743" y="4366260"/>
            <a:ext cx="1953844" cy="5280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5385587" y="4366260"/>
            <a:ext cx="1953844" cy="5280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39432" y="4366260"/>
            <a:ext cx="1953844" cy="5280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9293276" y="4366260"/>
            <a:ext cx="1953844" cy="52806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685800" y="4894326"/>
            <a:ext cx="2745943" cy="5280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[Workstream 4]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3431743" y="4894326"/>
            <a:ext cx="1953844" cy="5280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385587" y="4894326"/>
            <a:ext cx="1953844" cy="5280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339432" y="4894326"/>
            <a:ext cx="1953844" cy="5280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9293276" y="4894326"/>
            <a:ext cx="1953844" cy="52806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4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2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81360" y="20116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1234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DCAF63"/>
                </a:solidFill>
                <a:latin typeface="Aptos"/>
              </a:defRPr>
            </a:pPr>
            <a:r>
              <a:rPr lang="en-US" sz="36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>
                <a:solidFill>
                  <a:srgbClr val="BFC0BF"/>
                </a:solidFill>
                <a:latin typeface="Aptos"/>
              </a:defRPr>
            </a:pPr>
            <a:r>
              <a:rPr lang="en-US" sz="2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structure, capabilities, resources and change implications.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DCAF63"/>
                </a:solidFill>
                <a:latin typeface="Aptos"/>
              </a:defRPr>
            </a:pPr>
            <a:r>
              <a:rPr lang="en-US" sz="12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in this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 Chart: Current / Proposed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8120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Assessment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 / Resource Requirements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60920" y="291693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Impact Assessment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360920" y="3264408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18120" y="3264408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Alignment Map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11411712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b="1" i="0">
                <a:solidFill>
                  <a:srgbClr val="BFC0BF"/>
                </a:solidFill>
                <a:latin typeface="Aptos"/>
              </a:defRPr>
            </a:pPr>
            <a:r>
              <a:rPr lang="en-US" sz="800" b="1" i="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</a:t>
            </a:r>
            <a:endParaRPr lang="en-US" sz="7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ORGANIZATIONAL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Org Chart: Current / Proposed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organization structure and accountability shifts.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86400" y="2084832"/>
            <a:ext cx="0" cy="54864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971800" y="2633472"/>
            <a:ext cx="502920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971800" y="2633472"/>
            <a:ext cx="0" cy="32004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0" y="2633472"/>
            <a:ext cx="0" cy="32004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01000" y="2633472"/>
            <a:ext cx="0" cy="32004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34840" y="1536192"/>
            <a:ext cx="2103120" cy="5486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[Name / Role]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2953512"/>
            <a:ext cx="1920240" cy="53035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[Function A]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2953512"/>
            <a:ext cx="1920240" cy="530352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[Function B]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86600" y="2953512"/>
            <a:ext cx="1920240" cy="53035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[Function C]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57400" y="3822192"/>
            <a:ext cx="1920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[Team / role]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3822192"/>
            <a:ext cx="1920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[Team / role]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86600" y="3822192"/>
            <a:ext cx="1920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[Team / role]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68680" y="5102352"/>
            <a:ext cx="259141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[Item]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60090" y="5102352"/>
            <a:ext cx="2458517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[Change]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18606" y="5102352"/>
            <a:ext cx="2458517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[Rationale]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377123" y="5102352"/>
            <a:ext cx="2458517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[Risk]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68680" y="5413248"/>
            <a:ext cx="2591410" cy="51206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[Org implication]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60090" y="5413248"/>
            <a:ext cx="2458517" cy="51206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18606" y="5413248"/>
            <a:ext cx="2458517" cy="51206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377123" y="5413248"/>
            <a:ext cx="2458517" cy="512064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ORGANIZATIONAL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Capability Assessment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identifying capability gaps and build priorities.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129844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84248" y="1444752"/>
            <a:ext cx="129844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[People]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82696" y="1444752"/>
            <a:ext cx="129844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[Process]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81144" y="1444752"/>
            <a:ext cx="129844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[Tech]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79592" y="1444752"/>
            <a:ext cx="1298448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1755648"/>
            <a:ext cx="129844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1]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84248" y="1755648"/>
            <a:ext cx="129844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82696" y="1755648"/>
            <a:ext cx="1298448" cy="760781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81144" y="1755648"/>
            <a:ext cx="1298448" cy="760781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879592" y="1755648"/>
            <a:ext cx="1298448" cy="760781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2516429"/>
            <a:ext cx="129844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2]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984248" y="2516429"/>
            <a:ext cx="1298448" cy="760781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82696" y="2516429"/>
            <a:ext cx="1298448" cy="760781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581144" y="2516429"/>
            <a:ext cx="1298448" cy="760781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879592" y="2516429"/>
            <a:ext cx="129844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" y="3277210"/>
            <a:ext cx="129844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3]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84248" y="3277210"/>
            <a:ext cx="1298448" cy="760781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82696" y="3277210"/>
            <a:ext cx="1298448" cy="760781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81144" y="3277210"/>
            <a:ext cx="129844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79592" y="3277210"/>
            <a:ext cx="1298448" cy="760781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" y="4037990"/>
            <a:ext cx="129844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4]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984248" y="4037990"/>
            <a:ext cx="1298448" cy="760781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82696" y="4037990"/>
            <a:ext cx="129844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581144" y="4037990"/>
            <a:ext cx="1298448" cy="760781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879592" y="4037990"/>
            <a:ext cx="1298448" cy="760781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5800" y="4798771"/>
            <a:ext cx="129844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[Capability 5]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984248" y="4798771"/>
            <a:ext cx="1298448" cy="760781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282696" y="4798771"/>
            <a:ext cx="1298448" cy="760781"/>
          </a:xfrm>
          <a:prstGeom prst="rect">
            <a:avLst/>
          </a:prstGeom>
          <a:solidFill>
            <a:srgbClr val="97BDB5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81144" y="4798771"/>
            <a:ext cx="1298448" cy="760781"/>
          </a:xfrm>
          <a:prstGeom prst="rect">
            <a:avLst/>
          </a:prstGeom>
          <a:solidFill>
            <a:srgbClr val="DCAF63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879592" y="4798771"/>
            <a:ext cx="1298448" cy="760781"/>
          </a:xfrm>
          <a:prstGeom prst="rect">
            <a:avLst/>
          </a:prstGeom>
          <a:solidFill>
            <a:srgbClr val="A37C49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726680" y="1444752"/>
            <a:ext cx="310896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gaps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26680" y="1856232"/>
            <a:ext cx="31089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[Gap 1]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[Gap 2]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[Gap 3]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26680" y="3456432"/>
            <a:ext cx="310896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plan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26680" y="3867912"/>
            <a:ext cx="3108960" cy="1143000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[Initiatives]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[Timeline]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ORGANIZATIONAL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Talent / Resource Requirements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translating strategy into role and resource needs.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73405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/ skill]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19856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[Current FTE]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65242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[Required FTE]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0628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[Gap]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256014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[Hiring / redeploy]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1755648"/>
            <a:ext cx="2734056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1]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19856" y="1755648"/>
            <a:ext cx="1945386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65242" y="1755648"/>
            <a:ext cx="1945386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10628" y="1755648"/>
            <a:ext cx="1945386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256014" y="1755648"/>
            <a:ext cx="1945386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2409444"/>
            <a:ext cx="2734056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2]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19856" y="2409444"/>
            <a:ext cx="1945386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65242" y="2409444"/>
            <a:ext cx="1945386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0628" y="2409444"/>
            <a:ext cx="1945386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256014" y="2409444"/>
            <a:ext cx="1945386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" y="3063240"/>
            <a:ext cx="2734056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3]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19856" y="3063240"/>
            <a:ext cx="1945386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65242" y="3063240"/>
            <a:ext cx="1945386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10628" y="3063240"/>
            <a:ext cx="1945386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256014" y="3063240"/>
            <a:ext cx="1945386" cy="653796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" y="3717036"/>
            <a:ext cx="2734056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4]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19856" y="3717036"/>
            <a:ext cx="1945386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65242" y="3717036"/>
            <a:ext cx="1945386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310628" y="3717036"/>
            <a:ext cx="1945386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256014" y="3717036"/>
            <a:ext cx="1945386" cy="6537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5800" y="4645152"/>
            <a:ext cx="5029200" cy="68580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talent implication]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4645152"/>
            <a:ext cx="5029200" cy="685800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resourcing ask]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ORGANIZATIONAL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Change Impact Assessment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showing who is affected and what support is required.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1830629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[Stakeholder group]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16429" y="1444752"/>
            <a:ext cx="173675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[Impact]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253179" y="1444752"/>
            <a:ext cx="173675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[Readiness]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89930" y="1444752"/>
            <a:ext cx="1736750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[Support needed]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5800" y="1755648"/>
            <a:ext cx="1830629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[Leadership]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16429" y="1755648"/>
            <a:ext cx="1736750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53179" y="1755648"/>
            <a:ext cx="1736750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89930" y="1755648"/>
            <a:ext cx="1736750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5800" y="2525573"/>
            <a:ext cx="1830629" cy="76992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[Managers]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6429" y="2525573"/>
            <a:ext cx="1736750" cy="76992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53179" y="2525573"/>
            <a:ext cx="1736750" cy="76992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930" y="2525573"/>
            <a:ext cx="1736750" cy="76992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" y="3295498"/>
            <a:ext cx="1830629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[Frontline]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16429" y="3295498"/>
            <a:ext cx="1736750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253179" y="3295498"/>
            <a:ext cx="1736750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989930" y="3295498"/>
            <a:ext cx="1736750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5800" y="4065422"/>
            <a:ext cx="1830629" cy="76992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[Customers]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16429" y="4065422"/>
            <a:ext cx="1736750" cy="76992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253179" y="4065422"/>
            <a:ext cx="1736750" cy="76992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89930" y="4065422"/>
            <a:ext cx="1736750" cy="769925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" y="4835347"/>
            <a:ext cx="1830629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[Partners]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6429" y="4835347"/>
            <a:ext cx="1736750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53179" y="4835347"/>
            <a:ext cx="1736750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930" y="4835347"/>
            <a:ext cx="1736750" cy="769925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092440" y="1444752"/>
            <a:ext cx="2971800" cy="320040"/>
          </a:xfrm>
          <a:prstGeom prst="rect">
            <a:avLst/>
          </a:prstGeom>
          <a:solidFill>
            <a:srgbClr val="12102C"/>
          </a:solidFill>
          <a:ln w="8890">
            <a:solidFill>
              <a:srgbClr val="12102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plan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92440" y="1856232"/>
            <a:ext cx="2971800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[Communicate]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[Train]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[Coach]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[Reinforce]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92440" y="3959352"/>
            <a:ext cx="2971800" cy="77724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adoption risk]</a:t>
            </a:r>
            <a:endParaRPr lang="en-US" sz="10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ORGANIZATIONAL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Leadership Alignment 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planning how to build support and resolve concerns.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977640" y="1536192"/>
            <a:ext cx="0" cy="420624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68680" y="3639312"/>
            <a:ext cx="6217920" cy="0"/>
          </a:xfrm>
          <a:prstGeom prst="line">
            <a:avLst/>
          </a:prstGeom>
          <a:noFill/>
          <a:ln w="12700">
            <a:solidFill>
              <a:srgbClr val="BFC0B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68680" y="5879592"/>
            <a:ext cx="621792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5742432"/>
            <a:ext cx="0" cy="0"/>
          </a:xfrm>
          <a:prstGeom prst="line">
            <a:avLst/>
          </a:prstGeom>
          <a:noFill/>
          <a:ln w="10160">
            <a:solidFill>
              <a:srgbClr val="4D4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606040" y="5824728"/>
            <a:ext cx="2743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[Influence]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 rot="16200000">
            <a:off x="210312" y="3566160"/>
            <a:ext cx="5486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[Alignment]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" y="1609344"/>
            <a:ext cx="29626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[Sponsors]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50792" y="1609344"/>
            <a:ext cx="29626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[Persuade]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41832" y="5486400"/>
            <a:ext cx="29626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[Maintain]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050792" y="5486400"/>
            <a:ext cx="29626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[Resolve concerns]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54066" y="2315261"/>
            <a:ext cx="329184" cy="292608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[L1]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32274" y="4166006"/>
            <a:ext cx="329184" cy="292608"/>
          </a:xfrm>
          <a:prstGeom prst="rect">
            <a:avLst/>
          </a:prstGeom>
          <a:solidFill>
            <a:srgbClr val="A36431"/>
          </a:solidFill>
          <a:ln w="8890">
            <a:solidFill>
              <a:srgbClr val="A364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[L2]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93822" y="2567635"/>
            <a:ext cx="329184" cy="292608"/>
          </a:xfrm>
          <a:prstGeom prst="rect">
            <a:avLst/>
          </a:prstGeom>
          <a:solidFill>
            <a:srgbClr val="97BDB5"/>
          </a:solidFill>
          <a:ln w="8890">
            <a:solidFill>
              <a:srgbClr val="97BDB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[L3]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45106" y="4334256"/>
            <a:ext cx="329184" cy="292608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[L4]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35240" y="1536192"/>
            <a:ext cx="3246120" cy="32004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 actions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35240" y="1993392"/>
            <a:ext cx="3246120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BFC0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[Leader]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[Concern]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[Message]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9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[Timing]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35240" y="4919472"/>
            <a:ext cx="3246120" cy="502920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alignment implication]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2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97BDB5"/>
          </a:solidFill>
          <a:ln w="6350">
            <a:solidFill>
              <a:srgbClr val="97B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81360" y="201168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1234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DCAF63"/>
                </a:solidFill>
                <a:latin typeface="Aptos"/>
              </a:defRPr>
            </a:pPr>
            <a:r>
              <a:rPr lang="en-US" sz="36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&amp; NEXT STEPS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2000">
                <a:solidFill>
                  <a:srgbClr val="BFC0BF"/>
                </a:solidFill>
                <a:latin typeface="Aptos"/>
              </a:defRPr>
            </a:pPr>
            <a:r>
              <a:rPr lang="en-US" sz="2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with actions, unresolved issues, backup material and contact details.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200" b="1">
                <a:solidFill>
                  <a:srgbClr val="DCAF63"/>
                </a:solidFill>
                <a:latin typeface="Aptos"/>
              </a:defRPr>
            </a:pPr>
            <a:r>
              <a:rPr lang="en-US" sz="12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in this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874520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 &amp; Owners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8120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Issues / Parking Lot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/ Backup Cover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60920" y="2916936"/>
            <a:ext cx="3474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 b="1">
                <a:solidFill>
                  <a:srgbClr val="DCAF63"/>
                </a:solidFill>
                <a:latin typeface="Aptos"/>
              </a:defRPr>
            </a:pPr>
            <a:r>
              <a:rPr lang="en-US" sz="1000" b="1" dirty="0">
                <a:solidFill>
                  <a:srgbClr val="DCA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BFC0BF"/>
                </a:solidFill>
                <a:latin typeface="Aptos"/>
              </a:defRPr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/ Contact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11411712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b="1" i="0">
                <a:solidFill>
                  <a:srgbClr val="BFC0BF"/>
                </a:solidFill>
                <a:latin typeface="Aptos"/>
              </a:defRPr>
            </a:pPr>
            <a:r>
              <a:rPr lang="en-US" sz="800" b="1" i="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</a:t>
            </a:r>
            <a:endParaRPr lang="en-US" sz="7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CLOSING &amp; NEXT STEPS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Next Steps &amp; Owners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converting decisions into actions, owners and dates.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73405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[Next step]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19856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65242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[Due date]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0628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[Output]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256014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[Status]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1755648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 1]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19856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65242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10628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256014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2488997"/>
            <a:ext cx="273405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 2]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19856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65242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0628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256014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" y="3222346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 3]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19856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65242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10628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256014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" y="3955694"/>
            <a:ext cx="273405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 4]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19856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65242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310628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256014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5800" y="4689043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 5]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19856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365242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10628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256014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5800" y="5650992"/>
            <a:ext cx="10515600" cy="310896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immediate leadership ask]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CLOSING &amp; NEXT STEPS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Open Issues / Parking Lot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tracking unresolved topics and closure path.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44752"/>
            <a:ext cx="273405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[Open issue]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19856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needed]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65242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[Options]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0628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[Owner]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256014" y="1444752"/>
            <a:ext cx="1945386" cy="310896"/>
          </a:xfrm>
          <a:prstGeom prst="rect">
            <a:avLst/>
          </a:prstGeom>
          <a:solidFill>
            <a:srgbClr val="12102C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[Due]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1755648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[Issue 1]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19856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65242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10628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256014" y="1755648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2488997"/>
            <a:ext cx="273405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[Issue 2]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19856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65242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0628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256014" y="2488997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" y="3222346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[Issue 3]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19856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65242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10628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256014" y="3222346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" y="3955694"/>
            <a:ext cx="273405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[Issue 4]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19856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65242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310628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256014" y="3955694"/>
            <a:ext cx="1945386" cy="733349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5800" y="4689043"/>
            <a:ext cx="273405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[Issue 5]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19856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365242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10628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256014" y="4689043"/>
            <a:ext cx="1945386" cy="733349"/>
          </a:xfrm>
          <a:prstGeom prst="rect">
            <a:avLst/>
          </a:prstGeom>
          <a:solidFill>
            <a:srgbClr val="BFC0BF"/>
          </a:solidFill>
          <a:ln w="889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5800" y="5650992"/>
            <a:ext cx="10515600" cy="310896"/>
          </a:xfrm>
          <a:prstGeom prst="rect">
            <a:avLst/>
          </a:prstGeom>
          <a:solidFill>
            <a:srgbClr val="DCAF63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escalation / path to closure]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CLOSING &amp; NEXT STEPS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Appendix / Backup Cover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separating supporting analysis from the main discussion.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627632"/>
            <a:ext cx="10561320" cy="3931920"/>
          </a:xfrm>
          <a:prstGeom prst="rect">
            <a:avLst/>
          </a:prstGeom>
          <a:solidFill>
            <a:srgbClr val="BFC0BF"/>
          </a:solidFill>
          <a:ln w="6350">
            <a:solidFill>
              <a:srgbClr val="BFC0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43000" y="2450592"/>
            <a:ext cx="5303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[Appendix Section Title]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43000" y="3090672"/>
            <a:ext cx="47548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short description of backup analysis included in this section]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23960" y="2450592"/>
            <a:ext cx="1280160" cy="914400"/>
          </a:xfrm>
          <a:prstGeom prst="rect">
            <a:avLst/>
          </a:prstGeom>
          <a:solidFill>
            <a:srgbClr val="A37C49"/>
          </a:solidFill>
          <a:ln w="8890">
            <a:solidFill>
              <a:srgbClr val="A37C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[Appendix #]</a:t>
            </a:r>
            <a:endParaRPr lang="en-US" sz="2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058400" y="13716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  <a:defRPr sz="1000" b="1">
                <a:solidFill>
                  <a:srgbClr val="A37C49"/>
                </a:solidFill>
                <a:latin typeface="Aptos"/>
              </a:defRPr>
            </a:pPr>
            <a:r>
              <a:rPr lang="en-US" sz="1000" b="1" dirty="0">
                <a:solidFill>
                  <a:srgbClr val="A37C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[Logo]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01000" y="475488"/>
            <a:ext cx="2651760" cy="210312"/>
          </a:xfrm>
          <a:prstGeom prst="rect">
            <a:avLst/>
          </a:prstGeom>
          <a:solidFill>
            <a:srgbClr val="BFC0BF"/>
          </a:solidFill>
          <a:ln w="8890">
            <a:solidFill>
              <a:srgbClr val="BFC0B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  <a:defRPr sz="800" b="1" i="0">
                <a:solidFill>
                  <a:srgbClr val="4D4D4C"/>
                </a:solidFill>
                <a:latin typeface="Aptos"/>
              </a:defRPr>
            </a:pPr>
            <a:r>
              <a:rPr lang="en-US" sz="8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CLOSING &amp; NEXT STEPS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210312"/>
            <a:ext cx="7298080" cy="566928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3600" b="1" i="0">
                <a:solidFill>
                  <a:srgbClr val="000000"/>
                </a:solidFill>
                <a:latin typeface="Aptos"/>
              </a:defRPr>
            </a:pPr>
            <a:r>
              <a:rPr lang="en-US" sz="3600" b="1" i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key takeaway headline]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2000" b="1" i="0">
                <a:solidFill>
                  <a:srgbClr val="4D4D4C"/>
                </a:solidFill>
                <a:latin typeface="Aptos"/>
              </a:defRPr>
            </a:pPr>
            <a:r>
              <a:rPr lang="en-US" sz="2000" b="1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Template: Thank You / Contact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635" bIns="0" rtlCol="0" anchor="t">
            <a:normAutofit/>
          </a:bodyPr>
          <a:lstStyle/>
          <a:p>
            <a:pPr marL="0" indent="0" algn="l">
              <a:buNone/>
              <a:defRPr sz="1000" b="0" i="0">
                <a:solidFill>
                  <a:srgbClr val="4D4D4C"/>
                </a:solidFill>
                <a:latin typeface="Aptos"/>
              </a:defRPr>
            </a:pPr>
            <a:r>
              <a:rPr lang="en-US" sz="1000" b="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closing a board or leadership discussion with contact details.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4754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  <a:defRPr sz="800" i="1">
                <a:solidFill>
                  <a:srgbClr val="4D4D4C"/>
                </a:solidFill>
                <a:latin typeface="Aptos"/>
              </a:defRPr>
            </a:pPr>
            <a:r>
              <a:rPr lang="en-US" sz="800" i="1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[Insert source / footnote]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11712" y="6501384"/>
            <a:ext cx="457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  <a:defRPr sz="800" i="0">
                <a:solidFill>
                  <a:srgbClr val="4D4D4C"/>
                </a:solidFill>
                <a:latin typeface="Aptos"/>
              </a:defRPr>
            </a:pPr>
            <a:r>
              <a:rPr lang="en-US" sz="800" i="0" dirty="0">
                <a:solidFill>
                  <a:srgbClr val="4D4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399032"/>
            <a:ext cx="10561320" cy="4709160"/>
          </a:xfrm>
          <a:prstGeom prst="rect">
            <a:avLst/>
          </a:prstGeom>
          <a:solidFill>
            <a:srgbClr val="12102C"/>
          </a:solidFill>
          <a:ln w="6350">
            <a:solidFill>
              <a:srgbClr val="121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43000" y="2039112"/>
            <a:ext cx="4572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[Thank You]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43000" y="2862072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closing message]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2221992"/>
            <a:ext cx="29260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[Contact Name]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[Title]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[Email]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[Phone]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4325112"/>
            <a:ext cx="8961120" cy="45720"/>
          </a:xfrm>
          <a:prstGeom prst="rect">
            <a:avLst/>
          </a:prstGeom>
          <a:solidFill>
            <a:srgbClr val="A37C49"/>
          </a:solidFill>
          <a:ln w="6350">
            <a:solidFill>
              <a:srgbClr val="A37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43000" y="4690872"/>
            <a:ext cx="8412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F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[Company address / website]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9370</Words>
  <Application>Microsoft Office PowerPoint</Application>
  <PresentationFormat>Widescreen</PresentationFormat>
  <Paragraphs>2429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[Company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[Company Name] | Corporate Strategy Template Library | [Year]</dc:title>
  <dc:subject>Corporate Strategy Template Library</dc:subject>
  <dc:creator>OpenAI</dc:creator>
  <cp:lastModifiedBy>Jason Ng Jie Xin [/CSP/CS/MY]</cp:lastModifiedBy>
  <cp:revision>2</cp:revision>
  <dcterms:created xsi:type="dcterms:W3CDTF">2026-05-13T17:59:08Z</dcterms:created>
  <dcterms:modified xsi:type="dcterms:W3CDTF">2026-05-14T02:24:05Z</dcterms:modified>
</cp:coreProperties>
</file>