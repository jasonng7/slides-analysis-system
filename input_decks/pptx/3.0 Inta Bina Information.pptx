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omments/modernComment_1326_C5AFE6C4.xml" ContentType="application/vnd.ms-powerpoint.comments+xml"/>
  <Override PartName="/ppt/comments/modernComment_12DE_A4105B3F.xml" ContentType="application/vnd.ms-powerpoint.comments+xml"/>
  <Override PartName="/ppt/comments/modernComment_1330_D6E488C8.xml" ContentType="application/vnd.ms-powerpoint.comments+xml"/>
  <Override PartName="/ppt/comments/modernComment_1337_CD5045DD.xml" ContentType="application/vnd.ms-powerpoint.comments+xml"/>
  <Override PartName="/ppt/comments/modernComment_1338_C8567E51.xml" ContentType="application/vnd.ms-powerpoint.comments+xml"/>
  <Override PartName="/ppt/notesSlides/notesSlide1.xml" ContentType="application/vnd.openxmlformats-officedocument.presentationml.notesSlide+xml"/>
  <Override PartName="/ppt/comments/modernComment_10A_34A21654.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drawings/drawing1.xml" ContentType="application/vnd.openxmlformats-officedocument.drawingml.chartshapes+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omments/modernComment_12ED_21FCD7E.xml" ContentType="application/vnd.ms-powerpoint.comments+xml"/>
  <Override PartName="/ppt/comments/modernComment_12D9_17E60B62.xml" ContentType="application/vnd.ms-powerpoint.comments+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omments/modernComment_12DA_BE37A0D6.xml" ContentType="application/vnd.ms-powerpoint.comments+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97" r:id="rId2"/>
    <p:sldId id="4915" r:id="rId3"/>
    <p:sldId id="4916" r:id="rId4"/>
    <p:sldId id="4902" r:id="rId5"/>
    <p:sldId id="4830" r:id="rId6"/>
    <p:sldId id="4835" r:id="rId7"/>
    <p:sldId id="4912" r:id="rId8"/>
    <p:sldId id="4917" r:id="rId9"/>
    <p:sldId id="4919" r:id="rId10"/>
    <p:sldId id="4920" r:id="rId11"/>
    <p:sldId id="327" r:id="rId12"/>
    <p:sldId id="4908" r:id="rId13"/>
    <p:sldId id="266" r:id="rId14"/>
    <p:sldId id="267" r:id="rId15"/>
    <p:sldId id="263" r:id="rId16"/>
    <p:sldId id="262" r:id="rId17"/>
    <p:sldId id="265" r:id="rId18"/>
    <p:sldId id="261" r:id="rId19"/>
    <p:sldId id="4901" r:id="rId20"/>
    <p:sldId id="4837" r:id="rId21"/>
    <p:sldId id="4843" r:id="rId22"/>
    <p:sldId id="4838" r:id="rId23"/>
    <p:sldId id="269" r:id="rId24"/>
    <p:sldId id="4900" r:id="rId25"/>
    <p:sldId id="4828" r:id="rId26"/>
    <p:sldId id="4758" r:id="rId27"/>
    <p:sldId id="256" r:id="rId28"/>
    <p:sldId id="257" r:id="rId29"/>
    <p:sldId id="4814" r:id="rId30"/>
    <p:sldId id="4757" r:id="rId31"/>
    <p:sldId id="4811" r:id="rId32"/>
    <p:sldId id="4770" r:id="rId33"/>
    <p:sldId id="4813" r:id="rId34"/>
    <p:sldId id="4815" r:id="rId35"/>
    <p:sldId id="4818" r:id="rId36"/>
    <p:sldId id="4816" r:id="rId37"/>
    <p:sldId id="4845" r:id="rId38"/>
    <p:sldId id="4846" r:id="rId39"/>
    <p:sldId id="4825" r:id="rId40"/>
    <p:sldId id="482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C5CF484-4FAB-ECA3-B9CB-AF0DB65C3F6C}" name="Violet Khoo Lai Yee [/CSP/CS/MY]" initials="V" userId="S::violet.khoo@oskgroup.com::90d6fae8-5865-4e0e-9464-04287fe45eb2" providerId="AD"/>
  <p188:author id="{31BB4BBE-0161-1758-AC37-0AAE28D2E54F}" name="Hong Beng Sze [/GS/CS/MY]" initials="H" userId="S::bengsze.hong@oskgroup.com::81570f34-3155-46ed-9001-03645707450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EC2"/>
    <a:srgbClr val="10253F"/>
    <a:srgbClr val="B0844C"/>
    <a:srgbClr val="196B24"/>
    <a:srgbClr val="156082"/>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F2242C-E39D-4DCC-86DF-EFB917626B1C}" v="5" dt="2026-03-19T01:56:09.6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45"/>
  </p:normalViewPr>
  <p:slideViewPr>
    <p:cSldViewPr snapToGrid="0">
      <p:cViewPr varScale="1">
        <p:scale>
          <a:sx n="109" d="100"/>
          <a:sy n="109" d="100"/>
        </p:scale>
        <p:origin x="7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 Beng Sze [/GS/CS/MY]" userId="81570f34-3155-46ed-9001-03645707450d" providerId="ADAL" clId="{A739B008-DABF-4DE7-916F-863F39C508AE}"/>
    <pc:docChg chg="undo custSel addSld modSld">
      <pc:chgData name="Hong Beng Sze [/GS/CS/MY]" userId="81570f34-3155-46ed-9001-03645707450d" providerId="ADAL" clId="{A739B008-DABF-4DE7-916F-863F39C508AE}" dt="2026-02-27T09:09:54.671" v="487" actId="1076"/>
      <pc:docMkLst>
        <pc:docMk/>
      </pc:docMkLst>
      <pc:sldChg chg="modSp mod">
        <pc:chgData name="Hong Beng Sze [/GS/CS/MY]" userId="81570f34-3155-46ed-9001-03645707450d" providerId="ADAL" clId="{A739B008-DABF-4DE7-916F-863F39C508AE}" dt="2026-02-24T09:21:30.319" v="305" actId="20577"/>
        <pc:sldMkLst>
          <pc:docMk/>
          <pc:sldMk cId="365634504" sldId="297"/>
        </pc:sldMkLst>
        <pc:spChg chg="mod">
          <ac:chgData name="Hong Beng Sze [/GS/CS/MY]" userId="81570f34-3155-46ed-9001-03645707450d" providerId="ADAL" clId="{A739B008-DABF-4DE7-916F-863F39C508AE}" dt="2026-02-24T09:21:30.319" v="305" actId="20577"/>
          <ac:spMkLst>
            <pc:docMk/>
            <pc:sldMk cId="365634504" sldId="297"/>
            <ac:spMk id="2" creationId="{01E118AA-FC91-2A0B-C716-D612F0FDD878}"/>
          </ac:spMkLst>
        </pc:spChg>
      </pc:sldChg>
      <pc:sldChg chg="mod modShow">
        <pc:chgData name="Hong Beng Sze [/GS/CS/MY]" userId="81570f34-3155-46ed-9001-03645707450d" providerId="ADAL" clId="{A739B008-DABF-4DE7-916F-863F39C508AE}" dt="2026-02-24T11:03:27.298" v="392" actId="729"/>
        <pc:sldMkLst>
          <pc:docMk/>
          <pc:sldMk cId="2436228796" sldId="4835"/>
        </pc:sldMkLst>
      </pc:sldChg>
      <pc:sldChg chg="modSp mod modCm">
        <pc:chgData name="Hong Beng Sze [/GS/CS/MY]" userId="81570f34-3155-46ed-9001-03645707450d" providerId="ADAL" clId="{A739B008-DABF-4DE7-916F-863F39C508AE}" dt="2026-02-24T10:48:04.495" v="390" actId="207"/>
        <pc:sldMkLst>
          <pc:docMk/>
          <pc:sldMk cId="3316639428" sldId="4902"/>
        </pc:sldMkLst>
        <pc:spChg chg="mod">
          <ac:chgData name="Hong Beng Sze [/GS/CS/MY]" userId="81570f34-3155-46ed-9001-03645707450d" providerId="ADAL" clId="{A739B008-DABF-4DE7-916F-863F39C508AE}" dt="2026-02-24T10:48:04.495" v="390" actId="207"/>
          <ac:spMkLst>
            <pc:docMk/>
            <pc:sldMk cId="3316639428" sldId="4902"/>
            <ac:spMk id="8" creationId="{318D44C4-3CC3-6F31-F208-2D7A715B2684}"/>
          </ac:spMkLst>
        </pc:spChg>
        <pc:extLst>
          <p:ext xmlns:p="http://schemas.openxmlformats.org/presentationml/2006/main" uri="{D6D511B9-2390-475A-947B-AFAB55BFBCF1}">
            <pc226:cmChg xmlns:pc226="http://schemas.microsoft.com/office/powerpoint/2022/06/main/command" chg="mod">
              <pc226:chgData name="Hong Beng Sze [/GS/CS/MY]" userId="81570f34-3155-46ed-9001-03645707450d" providerId="ADAL" clId="{A739B008-DABF-4DE7-916F-863F39C508AE}" dt="2026-02-24T10:47:37.671" v="389" actId="20577"/>
              <pc2:cmMkLst xmlns:pc2="http://schemas.microsoft.com/office/powerpoint/2019/9/main/command">
                <pc:docMk/>
                <pc:sldMk cId="3316639428" sldId="4902"/>
                <pc2:cmMk id="{DC1748A6-47BC-4DD8-BD4F-A3DB59354639}"/>
              </pc2:cmMkLst>
            </pc226:cmChg>
          </p:ext>
        </pc:extLst>
      </pc:sldChg>
      <pc:sldChg chg="modSp mod">
        <pc:chgData name="Hong Beng Sze [/GS/CS/MY]" userId="81570f34-3155-46ed-9001-03645707450d" providerId="ADAL" clId="{A739B008-DABF-4DE7-916F-863F39C508AE}" dt="2026-02-24T09:19:48.231" v="191" actId="6549"/>
        <pc:sldMkLst>
          <pc:docMk/>
          <pc:sldMk cId="3660994970" sldId="4915"/>
        </pc:sldMkLst>
        <pc:spChg chg="mod">
          <ac:chgData name="Hong Beng Sze [/GS/CS/MY]" userId="81570f34-3155-46ed-9001-03645707450d" providerId="ADAL" clId="{A739B008-DABF-4DE7-916F-863F39C508AE}" dt="2026-02-24T09:19:48.231" v="191" actId="6549"/>
          <ac:spMkLst>
            <pc:docMk/>
            <pc:sldMk cId="3660994970" sldId="4915"/>
            <ac:spMk id="13" creationId="{57626227-3AE0-0BA9-5BF6-DC29D38F24DA}"/>
          </ac:spMkLst>
        </pc:spChg>
      </pc:sldChg>
      <pc:sldChg chg="modSp mod">
        <pc:chgData name="Hong Beng Sze [/GS/CS/MY]" userId="81570f34-3155-46ed-9001-03645707450d" providerId="ADAL" clId="{A739B008-DABF-4DE7-916F-863F39C508AE}" dt="2026-02-24T09:26:00.045" v="359" actId="207"/>
        <pc:sldMkLst>
          <pc:docMk/>
          <pc:sldMk cId="1282250102" sldId="4916"/>
        </pc:sldMkLst>
        <pc:spChg chg="mod">
          <ac:chgData name="Hong Beng Sze [/GS/CS/MY]" userId="81570f34-3155-46ed-9001-03645707450d" providerId="ADAL" clId="{A739B008-DABF-4DE7-916F-863F39C508AE}" dt="2026-02-24T09:26:00.045" v="359" actId="207"/>
          <ac:spMkLst>
            <pc:docMk/>
            <pc:sldMk cId="1282250102" sldId="4916"/>
            <ac:spMk id="7" creationId="{FC7A7C6E-99AC-3791-F107-F92760393613}"/>
          </ac:spMkLst>
        </pc:spChg>
        <pc:graphicFrameChg chg="modGraphic">
          <ac:chgData name="Hong Beng Sze [/GS/CS/MY]" userId="81570f34-3155-46ed-9001-03645707450d" providerId="ADAL" clId="{A739B008-DABF-4DE7-916F-863F39C508AE}" dt="2026-02-24T09:22:24.605" v="308" actId="6549"/>
          <ac:graphicFrameMkLst>
            <pc:docMk/>
            <pc:sldMk cId="1282250102" sldId="4916"/>
            <ac:graphicFrameMk id="11" creationId="{EFD5ADFC-F0B2-2BE3-00B3-EC7F61631419}"/>
          </ac:graphicFrameMkLst>
        </pc:graphicFrameChg>
      </pc:sldChg>
      <pc:sldChg chg="modSp mod modCm">
        <pc:chgData name="Hong Beng Sze [/GS/CS/MY]" userId="81570f34-3155-46ed-9001-03645707450d" providerId="ADAL" clId="{A739B008-DABF-4DE7-916F-863F39C508AE}" dt="2026-02-27T08:59:02.031" v="397" actId="6549"/>
        <pc:sldMkLst>
          <pc:docMk/>
          <pc:sldMk cId="3444590045" sldId="4919"/>
        </pc:sldMkLst>
        <pc:spChg chg="mod">
          <ac:chgData name="Hong Beng Sze [/GS/CS/MY]" userId="81570f34-3155-46ed-9001-03645707450d" providerId="ADAL" clId="{A739B008-DABF-4DE7-916F-863F39C508AE}" dt="2026-02-27T08:59:02.031" v="397" actId="6549"/>
          <ac:spMkLst>
            <pc:docMk/>
            <pc:sldMk cId="3444590045" sldId="4919"/>
            <ac:spMk id="3" creationId="{08FFA225-3254-1082-89EC-8631BDBA5107}"/>
          </ac:spMkLst>
        </pc:spChg>
        <pc:spChg chg="mod">
          <ac:chgData name="Hong Beng Sze [/GS/CS/MY]" userId="81570f34-3155-46ed-9001-03645707450d" providerId="ADAL" clId="{A739B008-DABF-4DE7-916F-863F39C508AE}" dt="2026-02-27T08:58:54.400" v="395" actId="113"/>
          <ac:spMkLst>
            <pc:docMk/>
            <pc:sldMk cId="3444590045" sldId="4919"/>
            <ac:spMk id="9" creationId="{771D1253-EA67-8CDB-B9BB-904A47186F25}"/>
          </ac:spMkLst>
        </pc:spChg>
        <pc:extLst>
          <p:ext xmlns:p="http://schemas.openxmlformats.org/presentationml/2006/main" uri="{D6D511B9-2390-475A-947B-AFAB55BFBCF1}">
            <pc226:cmChg xmlns:pc226="http://schemas.microsoft.com/office/powerpoint/2022/06/main/command" chg="mod">
              <pc226:chgData name="Hong Beng Sze [/GS/CS/MY]" userId="81570f34-3155-46ed-9001-03645707450d" providerId="ADAL" clId="{A739B008-DABF-4DE7-916F-863F39C508AE}" dt="2026-02-27T08:59:02.031" v="397" actId="6549"/>
              <pc2:cmMkLst xmlns:pc2="http://schemas.microsoft.com/office/powerpoint/2019/9/main/command">
                <pc:docMk/>
                <pc:sldMk cId="3444590045" sldId="4919"/>
                <pc2:cmMk id="{6D63EBEA-C7EB-4F1E-9855-B3EDE9EC089A}"/>
              </pc2:cmMkLst>
            </pc226:cmChg>
          </p:ext>
        </pc:extLst>
      </pc:sldChg>
      <pc:sldChg chg="addSp delSp modSp mod modCm">
        <pc:chgData name="Hong Beng Sze [/GS/CS/MY]" userId="81570f34-3155-46ed-9001-03645707450d" providerId="ADAL" clId="{A739B008-DABF-4DE7-916F-863F39C508AE}" dt="2026-02-27T09:09:54.671" v="487" actId="1076"/>
        <pc:sldMkLst>
          <pc:docMk/>
          <pc:sldMk cId="3361111633" sldId="4920"/>
        </pc:sldMkLst>
        <pc:spChg chg="mod">
          <ac:chgData name="Hong Beng Sze [/GS/CS/MY]" userId="81570f34-3155-46ed-9001-03645707450d" providerId="ADAL" clId="{A739B008-DABF-4DE7-916F-863F39C508AE}" dt="2026-02-27T09:00:49.244" v="403" actId="14100"/>
          <ac:spMkLst>
            <pc:docMk/>
            <pc:sldMk cId="3361111633" sldId="4920"/>
            <ac:spMk id="5" creationId="{3C4C766D-DCE3-683B-A7D1-49710933E9C0}"/>
          </ac:spMkLst>
        </pc:spChg>
        <pc:spChg chg="add mod ord">
          <ac:chgData name="Hong Beng Sze [/GS/CS/MY]" userId="81570f34-3155-46ed-9001-03645707450d" providerId="ADAL" clId="{A739B008-DABF-4DE7-916F-863F39C508AE}" dt="2026-02-27T09:09:45.535" v="485" actId="1076"/>
          <ac:spMkLst>
            <pc:docMk/>
            <pc:sldMk cId="3361111633" sldId="4920"/>
            <ac:spMk id="6" creationId="{E78A3965-C52E-D56D-DE7F-9E274645EEBF}"/>
          </ac:spMkLst>
        </pc:spChg>
        <pc:spChg chg="mod">
          <ac:chgData name="Hong Beng Sze [/GS/CS/MY]" userId="81570f34-3155-46ed-9001-03645707450d" providerId="ADAL" clId="{A739B008-DABF-4DE7-916F-863F39C508AE}" dt="2026-02-27T09:01:17.172" v="412" actId="1076"/>
          <ac:spMkLst>
            <pc:docMk/>
            <pc:sldMk cId="3361111633" sldId="4920"/>
            <ac:spMk id="7" creationId="{81AF6827-E25F-AB1D-5107-DDE6003A4A23}"/>
          </ac:spMkLst>
        </pc:spChg>
        <pc:spChg chg="mod">
          <ac:chgData name="Hong Beng Sze [/GS/CS/MY]" userId="81570f34-3155-46ed-9001-03645707450d" providerId="ADAL" clId="{A739B008-DABF-4DE7-916F-863F39C508AE}" dt="2026-02-27T09:01:02.919" v="409" actId="14100"/>
          <ac:spMkLst>
            <pc:docMk/>
            <pc:sldMk cId="3361111633" sldId="4920"/>
            <ac:spMk id="8" creationId="{B87FE4D7-16C6-56B5-C2F3-F9D16053A205}"/>
          </ac:spMkLst>
        </pc:spChg>
        <pc:spChg chg="mod">
          <ac:chgData name="Hong Beng Sze [/GS/CS/MY]" userId="81570f34-3155-46ed-9001-03645707450d" providerId="ADAL" clId="{A739B008-DABF-4DE7-916F-863F39C508AE}" dt="2026-02-27T09:00:51.650" v="404" actId="1076"/>
          <ac:spMkLst>
            <pc:docMk/>
            <pc:sldMk cId="3361111633" sldId="4920"/>
            <ac:spMk id="10" creationId="{BE6D4F00-0B7E-CE04-12BD-9CDE54512B0F}"/>
          </ac:spMkLst>
        </pc:spChg>
        <pc:spChg chg="mod">
          <ac:chgData name="Hong Beng Sze [/GS/CS/MY]" userId="81570f34-3155-46ed-9001-03645707450d" providerId="ADAL" clId="{A739B008-DABF-4DE7-916F-863F39C508AE}" dt="2026-02-27T09:08:01.700" v="471" actId="1076"/>
          <ac:spMkLst>
            <pc:docMk/>
            <pc:sldMk cId="3361111633" sldId="4920"/>
            <ac:spMk id="35" creationId="{636E92DB-2F72-FCE1-4AE5-18D6F2BE6402}"/>
          </ac:spMkLst>
        </pc:spChg>
        <pc:spChg chg="mod">
          <ac:chgData name="Hong Beng Sze [/GS/CS/MY]" userId="81570f34-3155-46ed-9001-03645707450d" providerId="ADAL" clId="{A739B008-DABF-4DE7-916F-863F39C508AE}" dt="2026-02-27T09:08:01.700" v="471" actId="1076"/>
          <ac:spMkLst>
            <pc:docMk/>
            <pc:sldMk cId="3361111633" sldId="4920"/>
            <ac:spMk id="38" creationId="{1FFE2635-894B-E810-1B95-51FED55F4A02}"/>
          </ac:spMkLst>
        </pc:spChg>
        <pc:spChg chg="mod">
          <ac:chgData name="Hong Beng Sze [/GS/CS/MY]" userId="81570f34-3155-46ed-9001-03645707450d" providerId="ADAL" clId="{A739B008-DABF-4DE7-916F-863F39C508AE}" dt="2026-02-27T09:08:01.700" v="471" actId="1076"/>
          <ac:spMkLst>
            <pc:docMk/>
            <pc:sldMk cId="3361111633" sldId="4920"/>
            <ac:spMk id="39" creationId="{4F188003-819F-9317-53FB-9DCA7C0702B7}"/>
          </ac:spMkLst>
        </pc:spChg>
        <pc:spChg chg="mod">
          <ac:chgData name="Hong Beng Sze [/GS/CS/MY]" userId="81570f34-3155-46ed-9001-03645707450d" providerId="ADAL" clId="{A739B008-DABF-4DE7-916F-863F39C508AE}" dt="2026-02-27T09:08:01.700" v="471" actId="1076"/>
          <ac:spMkLst>
            <pc:docMk/>
            <pc:sldMk cId="3361111633" sldId="4920"/>
            <ac:spMk id="40" creationId="{2CECB0E0-1694-95F1-FFA7-368A16691E72}"/>
          </ac:spMkLst>
        </pc:spChg>
        <pc:spChg chg="mod">
          <ac:chgData name="Hong Beng Sze [/GS/CS/MY]" userId="81570f34-3155-46ed-9001-03645707450d" providerId="ADAL" clId="{A739B008-DABF-4DE7-916F-863F39C508AE}" dt="2026-02-27T09:08:01.700" v="471" actId="1076"/>
          <ac:spMkLst>
            <pc:docMk/>
            <pc:sldMk cId="3361111633" sldId="4920"/>
            <ac:spMk id="41" creationId="{684557E2-8DDA-5983-44A7-E95F78CFA671}"/>
          </ac:spMkLst>
        </pc:spChg>
        <pc:spChg chg="mod">
          <ac:chgData name="Hong Beng Sze [/GS/CS/MY]" userId="81570f34-3155-46ed-9001-03645707450d" providerId="ADAL" clId="{A739B008-DABF-4DE7-916F-863F39C508AE}" dt="2026-02-27T09:08:01.700" v="471" actId="1076"/>
          <ac:spMkLst>
            <pc:docMk/>
            <pc:sldMk cId="3361111633" sldId="4920"/>
            <ac:spMk id="42" creationId="{6D9355F5-A1E5-71CC-E56F-F5E7BDAC250B}"/>
          </ac:spMkLst>
        </pc:spChg>
        <pc:spChg chg="mod">
          <ac:chgData name="Hong Beng Sze [/GS/CS/MY]" userId="81570f34-3155-46ed-9001-03645707450d" providerId="ADAL" clId="{A739B008-DABF-4DE7-916F-863F39C508AE}" dt="2026-02-27T09:08:01.700" v="471" actId="1076"/>
          <ac:spMkLst>
            <pc:docMk/>
            <pc:sldMk cId="3361111633" sldId="4920"/>
            <ac:spMk id="48" creationId="{04C93736-DB56-267D-98EC-DAC9702140DE}"/>
          </ac:spMkLst>
        </pc:spChg>
        <pc:spChg chg="mod">
          <ac:chgData name="Hong Beng Sze [/GS/CS/MY]" userId="81570f34-3155-46ed-9001-03645707450d" providerId="ADAL" clId="{A739B008-DABF-4DE7-916F-863F39C508AE}" dt="2026-02-27T09:08:01.700" v="471" actId="1076"/>
          <ac:spMkLst>
            <pc:docMk/>
            <pc:sldMk cId="3361111633" sldId="4920"/>
            <ac:spMk id="49" creationId="{E1F9D3C2-7C63-87FA-2E62-D539AC396712}"/>
          </ac:spMkLst>
        </pc:spChg>
        <pc:spChg chg="mod">
          <ac:chgData name="Hong Beng Sze [/GS/CS/MY]" userId="81570f34-3155-46ed-9001-03645707450d" providerId="ADAL" clId="{A739B008-DABF-4DE7-916F-863F39C508AE}" dt="2026-02-27T09:08:07.735" v="472" actId="1076"/>
          <ac:spMkLst>
            <pc:docMk/>
            <pc:sldMk cId="3361111633" sldId="4920"/>
            <ac:spMk id="68" creationId="{887AC804-4829-3E79-5C08-7B7712292A23}"/>
          </ac:spMkLst>
        </pc:spChg>
        <pc:spChg chg="mod">
          <ac:chgData name="Hong Beng Sze [/GS/CS/MY]" userId="81570f34-3155-46ed-9001-03645707450d" providerId="ADAL" clId="{A739B008-DABF-4DE7-916F-863F39C508AE}" dt="2026-02-27T09:09:28.101" v="480" actId="1076"/>
          <ac:spMkLst>
            <pc:docMk/>
            <pc:sldMk cId="3361111633" sldId="4920"/>
            <ac:spMk id="74" creationId="{D94B28CC-9421-C419-7AD7-3CB5A921B7E4}"/>
          </ac:spMkLst>
        </pc:spChg>
        <pc:spChg chg="mod">
          <ac:chgData name="Hong Beng Sze [/GS/CS/MY]" userId="81570f34-3155-46ed-9001-03645707450d" providerId="ADAL" clId="{A739B008-DABF-4DE7-916F-863F39C508AE}" dt="2026-02-27T09:09:28.101" v="480" actId="1076"/>
          <ac:spMkLst>
            <pc:docMk/>
            <pc:sldMk cId="3361111633" sldId="4920"/>
            <ac:spMk id="75" creationId="{CBE1A168-A564-7921-19D6-7419D93ED213}"/>
          </ac:spMkLst>
        </pc:spChg>
        <pc:spChg chg="mod">
          <ac:chgData name="Hong Beng Sze [/GS/CS/MY]" userId="81570f34-3155-46ed-9001-03645707450d" providerId="ADAL" clId="{A739B008-DABF-4DE7-916F-863F39C508AE}" dt="2026-02-27T09:09:28.101" v="480" actId="1076"/>
          <ac:spMkLst>
            <pc:docMk/>
            <pc:sldMk cId="3361111633" sldId="4920"/>
            <ac:spMk id="76" creationId="{028C8C66-29D5-8172-E061-99BB136F14AC}"/>
          </ac:spMkLst>
        </pc:spChg>
        <pc:spChg chg="mod">
          <ac:chgData name="Hong Beng Sze [/GS/CS/MY]" userId="81570f34-3155-46ed-9001-03645707450d" providerId="ADAL" clId="{A739B008-DABF-4DE7-916F-863F39C508AE}" dt="2026-02-27T09:09:28.101" v="480" actId="1076"/>
          <ac:spMkLst>
            <pc:docMk/>
            <pc:sldMk cId="3361111633" sldId="4920"/>
            <ac:spMk id="77" creationId="{563800ED-E30B-9D5D-74FF-CAE93F15E868}"/>
          </ac:spMkLst>
        </pc:spChg>
        <pc:spChg chg="mod">
          <ac:chgData name="Hong Beng Sze [/GS/CS/MY]" userId="81570f34-3155-46ed-9001-03645707450d" providerId="ADAL" clId="{A739B008-DABF-4DE7-916F-863F39C508AE}" dt="2026-02-27T09:09:28.101" v="480" actId="1076"/>
          <ac:spMkLst>
            <pc:docMk/>
            <pc:sldMk cId="3361111633" sldId="4920"/>
            <ac:spMk id="81" creationId="{32865E85-6A7D-D340-2966-DE818A199B41}"/>
          </ac:spMkLst>
        </pc:spChg>
        <pc:spChg chg="mod">
          <ac:chgData name="Hong Beng Sze [/GS/CS/MY]" userId="81570f34-3155-46ed-9001-03645707450d" providerId="ADAL" clId="{A739B008-DABF-4DE7-916F-863F39C508AE}" dt="2026-02-27T09:01:55.295" v="420" actId="1076"/>
          <ac:spMkLst>
            <pc:docMk/>
            <pc:sldMk cId="3361111633" sldId="4920"/>
            <ac:spMk id="99" creationId="{71E60043-F5F8-2F43-9377-DFCD6D34416B}"/>
          </ac:spMkLst>
        </pc:spChg>
        <pc:picChg chg="mod">
          <ac:chgData name="Hong Beng Sze [/GS/CS/MY]" userId="81570f34-3155-46ed-9001-03645707450d" providerId="ADAL" clId="{A739B008-DABF-4DE7-916F-863F39C508AE}" dt="2026-02-27T09:08:01.700" v="471" actId="1076"/>
          <ac:picMkLst>
            <pc:docMk/>
            <pc:sldMk cId="3361111633" sldId="4920"/>
            <ac:picMk id="13" creationId="{87727C8B-7032-8849-622A-FAB063D4988F}"/>
          </ac:picMkLst>
        </pc:picChg>
        <pc:picChg chg="mod">
          <ac:chgData name="Hong Beng Sze [/GS/CS/MY]" userId="81570f34-3155-46ed-9001-03645707450d" providerId="ADAL" clId="{A739B008-DABF-4DE7-916F-863F39C508AE}" dt="2026-02-27T09:09:28.101" v="480" actId="1076"/>
          <ac:picMkLst>
            <pc:docMk/>
            <pc:sldMk cId="3361111633" sldId="4920"/>
            <ac:picMk id="78" creationId="{3737C492-DB7C-98A0-B9EA-28A0E50BE8E6}"/>
          </ac:picMkLst>
        </pc:picChg>
        <pc:picChg chg="mod">
          <ac:chgData name="Hong Beng Sze [/GS/CS/MY]" userId="81570f34-3155-46ed-9001-03645707450d" providerId="ADAL" clId="{A739B008-DABF-4DE7-916F-863F39C508AE}" dt="2026-02-27T09:09:28.101" v="480" actId="1076"/>
          <ac:picMkLst>
            <pc:docMk/>
            <pc:sldMk cId="3361111633" sldId="4920"/>
            <ac:picMk id="79" creationId="{85B11465-02EA-CAEB-39AD-3D3E94911A98}"/>
          </ac:picMkLst>
        </pc:picChg>
        <pc:picChg chg="mod">
          <ac:chgData name="Hong Beng Sze [/GS/CS/MY]" userId="81570f34-3155-46ed-9001-03645707450d" providerId="ADAL" clId="{A739B008-DABF-4DE7-916F-863F39C508AE}" dt="2026-02-27T09:09:28.101" v="480" actId="1076"/>
          <ac:picMkLst>
            <pc:docMk/>
            <pc:sldMk cId="3361111633" sldId="4920"/>
            <ac:picMk id="80" creationId="{AEC223DB-E770-E150-5FF5-405E97AFFFDA}"/>
          </ac:picMkLst>
        </pc:picChg>
        <pc:picChg chg="mod">
          <ac:chgData name="Hong Beng Sze [/GS/CS/MY]" userId="81570f34-3155-46ed-9001-03645707450d" providerId="ADAL" clId="{A739B008-DABF-4DE7-916F-863F39C508AE}" dt="2026-02-27T09:09:28.101" v="480" actId="1076"/>
          <ac:picMkLst>
            <pc:docMk/>
            <pc:sldMk cId="3361111633" sldId="4920"/>
            <ac:picMk id="86" creationId="{4B228543-EEF8-93C8-2ADF-180CBAFF017E}"/>
          </ac:picMkLst>
        </pc:picChg>
        <pc:picChg chg="add mod">
          <ac:chgData name="Hong Beng Sze [/GS/CS/MY]" userId="81570f34-3155-46ed-9001-03645707450d" providerId="ADAL" clId="{A739B008-DABF-4DE7-916F-863F39C508AE}" dt="2026-02-27T09:08:01.700" v="471" actId="1076"/>
          <ac:picMkLst>
            <pc:docMk/>
            <pc:sldMk cId="3361111633" sldId="4920"/>
            <ac:picMk id="1026" creationId="{A1BBC3A4-A395-4AE3-0896-4C78E77303C6}"/>
          </ac:picMkLst>
        </pc:picChg>
        <pc:picChg chg="add mod">
          <ac:chgData name="Hong Beng Sze [/GS/CS/MY]" userId="81570f34-3155-46ed-9001-03645707450d" providerId="ADAL" clId="{A739B008-DABF-4DE7-916F-863F39C508AE}" dt="2026-02-27T09:09:54.671" v="487" actId="1076"/>
          <ac:picMkLst>
            <pc:docMk/>
            <pc:sldMk cId="3361111633" sldId="4920"/>
            <ac:picMk id="1030" creationId="{5497DDF0-7896-3A3C-ECDB-1DE89300F37A}"/>
          </ac:picMkLst>
        </pc:picChg>
        <pc:extLst>
          <p:ext xmlns:p="http://schemas.openxmlformats.org/presentationml/2006/main" uri="{D6D511B9-2390-475A-947B-AFAB55BFBCF1}">
            <pc226:cmChg xmlns:pc226="http://schemas.microsoft.com/office/powerpoint/2022/06/main/command" chg="mod">
              <pc226:chgData name="Hong Beng Sze [/GS/CS/MY]" userId="81570f34-3155-46ed-9001-03645707450d" providerId="ADAL" clId="{A739B008-DABF-4DE7-916F-863F39C508AE}" dt="2026-02-27T09:07:24.515" v="466" actId="20577"/>
              <pc2:cmMkLst xmlns:pc2="http://schemas.microsoft.com/office/powerpoint/2019/9/main/command">
                <pc:docMk/>
                <pc:sldMk cId="3361111633" sldId="4920"/>
                <pc2:cmMk id="{20A31E59-B63C-4962-8879-6C32E103EF4D}"/>
              </pc2:cmMkLst>
            </pc226:cmChg>
          </p:ext>
        </pc:extLst>
      </pc:sldChg>
    </pc:docChg>
  </pc:docChgLst>
  <pc:docChgLst>
    <pc:chgData name="Violet Khoo Lai Yee [/CSP/CS/MY]" userId="90d6fae8-5865-4e0e-9464-04287fe45eb2" providerId="ADAL" clId="{51545254-4D88-42CE-942B-97927F39D296}"/>
    <pc:docChg chg="undo custSel addSld delSld modSld sldOrd modMainMaster">
      <pc:chgData name="Violet Khoo Lai Yee [/CSP/CS/MY]" userId="90d6fae8-5865-4e0e-9464-04287fe45eb2" providerId="ADAL" clId="{51545254-4D88-42CE-942B-97927F39D296}" dt="2026-03-17T05:45:10.987" v="14162" actId="13926"/>
      <pc:docMkLst>
        <pc:docMk/>
      </pc:docMkLst>
      <pc:sldChg chg="addSp delSp modSp add mod">
        <pc:chgData name="Violet Khoo Lai Yee [/CSP/CS/MY]" userId="90d6fae8-5865-4e0e-9464-04287fe45eb2" providerId="ADAL" clId="{51545254-4D88-42CE-942B-97927F39D296}" dt="2026-02-23T14:23:16.182" v="14090" actId="20577"/>
        <pc:sldMkLst>
          <pc:docMk/>
          <pc:sldMk cId="365634504" sldId="297"/>
        </pc:sldMkLst>
        <pc:spChg chg="mod">
          <ac:chgData name="Violet Khoo Lai Yee [/CSP/CS/MY]" userId="90d6fae8-5865-4e0e-9464-04287fe45eb2" providerId="ADAL" clId="{51545254-4D88-42CE-942B-97927F39D296}" dt="2026-02-23T14:23:02.332" v="14083" actId="20577"/>
          <ac:spMkLst>
            <pc:docMk/>
            <pc:sldMk cId="365634504" sldId="297"/>
            <ac:spMk id="2" creationId="{01E118AA-FC91-2A0B-C716-D612F0FDD878}"/>
          </ac:spMkLst>
        </pc:spChg>
        <pc:spChg chg="add mod">
          <ac:chgData name="Violet Khoo Lai Yee [/CSP/CS/MY]" userId="90d6fae8-5865-4e0e-9464-04287fe45eb2" providerId="ADAL" clId="{51545254-4D88-42CE-942B-97927F39D296}" dt="2026-02-23T14:23:16.182" v="14090" actId="20577"/>
          <ac:spMkLst>
            <pc:docMk/>
            <pc:sldMk cId="365634504" sldId="297"/>
            <ac:spMk id="6" creationId="{5EAD236E-3021-890C-F205-1DEC54D28750}"/>
          </ac:spMkLst>
        </pc:spChg>
        <pc:spChg chg="add mod">
          <ac:chgData name="Violet Khoo Lai Yee [/CSP/CS/MY]" userId="90d6fae8-5865-4e0e-9464-04287fe45eb2" providerId="ADAL" clId="{51545254-4D88-42CE-942B-97927F39D296}" dt="2026-02-19T02:59:26.739" v="13858" actId="1036"/>
          <ac:spMkLst>
            <pc:docMk/>
            <pc:sldMk cId="365634504" sldId="297"/>
            <ac:spMk id="7" creationId="{948B321D-0B2B-EAC4-ADD3-C755C546BEA8}"/>
          </ac:spMkLst>
        </pc:spChg>
        <pc:spChg chg="add mod">
          <ac:chgData name="Violet Khoo Lai Yee [/CSP/CS/MY]" userId="90d6fae8-5865-4e0e-9464-04287fe45eb2" providerId="ADAL" clId="{51545254-4D88-42CE-942B-97927F39D296}" dt="2026-02-19T02:59:26.739" v="13858" actId="1036"/>
          <ac:spMkLst>
            <pc:docMk/>
            <pc:sldMk cId="365634504" sldId="297"/>
            <ac:spMk id="8" creationId="{2714E34B-A7C7-07FE-E7CD-2A70CBB4346F}"/>
          </ac:spMkLst>
        </pc:spChg>
        <pc:spChg chg="add mod">
          <ac:chgData name="Violet Khoo Lai Yee [/CSP/CS/MY]" userId="90d6fae8-5865-4e0e-9464-04287fe45eb2" providerId="ADAL" clId="{51545254-4D88-42CE-942B-97927F39D296}" dt="2026-02-19T02:59:26.739" v="13858" actId="1036"/>
          <ac:spMkLst>
            <pc:docMk/>
            <pc:sldMk cId="365634504" sldId="297"/>
            <ac:spMk id="9" creationId="{CDE960A0-135B-B437-ABF5-E2D0D47E6C25}"/>
          </ac:spMkLst>
        </pc:spChg>
        <pc:spChg chg="add mod">
          <ac:chgData name="Violet Khoo Lai Yee [/CSP/CS/MY]" userId="90d6fae8-5865-4e0e-9464-04287fe45eb2" providerId="ADAL" clId="{51545254-4D88-42CE-942B-97927F39D296}" dt="2026-02-19T02:59:37.804" v="13859" actId="554"/>
          <ac:spMkLst>
            <pc:docMk/>
            <pc:sldMk cId="365634504" sldId="297"/>
            <ac:spMk id="10" creationId="{71A7D36F-80D5-2610-2945-8C6D58DB5EB3}"/>
          </ac:spMkLst>
        </pc:spChg>
        <pc:spChg chg="add mod">
          <ac:chgData name="Violet Khoo Lai Yee [/CSP/CS/MY]" userId="90d6fae8-5865-4e0e-9464-04287fe45eb2" providerId="ADAL" clId="{51545254-4D88-42CE-942B-97927F39D296}" dt="2026-02-19T02:59:37.804" v="13859" actId="554"/>
          <ac:spMkLst>
            <pc:docMk/>
            <pc:sldMk cId="365634504" sldId="297"/>
            <ac:spMk id="11" creationId="{C2BD85C1-CB0A-6674-A28A-4F62C57A2BB3}"/>
          </ac:spMkLst>
        </pc:spChg>
        <pc:spChg chg="add mod">
          <ac:chgData name="Violet Khoo Lai Yee [/CSP/CS/MY]" userId="90d6fae8-5865-4e0e-9464-04287fe45eb2" providerId="ADAL" clId="{51545254-4D88-42CE-942B-97927F39D296}" dt="2026-02-19T02:59:37.804" v="13859" actId="554"/>
          <ac:spMkLst>
            <pc:docMk/>
            <pc:sldMk cId="365634504" sldId="297"/>
            <ac:spMk id="13" creationId="{6C032983-6662-F98F-A23E-4968BA472886}"/>
          </ac:spMkLst>
        </pc:spChg>
        <pc:spChg chg="add mod">
          <ac:chgData name="Violet Khoo Lai Yee [/CSP/CS/MY]" userId="90d6fae8-5865-4e0e-9464-04287fe45eb2" providerId="ADAL" clId="{51545254-4D88-42CE-942B-97927F39D296}" dt="2026-02-19T02:59:37.804" v="13859" actId="554"/>
          <ac:spMkLst>
            <pc:docMk/>
            <pc:sldMk cId="365634504" sldId="297"/>
            <ac:spMk id="14" creationId="{971B3715-D16F-EAF0-BFA7-86413E58BF70}"/>
          </ac:spMkLst>
        </pc:spChg>
      </pc:sldChg>
      <pc:sldChg chg="addSp delSp modSp mod">
        <pc:chgData name="Violet Khoo Lai Yee [/CSP/CS/MY]" userId="90d6fae8-5865-4e0e-9464-04287fe45eb2" providerId="ADAL" clId="{51545254-4D88-42CE-942B-97927F39D296}" dt="2026-02-16T04:32:25.679" v="11236" actId="404"/>
        <pc:sldMkLst>
          <pc:docMk/>
          <pc:sldMk cId="400952162" sldId="4825"/>
        </pc:sldMkLst>
        <pc:spChg chg="add mod">
          <ac:chgData name="Violet Khoo Lai Yee [/CSP/CS/MY]" userId="90d6fae8-5865-4e0e-9464-04287fe45eb2" providerId="ADAL" clId="{51545254-4D88-42CE-942B-97927F39D296}" dt="2026-02-16T04:30:34.730" v="11192" actId="14100"/>
          <ac:spMkLst>
            <pc:docMk/>
            <pc:sldMk cId="400952162" sldId="4825"/>
            <ac:spMk id="4" creationId="{2D387187-E0F2-3CB7-9305-59596F5C055D}"/>
          </ac:spMkLst>
        </pc:spChg>
        <pc:spChg chg="add mod">
          <ac:chgData name="Violet Khoo Lai Yee [/CSP/CS/MY]" userId="90d6fae8-5865-4e0e-9464-04287fe45eb2" providerId="ADAL" clId="{51545254-4D88-42CE-942B-97927F39D296}" dt="2026-02-16T04:26:07.462" v="11009" actId="14100"/>
          <ac:spMkLst>
            <pc:docMk/>
            <pc:sldMk cId="400952162" sldId="4825"/>
            <ac:spMk id="5" creationId="{6EA91F60-0660-781F-E631-4CC4FBC38556}"/>
          </ac:spMkLst>
        </pc:spChg>
        <pc:spChg chg="mod">
          <ac:chgData name="Violet Khoo Lai Yee [/CSP/CS/MY]" userId="90d6fae8-5865-4e0e-9464-04287fe45eb2" providerId="ADAL" clId="{51545254-4D88-42CE-942B-97927F39D296}" dt="2026-02-16T04:31:29.381" v="11207" actId="20577"/>
          <ac:spMkLst>
            <pc:docMk/>
            <pc:sldMk cId="400952162" sldId="4825"/>
            <ac:spMk id="6" creationId="{53097B0C-3D1E-AE11-1E1F-B10084A5D1E4}"/>
          </ac:spMkLst>
        </pc:spChg>
        <pc:spChg chg="add mod">
          <ac:chgData name="Violet Khoo Lai Yee [/CSP/CS/MY]" userId="90d6fae8-5865-4e0e-9464-04287fe45eb2" providerId="ADAL" clId="{51545254-4D88-42CE-942B-97927F39D296}" dt="2026-02-16T04:25:06.931" v="10992" actId="1076"/>
          <ac:spMkLst>
            <pc:docMk/>
            <pc:sldMk cId="400952162" sldId="4825"/>
            <ac:spMk id="9" creationId="{FCC968D0-CFF5-F7A6-1D54-46EA4B93F32E}"/>
          </ac:spMkLst>
        </pc:spChg>
        <pc:spChg chg="mod">
          <ac:chgData name="Violet Khoo Lai Yee [/CSP/CS/MY]" userId="90d6fae8-5865-4e0e-9464-04287fe45eb2" providerId="ADAL" clId="{51545254-4D88-42CE-942B-97927F39D296}" dt="2026-02-16T04:30:27.961" v="11190" actId="1076"/>
          <ac:spMkLst>
            <pc:docMk/>
            <pc:sldMk cId="400952162" sldId="4825"/>
            <ac:spMk id="20" creationId="{735B7612-CCDF-EBDF-3254-D90EEF191E4C}"/>
          </ac:spMkLst>
        </pc:spChg>
        <pc:spChg chg="mod">
          <ac:chgData name="Violet Khoo Lai Yee [/CSP/CS/MY]" userId="90d6fae8-5865-4e0e-9464-04287fe45eb2" providerId="ADAL" clId="{51545254-4D88-42CE-942B-97927F39D296}" dt="2026-02-16T04:25:47.916" v="11004" actId="1076"/>
          <ac:spMkLst>
            <pc:docMk/>
            <pc:sldMk cId="400952162" sldId="4825"/>
            <ac:spMk id="27" creationId="{84496012-3210-2634-D188-F1466B1FDAAB}"/>
          </ac:spMkLst>
        </pc:spChg>
        <pc:grpChg chg="mod">
          <ac:chgData name="Violet Khoo Lai Yee [/CSP/CS/MY]" userId="90d6fae8-5865-4e0e-9464-04287fe45eb2" providerId="ADAL" clId="{51545254-4D88-42CE-942B-97927F39D296}" dt="2026-02-16T04:30:24.666" v="11189" actId="1076"/>
          <ac:grpSpMkLst>
            <pc:docMk/>
            <pc:sldMk cId="400952162" sldId="4825"/>
            <ac:grpSpMk id="26" creationId="{46891DD2-C6C5-0FCA-F9D4-F247BA81F765}"/>
          </ac:grpSpMkLst>
        </pc:grpChg>
        <pc:graphicFrameChg chg="mod">
          <ac:chgData name="Violet Khoo Lai Yee [/CSP/CS/MY]" userId="90d6fae8-5865-4e0e-9464-04287fe45eb2" providerId="ADAL" clId="{51545254-4D88-42CE-942B-97927F39D296}" dt="2026-02-16T04:30:21.694" v="11188" actId="14100"/>
          <ac:graphicFrameMkLst>
            <pc:docMk/>
            <pc:sldMk cId="400952162" sldId="4825"/>
            <ac:graphicFrameMk id="3" creationId="{40016DEC-9CDF-1996-87E1-3B34EB7D6D9F}"/>
          </ac:graphicFrameMkLst>
        </pc:graphicFrameChg>
        <pc:graphicFrameChg chg="add mod modGraphic">
          <ac:chgData name="Violet Khoo Lai Yee [/CSP/CS/MY]" userId="90d6fae8-5865-4e0e-9464-04287fe45eb2" providerId="ADAL" clId="{51545254-4D88-42CE-942B-97927F39D296}" dt="2026-02-16T04:32:25.679" v="11236" actId="404"/>
          <ac:graphicFrameMkLst>
            <pc:docMk/>
            <pc:sldMk cId="400952162" sldId="4825"/>
            <ac:graphicFrameMk id="8" creationId="{4907E01E-FF18-D085-3369-577B476DA04E}"/>
          </ac:graphicFrameMkLst>
        </pc:graphicFrameChg>
        <pc:cxnChg chg="add mod ord">
          <ac:chgData name="Violet Khoo Lai Yee [/CSP/CS/MY]" userId="90d6fae8-5865-4e0e-9464-04287fe45eb2" providerId="ADAL" clId="{51545254-4D88-42CE-942B-97927F39D296}" dt="2026-02-16T04:25:06.931" v="10992" actId="1076"/>
          <ac:cxnSpMkLst>
            <pc:docMk/>
            <pc:sldMk cId="400952162" sldId="4825"/>
            <ac:cxnSpMk id="11" creationId="{2BC6F75D-0593-3DAE-75E5-43F91A4A35B6}"/>
          </ac:cxnSpMkLst>
        </pc:cxnChg>
        <pc:cxnChg chg="add mod">
          <ac:chgData name="Violet Khoo Lai Yee [/CSP/CS/MY]" userId="90d6fae8-5865-4e0e-9464-04287fe45eb2" providerId="ADAL" clId="{51545254-4D88-42CE-942B-97927F39D296}" dt="2026-02-16T04:25:06.931" v="10992" actId="1076"/>
          <ac:cxnSpMkLst>
            <pc:docMk/>
            <pc:sldMk cId="400952162" sldId="4825"/>
            <ac:cxnSpMk id="13" creationId="{AE82E84C-2117-3A49-3B4D-7373D2D1B976}"/>
          </ac:cxnSpMkLst>
        </pc:cxnChg>
      </pc:sldChg>
      <pc:sldChg chg="addSp modSp mod">
        <pc:chgData name="Violet Khoo Lai Yee [/CSP/CS/MY]" userId="90d6fae8-5865-4e0e-9464-04287fe45eb2" providerId="ADAL" clId="{51545254-4D88-42CE-942B-97927F39D296}" dt="2026-02-16T04:39:12.935" v="11312" actId="20577"/>
        <pc:sldMkLst>
          <pc:docMk/>
          <pc:sldMk cId="3191316694" sldId="4826"/>
        </pc:sldMkLst>
        <pc:spChg chg="add mod">
          <ac:chgData name="Violet Khoo Lai Yee [/CSP/CS/MY]" userId="90d6fae8-5865-4e0e-9464-04287fe45eb2" providerId="ADAL" clId="{51545254-4D88-42CE-942B-97927F39D296}" dt="2026-02-16T04:37:02.630" v="11281" actId="1076"/>
          <ac:spMkLst>
            <pc:docMk/>
            <pc:sldMk cId="3191316694" sldId="4826"/>
            <ac:spMk id="3" creationId="{A44BCDAF-44DA-B916-C26A-36B00AB2CB2C}"/>
          </ac:spMkLst>
        </pc:spChg>
        <pc:spChg chg="mod ord">
          <ac:chgData name="Violet Khoo Lai Yee [/CSP/CS/MY]" userId="90d6fae8-5865-4e0e-9464-04287fe45eb2" providerId="ADAL" clId="{51545254-4D88-42CE-942B-97927F39D296}" dt="2026-02-16T04:39:12.935" v="11312" actId="20577"/>
          <ac:spMkLst>
            <pc:docMk/>
            <pc:sldMk cId="3191316694" sldId="4826"/>
            <ac:spMk id="5" creationId="{C3F17D60-3B7A-5179-63DC-B7C44C9743DF}"/>
          </ac:spMkLst>
        </pc:spChg>
        <pc:spChg chg="mod">
          <ac:chgData name="Violet Khoo Lai Yee [/CSP/CS/MY]" userId="90d6fae8-5865-4e0e-9464-04287fe45eb2" providerId="ADAL" clId="{51545254-4D88-42CE-942B-97927F39D296}" dt="2026-02-16T04:37:34.117" v="11286" actId="1076"/>
          <ac:spMkLst>
            <pc:docMk/>
            <pc:sldMk cId="3191316694" sldId="4826"/>
            <ac:spMk id="11" creationId="{2D8DCE14-53AE-68EF-3CC9-E9EF2ED4549D}"/>
          </ac:spMkLst>
        </pc:spChg>
        <pc:graphicFrameChg chg="mod">
          <ac:chgData name="Violet Khoo Lai Yee [/CSP/CS/MY]" userId="90d6fae8-5865-4e0e-9464-04287fe45eb2" providerId="ADAL" clId="{51545254-4D88-42CE-942B-97927F39D296}" dt="2026-02-16T04:37:17.079" v="11284" actId="14100"/>
          <ac:graphicFrameMkLst>
            <pc:docMk/>
            <pc:sldMk cId="3191316694" sldId="4826"/>
            <ac:graphicFrameMk id="14" creationId="{58C0F6E7-6355-8A58-FCF4-348FF6A3BEC7}"/>
          </ac:graphicFrameMkLst>
        </pc:graphicFrameChg>
      </pc:sldChg>
      <pc:sldChg chg="addSp delSp modSp add mod ord modCm">
        <pc:chgData name="Violet Khoo Lai Yee [/CSP/CS/MY]" userId="90d6fae8-5865-4e0e-9464-04287fe45eb2" providerId="ADAL" clId="{51545254-4D88-42CE-942B-97927F39D296}" dt="2026-02-27T09:19:19.094" v="14160" actId="20577"/>
        <pc:sldMkLst>
          <pc:docMk/>
          <pc:sldMk cId="2752535359" sldId="4830"/>
        </pc:sldMkLst>
        <pc:graphicFrameChg chg="add mod modGraphic">
          <ac:chgData name="Violet Khoo Lai Yee [/CSP/CS/MY]" userId="90d6fae8-5865-4e0e-9464-04287fe45eb2" providerId="ADAL" clId="{51545254-4D88-42CE-942B-97927F39D296}" dt="2026-02-27T09:19:19.094" v="14160" actId="20577"/>
          <ac:graphicFrameMkLst>
            <pc:docMk/>
            <pc:sldMk cId="2752535359" sldId="4830"/>
            <ac:graphicFrameMk id="13" creationId="{DA018E3B-BDB4-C522-00AA-A25D9066CA81}"/>
          </ac:graphicFrameMkLst>
        </pc:graphicFrameChg>
        <pc:extLst>
          <p:ext xmlns:p="http://schemas.openxmlformats.org/presentationml/2006/main" uri="{D6D511B9-2390-475A-947B-AFAB55BFBCF1}">
            <pc226:cmChg xmlns:pc226="http://schemas.microsoft.com/office/powerpoint/2022/06/main/command" chg="mod">
              <pc226:chgData name="Violet Khoo Lai Yee [/CSP/CS/MY]" userId="90d6fae8-5865-4e0e-9464-04287fe45eb2" providerId="ADAL" clId="{51545254-4D88-42CE-942B-97927F39D296}" dt="2026-02-27T09:19:13.806" v="14113" actId="20577"/>
              <pc2:cmMkLst xmlns:pc2="http://schemas.microsoft.com/office/powerpoint/2019/9/main/command">
                <pc:docMk/>
                <pc:sldMk cId="2752535359" sldId="4830"/>
                <pc2:cmMk id="{3BB4B646-78CE-4F21-8545-2D71ACC3CBC9}"/>
              </pc2:cmMkLst>
            </pc226:cmChg>
            <pc226:cmChg xmlns:pc226="http://schemas.microsoft.com/office/powerpoint/2022/06/main/command" chg="mod">
              <pc226:chgData name="Violet Khoo Lai Yee [/CSP/CS/MY]" userId="90d6fae8-5865-4e0e-9464-04287fe45eb2" providerId="ADAL" clId="{51545254-4D88-42CE-942B-97927F39D296}" dt="2026-02-27T09:19:19.094" v="14160" actId="20577"/>
              <pc2:cmMkLst xmlns:pc2="http://schemas.microsoft.com/office/powerpoint/2019/9/main/command">
                <pc:docMk/>
                <pc:sldMk cId="2752535359" sldId="4830"/>
                <pc2:cmMk id="{3E68A7DF-70DE-4E7E-AE21-16B4304692A5}"/>
              </pc2:cmMkLst>
            </pc226:cmChg>
          </p:ext>
        </pc:extLst>
      </pc:sldChg>
      <pc:sldChg chg="ord">
        <pc:chgData name="Violet Khoo Lai Yee [/CSP/CS/MY]" userId="90d6fae8-5865-4e0e-9464-04287fe45eb2" providerId="ADAL" clId="{51545254-4D88-42CE-942B-97927F39D296}" dt="2026-02-19T01:46:18.114" v="13469"/>
        <pc:sldMkLst>
          <pc:docMk/>
          <pc:sldMk cId="1938712656" sldId="4833"/>
        </pc:sldMkLst>
      </pc:sldChg>
      <pc:sldChg chg="modSp mod">
        <pc:chgData name="Violet Khoo Lai Yee [/CSP/CS/MY]" userId="90d6fae8-5865-4e0e-9464-04287fe45eb2" providerId="ADAL" clId="{51545254-4D88-42CE-942B-97927F39D296}" dt="2026-02-16T06:22:39.289" v="12339" actId="2084"/>
        <pc:sldMkLst>
          <pc:docMk/>
          <pc:sldMk cId="35638654" sldId="4845"/>
        </pc:sldMkLst>
        <pc:graphicFrameChg chg="modGraphic">
          <ac:chgData name="Violet Khoo Lai Yee [/CSP/CS/MY]" userId="90d6fae8-5865-4e0e-9464-04287fe45eb2" providerId="ADAL" clId="{51545254-4D88-42CE-942B-97927F39D296}" dt="2026-02-16T06:22:39.289" v="12339" actId="2084"/>
          <ac:graphicFrameMkLst>
            <pc:docMk/>
            <pc:sldMk cId="35638654" sldId="4845"/>
            <ac:graphicFrameMk id="6" creationId="{EAA20C84-076E-AC36-093E-72A180FCDAF4}"/>
          </ac:graphicFrameMkLst>
        </pc:graphicFrameChg>
      </pc:sldChg>
      <pc:sldChg chg="addSp delSp modSp add mod ord">
        <pc:chgData name="Violet Khoo Lai Yee [/CSP/CS/MY]" userId="90d6fae8-5865-4e0e-9464-04287fe45eb2" providerId="ADAL" clId="{51545254-4D88-42CE-942B-97927F39D296}" dt="2026-02-19T01:46:18.114" v="13469"/>
        <pc:sldMkLst>
          <pc:docMk/>
          <pc:sldMk cId="1329429157" sldId="4847"/>
        </pc:sldMkLst>
      </pc:sldChg>
      <pc:sldChg chg="addSp delSp modSp add mod">
        <pc:chgData name="Violet Khoo Lai Yee [/CSP/CS/MY]" userId="90d6fae8-5865-4e0e-9464-04287fe45eb2" providerId="ADAL" clId="{51545254-4D88-42CE-942B-97927F39D296}" dt="2026-02-27T09:18:08.623" v="14101"/>
        <pc:sldMkLst>
          <pc:docMk/>
          <pc:sldMk cId="616501406" sldId="4903"/>
        </pc:sldMkLst>
        <pc:graphicFrameChg chg="mod modGraphic">
          <ac:chgData name="Violet Khoo Lai Yee [/CSP/CS/MY]" userId="90d6fae8-5865-4e0e-9464-04287fe45eb2" providerId="ADAL" clId="{51545254-4D88-42CE-942B-97927F39D296}" dt="2026-02-27T09:18:08.623" v="14101"/>
          <ac:graphicFrameMkLst>
            <pc:docMk/>
            <pc:sldMk cId="616501406" sldId="4903"/>
            <ac:graphicFrameMk id="5" creationId="{44E82360-789C-E182-A00C-F1C2F91EC0C6}"/>
          </ac:graphicFrameMkLst>
        </pc:graphicFrameChg>
      </pc:sldChg>
      <pc:sldChg chg="addSp delSp modSp mod">
        <pc:chgData name="Violet Khoo Lai Yee [/CSP/CS/MY]" userId="90d6fae8-5865-4e0e-9464-04287fe45eb2" providerId="ADAL" clId="{51545254-4D88-42CE-942B-97927F39D296}" dt="2026-02-23T14:19:34.557" v="14050"/>
        <pc:sldMkLst>
          <pc:docMk/>
          <pc:sldMk cId="2760312719" sldId="4904"/>
        </pc:sldMkLst>
        <pc:spChg chg="add mod">
          <ac:chgData name="Violet Khoo Lai Yee [/CSP/CS/MY]" userId="90d6fae8-5865-4e0e-9464-04287fe45eb2" providerId="ADAL" clId="{51545254-4D88-42CE-942B-97927F39D296}" dt="2026-02-23T14:19:34.557" v="14050"/>
          <ac:spMkLst>
            <pc:docMk/>
            <pc:sldMk cId="2760312719" sldId="4904"/>
            <ac:spMk id="3" creationId="{FBB20F77-0251-64FC-B11C-57AA9850211C}"/>
          </ac:spMkLst>
        </pc:spChg>
      </pc:sldChg>
      <pc:sldChg chg="addSp modSp mod modCm">
        <pc:chgData name="Violet Khoo Lai Yee [/CSP/CS/MY]" userId="90d6fae8-5865-4e0e-9464-04287fe45eb2" providerId="ADAL" clId="{51545254-4D88-42CE-942B-97927F39D296}" dt="2026-02-23T14:19:44.383" v="14054" actId="207"/>
        <pc:sldMkLst>
          <pc:docMk/>
          <pc:sldMk cId="876654000" sldId="4905"/>
        </pc:sldMkLst>
        <pc:spChg chg="add mod">
          <ac:chgData name="Violet Khoo Lai Yee [/CSP/CS/MY]" userId="90d6fae8-5865-4e0e-9464-04287fe45eb2" providerId="ADAL" clId="{51545254-4D88-42CE-942B-97927F39D296}" dt="2026-02-23T14:19:44.383" v="14054" actId="207"/>
          <ac:spMkLst>
            <pc:docMk/>
            <pc:sldMk cId="876654000" sldId="4905"/>
            <ac:spMk id="3" creationId="{763778EE-FAAE-8E4E-DD02-B2B5261C61A4}"/>
          </ac:spMkLst>
        </pc:spChg>
        <pc:spChg chg="add mod">
          <ac:chgData name="Violet Khoo Lai Yee [/CSP/CS/MY]" userId="90d6fae8-5865-4e0e-9464-04287fe45eb2" providerId="ADAL" clId="{51545254-4D88-42CE-942B-97927F39D296}" dt="2026-02-16T06:46:19.564" v="12452" actId="14100"/>
          <ac:spMkLst>
            <pc:docMk/>
            <pc:sldMk cId="876654000" sldId="4905"/>
            <ac:spMk id="6" creationId="{3F5426FB-2211-3A7F-999A-0A05D92D2DD6}"/>
          </ac:spMkLst>
        </pc:spChg>
        <pc:extLst>
          <p:ext xmlns:p="http://schemas.openxmlformats.org/presentationml/2006/main" uri="{D6D511B9-2390-475A-947B-AFAB55BFBCF1}">
            <pc226:cmChg xmlns:pc226="http://schemas.microsoft.com/office/powerpoint/2022/06/main/command" chg="mod">
              <pc226:chgData name="Violet Khoo Lai Yee [/CSP/CS/MY]" userId="90d6fae8-5865-4e0e-9464-04287fe45eb2" providerId="ADAL" clId="{51545254-4D88-42CE-942B-97927F39D296}" dt="2026-02-16T06:46:06.015" v="12447" actId="20577"/>
              <pc2:cmMkLst xmlns:pc2="http://schemas.microsoft.com/office/powerpoint/2019/9/main/command">
                <pc:docMk/>
                <pc:sldMk cId="876654000" sldId="4905"/>
                <pc2:cmMk id="{94578056-A168-4F4B-BAC0-801E7CE2AB7C}"/>
              </pc2:cmMkLst>
            </pc226:cmChg>
          </p:ext>
        </pc:extLst>
      </pc:sldChg>
      <pc:sldChg chg="modSp mod">
        <pc:chgData name="Violet Khoo Lai Yee [/CSP/CS/MY]" userId="90d6fae8-5865-4e0e-9464-04287fe45eb2" providerId="ADAL" clId="{51545254-4D88-42CE-942B-97927F39D296}" dt="2026-02-19T07:45:00.762" v="13923" actId="404"/>
        <pc:sldMkLst>
          <pc:docMk/>
          <pc:sldMk cId="2061460864" sldId="4906"/>
        </pc:sldMkLst>
        <pc:graphicFrameChg chg="mod modGraphic">
          <ac:chgData name="Violet Khoo Lai Yee [/CSP/CS/MY]" userId="90d6fae8-5865-4e0e-9464-04287fe45eb2" providerId="ADAL" clId="{51545254-4D88-42CE-942B-97927F39D296}" dt="2026-02-19T07:45:00.762" v="13923" actId="404"/>
          <ac:graphicFrameMkLst>
            <pc:docMk/>
            <pc:sldMk cId="2061460864" sldId="4906"/>
            <ac:graphicFrameMk id="7" creationId="{2CB5C200-3F56-84B8-E4A5-75107027FC5D}"/>
          </ac:graphicFrameMkLst>
        </pc:graphicFrameChg>
      </pc:sldChg>
      <pc:sldChg chg="addSp delSp modSp add mod ord">
        <pc:chgData name="Violet Khoo Lai Yee [/CSP/CS/MY]" userId="90d6fae8-5865-4e0e-9464-04287fe45eb2" providerId="ADAL" clId="{51545254-4D88-42CE-942B-97927F39D296}" dt="2026-02-23T14:19:29.039" v="14049" actId="207"/>
        <pc:sldMkLst>
          <pc:docMk/>
          <pc:sldMk cId="4256460220" sldId="4907"/>
        </pc:sldMkLst>
        <pc:spChg chg="add mod">
          <ac:chgData name="Violet Khoo Lai Yee [/CSP/CS/MY]" userId="90d6fae8-5865-4e0e-9464-04287fe45eb2" providerId="ADAL" clId="{51545254-4D88-42CE-942B-97927F39D296}" dt="2026-02-23T14:19:29.039" v="14049" actId="207"/>
          <ac:spMkLst>
            <pc:docMk/>
            <pc:sldMk cId="4256460220" sldId="4907"/>
            <ac:spMk id="3" creationId="{55D99199-7D33-2227-D81D-0A5059772E0B}"/>
          </ac:spMkLst>
        </pc:spChg>
      </pc:sldChg>
      <pc:sldChg chg="modSp mod ord">
        <pc:chgData name="Violet Khoo Lai Yee [/CSP/CS/MY]" userId="90d6fae8-5865-4e0e-9464-04287fe45eb2" providerId="ADAL" clId="{51545254-4D88-42CE-942B-97927F39D296}" dt="2026-02-19T01:33:06.458" v="13101" actId="20577"/>
        <pc:sldMkLst>
          <pc:docMk/>
          <pc:sldMk cId="3742777942" sldId="4908"/>
        </pc:sldMkLst>
        <pc:spChg chg="mod">
          <ac:chgData name="Violet Khoo Lai Yee [/CSP/CS/MY]" userId="90d6fae8-5865-4e0e-9464-04287fe45eb2" providerId="ADAL" clId="{51545254-4D88-42CE-942B-97927F39D296}" dt="2026-02-19T01:33:06.458" v="13101" actId="20577"/>
          <ac:spMkLst>
            <pc:docMk/>
            <pc:sldMk cId="3742777942" sldId="4908"/>
            <ac:spMk id="4" creationId="{280F1972-23F8-A41B-361F-FECE14E79A81}"/>
          </ac:spMkLst>
        </pc:spChg>
      </pc:sldChg>
      <pc:sldChg chg="mod ord modShow">
        <pc:chgData name="Violet Khoo Lai Yee [/CSP/CS/MY]" userId="90d6fae8-5865-4e0e-9464-04287fe45eb2" providerId="ADAL" clId="{51545254-4D88-42CE-942B-97927F39D296}" dt="2026-02-19T01:46:18.114" v="13469"/>
        <pc:sldMkLst>
          <pc:docMk/>
          <pc:sldMk cId="3456125255" sldId="4910"/>
        </pc:sldMkLst>
      </pc:sldChg>
      <pc:sldChg chg="ord">
        <pc:chgData name="Violet Khoo Lai Yee [/CSP/CS/MY]" userId="90d6fae8-5865-4e0e-9464-04287fe45eb2" providerId="ADAL" clId="{51545254-4D88-42CE-942B-97927F39D296}" dt="2026-02-19T01:46:18.114" v="13469"/>
        <pc:sldMkLst>
          <pc:docMk/>
          <pc:sldMk cId="1085075739" sldId="4911"/>
        </pc:sldMkLst>
      </pc:sldChg>
      <pc:sldChg chg="modSp mod">
        <pc:chgData name="Violet Khoo Lai Yee [/CSP/CS/MY]" userId="90d6fae8-5865-4e0e-9464-04287fe45eb2" providerId="ADAL" clId="{51545254-4D88-42CE-942B-97927F39D296}" dt="2026-03-17T05:45:10.987" v="14162" actId="13926"/>
        <pc:sldMkLst>
          <pc:docMk/>
          <pc:sldMk cId="3605301448" sldId="4912"/>
        </pc:sldMkLst>
        <pc:spChg chg="mod">
          <ac:chgData name="Violet Khoo Lai Yee [/CSP/CS/MY]" userId="90d6fae8-5865-4e0e-9464-04287fe45eb2" providerId="ADAL" clId="{51545254-4D88-42CE-942B-97927F39D296}" dt="2026-03-17T05:45:10.987" v="14162" actId="13926"/>
          <ac:spMkLst>
            <pc:docMk/>
            <pc:sldMk cId="3605301448" sldId="4912"/>
            <ac:spMk id="2" creationId="{8617BEAF-6EDF-ED5C-14E8-31E2CEA0F526}"/>
          </ac:spMkLst>
        </pc:spChg>
      </pc:sldChg>
      <pc:sldChg chg="addSp delSp modSp add mod ord">
        <pc:chgData name="Violet Khoo Lai Yee [/CSP/CS/MY]" userId="90d6fae8-5865-4e0e-9464-04287fe45eb2" providerId="ADAL" clId="{51545254-4D88-42CE-942B-97927F39D296}" dt="2026-02-23T14:17:30.373" v="14012" actId="20577"/>
        <pc:sldMkLst>
          <pc:docMk/>
          <pc:sldMk cId="3660994970" sldId="4915"/>
        </pc:sldMkLst>
        <pc:spChg chg="mod">
          <ac:chgData name="Violet Khoo Lai Yee [/CSP/CS/MY]" userId="90d6fae8-5865-4e0e-9464-04287fe45eb2" providerId="ADAL" clId="{51545254-4D88-42CE-942B-97927F39D296}" dt="2026-02-16T04:04:21.997" v="10477" actId="123"/>
          <ac:spMkLst>
            <pc:docMk/>
            <pc:sldMk cId="3660994970" sldId="4915"/>
            <ac:spMk id="4" creationId="{F9068B9A-239A-D249-5F64-FEB0E247CBD6}"/>
          </ac:spMkLst>
        </pc:spChg>
        <pc:spChg chg="mod">
          <ac:chgData name="Violet Khoo Lai Yee [/CSP/CS/MY]" userId="90d6fae8-5865-4e0e-9464-04287fe45eb2" providerId="ADAL" clId="{51545254-4D88-42CE-942B-97927F39D296}" dt="2026-02-23T14:17:30.373" v="14012" actId="20577"/>
          <ac:spMkLst>
            <pc:docMk/>
            <pc:sldMk cId="3660994970" sldId="4915"/>
            <ac:spMk id="5" creationId="{440DC5FA-D9C5-171E-E940-909AEBDE38E7}"/>
          </ac:spMkLst>
        </pc:spChg>
        <pc:spChg chg="add mod">
          <ac:chgData name="Violet Khoo Lai Yee [/CSP/CS/MY]" userId="90d6fae8-5865-4e0e-9464-04287fe45eb2" providerId="ADAL" clId="{51545254-4D88-42CE-942B-97927F39D296}" dt="2026-02-19T00:49:01" v="12617" actId="14100"/>
          <ac:spMkLst>
            <pc:docMk/>
            <pc:sldMk cId="3660994970" sldId="4915"/>
            <ac:spMk id="13" creationId="{57626227-3AE0-0BA9-5BF6-DC29D38F24DA}"/>
          </ac:spMkLst>
        </pc:spChg>
        <pc:graphicFrameChg chg="add mod modGraphic">
          <ac:chgData name="Violet Khoo Lai Yee [/CSP/CS/MY]" userId="90d6fae8-5865-4e0e-9464-04287fe45eb2" providerId="ADAL" clId="{51545254-4D88-42CE-942B-97927F39D296}" dt="2026-02-19T00:50:10.886" v="12626" actId="20577"/>
          <ac:graphicFrameMkLst>
            <pc:docMk/>
            <pc:sldMk cId="3660994970" sldId="4915"/>
            <ac:graphicFrameMk id="11" creationId="{B585F531-7E7D-FC10-8D32-F30AACDAB70B}"/>
          </ac:graphicFrameMkLst>
        </pc:graphicFrameChg>
        <pc:picChg chg="add mod">
          <ac:chgData name="Violet Khoo Lai Yee [/CSP/CS/MY]" userId="90d6fae8-5865-4e0e-9464-04287fe45eb2" providerId="ADAL" clId="{51545254-4D88-42CE-942B-97927F39D296}" dt="2026-02-16T04:09:34.814" v="10646" actId="1076"/>
          <ac:picMkLst>
            <pc:docMk/>
            <pc:sldMk cId="3660994970" sldId="4915"/>
            <ac:picMk id="15" creationId="{697E68C4-E167-822A-942F-2048CFAB0F0E}"/>
          </ac:picMkLst>
        </pc:picChg>
        <pc:picChg chg="add mod">
          <ac:chgData name="Violet Khoo Lai Yee [/CSP/CS/MY]" userId="90d6fae8-5865-4e0e-9464-04287fe45eb2" providerId="ADAL" clId="{51545254-4D88-42CE-942B-97927F39D296}" dt="2026-02-16T04:09:49.085" v="10648" actId="1076"/>
          <ac:picMkLst>
            <pc:docMk/>
            <pc:sldMk cId="3660994970" sldId="4915"/>
            <ac:picMk id="17" creationId="{4CFAFCCB-F840-75C2-F518-E6068FD4C1AE}"/>
          </ac:picMkLst>
        </pc:picChg>
      </pc:sldChg>
      <pc:sldChg chg="addSp delSp modSp add mod">
        <pc:chgData name="Violet Khoo Lai Yee [/CSP/CS/MY]" userId="90d6fae8-5865-4e0e-9464-04287fe45eb2" providerId="ADAL" clId="{51545254-4D88-42CE-942B-97927F39D296}" dt="2026-02-23T14:17:35.432" v="14015" actId="20577"/>
        <pc:sldMkLst>
          <pc:docMk/>
          <pc:sldMk cId="1282250102" sldId="4916"/>
        </pc:sldMkLst>
        <pc:spChg chg="mod">
          <ac:chgData name="Violet Khoo Lai Yee [/CSP/CS/MY]" userId="90d6fae8-5865-4e0e-9464-04287fe45eb2" providerId="ADAL" clId="{51545254-4D88-42CE-942B-97927F39D296}" dt="2026-02-23T14:17:35.432" v="14015" actId="20577"/>
          <ac:spMkLst>
            <pc:docMk/>
            <pc:sldMk cId="1282250102" sldId="4916"/>
            <ac:spMk id="5" creationId="{3DF021B4-8395-12D0-604D-4E7148F28C23}"/>
          </ac:spMkLst>
        </pc:spChg>
        <pc:spChg chg="add mod">
          <ac:chgData name="Violet Khoo Lai Yee [/CSP/CS/MY]" userId="90d6fae8-5865-4e0e-9464-04287fe45eb2" providerId="ADAL" clId="{51545254-4D88-42CE-942B-97927F39D296}" dt="2026-02-23T02:56:56.855" v="13988" actId="1076"/>
          <ac:spMkLst>
            <pc:docMk/>
            <pc:sldMk cId="1282250102" sldId="4916"/>
            <ac:spMk id="6" creationId="{5E2B5C7B-8F0F-3845-76C0-1051262FAB77}"/>
          </ac:spMkLst>
        </pc:spChg>
        <pc:spChg chg="add mod">
          <ac:chgData name="Violet Khoo Lai Yee [/CSP/CS/MY]" userId="90d6fae8-5865-4e0e-9464-04287fe45eb2" providerId="ADAL" clId="{51545254-4D88-42CE-942B-97927F39D296}" dt="2026-02-23T03:33:17.993" v="14009" actId="20577"/>
          <ac:spMkLst>
            <pc:docMk/>
            <pc:sldMk cId="1282250102" sldId="4916"/>
            <ac:spMk id="7" creationId="{FC7A7C6E-99AC-3791-F107-F92760393613}"/>
          </ac:spMkLst>
        </pc:spChg>
        <pc:graphicFrameChg chg="add mod modGraphic">
          <ac:chgData name="Violet Khoo Lai Yee [/CSP/CS/MY]" userId="90d6fae8-5865-4e0e-9464-04287fe45eb2" providerId="ADAL" clId="{51545254-4D88-42CE-942B-97927F39D296}" dt="2026-02-16T05:18:29.809" v="11561" actId="1076"/>
          <ac:graphicFrameMkLst>
            <pc:docMk/>
            <pc:sldMk cId="1282250102" sldId="4916"/>
            <ac:graphicFrameMk id="3" creationId="{1EED8FF5-A22B-C509-CD8C-2D23F7A699DE}"/>
          </ac:graphicFrameMkLst>
        </pc:graphicFrameChg>
        <pc:graphicFrameChg chg="mod modGraphic">
          <ac:chgData name="Violet Khoo Lai Yee [/CSP/CS/MY]" userId="90d6fae8-5865-4e0e-9464-04287fe45eb2" providerId="ADAL" clId="{51545254-4D88-42CE-942B-97927F39D296}" dt="2026-02-23T03:33:03.031" v="14007" actId="1076"/>
          <ac:graphicFrameMkLst>
            <pc:docMk/>
            <pc:sldMk cId="1282250102" sldId="4916"/>
            <ac:graphicFrameMk id="11" creationId="{EFD5ADFC-F0B2-2BE3-00B3-EC7F61631419}"/>
          </ac:graphicFrameMkLst>
        </pc:graphicFrameChg>
      </pc:sldChg>
      <pc:sldChg chg="addSp delSp modSp add mod">
        <pc:chgData name="Violet Khoo Lai Yee [/CSP/CS/MY]" userId="90d6fae8-5865-4e0e-9464-04287fe45eb2" providerId="ADAL" clId="{51545254-4D88-42CE-942B-97927F39D296}" dt="2026-02-19T01:17:47.867" v="12894" actId="20577"/>
        <pc:sldMkLst>
          <pc:docMk/>
          <pc:sldMk cId="2153386511" sldId="4917"/>
        </pc:sldMkLst>
        <pc:spChg chg="add mod">
          <ac:chgData name="Violet Khoo Lai Yee [/CSP/CS/MY]" userId="90d6fae8-5865-4e0e-9464-04287fe45eb2" providerId="ADAL" clId="{51545254-4D88-42CE-942B-97927F39D296}" dt="2026-02-19T01:16:14.439" v="12869" actId="165"/>
          <ac:spMkLst>
            <pc:docMk/>
            <pc:sldMk cId="2153386511" sldId="4917"/>
            <ac:spMk id="6" creationId="{29A17655-65E8-0CE8-A51A-61979252E1C8}"/>
          </ac:spMkLst>
        </pc:spChg>
        <pc:spChg chg="add mod">
          <ac:chgData name="Violet Khoo Lai Yee [/CSP/CS/MY]" userId="90d6fae8-5865-4e0e-9464-04287fe45eb2" providerId="ADAL" clId="{51545254-4D88-42CE-942B-97927F39D296}" dt="2026-02-19T01:16:14.439" v="12869" actId="165"/>
          <ac:spMkLst>
            <pc:docMk/>
            <pc:sldMk cId="2153386511" sldId="4917"/>
            <ac:spMk id="7" creationId="{5ED0264F-3F4D-5638-A572-1065A8DEB418}"/>
          </ac:spMkLst>
        </pc:spChg>
        <pc:spChg chg="add mod">
          <ac:chgData name="Violet Khoo Lai Yee [/CSP/CS/MY]" userId="90d6fae8-5865-4e0e-9464-04287fe45eb2" providerId="ADAL" clId="{51545254-4D88-42CE-942B-97927F39D296}" dt="2026-02-19T01:16:14.439" v="12869" actId="165"/>
          <ac:spMkLst>
            <pc:docMk/>
            <pc:sldMk cId="2153386511" sldId="4917"/>
            <ac:spMk id="8" creationId="{092E5C3E-4828-A429-C29F-2731837C31EF}"/>
          </ac:spMkLst>
        </pc:spChg>
        <pc:spChg chg="add mod">
          <ac:chgData name="Violet Khoo Lai Yee [/CSP/CS/MY]" userId="90d6fae8-5865-4e0e-9464-04287fe45eb2" providerId="ADAL" clId="{51545254-4D88-42CE-942B-97927F39D296}" dt="2026-02-16T06:10:01.047" v="12225" actId="1036"/>
          <ac:spMkLst>
            <pc:docMk/>
            <pc:sldMk cId="2153386511" sldId="4917"/>
            <ac:spMk id="16" creationId="{C1DBA9C2-FDD6-9A92-FEBC-CBF999779DDF}"/>
          </ac:spMkLst>
        </pc:spChg>
        <pc:spChg chg="mod topLvl">
          <ac:chgData name="Violet Khoo Lai Yee [/CSP/CS/MY]" userId="90d6fae8-5865-4e0e-9464-04287fe45eb2" providerId="ADAL" clId="{51545254-4D88-42CE-942B-97927F39D296}" dt="2026-02-19T01:16:59.234" v="12874" actId="165"/>
          <ac:spMkLst>
            <pc:docMk/>
            <pc:sldMk cId="2153386511" sldId="4917"/>
            <ac:spMk id="19" creationId="{6493E135-2AAA-26E4-FBA8-3F5BEEF4E54B}"/>
          </ac:spMkLst>
        </pc:spChg>
        <pc:spChg chg="mod topLvl">
          <ac:chgData name="Violet Khoo Lai Yee [/CSP/CS/MY]" userId="90d6fae8-5865-4e0e-9464-04287fe45eb2" providerId="ADAL" clId="{51545254-4D88-42CE-942B-97927F39D296}" dt="2026-02-19T01:17:04.923" v="12877" actId="1076"/>
          <ac:spMkLst>
            <pc:docMk/>
            <pc:sldMk cId="2153386511" sldId="4917"/>
            <ac:spMk id="21" creationId="{73DC2E6F-0A3C-283B-7358-EBB0ACEF5E5E}"/>
          </ac:spMkLst>
        </pc:spChg>
        <pc:spChg chg="add mod topLvl">
          <ac:chgData name="Violet Khoo Lai Yee [/CSP/CS/MY]" userId="90d6fae8-5865-4e0e-9464-04287fe45eb2" providerId="ADAL" clId="{51545254-4D88-42CE-942B-97927F39D296}" dt="2026-02-19T01:16:14.439" v="12869" actId="165"/>
          <ac:spMkLst>
            <pc:docMk/>
            <pc:sldMk cId="2153386511" sldId="4917"/>
            <ac:spMk id="26" creationId="{79E8EACA-5C20-0826-F853-1A6E344B2C14}"/>
          </ac:spMkLst>
        </pc:spChg>
        <pc:spChg chg="add mod topLvl">
          <ac:chgData name="Violet Khoo Lai Yee [/CSP/CS/MY]" userId="90d6fae8-5865-4e0e-9464-04287fe45eb2" providerId="ADAL" clId="{51545254-4D88-42CE-942B-97927F39D296}" dt="2026-02-19T01:16:50.096" v="12873" actId="404"/>
          <ac:spMkLst>
            <pc:docMk/>
            <pc:sldMk cId="2153386511" sldId="4917"/>
            <ac:spMk id="27" creationId="{C3C02379-D0FB-1D22-5EC6-5CC35073DB12}"/>
          </ac:spMkLst>
        </pc:spChg>
        <pc:spChg chg="add mod topLvl">
          <ac:chgData name="Violet Khoo Lai Yee [/CSP/CS/MY]" userId="90d6fae8-5865-4e0e-9464-04287fe45eb2" providerId="ADAL" clId="{51545254-4D88-42CE-942B-97927F39D296}" dt="2026-02-19T01:16:50.096" v="12873" actId="404"/>
          <ac:spMkLst>
            <pc:docMk/>
            <pc:sldMk cId="2153386511" sldId="4917"/>
            <ac:spMk id="28" creationId="{1290A191-9E23-DE4B-C22D-FE7968C47BFE}"/>
          </ac:spMkLst>
        </pc:spChg>
        <pc:spChg chg="add mod topLvl">
          <ac:chgData name="Violet Khoo Lai Yee [/CSP/CS/MY]" userId="90d6fae8-5865-4e0e-9464-04287fe45eb2" providerId="ADAL" clId="{51545254-4D88-42CE-942B-97927F39D296}" dt="2026-02-19T01:16:50.096" v="12873" actId="404"/>
          <ac:spMkLst>
            <pc:docMk/>
            <pc:sldMk cId="2153386511" sldId="4917"/>
            <ac:spMk id="29" creationId="{6594FB93-E467-03F3-AF72-49DED586B3D0}"/>
          </ac:spMkLst>
        </pc:spChg>
        <pc:spChg chg="add mod topLvl">
          <ac:chgData name="Violet Khoo Lai Yee [/CSP/CS/MY]" userId="90d6fae8-5865-4e0e-9464-04287fe45eb2" providerId="ADAL" clId="{51545254-4D88-42CE-942B-97927F39D296}" dt="2026-02-19T01:16:22.391" v="12870" actId="165"/>
          <ac:spMkLst>
            <pc:docMk/>
            <pc:sldMk cId="2153386511" sldId="4917"/>
            <ac:spMk id="30" creationId="{39A24BE8-6D75-F39C-BDF2-BA450393382B}"/>
          </ac:spMkLst>
        </pc:spChg>
        <pc:spChg chg="add mod topLvl">
          <ac:chgData name="Violet Khoo Lai Yee [/CSP/CS/MY]" userId="90d6fae8-5865-4e0e-9464-04287fe45eb2" providerId="ADAL" clId="{51545254-4D88-42CE-942B-97927F39D296}" dt="2026-02-19T01:16:14.439" v="12869" actId="165"/>
          <ac:spMkLst>
            <pc:docMk/>
            <pc:sldMk cId="2153386511" sldId="4917"/>
            <ac:spMk id="31" creationId="{1D8AE210-29A7-7DD6-19BF-241EA1C8CE1E}"/>
          </ac:spMkLst>
        </pc:spChg>
        <pc:spChg chg="add mod topLvl">
          <ac:chgData name="Violet Khoo Lai Yee [/CSP/CS/MY]" userId="90d6fae8-5865-4e0e-9464-04287fe45eb2" providerId="ADAL" clId="{51545254-4D88-42CE-942B-97927F39D296}" dt="2026-02-19T01:16:22.391" v="12870" actId="165"/>
          <ac:spMkLst>
            <pc:docMk/>
            <pc:sldMk cId="2153386511" sldId="4917"/>
            <ac:spMk id="32" creationId="{AD0301A8-74E3-C104-0F93-E1E0B21736E9}"/>
          </ac:spMkLst>
        </pc:spChg>
        <pc:spChg chg="add mod">
          <ac:chgData name="Violet Khoo Lai Yee [/CSP/CS/MY]" userId="90d6fae8-5865-4e0e-9464-04287fe45eb2" providerId="ADAL" clId="{51545254-4D88-42CE-942B-97927F39D296}" dt="2026-02-16T06:10:52.745" v="12251" actId="1037"/>
          <ac:spMkLst>
            <pc:docMk/>
            <pc:sldMk cId="2153386511" sldId="4917"/>
            <ac:spMk id="37" creationId="{A0A5B5EE-E7E0-D9D2-0EC7-3A97A0F25FFB}"/>
          </ac:spMkLst>
        </pc:spChg>
        <pc:spChg chg="mod topLvl">
          <ac:chgData name="Violet Khoo Lai Yee [/CSP/CS/MY]" userId="90d6fae8-5865-4e0e-9464-04287fe45eb2" providerId="ADAL" clId="{51545254-4D88-42CE-942B-97927F39D296}" dt="2026-02-19T01:16:50.096" v="12873" actId="404"/>
          <ac:spMkLst>
            <pc:docMk/>
            <pc:sldMk cId="2153386511" sldId="4917"/>
            <ac:spMk id="41" creationId="{E1CADCE7-05C9-4F61-84BF-9BC11793F32F}"/>
          </ac:spMkLst>
        </pc:spChg>
        <pc:spChg chg="mod topLvl">
          <ac:chgData name="Violet Khoo Lai Yee [/CSP/CS/MY]" userId="90d6fae8-5865-4e0e-9464-04287fe45eb2" providerId="ADAL" clId="{51545254-4D88-42CE-942B-97927F39D296}" dt="2026-02-16T06:10:52.745" v="12251" actId="1037"/>
          <ac:spMkLst>
            <pc:docMk/>
            <pc:sldMk cId="2153386511" sldId="4917"/>
            <ac:spMk id="43" creationId="{8D3882E2-60C0-9269-C5E5-F14014FE67AF}"/>
          </ac:spMkLst>
        </pc:spChg>
        <pc:spChg chg="mod topLvl">
          <ac:chgData name="Violet Khoo Lai Yee [/CSP/CS/MY]" userId="90d6fae8-5865-4e0e-9464-04287fe45eb2" providerId="ADAL" clId="{51545254-4D88-42CE-942B-97927F39D296}" dt="2026-02-19T01:16:37.395" v="12871" actId="165"/>
          <ac:spMkLst>
            <pc:docMk/>
            <pc:sldMk cId="2153386511" sldId="4917"/>
            <ac:spMk id="44" creationId="{CA4785B8-46E1-7782-0B05-292E413AAA5D}"/>
          </ac:spMkLst>
        </pc:spChg>
        <pc:spChg chg="mod topLvl">
          <ac:chgData name="Violet Khoo Lai Yee [/CSP/CS/MY]" userId="90d6fae8-5865-4e0e-9464-04287fe45eb2" providerId="ADAL" clId="{51545254-4D88-42CE-942B-97927F39D296}" dt="2026-02-19T01:16:37.395" v="12871" actId="165"/>
          <ac:spMkLst>
            <pc:docMk/>
            <pc:sldMk cId="2153386511" sldId="4917"/>
            <ac:spMk id="45" creationId="{96FF23A0-08D0-03D1-7D22-92C8C23D9192}"/>
          </ac:spMkLst>
        </pc:spChg>
        <pc:spChg chg="mod topLvl">
          <ac:chgData name="Violet Khoo Lai Yee [/CSP/CS/MY]" userId="90d6fae8-5865-4e0e-9464-04287fe45eb2" providerId="ADAL" clId="{51545254-4D88-42CE-942B-97927F39D296}" dt="2026-02-19T01:16:37.395" v="12871" actId="165"/>
          <ac:spMkLst>
            <pc:docMk/>
            <pc:sldMk cId="2153386511" sldId="4917"/>
            <ac:spMk id="46" creationId="{2AF6F1C7-EFB3-1D76-3560-B3FD43EE7CC6}"/>
          </ac:spMkLst>
        </pc:spChg>
        <pc:spChg chg="add mod topLvl">
          <ac:chgData name="Violet Khoo Lai Yee [/CSP/CS/MY]" userId="90d6fae8-5865-4e0e-9464-04287fe45eb2" providerId="ADAL" clId="{51545254-4D88-42CE-942B-97927F39D296}" dt="2026-02-19T01:16:37.395" v="12871" actId="165"/>
          <ac:spMkLst>
            <pc:docMk/>
            <pc:sldMk cId="2153386511" sldId="4917"/>
            <ac:spMk id="53" creationId="{298EB967-42AE-736E-07AB-24A884891EFA}"/>
          </ac:spMkLst>
        </pc:spChg>
        <pc:spChg chg="add mod topLvl">
          <ac:chgData name="Violet Khoo Lai Yee [/CSP/CS/MY]" userId="90d6fae8-5865-4e0e-9464-04287fe45eb2" providerId="ADAL" clId="{51545254-4D88-42CE-942B-97927F39D296}" dt="2026-02-19T01:16:37.395" v="12871" actId="165"/>
          <ac:spMkLst>
            <pc:docMk/>
            <pc:sldMk cId="2153386511" sldId="4917"/>
            <ac:spMk id="55" creationId="{B48C28F3-3047-1365-9ED5-C0FDE337C506}"/>
          </ac:spMkLst>
        </pc:spChg>
        <pc:spChg chg="add mod topLvl">
          <ac:chgData name="Violet Khoo Lai Yee [/CSP/CS/MY]" userId="90d6fae8-5865-4e0e-9464-04287fe45eb2" providerId="ADAL" clId="{51545254-4D88-42CE-942B-97927F39D296}" dt="2026-02-19T01:16:50.096" v="12873" actId="404"/>
          <ac:spMkLst>
            <pc:docMk/>
            <pc:sldMk cId="2153386511" sldId="4917"/>
            <ac:spMk id="58" creationId="{A4A9D3B1-40C6-BB02-01C2-CD64031D87AB}"/>
          </ac:spMkLst>
        </pc:spChg>
        <pc:spChg chg="add mod topLvl">
          <ac:chgData name="Violet Khoo Lai Yee [/CSP/CS/MY]" userId="90d6fae8-5865-4e0e-9464-04287fe45eb2" providerId="ADAL" clId="{51545254-4D88-42CE-942B-97927F39D296}" dt="2026-02-19T01:16:50.096" v="12873" actId="404"/>
          <ac:spMkLst>
            <pc:docMk/>
            <pc:sldMk cId="2153386511" sldId="4917"/>
            <ac:spMk id="59" creationId="{71088092-09F4-A95B-176D-CF63EB7F872D}"/>
          </ac:spMkLst>
        </pc:spChg>
        <pc:spChg chg="add mod">
          <ac:chgData name="Violet Khoo Lai Yee [/CSP/CS/MY]" userId="90d6fae8-5865-4e0e-9464-04287fe45eb2" providerId="ADAL" clId="{51545254-4D88-42CE-942B-97927F39D296}" dt="2026-02-16T06:10:52.745" v="12251" actId="1037"/>
          <ac:spMkLst>
            <pc:docMk/>
            <pc:sldMk cId="2153386511" sldId="4917"/>
            <ac:spMk id="62" creationId="{F48F7BCE-284D-7E0E-71BA-877798611B8D}"/>
          </ac:spMkLst>
        </pc:spChg>
        <pc:spChg chg="add mod">
          <ac:chgData name="Violet Khoo Lai Yee [/CSP/CS/MY]" userId="90d6fae8-5865-4e0e-9464-04287fe45eb2" providerId="ADAL" clId="{51545254-4D88-42CE-942B-97927F39D296}" dt="2026-02-16T06:10:52.745" v="12251" actId="1037"/>
          <ac:spMkLst>
            <pc:docMk/>
            <pc:sldMk cId="2153386511" sldId="4917"/>
            <ac:spMk id="63" creationId="{F8DC2590-75B7-43DE-7A92-2F2B286198B3}"/>
          </ac:spMkLst>
        </pc:spChg>
        <pc:spChg chg="add mod">
          <ac:chgData name="Violet Khoo Lai Yee [/CSP/CS/MY]" userId="90d6fae8-5865-4e0e-9464-04287fe45eb2" providerId="ADAL" clId="{51545254-4D88-42CE-942B-97927F39D296}" dt="2026-02-19T01:17:24.798" v="12881" actId="114"/>
          <ac:spMkLst>
            <pc:docMk/>
            <pc:sldMk cId="2153386511" sldId="4917"/>
            <ac:spMk id="66" creationId="{295D97BE-7CF7-D9E5-52E1-6DBD06B5ECF5}"/>
          </ac:spMkLst>
        </pc:spChg>
        <pc:spChg chg="add mod">
          <ac:chgData name="Violet Khoo Lai Yee [/CSP/CS/MY]" userId="90d6fae8-5865-4e0e-9464-04287fe45eb2" providerId="ADAL" clId="{51545254-4D88-42CE-942B-97927F39D296}" dt="2026-02-19T01:17:47.867" v="12894" actId="20577"/>
          <ac:spMkLst>
            <pc:docMk/>
            <pc:sldMk cId="2153386511" sldId="4917"/>
            <ac:spMk id="70" creationId="{32C1766A-17A0-AB9E-D55A-E55FCAE65FE1}"/>
          </ac:spMkLst>
        </pc:spChg>
        <pc:spChg chg="add mod">
          <ac:chgData name="Violet Khoo Lai Yee [/CSP/CS/MY]" userId="90d6fae8-5865-4e0e-9464-04287fe45eb2" providerId="ADAL" clId="{51545254-4D88-42CE-942B-97927F39D296}" dt="2026-02-16T06:12:15.910" v="12322" actId="122"/>
          <ac:spMkLst>
            <pc:docMk/>
            <pc:sldMk cId="2153386511" sldId="4917"/>
            <ac:spMk id="76" creationId="{A7F458A2-328F-0005-139B-56A55CF2093B}"/>
          </ac:spMkLst>
        </pc:spChg>
        <pc:spChg chg="add mod">
          <ac:chgData name="Violet Khoo Lai Yee [/CSP/CS/MY]" userId="90d6fae8-5865-4e0e-9464-04287fe45eb2" providerId="ADAL" clId="{51545254-4D88-42CE-942B-97927F39D296}" dt="2026-02-16T06:11:19.345" v="12269" actId="1037"/>
          <ac:spMkLst>
            <pc:docMk/>
            <pc:sldMk cId="2153386511" sldId="4917"/>
            <ac:spMk id="77" creationId="{9C3AF139-E2AB-84B0-CB7E-57815F9E0A89}"/>
          </ac:spMkLst>
        </pc:spChg>
        <pc:spChg chg="mod topLvl">
          <ac:chgData name="Violet Khoo Lai Yee [/CSP/CS/MY]" userId="90d6fae8-5865-4e0e-9464-04287fe45eb2" providerId="ADAL" clId="{51545254-4D88-42CE-942B-97927F39D296}" dt="2026-02-19T01:16:50.096" v="12873" actId="404"/>
          <ac:spMkLst>
            <pc:docMk/>
            <pc:sldMk cId="2153386511" sldId="4917"/>
            <ac:spMk id="79" creationId="{7FCFAFD0-B984-BDC0-DFB1-3847B3B999A2}"/>
          </ac:spMkLst>
        </pc:spChg>
        <pc:spChg chg="mod topLvl">
          <ac:chgData name="Violet Khoo Lai Yee [/CSP/CS/MY]" userId="90d6fae8-5865-4e0e-9464-04287fe45eb2" providerId="ADAL" clId="{51545254-4D88-42CE-942B-97927F39D296}" dt="2026-02-19T01:16:41.005" v="12872" actId="165"/>
          <ac:spMkLst>
            <pc:docMk/>
            <pc:sldMk cId="2153386511" sldId="4917"/>
            <ac:spMk id="81" creationId="{8DD0A8EC-38EC-FB16-60BB-FA20A7CACBB5}"/>
          </ac:spMkLst>
        </pc:spChg>
        <pc:spChg chg="mod topLvl">
          <ac:chgData name="Violet Khoo Lai Yee [/CSP/CS/MY]" userId="90d6fae8-5865-4e0e-9464-04287fe45eb2" providerId="ADAL" clId="{51545254-4D88-42CE-942B-97927F39D296}" dt="2026-02-19T01:16:41.005" v="12872" actId="165"/>
          <ac:spMkLst>
            <pc:docMk/>
            <pc:sldMk cId="2153386511" sldId="4917"/>
            <ac:spMk id="82" creationId="{F7A6303B-FFF4-9BD3-CC65-6BF56F68F05A}"/>
          </ac:spMkLst>
        </pc:spChg>
        <pc:spChg chg="mod topLvl">
          <ac:chgData name="Violet Khoo Lai Yee [/CSP/CS/MY]" userId="90d6fae8-5865-4e0e-9464-04287fe45eb2" providerId="ADAL" clId="{51545254-4D88-42CE-942B-97927F39D296}" dt="2026-02-19T01:16:41.005" v="12872" actId="165"/>
          <ac:spMkLst>
            <pc:docMk/>
            <pc:sldMk cId="2153386511" sldId="4917"/>
            <ac:spMk id="83" creationId="{A893A7CA-60AC-2C28-673D-5A450CF94688}"/>
          </ac:spMkLst>
        </pc:spChg>
        <pc:spChg chg="mod topLvl">
          <ac:chgData name="Violet Khoo Lai Yee [/CSP/CS/MY]" userId="90d6fae8-5865-4e0e-9464-04287fe45eb2" providerId="ADAL" clId="{51545254-4D88-42CE-942B-97927F39D296}" dt="2026-02-19T01:16:41.005" v="12872" actId="165"/>
          <ac:spMkLst>
            <pc:docMk/>
            <pc:sldMk cId="2153386511" sldId="4917"/>
            <ac:spMk id="88" creationId="{BCDFB254-8EB1-A344-AA06-A1B130B29F16}"/>
          </ac:spMkLst>
        </pc:spChg>
        <pc:spChg chg="mod topLvl">
          <ac:chgData name="Violet Khoo Lai Yee [/CSP/CS/MY]" userId="90d6fae8-5865-4e0e-9464-04287fe45eb2" providerId="ADAL" clId="{51545254-4D88-42CE-942B-97927F39D296}" dt="2026-02-19T01:16:41.005" v="12872" actId="165"/>
          <ac:spMkLst>
            <pc:docMk/>
            <pc:sldMk cId="2153386511" sldId="4917"/>
            <ac:spMk id="90" creationId="{B389AC1D-984F-84EB-036B-E2F5FF40BC1F}"/>
          </ac:spMkLst>
        </pc:spChg>
        <pc:spChg chg="mod topLvl">
          <ac:chgData name="Violet Khoo Lai Yee [/CSP/CS/MY]" userId="90d6fae8-5865-4e0e-9464-04287fe45eb2" providerId="ADAL" clId="{51545254-4D88-42CE-942B-97927F39D296}" dt="2026-02-19T01:16:50.096" v="12873" actId="404"/>
          <ac:spMkLst>
            <pc:docMk/>
            <pc:sldMk cId="2153386511" sldId="4917"/>
            <ac:spMk id="91" creationId="{EEAB68CA-E770-CE39-BF50-56F4ADBF0D46}"/>
          </ac:spMkLst>
        </pc:spChg>
        <pc:spChg chg="mod topLvl">
          <ac:chgData name="Violet Khoo Lai Yee [/CSP/CS/MY]" userId="90d6fae8-5865-4e0e-9464-04287fe45eb2" providerId="ADAL" clId="{51545254-4D88-42CE-942B-97927F39D296}" dt="2026-02-19T01:16:50.096" v="12873" actId="404"/>
          <ac:spMkLst>
            <pc:docMk/>
            <pc:sldMk cId="2153386511" sldId="4917"/>
            <ac:spMk id="92" creationId="{4CADB2A2-1DAA-742B-C024-903126DD9ACD}"/>
          </ac:spMkLst>
        </pc:spChg>
        <pc:spChg chg="mod">
          <ac:chgData name="Violet Khoo Lai Yee [/CSP/CS/MY]" userId="90d6fae8-5865-4e0e-9464-04287fe45eb2" providerId="ADAL" clId="{51545254-4D88-42CE-942B-97927F39D296}" dt="2026-02-16T06:45:52.169" v="12441"/>
          <ac:spMkLst>
            <pc:docMk/>
            <pc:sldMk cId="2153386511" sldId="4917"/>
            <ac:spMk id="93" creationId="{0EAF93D5-240E-A0FD-B42C-712A187FFF2A}"/>
          </ac:spMkLst>
        </pc:spChg>
        <pc:spChg chg="add mod">
          <ac:chgData name="Violet Khoo Lai Yee [/CSP/CS/MY]" userId="90d6fae8-5865-4e0e-9464-04287fe45eb2" providerId="ADAL" clId="{51545254-4D88-42CE-942B-97927F39D296}" dt="2026-02-16T06:11:19.345" v="12269" actId="1037"/>
          <ac:spMkLst>
            <pc:docMk/>
            <pc:sldMk cId="2153386511" sldId="4917"/>
            <ac:spMk id="94" creationId="{B5238DDF-3405-9A93-F370-99A61FFEDC97}"/>
          </ac:spMkLst>
        </pc:spChg>
        <pc:spChg chg="add mod">
          <ac:chgData name="Violet Khoo Lai Yee [/CSP/CS/MY]" userId="90d6fae8-5865-4e0e-9464-04287fe45eb2" providerId="ADAL" clId="{51545254-4D88-42CE-942B-97927F39D296}" dt="2026-02-19T01:17:23.491" v="12880" actId="114"/>
          <ac:spMkLst>
            <pc:docMk/>
            <pc:sldMk cId="2153386511" sldId="4917"/>
            <ac:spMk id="96" creationId="{4C6DBFE2-B49B-FEC4-7E34-769CDB99593C}"/>
          </ac:spMkLst>
        </pc:spChg>
        <pc:spChg chg="mod">
          <ac:chgData name="Violet Khoo Lai Yee [/CSP/CS/MY]" userId="90d6fae8-5865-4e0e-9464-04287fe45eb2" providerId="ADAL" clId="{51545254-4D88-42CE-942B-97927F39D296}" dt="2026-02-19T01:17:21.944" v="12879" actId="114"/>
          <ac:spMkLst>
            <pc:docMk/>
            <pc:sldMk cId="2153386511" sldId="4917"/>
            <ac:spMk id="98" creationId="{EDB8B290-9C26-3CD8-1405-5C10FC257777}"/>
          </ac:spMkLst>
        </pc:spChg>
        <pc:grpChg chg="add mod topLvl">
          <ac:chgData name="Violet Khoo Lai Yee [/CSP/CS/MY]" userId="90d6fae8-5865-4e0e-9464-04287fe45eb2" providerId="ADAL" clId="{51545254-4D88-42CE-942B-97927F39D296}" dt="2026-02-19T01:16:14.439" v="12869" actId="165"/>
          <ac:grpSpMkLst>
            <pc:docMk/>
            <pc:sldMk cId="2153386511" sldId="4917"/>
            <ac:grpSpMk id="17" creationId="{7B3D6836-E700-FD78-D2FF-D1E5AD658965}"/>
          </ac:grpSpMkLst>
        </pc:grpChg>
        <pc:cxnChg chg="add mod">
          <ac:chgData name="Violet Khoo Lai Yee [/CSP/CS/MY]" userId="90d6fae8-5865-4e0e-9464-04287fe45eb2" providerId="ADAL" clId="{51545254-4D88-42CE-942B-97927F39D296}" dt="2026-02-19T01:15:49.828" v="12866" actId="1038"/>
          <ac:cxnSpMkLst>
            <pc:docMk/>
            <pc:sldMk cId="2153386511" sldId="4917"/>
            <ac:cxnSpMk id="3" creationId="{4E1F3261-8B30-0CB2-53E2-DEE57E40F7DA}"/>
          </ac:cxnSpMkLst>
        </pc:cxnChg>
        <pc:cxnChg chg="add mod">
          <ac:chgData name="Violet Khoo Lai Yee [/CSP/CS/MY]" userId="90d6fae8-5865-4e0e-9464-04287fe45eb2" providerId="ADAL" clId="{51545254-4D88-42CE-942B-97927F39D296}" dt="2026-02-19T01:16:14.439" v="12869" actId="165"/>
          <ac:cxnSpMkLst>
            <pc:docMk/>
            <pc:sldMk cId="2153386511" sldId="4917"/>
            <ac:cxnSpMk id="10" creationId="{B5DF7DFB-16C6-2886-F152-C8BE1A54FD5B}"/>
          </ac:cxnSpMkLst>
        </pc:cxnChg>
        <pc:cxnChg chg="add mod">
          <ac:chgData name="Violet Khoo Lai Yee [/CSP/CS/MY]" userId="90d6fae8-5865-4e0e-9464-04287fe45eb2" providerId="ADAL" clId="{51545254-4D88-42CE-942B-97927F39D296}" dt="2026-02-16T05:26:30.821" v="11835" actId="164"/>
          <ac:cxnSpMkLst>
            <pc:docMk/>
            <pc:sldMk cId="2153386511" sldId="4917"/>
            <ac:cxnSpMk id="12" creationId="{1C27E795-E4D6-FBE7-1453-9F77A1D8CFB6}"/>
          </ac:cxnSpMkLst>
        </pc:cxnChg>
        <pc:cxnChg chg="add mod">
          <ac:chgData name="Violet Khoo Lai Yee [/CSP/CS/MY]" userId="90d6fae8-5865-4e0e-9464-04287fe45eb2" providerId="ADAL" clId="{51545254-4D88-42CE-942B-97927F39D296}" dt="2026-02-16T05:26:30.821" v="11835" actId="164"/>
          <ac:cxnSpMkLst>
            <pc:docMk/>
            <pc:sldMk cId="2153386511" sldId="4917"/>
            <ac:cxnSpMk id="14" creationId="{F749CF6F-CD55-60E4-C945-5EB4C3A950BD}"/>
          </ac:cxnSpMkLst>
        </pc:cxnChg>
        <pc:cxnChg chg="add mod">
          <ac:chgData name="Violet Khoo Lai Yee [/CSP/CS/MY]" userId="90d6fae8-5865-4e0e-9464-04287fe45eb2" providerId="ADAL" clId="{51545254-4D88-42CE-942B-97927F39D296}" dt="2026-02-16T05:26:30.821" v="11835" actId="164"/>
          <ac:cxnSpMkLst>
            <pc:docMk/>
            <pc:sldMk cId="2153386511" sldId="4917"/>
            <ac:cxnSpMk id="15" creationId="{A63F6498-1230-A665-9499-4EBD46A92579}"/>
          </ac:cxnSpMkLst>
        </pc:cxnChg>
        <pc:cxnChg chg="mod topLvl">
          <ac:chgData name="Violet Khoo Lai Yee [/CSP/CS/MY]" userId="90d6fae8-5865-4e0e-9464-04287fe45eb2" providerId="ADAL" clId="{51545254-4D88-42CE-942B-97927F39D296}" dt="2026-02-19T01:17:03.483" v="12876" actId="1076"/>
          <ac:cxnSpMkLst>
            <pc:docMk/>
            <pc:sldMk cId="2153386511" sldId="4917"/>
            <ac:cxnSpMk id="23" creationId="{45664940-F165-41FD-EA1A-5FF055EF8C89}"/>
          </ac:cxnSpMkLst>
        </pc:cxnChg>
        <pc:cxnChg chg="mod topLvl">
          <ac:chgData name="Violet Khoo Lai Yee [/CSP/CS/MY]" userId="90d6fae8-5865-4e0e-9464-04287fe45eb2" providerId="ADAL" clId="{51545254-4D88-42CE-942B-97927F39D296}" dt="2026-02-19T01:16:37.395" v="12871" actId="165"/>
          <ac:cxnSpMkLst>
            <pc:docMk/>
            <pc:sldMk cId="2153386511" sldId="4917"/>
            <ac:cxnSpMk id="47" creationId="{237D09F3-6E29-F137-BF2A-CF75D6002761}"/>
          </ac:cxnSpMkLst>
        </pc:cxnChg>
        <pc:cxnChg chg="mod topLvl">
          <ac:chgData name="Violet Khoo Lai Yee [/CSP/CS/MY]" userId="90d6fae8-5865-4e0e-9464-04287fe45eb2" providerId="ADAL" clId="{51545254-4D88-42CE-942B-97927F39D296}" dt="2026-02-16T06:03:41.002" v="12053" actId="164"/>
          <ac:cxnSpMkLst>
            <pc:docMk/>
            <pc:sldMk cId="2153386511" sldId="4917"/>
            <ac:cxnSpMk id="49" creationId="{86272F40-2B3E-C712-A642-D8CD0ED3A9C0}"/>
          </ac:cxnSpMkLst>
        </pc:cxnChg>
        <pc:cxnChg chg="mod topLvl">
          <ac:chgData name="Violet Khoo Lai Yee [/CSP/CS/MY]" userId="90d6fae8-5865-4e0e-9464-04287fe45eb2" providerId="ADAL" clId="{51545254-4D88-42CE-942B-97927F39D296}" dt="2026-02-19T01:16:37.395" v="12871" actId="165"/>
          <ac:cxnSpMkLst>
            <pc:docMk/>
            <pc:sldMk cId="2153386511" sldId="4917"/>
            <ac:cxnSpMk id="50" creationId="{E3DE1777-C7C5-CB1C-9AF0-BCFD591539EA}"/>
          </ac:cxnSpMkLst>
        </pc:cxnChg>
        <pc:cxnChg chg="add mod">
          <ac:chgData name="Violet Khoo Lai Yee [/CSP/CS/MY]" userId="90d6fae8-5865-4e0e-9464-04287fe45eb2" providerId="ADAL" clId="{51545254-4D88-42CE-942B-97927F39D296}" dt="2026-02-16T05:56:28.922" v="12008" actId="1076"/>
          <ac:cxnSpMkLst>
            <pc:docMk/>
            <pc:sldMk cId="2153386511" sldId="4917"/>
            <ac:cxnSpMk id="51" creationId="{81A791EB-4581-5EA2-5825-DD4669612FAD}"/>
          </ac:cxnSpMkLst>
        </pc:cxnChg>
        <pc:cxnChg chg="add mod">
          <ac:chgData name="Violet Khoo Lai Yee [/CSP/CS/MY]" userId="90d6fae8-5865-4e0e-9464-04287fe45eb2" providerId="ADAL" clId="{51545254-4D88-42CE-942B-97927F39D296}" dt="2026-02-16T06:03:30.362" v="12051" actId="1076"/>
          <ac:cxnSpMkLst>
            <pc:docMk/>
            <pc:sldMk cId="2153386511" sldId="4917"/>
            <ac:cxnSpMk id="54" creationId="{A424571A-1086-9769-32B5-E4A332FF0242}"/>
          </ac:cxnSpMkLst>
        </pc:cxnChg>
        <pc:cxnChg chg="add mod">
          <ac:chgData name="Violet Khoo Lai Yee [/CSP/CS/MY]" userId="90d6fae8-5865-4e0e-9464-04287fe45eb2" providerId="ADAL" clId="{51545254-4D88-42CE-942B-97927F39D296}" dt="2026-02-16T06:10:52.745" v="12251" actId="1037"/>
          <ac:cxnSpMkLst>
            <pc:docMk/>
            <pc:sldMk cId="2153386511" sldId="4917"/>
            <ac:cxnSpMk id="65" creationId="{CFF1F25D-756A-56DB-C481-BB0E626938A7}"/>
          </ac:cxnSpMkLst>
        </pc:cxnChg>
        <pc:cxnChg chg="add mod">
          <ac:chgData name="Violet Khoo Lai Yee [/CSP/CS/MY]" userId="90d6fae8-5865-4e0e-9464-04287fe45eb2" providerId="ADAL" clId="{51545254-4D88-42CE-942B-97927F39D296}" dt="2026-02-16T06:10:52.745" v="12251" actId="1037"/>
          <ac:cxnSpMkLst>
            <pc:docMk/>
            <pc:sldMk cId="2153386511" sldId="4917"/>
            <ac:cxnSpMk id="67" creationId="{507C9869-5DD7-F64B-CFB4-B6F9173737D5}"/>
          </ac:cxnSpMkLst>
        </pc:cxnChg>
        <pc:cxnChg chg="add mod">
          <ac:chgData name="Violet Khoo Lai Yee [/CSP/CS/MY]" userId="90d6fae8-5865-4e0e-9464-04287fe45eb2" providerId="ADAL" clId="{51545254-4D88-42CE-942B-97927F39D296}" dt="2026-02-16T06:10:52.745" v="12251" actId="1037"/>
          <ac:cxnSpMkLst>
            <pc:docMk/>
            <pc:sldMk cId="2153386511" sldId="4917"/>
            <ac:cxnSpMk id="72" creationId="{A5C4A1B3-9E6E-1364-106C-DF110790AACA}"/>
          </ac:cxnSpMkLst>
        </pc:cxnChg>
        <pc:cxnChg chg="mod topLvl">
          <ac:chgData name="Violet Khoo Lai Yee [/CSP/CS/MY]" userId="90d6fae8-5865-4e0e-9464-04287fe45eb2" providerId="ADAL" clId="{51545254-4D88-42CE-942B-97927F39D296}" dt="2026-02-19T01:16:41.005" v="12872" actId="165"/>
          <ac:cxnSpMkLst>
            <pc:docMk/>
            <pc:sldMk cId="2153386511" sldId="4917"/>
            <ac:cxnSpMk id="84" creationId="{FAD5527C-238D-5076-455E-DB4732EC8143}"/>
          </ac:cxnSpMkLst>
        </pc:cxnChg>
        <pc:cxnChg chg="mod topLvl">
          <ac:chgData name="Violet Khoo Lai Yee [/CSP/CS/MY]" userId="90d6fae8-5865-4e0e-9464-04287fe45eb2" providerId="ADAL" clId="{51545254-4D88-42CE-942B-97927F39D296}" dt="2026-02-19T01:16:41.005" v="12872" actId="165"/>
          <ac:cxnSpMkLst>
            <pc:docMk/>
            <pc:sldMk cId="2153386511" sldId="4917"/>
            <ac:cxnSpMk id="85" creationId="{95E36C5D-015A-224D-721A-E20693D56A17}"/>
          </ac:cxnSpMkLst>
        </pc:cxnChg>
        <pc:cxnChg chg="mod">
          <ac:chgData name="Violet Khoo Lai Yee [/CSP/CS/MY]" userId="90d6fae8-5865-4e0e-9464-04287fe45eb2" providerId="ADAL" clId="{51545254-4D88-42CE-942B-97927F39D296}" dt="2026-02-16T06:11:19.345" v="12269" actId="1037"/>
          <ac:cxnSpMkLst>
            <pc:docMk/>
            <pc:sldMk cId="2153386511" sldId="4917"/>
            <ac:cxnSpMk id="95" creationId="{7EF15D76-112D-7AB1-A001-91B0BD3FA880}"/>
          </ac:cxnSpMkLst>
        </pc:cxnChg>
        <pc:cxnChg chg="mod">
          <ac:chgData name="Violet Khoo Lai Yee [/CSP/CS/MY]" userId="90d6fae8-5865-4e0e-9464-04287fe45eb2" providerId="ADAL" clId="{51545254-4D88-42CE-942B-97927F39D296}" dt="2026-02-16T06:11:19.345" v="12269" actId="1037"/>
          <ac:cxnSpMkLst>
            <pc:docMk/>
            <pc:sldMk cId="2153386511" sldId="4917"/>
            <ac:cxnSpMk id="97" creationId="{16BAE7D5-19D1-E96B-46D9-4F0728C5685F}"/>
          </ac:cxnSpMkLst>
        </pc:cxnChg>
      </pc:sldChg>
      <pc:sldChg chg="addSp modSp add mod modCm">
        <pc:chgData name="Violet Khoo Lai Yee [/CSP/CS/MY]" userId="90d6fae8-5865-4e0e-9464-04287fe45eb2" providerId="ADAL" clId="{51545254-4D88-42CE-942B-97927F39D296}" dt="2026-02-19T01:48:03.697" v="13655" actId="20577"/>
        <pc:sldMkLst>
          <pc:docMk/>
          <pc:sldMk cId="3444590045" sldId="4919"/>
        </pc:sldMkLst>
        <pc:spChg chg="mod">
          <ac:chgData name="Violet Khoo Lai Yee [/CSP/CS/MY]" userId="90d6fae8-5865-4e0e-9464-04287fe45eb2" providerId="ADAL" clId="{51545254-4D88-42CE-942B-97927F39D296}" dt="2026-02-19T01:43:25.174" v="13441" actId="20577"/>
          <ac:spMkLst>
            <pc:docMk/>
            <pc:sldMk cId="3444590045" sldId="4919"/>
            <ac:spMk id="3" creationId="{08FFA225-3254-1082-89EC-8631BDBA5107}"/>
          </ac:spMkLst>
        </pc:spChg>
        <pc:spChg chg="mod">
          <ac:chgData name="Violet Khoo Lai Yee [/CSP/CS/MY]" userId="90d6fae8-5865-4e0e-9464-04287fe45eb2" providerId="ADAL" clId="{51545254-4D88-42CE-942B-97927F39D296}" dt="2026-02-19T01:48:03.697" v="13655" actId="20577"/>
          <ac:spMkLst>
            <pc:docMk/>
            <pc:sldMk cId="3444590045" sldId="4919"/>
            <ac:spMk id="4" creationId="{326B43B2-6363-B18F-2E94-06282A38803C}"/>
          </ac:spMkLst>
        </pc:spChg>
        <pc:spChg chg="add mod">
          <ac:chgData name="Violet Khoo Lai Yee [/CSP/CS/MY]" userId="90d6fae8-5865-4e0e-9464-04287fe45eb2" providerId="ADAL" clId="{51545254-4D88-42CE-942B-97927F39D296}" dt="2026-02-19T01:45:08.100" v="13464" actId="20577"/>
          <ac:spMkLst>
            <pc:docMk/>
            <pc:sldMk cId="3444590045" sldId="4919"/>
            <ac:spMk id="5" creationId="{290F6170-05C9-FA55-FAB6-F462F8FBE3CE}"/>
          </ac:spMkLst>
        </pc:spChg>
        <pc:spChg chg="add mod">
          <ac:chgData name="Violet Khoo Lai Yee [/CSP/CS/MY]" userId="90d6fae8-5865-4e0e-9464-04287fe45eb2" providerId="ADAL" clId="{51545254-4D88-42CE-942B-97927F39D296}" dt="2026-02-19T01:30:29.062" v="12994" actId="207"/>
          <ac:spMkLst>
            <pc:docMk/>
            <pc:sldMk cId="3444590045" sldId="4919"/>
            <ac:spMk id="6" creationId="{5B268DC0-8D95-8A5F-C9DB-4CB9F769EB4A}"/>
          </ac:spMkLst>
        </pc:spChg>
        <pc:spChg chg="add mod">
          <ac:chgData name="Violet Khoo Lai Yee [/CSP/CS/MY]" userId="90d6fae8-5865-4e0e-9464-04287fe45eb2" providerId="ADAL" clId="{51545254-4D88-42CE-942B-97927F39D296}" dt="2026-02-19T01:40:13.532" v="13160" actId="14100"/>
          <ac:spMkLst>
            <pc:docMk/>
            <pc:sldMk cId="3444590045" sldId="4919"/>
            <ac:spMk id="9" creationId="{771D1253-EA67-8CDB-B9BB-904A47186F25}"/>
          </ac:spMkLst>
        </pc:spChg>
        <pc:spChg chg="add mod">
          <ac:chgData name="Violet Khoo Lai Yee [/CSP/CS/MY]" userId="90d6fae8-5865-4e0e-9464-04287fe45eb2" providerId="ADAL" clId="{51545254-4D88-42CE-942B-97927F39D296}" dt="2026-02-19T01:40:20.337" v="13162" actId="14100"/>
          <ac:spMkLst>
            <pc:docMk/>
            <pc:sldMk cId="3444590045" sldId="4919"/>
            <ac:spMk id="13" creationId="{E6F5EAB5-BD3D-524B-91E8-CF82EB6EB5C0}"/>
          </ac:spMkLst>
        </pc:spChg>
        <pc:spChg chg="add mod">
          <ac:chgData name="Violet Khoo Lai Yee [/CSP/CS/MY]" userId="90d6fae8-5865-4e0e-9464-04287fe45eb2" providerId="ADAL" clId="{51545254-4D88-42CE-942B-97927F39D296}" dt="2026-02-19T01:40:08.263" v="13159" actId="113"/>
          <ac:spMkLst>
            <pc:docMk/>
            <pc:sldMk cId="3444590045" sldId="4919"/>
            <ac:spMk id="15" creationId="{85455DB3-3211-606F-DC48-86A6BEE68BC6}"/>
          </ac:spMkLst>
        </pc:spChg>
        <pc:extLst>
          <p:ext xmlns:p="http://schemas.openxmlformats.org/presentationml/2006/main" uri="{D6D511B9-2390-475A-947B-AFAB55BFBCF1}">
            <pc226:cmChg xmlns:pc226="http://schemas.microsoft.com/office/powerpoint/2022/06/main/command" chg="mod">
              <pc226:chgData name="Violet Khoo Lai Yee [/CSP/CS/MY]" userId="90d6fae8-5865-4e0e-9464-04287fe45eb2" providerId="ADAL" clId="{51545254-4D88-42CE-942B-97927F39D296}" dt="2026-02-19T01:48:03.697" v="13655" actId="20577"/>
              <pc2:cmMkLst xmlns:pc2="http://schemas.microsoft.com/office/powerpoint/2019/9/main/command">
                <pc:docMk/>
                <pc:sldMk cId="3444590045" sldId="4919"/>
                <pc2:cmMk id="{6D63EBEA-C7EB-4F1E-9855-B3EDE9EC089A}"/>
              </pc2:cmMkLst>
            </pc226:cmChg>
          </p:ext>
        </pc:extLst>
      </pc:sldChg>
      <pc:sldChg chg="addSp delSp modSp mod modCm">
        <pc:chgData name="Violet Khoo Lai Yee [/CSP/CS/MY]" userId="90d6fae8-5865-4e0e-9464-04287fe45eb2" providerId="ADAL" clId="{51545254-4D88-42CE-942B-97927F39D296}" dt="2026-02-23T14:20:20.568" v="14067" actId="20577"/>
        <pc:sldMkLst>
          <pc:docMk/>
          <pc:sldMk cId="3361111633" sldId="4920"/>
        </pc:sldMkLst>
        <pc:spChg chg="mod">
          <ac:chgData name="Violet Khoo Lai Yee [/CSP/CS/MY]" userId="90d6fae8-5865-4e0e-9464-04287fe45eb2" providerId="ADAL" clId="{51545254-4D88-42CE-942B-97927F39D296}" dt="2026-02-19T02:50:41.132" v="13680" actId="339"/>
          <ac:spMkLst>
            <pc:docMk/>
            <pc:sldMk cId="3361111633" sldId="4920"/>
            <ac:spMk id="5" creationId="{3C4C766D-DCE3-683B-A7D1-49710933E9C0}"/>
          </ac:spMkLst>
        </pc:spChg>
        <pc:spChg chg="add mod ord">
          <ac:chgData name="Violet Khoo Lai Yee [/CSP/CS/MY]" userId="90d6fae8-5865-4e0e-9464-04287fe45eb2" providerId="ADAL" clId="{51545254-4D88-42CE-942B-97927F39D296}" dt="2026-02-19T02:51:54.306" v="13692" actId="14861"/>
          <ac:spMkLst>
            <pc:docMk/>
            <pc:sldMk cId="3361111633" sldId="4920"/>
            <ac:spMk id="7" creationId="{81AF6827-E25F-AB1D-5107-DDE6003A4A23}"/>
          </ac:spMkLst>
        </pc:spChg>
        <pc:spChg chg="mod">
          <ac:chgData name="Violet Khoo Lai Yee [/CSP/CS/MY]" userId="90d6fae8-5865-4e0e-9464-04287fe45eb2" providerId="ADAL" clId="{51545254-4D88-42CE-942B-97927F39D296}" dt="2026-02-19T02:50:41.132" v="13680" actId="339"/>
          <ac:spMkLst>
            <pc:docMk/>
            <pc:sldMk cId="3361111633" sldId="4920"/>
            <ac:spMk id="8" creationId="{B87FE4D7-16C6-56B5-C2F3-F9D16053A205}"/>
          </ac:spMkLst>
        </pc:spChg>
        <pc:spChg chg="mod">
          <ac:chgData name="Violet Khoo Lai Yee [/CSP/CS/MY]" userId="90d6fae8-5865-4e0e-9464-04287fe45eb2" providerId="ADAL" clId="{51545254-4D88-42CE-942B-97927F39D296}" dt="2026-02-19T02:52:08.140" v="13695" actId="1076"/>
          <ac:spMkLst>
            <pc:docMk/>
            <pc:sldMk cId="3361111633" sldId="4920"/>
            <ac:spMk id="10" creationId="{BE6D4F00-0B7E-CE04-12BD-9CDE54512B0F}"/>
          </ac:spMkLst>
        </pc:spChg>
        <pc:spChg chg="mod topLvl">
          <ac:chgData name="Violet Khoo Lai Yee [/CSP/CS/MY]" userId="90d6fae8-5865-4e0e-9464-04287fe45eb2" providerId="ADAL" clId="{51545254-4D88-42CE-942B-97927F39D296}" dt="2026-02-19T02:57:57.766" v="13841" actId="1076"/>
          <ac:spMkLst>
            <pc:docMk/>
            <pc:sldMk cId="3361111633" sldId="4920"/>
            <ac:spMk id="35" creationId="{636E92DB-2F72-FCE1-4AE5-18D6F2BE6402}"/>
          </ac:spMkLst>
        </pc:spChg>
        <pc:spChg chg="mod topLvl">
          <ac:chgData name="Violet Khoo Lai Yee [/CSP/CS/MY]" userId="90d6fae8-5865-4e0e-9464-04287fe45eb2" providerId="ADAL" clId="{51545254-4D88-42CE-942B-97927F39D296}" dt="2026-02-19T02:58:30.126" v="13848" actId="207"/>
          <ac:spMkLst>
            <pc:docMk/>
            <pc:sldMk cId="3361111633" sldId="4920"/>
            <ac:spMk id="38" creationId="{1FFE2635-894B-E810-1B95-51FED55F4A02}"/>
          </ac:spMkLst>
        </pc:spChg>
        <pc:spChg chg="mod topLvl">
          <ac:chgData name="Violet Khoo Lai Yee [/CSP/CS/MY]" userId="90d6fae8-5865-4e0e-9464-04287fe45eb2" providerId="ADAL" clId="{51545254-4D88-42CE-942B-97927F39D296}" dt="2026-02-19T03:00:55.224" v="13880" actId="403"/>
          <ac:spMkLst>
            <pc:docMk/>
            <pc:sldMk cId="3361111633" sldId="4920"/>
            <ac:spMk id="39" creationId="{4F188003-819F-9317-53FB-9DCA7C0702B7}"/>
          </ac:spMkLst>
        </pc:spChg>
        <pc:spChg chg="mod topLvl">
          <ac:chgData name="Violet Khoo Lai Yee [/CSP/CS/MY]" userId="90d6fae8-5865-4e0e-9464-04287fe45eb2" providerId="ADAL" clId="{51545254-4D88-42CE-942B-97927F39D296}" dt="2026-02-19T03:00:53.065" v="13879" actId="1076"/>
          <ac:spMkLst>
            <pc:docMk/>
            <pc:sldMk cId="3361111633" sldId="4920"/>
            <ac:spMk id="40" creationId="{2CECB0E0-1694-95F1-FFA7-368A16691E72}"/>
          </ac:spMkLst>
        </pc:spChg>
        <pc:spChg chg="mod topLvl">
          <ac:chgData name="Violet Khoo Lai Yee [/CSP/CS/MY]" userId="90d6fae8-5865-4e0e-9464-04287fe45eb2" providerId="ADAL" clId="{51545254-4D88-42CE-942B-97927F39D296}" dt="2026-02-19T03:00:24.984" v="13870" actId="1076"/>
          <ac:spMkLst>
            <pc:docMk/>
            <pc:sldMk cId="3361111633" sldId="4920"/>
            <ac:spMk id="41" creationId="{684557E2-8DDA-5983-44A7-E95F78CFA671}"/>
          </ac:spMkLst>
        </pc:spChg>
        <pc:spChg chg="mod topLvl">
          <ac:chgData name="Violet Khoo Lai Yee [/CSP/CS/MY]" userId="90d6fae8-5865-4e0e-9464-04287fe45eb2" providerId="ADAL" clId="{51545254-4D88-42CE-942B-97927F39D296}" dt="2026-02-19T03:01:04.470" v="13882" actId="1076"/>
          <ac:spMkLst>
            <pc:docMk/>
            <pc:sldMk cId="3361111633" sldId="4920"/>
            <ac:spMk id="42" creationId="{6D9355F5-A1E5-71CC-E56F-F5E7BDAC250B}"/>
          </ac:spMkLst>
        </pc:spChg>
        <pc:spChg chg="mod">
          <ac:chgData name="Violet Khoo Lai Yee [/CSP/CS/MY]" userId="90d6fae8-5865-4e0e-9464-04287fe45eb2" providerId="ADAL" clId="{51545254-4D88-42CE-942B-97927F39D296}" dt="2026-02-19T02:58:48.612" v="13849" actId="1076"/>
          <ac:spMkLst>
            <pc:docMk/>
            <pc:sldMk cId="3361111633" sldId="4920"/>
            <ac:spMk id="46" creationId="{C2E797D5-0D45-1C0D-3F83-4476705ABA6C}"/>
          </ac:spMkLst>
        </pc:spChg>
        <pc:spChg chg="mod topLvl">
          <ac:chgData name="Violet Khoo Lai Yee [/CSP/CS/MY]" userId="90d6fae8-5865-4e0e-9464-04287fe45eb2" providerId="ADAL" clId="{51545254-4D88-42CE-942B-97927F39D296}" dt="2026-02-19T02:58:08.955" v="13844" actId="14100"/>
          <ac:spMkLst>
            <pc:docMk/>
            <pc:sldMk cId="3361111633" sldId="4920"/>
            <ac:spMk id="48" creationId="{04C93736-DB56-267D-98EC-DAC9702140DE}"/>
          </ac:spMkLst>
        </pc:spChg>
        <pc:spChg chg="mod topLvl">
          <ac:chgData name="Violet Khoo Lai Yee [/CSP/CS/MY]" userId="90d6fae8-5865-4e0e-9464-04287fe45eb2" providerId="ADAL" clId="{51545254-4D88-42CE-942B-97927F39D296}" dt="2026-02-19T02:57:54.081" v="13840" actId="1076"/>
          <ac:spMkLst>
            <pc:docMk/>
            <pc:sldMk cId="3361111633" sldId="4920"/>
            <ac:spMk id="49" creationId="{E1F9D3C2-7C63-87FA-2E62-D539AC396712}"/>
          </ac:spMkLst>
        </pc:spChg>
        <pc:spChg chg="mod">
          <ac:chgData name="Violet Khoo Lai Yee [/CSP/CS/MY]" userId="90d6fae8-5865-4e0e-9464-04287fe45eb2" providerId="ADAL" clId="{51545254-4D88-42CE-942B-97927F39D296}" dt="2026-02-19T02:58:01.031" v="13842" actId="1076"/>
          <ac:spMkLst>
            <pc:docMk/>
            <pc:sldMk cId="3361111633" sldId="4920"/>
            <ac:spMk id="68" creationId="{887AC804-4829-3E79-5C08-7B7712292A23}"/>
          </ac:spMkLst>
        </pc:spChg>
        <pc:spChg chg="mod">
          <ac:chgData name="Violet Khoo Lai Yee [/CSP/CS/MY]" userId="90d6fae8-5865-4e0e-9464-04287fe45eb2" providerId="ADAL" clId="{51545254-4D88-42CE-942B-97927F39D296}" dt="2026-02-23T14:20:20.568" v="14067" actId="20577"/>
          <ac:spMkLst>
            <pc:docMk/>
            <pc:sldMk cId="3361111633" sldId="4920"/>
            <ac:spMk id="99" creationId="{71E60043-F5F8-2F43-9377-DFCD6D34416B}"/>
          </ac:spMkLst>
        </pc:spChg>
        <pc:picChg chg="add mod">
          <ac:chgData name="Violet Khoo Lai Yee [/CSP/CS/MY]" userId="90d6fae8-5865-4e0e-9464-04287fe45eb2" providerId="ADAL" clId="{51545254-4D88-42CE-942B-97927F39D296}" dt="2026-02-19T02:57:57.766" v="13841" actId="1076"/>
          <ac:picMkLst>
            <pc:docMk/>
            <pc:sldMk cId="3361111633" sldId="4920"/>
            <ac:picMk id="13" creationId="{87727C8B-7032-8849-622A-FAB063D4988F}"/>
          </ac:picMkLst>
        </pc:picChg>
        <pc:extLst>
          <p:ext xmlns:p="http://schemas.openxmlformats.org/presentationml/2006/main" uri="{D6D511B9-2390-475A-947B-AFAB55BFBCF1}">
            <pc226:cmChg xmlns:pc226="http://schemas.microsoft.com/office/powerpoint/2022/06/main/command" chg="mod">
              <pc226:chgData name="Violet Khoo Lai Yee [/CSP/CS/MY]" userId="90d6fae8-5865-4e0e-9464-04287fe45eb2" providerId="ADAL" clId="{51545254-4D88-42CE-942B-97927F39D296}" dt="2026-02-23T14:20:20.568" v="14067" actId="20577"/>
              <pc2:cmMkLst xmlns:pc2="http://schemas.microsoft.com/office/powerpoint/2019/9/main/command">
                <pc:docMk/>
                <pc:sldMk cId="3361111633" sldId="4920"/>
                <pc2:cmMk id="{20A31E59-B63C-4962-8879-6C32E103EF4D}"/>
              </pc2:cmMkLst>
            </pc226:cmChg>
          </p:ext>
        </pc:extLst>
      </pc:sldChg>
    </pc:docChg>
  </pc:docChgLst>
  <pc:docChgLst>
    <pc:chgData name="Jason Ng Jie Xin [/CSP/CS/MY]" userId="e12582ef-5ec4-41e4-86b9-d3adc73837d7" providerId="ADAL" clId="{ECC1F86F-73C0-4C51-BEB2-2228EB1FB6AA}"/>
    <pc:docChg chg="undo redo custSel addSld delSld modSld sldOrd">
      <pc:chgData name="Jason Ng Jie Xin [/CSP/CS/MY]" userId="e12582ef-5ec4-41e4-86b9-d3adc73837d7" providerId="ADAL" clId="{ECC1F86F-73C0-4C51-BEB2-2228EB1FB6AA}" dt="2026-03-19T01:56:09.693" v="4244" actId="20577"/>
      <pc:docMkLst>
        <pc:docMk/>
      </pc:docMkLst>
      <pc:sldChg chg="modSp mod">
        <pc:chgData name="Jason Ng Jie Xin [/CSP/CS/MY]" userId="e12582ef-5ec4-41e4-86b9-d3adc73837d7" providerId="ADAL" clId="{ECC1F86F-73C0-4C51-BEB2-2228EB1FB6AA}" dt="2026-03-19T01:56:09.693" v="4244" actId="20577"/>
        <pc:sldMkLst>
          <pc:docMk/>
          <pc:sldMk cId="2758884518" sldId="398"/>
        </pc:sldMkLst>
        <pc:spChg chg="mod">
          <ac:chgData name="Jason Ng Jie Xin [/CSP/CS/MY]" userId="e12582ef-5ec4-41e4-86b9-d3adc73837d7" providerId="ADAL" clId="{ECC1F86F-73C0-4C51-BEB2-2228EB1FB6AA}" dt="2026-03-19T01:56:09.693" v="4244" actId="20577"/>
          <ac:spMkLst>
            <pc:docMk/>
            <pc:sldMk cId="2758884518" sldId="398"/>
            <ac:spMk id="6" creationId="{5CAAE5C3-CE75-49CE-3E48-B76D9A409448}"/>
          </ac:spMkLst>
        </pc:spChg>
      </pc:sldChg>
      <pc:sldChg chg="modSp mod">
        <pc:chgData name="Jason Ng Jie Xin [/CSP/CS/MY]" userId="e12582ef-5ec4-41e4-86b9-d3adc73837d7" providerId="ADAL" clId="{ECC1F86F-73C0-4C51-BEB2-2228EB1FB6AA}" dt="2026-02-19T02:06:24.262" v="4125" actId="1076"/>
        <pc:sldMkLst>
          <pc:docMk/>
          <pc:sldMk cId="3444590045" sldId="4919"/>
        </pc:sldMkLst>
        <pc:spChg chg="mod">
          <ac:chgData name="Jason Ng Jie Xin [/CSP/CS/MY]" userId="e12582ef-5ec4-41e4-86b9-d3adc73837d7" providerId="ADAL" clId="{ECC1F86F-73C0-4C51-BEB2-2228EB1FB6AA}" dt="2026-02-19T02:06:24.262" v="4125" actId="1076"/>
          <ac:spMkLst>
            <pc:docMk/>
            <pc:sldMk cId="3444590045" sldId="4919"/>
            <ac:spMk id="6" creationId="{5B268DC0-8D95-8A5F-C9DB-4CB9F769EB4A}"/>
          </ac:spMkLst>
        </pc:spChg>
      </pc:sldChg>
      <pc:sldChg chg="addSp delSp modSp add mod modCm">
        <pc:chgData name="Jason Ng Jie Xin [/CSP/CS/MY]" userId="e12582ef-5ec4-41e4-86b9-d3adc73837d7" providerId="ADAL" clId="{ECC1F86F-73C0-4C51-BEB2-2228EB1FB6AA}" dt="2026-02-19T02:36:27.975" v="4239" actId="208"/>
        <pc:sldMkLst>
          <pc:docMk/>
          <pc:sldMk cId="3361111633" sldId="4920"/>
        </pc:sldMkLst>
        <pc:spChg chg="add mod">
          <ac:chgData name="Jason Ng Jie Xin [/CSP/CS/MY]" userId="e12582ef-5ec4-41e4-86b9-d3adc73837d7" providerId="ADAL" clId="{ECC1F86F-73C0-4C51-BEB2-2228EB1FB6AA}" dt="2026-02-19T01:50:45.517" v="3909" actId="1076"/>
          <ac:spMkLst>
            <pc:docMk/>
            <pc:sldMk cId="3361111633" sldId="4920"/>
            <ac:spMk id="3" creationId="{316303DD-4814-C826-D892-09FC7C1E92B5}"/>
          </ac:spMkLst>
        </pc:spChg>
        <pc:spChg chg="add mod">
          <ac:chgData name="Jason Ng Jie Xin [/CSP/CS/MY]" userId="e12582ef-5ec4-41e4-86b9-d3adc73837d7" providerId="ADAL" clId="{ECC1F86F-73C0-4C51-BEB2-2228EB1FB6AA}" dt="2026-02-19T02:24:46.360" v="4126" actId="403"/>
          <ac:spMkLst>
            <pc:docMk/>
            <pc:sldMk cId="3361111633" sldId="4920"/>
            <ac:spMk id="5" creationId="{3C4C766D-DCE3-683B-A7D1-49710933E9C0}"/>
          </ac:spMkLst>
        </pc:spChg>
        <pc:spChg chg="add mod">
          <ac:chgData name="Jason Ng Jie Xin [/CSP/CS/MY]" userId="e12582ef-5ec4-41e4-86b9-d3adc73837d7" providerId="ADAL" clId="{ECC1F86F-73C0-4C51-BEB2-2228EB1FB6AA}" dt="2026-02-19T02:24:46.360" v="4126" actId="403"/>
          <ac:spMkLst>
            <pc:docMk/>
            <pc:sldMk cId="3361111633" sldId="4920"/>
            <ac:spMk id="8" creationId="{B87FE4D7-16C6-56B5-C2F3-F9D16053A205}"/>
          </ac:spMkLst>
        </pc:spChg>
        <pc:spChg chg="add mod">
          <ac:chgData name="Jason Ng Jie Xin [/CSP/CS/MY]" userId="e12582ef-5ec4-41e4-86b9-d3adc73837d7" providerId="ADAL" clId="{ECC1F86F-73C0-4C51-BEB2-2228EB1FB6AA}" dt="2026-02-19T02:00:52.475" v="4081" actId="1076"/>
          <ac:spMkLst>
            <pc:docMk/>
            <pc:sldMk cId="3361111633" sldId="4920"/>
            <ac:spMk id="10" creationId="{BE6D4F00-0B7E-CE04-12BD-9CDE54512B0F}"/>
          </ac:spMkLst>
        </pc:spChg>
        <pc:spChg chg="add mod">
          <ac:chgData name="Jason Ng Jie Xin [/CSP/CS/MY]" userId="e12582ef-5ec4-41e4-86b9-d3adc73837d7" providerId="ADAL" clId="{ECC1F86F-73C0-4C51-BEB2-2228EB1FB6AA}" dt="2026-02-19T02:35:13.657" v="4235" actId="20577"/>
          <ac:spMkLst>
            <pc:docMk/>
            <pc:sldMk cId="3361111633" sldId="4920"/>
            <ac:spMk id="33" creationId="{7AC86B04-209D-0085-6D9C-4D4CF76CFCED}"/>
          </ac:spMkLst>
        </pc:spChg>
        <pc:spChg chg="add mod">
          <ac:chgData name="Jason Ng Jie Xin [/CSP/CS/MY]" userId="e12582ef-5ec4-41e4-86b9-d3adc73837d7" providerId="ADAL" clId="{ECC1F86F-73C0-4C51-BEB2-2228EB1FB6AA}" dt="2026-02-19T02:35:10.292" v="4233" actId="14100"/>
          <ac:spMkLst>
            <pc:docMk/>
            <pc:sldMk cId="3361111633" sldId="4920"/>
            <ac:spMk id="34" creationId="{F027A8C5-3447-3BC5-6C2B-7AC3DEABF8AB}"/>
          </ac:spMkLst>
        </pc:spChg>
        <pc:spChg chg="add mod">
          <ac:chgData name="Jason Ng Jie Xin [/CSP/CS/MY]" userId="e12582ef-5ec4-41e4-86b9-d3adc73837d7" providerId="ADAL" clId="{ECC1F86F-73C0-4C51-BEB2-2228EB1FB6AA}" dt="2026-02-19T02:36:12.858" v="4238" actId="208"/>
          <ac:spMkLst>
            <pc:docMk/>
            <pc:sldMk cId="3361111633" sldId="4920"/>
            <ac:spMk id="35" creationId="{636E92DB-2F72-FCE1-4AE5-18D6F2BE6402}"/>
          </ac:spMkLst>
        </pc:spChg>
        <pc:spChg chg="add mod">
          <ac:chgData name="Jason Ng Jie Xin [/CSP/CS/MY]" userId="e12582ef-5ec4-41e4-86b9-d3adc73837d7" providerId="ADAL" clId="{ECC1F86F-73C0-4C51-BEB2-2228EB1FB6AA}" dt="2026-02-19T02:29:52.449" v="4128" actId="208"/>
          <ac:spMkLst>
            <pc:docMk/>
            <pc:sldMk cId="3361111633" sldId="4920"/>
            <ac:spMk id="38" creationId="{1FFE2635-894B-E810-1B95-51FED55F4A02}"/>
          </ac:spMkLst>
        </pc:spChg>
        <pc:spChg chg="mod">
          <ac:chgData name="Jason Ng Jie Xin [/CSP/CS/MY]" userId="e12582ef-5ec4-41e4-86b9-d3adc73837d7" providerId="ADAL" clId="{ECC1F86F-73C0-4C51-BEB2-2228EB1FB6AA}" dt="2026-02-19T02:04:11.647" v="4114" actId="164"/>
          <ac:spMkLst>
            <pc:docMk/>
            <pc:sldMk cId="3361111633" sldId="4920"/>
            <ac:spMk id="39" creationId="{4F188003-819F-9317-53FB-9DCA7C0702B7}"/>
          </ac:spMkLst>
        </pc:spChg>
        <pc:spChg chg="add mod">
          <ac:chgData name="Jason Ng Jie Xin [/CSP/CS/MY]" userId="e12582ef-5ec4-41e4-86b9-d3adc73837d7" providerId="ADAL" clId="{ECC1F86F-73C0-4C51-BEB2-2228EB1FB6AA}" dt="2026-02-19T02:04:11.647" v="4114" actId="164"/>
          <ac:spMkLst>
            <pc:docMk/>
            <pc:sldMk cId="3361111633" sldId="4920"/>
            <ac:spMk id="40" creationId="{2CECB0E0-1694-95F1-FFA7-368A16691E72}"/>
          </ac:spMkLst>
        </pc:spChg>
        <pc:spChg chg="add mod">
          <ac:chgData name="Jason Ng Jie Xin [/CSP/CS/MY]" userId="e12582ef-5ec4-41e4-86b9-d3adc73837d7" providerId="ADAL" clId="{ECC1F86F-73C0-4C51-BEB2-2228EB1FB6AA}" dt="2026-02-19T02:04:11.647" v="4114" actId="164"/>
          <ac:spMkLst>
            <pc:docMk/>
            <pc:sldMk cId="3361111633" sldId="4920"/>
            <ac:spMk id="41" creationId="{684557E2-8DDA-5983-44A7-E95F78CFA671}"/>
          </ac:spMkLst>
        </pc:spChg>
        <pc:spChg chg="add mod">
          <ac:chgData name="Jason Ng Jie Xin [/CSP/CS/MY]" userId="e12582ef-5ec4-41e4-86b9-d3adc73837d7" providerId="ADAL" clId="{ECC1F86F-73C0-4C51-BEB2-2228EB1FB6AA}" dt="2026-02-19T02:04:11.647" v="4114" actId="164"/>
          <ac:spMkLst>
            <pc:docMk/>
            <pc:sldMk cId="3361111633" sldId="4920"/>
            <ac:spMk id="42" creationId="{6D9355F5-A1E5-71CC-E56F-F5E7BDAC250B}"/>
          </ac:spMkLst>
        </pc:spChg>
        <pc:spChg chg="add mod">
          <ac:chgData name="Jason Ng Jie Xin [/CSP/CS/MY]" userId="e12582ef-5ec4-41e4-86b9-d3adc73837d7" providerId="ADAL" clId="{ECC1F86F-73C0-4C51-BEB2-2228EB1FB6AA}" dt="2026-02-19T02:30:23.349" v="4133" actId="1076"/>
          <ac:spMkLst>
            <pc:docMk/>
            <pc:sldMk cId="3361111633" sldId="4920"/>
            <ac:spMk id="46" creationId="{C2E797D5-0D45-1C0D-3F83-4476705ABA6C}"/>
          </ac:spMkLst>
        </pc:spChg>
        <pc:spChg chg="add mod">
          <ac:chgData name="Jason Ng Jie Xin [/CSP/CS/MY]" userId="e12582ef-5ec4-41e4-86b9-d3adc73837d7" providerId="ADAL" clId="{ECC1F86F-73C0-4C51-BEB2-2228EB1FB6AA}" dt="2026-02-19T02:04:11.647" v="4114" actId="164"/>
          <ac:spMkLst>
            <pc:docMk/>
            <pc:sldMk cId="3361111633" sldId="4920"/>
            <ac:spMk id="48" creationId="{04C93736-DB56-267D-98EC-DAC9702140DE}"/>
          </ac:spMkLst>
        </pc:spChg>
        <pc:spChg chg="add mod">
          <ac:chgData name="Jason Ng Jie Xin [/CSP/CS/MY]" userId="e12582ef-5ec4-41e4-86b9-d3adc73837d7" providerId="ADAL" clId="{ECC1F86F-73C0-4C51-BEB2-2228EB1FB6AA}" dt="2026-02-19T02:36:27.975" v="4239" actId="208"/>
          <ac:spMkLst>
            <pc:docMk/>
            <pc:sldMk cId="3361111633" sldId="4920"/>
            <ac:spMk id="49" creationId="{E1F9D3C2-7C63-87FA-2E62-D539AC396712}"/>
          </ac:spMkLst>
        </pc:spChg>
        <pc:spChg chg="add mod">
          <ac:chgData name="Jason Ng Jie Xin [/CSP/CS/MY]" userId="e12582ef-5ec4-41e4-86b9-d3adc73837d7" providerId="ADAL" clId="{ECC1F86F-73C0-4C51-BEB2-2228EB1FB6AA}" dt="2026-02-19T02:30:36.196" v="4135" actId="1076"/>
          <ac:spMkLst>
            <pc:docMk/>
            <pc:sldMk cId="3361111633" sldId="4920"/>
            <ac:spMk id="68" creationId="{887AC804-4829-3E79-5C08-7B7712292A23}"/>
          </ac:spMkLst>
        </pc:spChg>
        <pc:spChg chg="add mod">
          <ac:chgData name="Jason Ng Jie Xin [/CSP/CS/MY]" userId="e12582ef-5ec4-41e4-86b9-d3adc73837d7" providerId="ADAL" clId="{ECC1F86F-73C0-4C51-BEB2-2228EB1FB6AA}" dt="2026-02-19T02:03:49.729" v="4109" actId="14100"/>
          <ac:spMkLst>
            <pc:docMk/>
            <pc:sldMk cId="3361111633" sldId="4920"/>
            <ac:spMk id="74" creationId="{D94B28CC-9421-C419-7AD7-3CB5A921B7E4}"/>
          </ac:spMkLst>
        </pc:spChg>
        <pc:spChg chg="add mod">
          <ac:chgData name="Jason Ng Jie Xin [/CSP/CS/MY]" userId="e12582ef-5ec4-41e4-86b9-d3adc73837d7" providerId="ADAL" clId="{ECC1F86F-73C0-4C51-BEB2-2228EB1FB6AA}" dt="2026-02-19T02:03:36.129" v="4107" actId="1076"/>
          <ac:spMkLst>
            <pc:docMk/>
            <pc:sldMk cId="3361111633" sldId="4920"/>
            <ac:spMk id="75" creationId="{CBE1A168-A564-7921-19D6-7419D93ED213}"/>
          </ac:spMkLst>
        </pc:spChg>
        <pc:spChg chg="add mod">
          <ac:chgData name="Jason Ng Jie Xin [/CSP/CS/MY]" userId="e12582ef-5ec4-41e4-86b9-d3adc73837d7" providerId="ADAL" clId="{ECC1F86F-73C0-4C51-BEB2-2228EB1FB6AA}" dt="2026-02-19T02:03:41.011" v="4108" actId="1076"/>
          <ac:spMkLst>
            <pc:docMk/>
            <pc:sldMk cId="3361111633" sldId="4920"/>
            <ac:spMk id="76" creationId="{028C8C66-29D5-8172-E061-99BB136F14AC}"/>
          </ac:spMkLst>
        </pc:spChg>
        <pc:spChg chg="add mod">
          <ac:chgData name="Jason Ng Jie Xin [/CSP/CS/MY]" userId="e12582ef-5ec4-41e4-86b9-d3adc73837d7" providerId="ADAL" clId="{ECC1F86F-73C0-4C51-BEB2-2228EB1FB6AA}" dt="2026-02-19T01:57:54.128" v="4031" actId="1076"/>
          <ac:spMkLst>
            <pc:docMk/>
            <pc:sldMk cId="3361111633" sldId="4920"/>
            <ac:spMk id="77" creationId="{563800ED-E30B-9D5D-74FF-CAE93F15E868}"/>
          </ac:spMkLst>
        </pc:spChg>
        <pc:spChg chg="add mod">
          <ac:chgData name="Jason Ng Jie Xin [/CSP/CS/MY]" userId="e12582ef-5ec4-41e4-86b9-d3adc73837d7" providerId="ADAL" clId="{ECC1F86F-73C0-4C51-BEB2-2228EB1FB6AA}" dt="2026-02-19T02:31:20.208" v="4139" actId="1076"/>
          <ac:spMkLst>
            <pc:docMk/>
            <pc:sldMk cId="3361111633" sldId="4920"/>
            <ac:spMk id="81" creationId="{32865E85-6A7D-D340-2966-DE818A199B41}"/>
          </ac:spMkLst>
        </pc:spChg>
        <pc:spChg chg="add mod">
          <ac:chgData name="Jason Ng Jie Xin [/CSP/CS/MY]" userId="e12582ef-5ec4-41e4-86b9-d3adc73837d7" providerId="ADAL" clId="{ECC1F86F-73C0-4C51-BEB2-2228EB1FB6AA}" dt="2026-02-19T02:35:16.904" v="4237" actId="1076"/>
          <ac:spMkLst>
            <pc:docMk/>
            <pc:sldMk cId="3361111633" sldId="4920"/>
            <ac:spMk id="99" creationId="{71E60043-F5F8-2F43-9377-DFCD6D34416B}"/>
          </ac:spMkLst>
        </pc:spChg>
        <pc:picChg chg="mod">
          <ac:chgData name="Jason Ng Jie Xin [/CSP/CS/MY]" userId="e12582ef-5ec4-41e4-86b9-d3adc73837d7" providerId="ADAL" clId="{ECC1F86F-73C0-4C51-BEB2-2228EB1FB6AA}" dt="2026-02-19T02:31:24.245" v="4140" actId="1076"/>
          <ac:picMkLst>
            <pc:docMk/>
            <pc:sldMk cId="3361111633" sldId="4920"/>
            <ac:picMk id="51" creationId="{2F746377-F18D-3A27-75A7-DB3B4FF771C4}"/>
          </ac:picMkLst>
        </pc:picChg>
        <pc:picChg chg="mod">
          <ac:chgData name="Jason Ng Jie Xin [/CSP/CS/MY]" userId="e12582ef-5ec4-41e4-86b9-d3adc73837d7" providerId="ADAL" clId="{ECC1F86F-73C0-4C51-BEB2-2228EB1FB6AA}" dt="2026-02-19T02:32:00.344" v="4151" actId="1076"/>
          <ac:picMkLst>
            <pc:docMk/>
            <pc:sldMk cId="3361111633" sldId="4920"/>
            <ac:picMk id="52" creationId="{263C1D7E-319B-A51E-8051-8FE5353103F1}"/>
          </ac:picMkLst>
        </pc:picChg>
        <pc:picChg chg="add mod">
          <ac:chgData name="Jason Ng Jie Xin [/CSP/CS/MY]" userId="e12582ef-5ec4-41e4-86b9-d3adc73837d7" providerId="ADAL" clId="{ECC1F86F-73C0-4C51-BEB2-2228EB1FB6AA}" dt="2026-02-19T02:03:36.129" v="4107" actId="1076"/>
          <ac:picMkLst>
            <pc:docMk/>
            <pc:sldMk cId="3361111633" sldId="4920"/>
            <ac:picMk id="78" creationId="{3737C492-DB7C-98A0-B9EA-28A0E50BE8E6}"/>
          </ac:picMkLst>
        </pc:picChg>
        <pc:picChg chg="add mod">
          <ac:chgData name="Jason Ng Jie Xin [/CSP/CS/MY]" userId="e12582ef-5ec4-41e4-86b9-d3adc73837d7" providerId="ADAL" clId="{ECC1F86F-73C0-4C51-BEB2-2228EB1FB6AA}" dt="2026-02-19T02:03:41.011" v="4108" actId="1076"/>
          <ac:picMkLst>
            <pc:docMk/>
            <pc:sldMk cId="3361111633" sldId="4920"/>
            <ac:picMk id="79" creationId="{85B11465-02EA-CAEB-39AD-3D3E94911A98}"/>
          </ac:picMkLst>
        </pc:picChg>
        <pc:picChg chg="add mod">
          <ac:chgData name="Jason Ng Jie Xin [/CSP/CS/MY]" userId="e12582ef-5ec4-41e4-86b9-d3adc73837d7" providerId="ADAL" clId="{ECC1F86F-73C0-4C51-BEB2-2228EB1FB6AA}" dt="2026-02-19T01:57:54.128" v="4031" actId="1076"/>
          <ac:picMkLst>
            <pc:docMk/>
            <pc:sldMk cId="3361111633" sldId="4920"/>
            <ac:picMk id="80" creationId="{AEC223DB-E770-E150-5FF5-405E97AFFFDA}"/>
          </ac:picMkLst>
        </pc:picChg>
        <pc:picChg chg="add mod">
          <ac:chgData name="Jason Ng Jie Xin [/CSP/CS/MY]" userId="e12582ef-5ec4-41e4-86b9-d3adc73837d7" providerId="ADAL" clId="{ECC1F86F-73C0-4C51-BEB2-2228EB1FB6AA}" dt="2026-02-19T02:03:52.697" v="4110" actId="1076"/>
          <ac:picMkLst>
            <pc:docMk/>
            <pc:sldMk cId="3361111633" sldId="4920"/>
            <ac:picMk id="86" creationId="{4B228543-EEF8-93C8-2ADF-180CBAFF017E}"/>
          </ac:picMkLst>
        </pc:picChg>
        <pc:extLst>
          <p:ext xmlns:p="http://schemas.openxmlformats.org/presentationml/2006/main" uri="{D6D511B9-2390-475A-947B-AFAB55BFBCF1}">
            <pc226:cmChg xmlns:pc226="http://schemas.microsoft.com/office/powerpoint/2022/06/main/command" chg="mod">
              <pc226:chgData name="Jason Ng Jie Xin [/CSP/CS/MY]" userId="e12582ef-5ec4-41e4-86b9-d3adc73837d7" providerId="ADAL" clId="{ECC1F86F-73C0-4C51-BEB2-2228EB1FB6AA}" dt="2026-02-19T02:35:13.657" v="4235" actId="20577"/>
              <pc2:cmMkLst xmlns:pc2="http://schemas.microsoft.com/office/powerpoint/2019/9/main/command">
                <pc:docMk/>
                <pc:sldMk cId="3361111633" sldId="4920"/>
                <pc2:cmMk id="{20A31E59-B63C-4962-8879-6C32E103EF4D}"/>
              </pc2:cmMkLst>
            </pc226:cmChg>
          </p:ext>
        </pc:ext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Targeted%20PD%20Cons%20Research.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Inta%20Bina%20Working%20File.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Inta%20Bina%20Working%20File.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Inta%20Bina%20Working%20File.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Inta%20Bina%20Working%20File.xlsx" TargetMode="External"/><Relationship Id="rId2" Type="http://schemas.microsoft.com/office/2011/relationships/chartColorStyle" Target="colors24.xml"/><Relationship Id="rId1" Type="http://schemas.microsoft.com/office/2011/relationships/chartStyle" Target="style24.xml"/><Relationship Id="rId4" Type="http://schemas.openxmlformats.org/officeDocument/2006/relationships/chartUserShapes" Target="../drawings/drawing1.xml"/></Relationships>
</file>

<file path=ppt/charts/_rels/chart25.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Inta%20Bina%20Working%20File.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Inta%20Bina%20Working%20File.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https://oskgroup-my.sharepoint.com/personal/sfg_onedrive_oskgroup_com/Documents/Corporate%20Service/Corporate%20Planning/Projects%20&amp;%20Adhoc/2026/Inta%20Bina%20Study/Supportings/Inta%20Bina%20Working%20File.xlsx" TargetMode="External"/><Relationship Id="rId2" Type="http://schemas.microsoft.com/office/2011/relationships/chartColorStyle" Target="colors34.xml"/><Relationship Id="rId1" Type="http://schemas.microsoft.com/office/2011/relationships/chartStyle" Target="style3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Sunway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percentStacked"/>
        <c:varyColors val="0"/>
        <c:ser>
          <c:idx val="0"/>
          <c:order val="0"/>
          <c:tx>
            <c:strRef>
              <c:f>'Ext Revenue PD Cons'!$B$4</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Cons'!$C$4:$H$4</c:f>
              <c:numCache>
                <c:formatCode>0%</c:formatCode>
                <c:ptCount val="6"/>
                <c:pt idx="0">
                  <c:v>0.24927634522655528</c:v>
                </c:pt>
                <c:pt idx="1">
                  <c:v>0.23058818659564334</c:v>
                </c:pt>
                <c:pt idx="2">
                  <c:v>0.22431635036263109</c:v>
                </c:pt>
                <c:pt idx="3">
                  <c:v>0.1683339126055737</c:v>
                </c:pt>
                <c:pt idx="4">
                  <c:v>0.15414775618860749</c:v>
                </c:pt>
                <c:pt idx="5">
                  <c:v>0.11418831411304653</c:v>
                </c:pt>
              </c:numCache>
            </c:numRef>
          </c:val>
          <c:extLst>
            <c:ext xmlns:c16="http://schemas.microsoft.com/office/drawing/2014/chart" uri="{C3380CC4-5D6E-409C-BE32-E72D297353CC}">
              <c16:uniqueId val="{00000000-F860-491A-A1AC-0657F0700EB3}"/>
            </c:ext>
          </c:extLst>
        </c:ser>
        <c:ser>
          <c:idx val="1"/>
          <c:order val="1"/>
          <c:tx>
            <c:strRef>
              <c:f>'Ext Revenue PD Cons'!$B$5</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Cons'!$C$5:$H$5</c:f>
              <c:numCache>
                <c:formatCode>0%</c:formatCode>
                <c:ptCount val="6"/>
                <c:pt idx="0">
                  <c:v>0.31260160884342481</c:v>
                </c:pt>
                <c:pt idx="1">
                  <c:v>0.27522819908545992</c:v>
                </c:pt>
                <c:pt idx="2">
                  <c:v>0.24670194067352733</c:v>
                </c:pt>
                <c:pt idx="3">
                  <c:v>0.2990599648993304</c:v>
                </c:pt>
                <c:pt idx="4">
                  <c:v>0.30860061475480083</c:v>
                </c:pt>
                <c:pt idx="5">
                  <c:v>0.26635872090311047</c:v>
                </c:pt>
              </c:numCache>
            </c:numRef>
          </c:val>
          <c:extLst>
            <c:ext xmlns:c16="http://schemas.microsoft.com/office/drawing/2014/chart" uri="{C3380CC4-5D6E-409C-BE32-E72D297353CC}">
              <c16:uniqueId val="{00000001-F860-491A-A1AC-0657F0700EB3}"/>
            </c:ext>
          </c:extLst>
        </c:ser>
        <c:ser>
          <c:idx val="2"/>
          <c:order val="2"/>
          <c:tx>
            <c:strRef>
              <c:f>'Ext Revenue PD Cons'!$B$6</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Cons'!$C$6:$H$6</c:f>
              <c:numCache>
                <c:formatCode>0%</c:formatCode>
                <c:ptCount val="6"/>
                <c:pt idx="0">
                  <c:v>0.43812204593001997</c:v>
                </c:pt>
                <c:pt idx="1">
                  <c:v>0.49418361431889668</c:v>
                </c:pt>
                <c:pt idx="2">
                  <c:v>0.52898170896384156</c:v>
                </c:pt>
                <c:pt idx="3">
                  <c:v>0.53260612249509587</c:v>
                </c:pt>
                <c:pt idx="4">
                  <c:v>0.53725162905659163</c:v>
                </c:pt>
                <c:pt idx="5">
                  <c:v>0.61945296498384306</c:v>
                </c:pt>
              </c:numCache>
            </c:numRef>
          </c:val>
          <c:extLst>
            <c:ext xmlns:c16="http://schemas.microsoft.com/office/drawing/2014/chart" uri="{C3380CC4-5D6E-409C-BE32-E72D297353CC}">
              <c16:uniqueId val="{00000002-F860-491A-A1AC-0657F0700EB3}"/>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IJM Corp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percentStacked"/>
        <c:varyColors val="0"/>
        <c:ser>
          <c:idx val="0"/>
          <c:order val="0"/>
          <c:tx>
            <c:strRef>
              <c:f>'Ext Revenue PD Cons'!$B$11</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Cons'!$C$11:$H$11</c:f>
              <c:numCache>
                <c:formatCode>0%</c:formatCode>
                <c:ptCount val="6"/>
                <c:pt idx="0">
                  <c:v>0.34285128743697646</c:v>
                </c:pt>
                <c:pt idx="1">
                  <c:v>0.35324664815740242</c:v>
                </c:pt>
                <c:pt idx="2">
                  <c:v>0.26091756372846658</c:v>
                </c:pt>
                <c:pt idx="3">
                  <c:v>0.23062208445153454</c:v>
                </c:pt>
                <c:pt idx="4">
                  <c:v>0.33149334128274499</c:v>
                </c:pt>
                <c:pt idx="5">
                  <c:v>0.25236979373410112</c:v>
                </c:pt>
              </c:numCache>
            </c:numRef>
          </c:val>
          <c:extLst>
            <c:ext xmlns:c16="http://schemas.microsoft.com/office/drawing/2014/chart" uri="{C3380CC4-5D6E-409C-BE32-E72D297353CC}">
              <c16:uniqueId val="{00000000-7EE9-4A81-BBC5-323C2B8F2015}"/>
            </c:ext>
          </c:extLst>
        </c:ser>
        <c:ser>
          <c:idx val="1"/>
          <c:order val="1"/>
          <c:tx>
            <c:strRef>
              <c:f>'Ext Revenue PD Cons'!$B$12</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Cons'!$C$12:$H$12</c:f>
              <c:numCache>
                <c:formatCode>0%</c:formatCode>
                <c:ptCount val="6"/>
                <c:pt idx="0">
                  <c:v>0.28309032856920324</c:v>
                </c:pt>
                <c:pt idx="1">
                  <c:v>0.23398786436696895</c:v>
                </c:pt>
                <c:pt idx="2">
                  <c:v>0.31328659352509436</c:v>
                </c:pt>
                <c:pt idx="3">
                  <c:v>0.34641828816956471</c:v>
                </c:pt>
                <c:pt idx="4">
                  <c:v>0.31064596892613755</c:v>
                </c:pt>
                <c:pt idx="5">
                  <c:v>0.35029557111007886</c:v>
                </c:pt>
              </c:numCache>
            </c:numRef>
          </c:val>
          <c:extLst>
            <c:ext xmlns:c16="http://schemas.microsoft.com/office/drawing/2014/chart" uri="{C3380CC4-5D6E-409C-BE32-E72D297353CC}">
              <c16:uniqueId val="{00000001-7EE9-4A81-BBC5-323C2B8F2015}"/>
            </c:ext>
          </c:extLst>
        </c:ser>
        <c:ser>
          <c:idx val="2"/>
          <c:order val="2"/>
          <c:tx>
            <c:strRef>
              <c:f>'Ext Revenue PD Cons'!$B$13</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Cons'!$C$13:$H$13</c:f>
              <c:numCache>
                <c:formatCode>0%</c:formatCode>
                <c:ptCount val="6"/>
                <c:pt idx="0">
                  <c:v>0.37405838399382035</c:v>
                </c:pt>
                <c:pt idx="1">
                  <c:v>0.41276548747562863</c:v>
                </c:pt>
                <c:pt idx="2">
                  <c:v>0.42579584274643906</c:v>
                </c:pt>
                <c:pt idx="3">
                  <c:v>0.42295962737890069</c:v>
                </c:pt>
                <c:pt idx="4">
                  <c:v>0.35786068979111746</c:v>
                </c:pt>
                <c:pt idx="5">
                  <c:v>0.39733463515582007</c:v>
                </c:pt>
              </c:numCache>
            </c:numRef>
          </c:val>
          <c:extLst>
            <c:ext xmlns:c16="http://schemas.microsoft.com/office/drawing/2014/chart" uri="{C3380CC4-5D6E-409C-BE32-E72D297353CC}">
              <c16:uniqueId val="{00000002-7EE9-4A81-BBC5-323C2B8F2015}"/>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LBS Bina Group</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percentStacked"/>
        <c:varyColors val="0"/>
        <c:ser>
          <c:idx val="0"/>
          <c:order val="0"/>
          <c:tx>
            <c:strRef>
              <c:f>'Ext Revenue PD Cons'!$B$17</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Cons'!$C$17:$H$17</c:f>
              <c:numCache>
                <c:formatCode>0%</c:formatCode>
                <c:ptCount val="6"/>
                <c:pt idx="0">
                  <c:v>0.95642999005809237</c:v>
                </c:pt>
                <c:pt idx="1">
                  <c:v>0.97116748831578037</c:v>
                </c:pt>
                <c:pt idx="2">
                  <c:v>0.95955503374930851</c:v>
                </c:pt>
                <c:pt idx="3">
                  <c:v>0.95353585319831691</c:v>
                </c:pt>
                <c:pt idx="4">
                  <c:v>0.94395482860064595</c:v>
                </c:pt>
                <c:pt idx="5">
                  <c:v>0.89117213791496142</c:v>
                </c:pt>
              </c:numCache>
            </c:numRef>
          </c:val>
          <c:extLst>
            <c:ext xmlns:c16="http://schemas.microsoft.com/office/drawing/2014/chart" uri="{C3380CC4-5D6E-409C-BE32-E72D297353CC}">
              <c16:uniqueId val="{00000000-07E4-49D8-B079-A0AD68341A80}"/>
            </c:ext>
          </c:extLst>
        </c:ser>
        <c:ser>
          <c:idx val="1"/>
          <c:order val="1"/>
          <c:tx>
            <c:strRef>
              <c:f>'Ext Revenue PD Cons'!$B$18</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Cons'!$C$18:$H$18</c:f>
              <c:numCache>
                <c:formatCode>0%</c:formatCode>
                <c:ptCount val="6"/>
                <c:pt idx="0">
                  <c:v>2.6455233170551862E-2</c:v>
                </c:pt>
                <c:pt idx="1">
                  <c:v>1.7184618877770692E-2</c:v>
                </c:pt>
                <c:pt idx="2">
                  <c:v>2.0439857254990316E-2</c:v>
                </c:pt>
                <c:pt idx="3">
                  <c:v>2.506842827903849E-2</c:v>
                </c:pt>
                <c:pt idx="4">
                  <c:v>2.9322585358447992E-2</c:v>
                </c:pt>
                <c:pt idx="5">
                  <c:v>8.4257728445489413E-2</c:v>
                </c:pt>
              </c:numCache>
            </c:numRef>
          </c:val>
          <c:extLst>
            <c:ext xmlns:c16="http://schemas.microsoft.com/office/drawing/2014/chart" uri="{C3380CC4-5D6E-409C-BE32-E72D297353CC}">
              <c16:uniqueId val="{00000001-07E4-49D8-B079-A0AD68341A80}"/>
            </c:ext>
          </c:extLst>
        </c:ser>
        <c:ser>
          <c:idx val="2"/>
          <c:order val="2"/>
          <c:tx>
            <c:strRef>
              <c:f>'Ext Revenue PD Cons'!$B$19</c:f>
              <c:strCache>
                <c:ptCount val="1"/>
                <c:pt idx="0">
                  <c:v>Others</c:v>
                </c:pt>
              </c:strCache>
            </c:strRef>
          </c:tx>
          <c:spPr>
            <a:solidFill>
              <a:schemeClr val="accent3"/>
            </a:solidFill>
            <a:ln>
              <a:noFill/>
            </a:ln>
            <a:effectLst/>
          </c:spPr>
          <c:invertIfNegative val="0"/>
          <c:dLbls>
            <c:dLbl>
              <c:idx val="0"/>
              <c:layout>
                <c:manualLayout>
                  <c:x val="3.629017183044180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7E4-49D8-B079-A0AD68341A80}"/>
                </c:ext>
              </c:extLst>
            </c:dLbl>
            <c:dLbl>
              <c:idx val="2"/>
              <c:layout>
                <c:manualLayout>
                  <c:x val="3.8408974313706351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7E4-49D8-B079-A0AD68341A80}"/>
                </c:ext>
              </c:extLst>
            </c:dLbl>
            <c:dLbl>
              <c:idx val="3"/>
              <c:layout>
                <c:manualLayout>
                  <c:x val="3.784221217414410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7E4-49D8-B079-A0AD68341A80}"/>
                </c:ext>
              </c:extLst>
            </c:dLbl>
            <c:dLbl>
              <c:idx val="4"/>
              <c:layout>
                <c:manualLayout>
                  <c:x val="3.5670186494081699E-2"/>
                  <c:y val="-4.2209791247455985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7E4-49D8-B079-A0AD68341A80}"/>
                </c:ext>
              </c:extLst>
            </c:dLbl>
            <c:dLbl>
              <c:idx val="5"/>
              <c:layout>
                <c:manualLayout>
                  <c:x val="3.6547979803224752E-2"/>
                  <c:y val="-2.110489562372799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7E4-49D8-B079-A0AD68341A8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Cons'!$C$19:$H$19</c:f>
              <c:numCache>
                <c:formatCode>0%</c:formatCode>
                <c:ptCount val="6"/>
                <c:pt idx="0">
                  <c:v>1.7114776771355839E-2</c:v>
                </c:pt>
                <c:pt idx="1">
                  <c:v>1.1647892806448916E-2</c:v>
                </c:pt>
                <c:pt idx="2">
                  <c:v>2.0005108995701071E-2</c:v>
                </c:pt>
                <c:pt idx="3">
                  <c:v>2.1395718522644602E-2</c:v>
                </c:pt>
                <c:pt idx="4">
                  <c:v>2.6722586040906035E-2</c:v>
                </c:pt>
                <c:pt idx="5">
                  <c:v>2.457013363954923E-2</c:v>
                </c:pt>
              </c:numCache>
            </c:numRef>
          </c:val>
          <c:extLst>
            <c:ext xmlns:c16="http://schemas.microsoft.com/office/drawing/2014/chart" uri="{C3380CC4-5D6E-409C-BE32-E72D297353CC}">
              <c16:uniqueId val="{00000002-07E4-49D8-B079-A0AD68341A80}"/>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solidFill>
                  <a:schemeClr val="tx1"/>
                </a:solidFill>
              </a:rPr>
              <a:t>MGB</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percentStacked"/>
        <c:varyColors val="0"/>
        <c:ser>
          <c:idx val="0"/>
          <c:order val="0"/>
          <c:tx>
            <c:strRef>
              <c:f>'Ext Revenue PD Cons'!$B$23</c:f>
              <c:strCache>
                <c:ptCount val="1"/>
                <c:pt idx="0">
                  <c:v>PD</c:v>
                </c:pt>
              </c:strCache>
            </c:strRef>
          </c:tx>
          <c:spPr>
            <a:solidFill>
              <a:schemeClr val="accent1"/>
            </a:solidFill>
            <a:ln>
              <a:noFill/>
            </a:ln>
            <a:effectLst/>
          </c:spPr>
          <c:invertIfNegative val="0"/>
          <c:dLbls>
            <c:dLbl>
              <c:idx val="2"/>
              <c:layout>
                <c:manualLayout>
                  <c:x val="9.8917258439381629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437-4BFB-B60F-4E97820380AA}"/>
                </c:ext>
              </c:extLst>
            </c:dLbl>
            <c:dLbl>
              <c:idx val="3"/>
              <c:layout>
                <c:manualLayout>
                  <c:x val="1.3188967791917536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437-4BFB-B60F-4E97820380A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Cons'!$C$23:$H$23</c:f>
              <c:numCache>
                <c:formatCode>0%</c:formatCode>
                <c:ptCount val="6"/>
                <c:pt idx="0">
                  <c:v>0.46862107203833547</c:v>
                </c:pt>
                <c:pt idx="1">
                  <c:v>0.11894244904910736</c:v>
                </c:pt>
                <c:pt idx="2">
                  <c:v>3.8852591111217999E-2</c:v>
                </c:pt>
                <c:pt idx="3">
                  <c:v>2.8306184451951169E-2</c:v>
                </c:pt>
                <c:pt idx="4">
                  <c:v>0.14851140981447075</c:v>
                </c:pt>
                <c:pt idx="5">
                  <c:v>0.16214184082016833</c:v>
                </c:pt>
              </c:numCache>
            </c:numRef>
          </c:val>
          <c:extLst>
            <c:ext xmlns:c16="http://schemas.microsoft.com/office/drawing/2014/chart" uri="{C3380CC4-5D6E-409C-BE32-E72D297353CC}">
              <c16:uniqueId val="{00000000-0437-4BFB-B60F-4E97820380AA}"/>
            </c:ext>
          </c:extLst>
        </c:ser>
        <c:ser>
          <c:idx val="1"/>
          <c:order val="1"/>
          <c:tx>
            <c:strRef>
              <c:f>'Ext Revenue PD Cons'!$B$24</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Cons'!$C$24:$H$24</c:f>
              <c:numCache>
                <c:formatCode>0%</c:formatCode>
                <c:ptCount val="6"/>
                <c:pt idx="0">
                  <c:v>0.53137892796166442</c:v>
                </c:pt>
                <c:pt idx="1">
                  <c:v>0.88105755095089278</c:v>
                </c:pt>
                <c:pt idx="2">
                  <c:v>0.96114740888878192</c:v>
                </c:pt>
                <c:pt idx="3">
                  <c:v>0.97169381554804879</c:v>
                </c:pt>
                <c:pt idx="4">
                  <c:v>0.85062618944976798</c:v>
                </c:pt>
                <c:pt idx="5">
                  <c:v>0.83452412901855566</c:v>
                </c:pt>
              </c:numCache>
            </c:numRef>
          </c:val>
          <c:extLst>
            <c:ext xmlns:c16="http://schemas.microsoft.com/office/drawing/2014/chart" uri="{C3380CC4-5D6E-409C-BE32-E72D297353CC}">
              <c16:uniqueId val="{00000001-0437-4BFB-B60F-4E97820380AA}"/>
            </c:ext>
          </c:extLst>
        </c:ser>
        <c:ser>
          <c:idx val="2"/>
          <c:order val="2"/>
          <c:tx>
            <c:strRef>
              <c:f>'Ext Revenue PD Cons'!$B$25</c:f>
              <c:strCache>
                <c:ptCount val="1"/>
                <c:pt idx="0">
                  <c:v>Others</c:v>
                </c:pt>
              </c:strCache>
            </c:strRef>
          </c:tx>
          <c:spPr>
            <a:solidFill>
              <a:schemeClr val="accent3"/>
            </a:solidFill>
            <a:ln>
              <a:noFill/>
            </a:ln>
            <a:effectLst/>
          </c:spPr>
          <c:invertIfNegative val="0"/>
          <c:dLbls>
            <c:delete val="1"/>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Cons'!$C$25:$H$25</c:f>
              <c:numCache>
                <c:formatCode>0%</c:formatCode>
                <c:ptCount val="6"/>
                <c:pt idx="0">
                  <c:v>0</c:v>
                </c:pt>
                <c:pt idx="1">
                  <c:v>0</c:v>
                </c:pt>
                <c:pt idx="2">
                  <c:v>1.101524578526855E-16</c:v>
                </c:pt>
                <c:pt idx="3">
                  <c:v>0</c:v>
                </c:pt>
                <c:pt idx="4">
                  <c:v>8.624007357612368E-4</c:v>
                </c:pt>
                <c:pt idx="5">
                  <c:v>3.3340301612759847E-3</c:v>
                </c:pt>
              </c:numCache>
            </c:numRef>
          </c:val>
          <c:extLst>
            <c:ext xmlns:c16="http://schemas.microsoft.com/office/drawing/2014/chart" uri="{C3380CC4-5D6E-409C-BE32-E72D297353CC}">
              <c16:uniqueId val="{00000002-0437-4BFB-B60F-4E97820380AA}"/>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highlight>
                  <a:srgbClr val="FFFF00"/>
                </a:highlight>
                <a:latin typeface="+mn-lt"/>
                <a:ea typeface="+mn-ea"/>
                <a:cs typeface="+mn-cs"/>
              </a:defRPr>
            </a:pPr>
            <a:r>
              <a:rPr lang="en-MY">
                <a:highlight>
                  <a:srgbClr val="FFFF00"/>
                </a:highlight>
              </a:rPr>
              <a:t>Malton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highlight>
                <a:srgbClr val="FFFF00"/>
              </a:highlight>
              <a:latin typeface="+mn-lt"/>
              <a:ea typeface="+mn-ea"/>
              <a:cs typeface="+mn-cs"/>
            </a:defRPr>
          </a:pPr>
          <a:endParaRPr lang="en-US"/>
        </a:p>
      </c:txPr>
    </c:title>
    <c:autoTitleDeleted val="0"/>
    <c:plotArea>
      <c:layout/>
      <c:barChart>
        <c:barDir val="bar"/>
        <c:grouping val="percentStacked"/>
        <c:varyColors val="0"/>
        <c:ser>
          <c:idx val="0"/>
          <c:order val="0"/>
          <c:tx>
            <c:strRef>
              <c:f>'Ext Revenue PD Cons'!$B$29</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Cons'!$C$29:$H$29</c:f>
              <c:numCache>
                <c:formatCode>0%</c:formatCode>
                <c:ptCount val="6"/>
                <c:pt idx="0">
                  <c:v>0.51312046172809223</c:v>
                </c:pt>
                <c:pt idx="1">
                  <c:v>0.44100433096090114</c:v>
                </c:pt>
                <c:pt idx="2">
                  <c:v>0.56897655294688343</c:v>
                </c:pt>
                <c:pt idx="3">
                  <c:v>0.62861186200988217</c:v>
                </c:pt>
                <c:pt idx="4">
                  <c:v>0.93332916902060892</c:v>
                </c:pt>
                <c:pt idx="5">
                  <c:v>0.54551144816575348</c:v>
                </c:pt>
              </c:numCache>
            </c:numRef>
          </c:val>
          <c:extLst>
            <c:ext xmlns:c16="http://schemas.microsoft.com/office/drawing/2014/chart" uri="{C3380CC4-5D6E-409C-BE32-E72D297353CC}">
              <c16:uniqueId val="{00000000-CA58-4533-81E7-259F700FAFE1}"/>
            </c:ext>
          </c:extLst>
        </c:ser>
        <c:ser>
          <c:idx val="1"/>
          <c:order val="1"/>
          <c:tx>
            <c:strRef>
              <c:f>'Ext Revenue PD Cons'!$B$30</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Cons'!$C$30:$H$30</c:f>
              <c:numCache>
                <c:formatCode>0%</c:formatCode>
                <c:ptCount val="6"/>
                <c:pt idx="0">
                  <c:v>0.44192618425895097</c:v>
                </c:pt>
                <c:pt idx="1">
                  <c:v>0.51330481285993668</c:v>
                </c:pt>
                <c:pt idx="2">
                  <c:v>0.3850700745922841</c:v>
                </c:pt>
                <c:pt idx="3">
                  <c:v>0.34919578491412395</c:v>
                </c:pt>
                <c:pt idx="4">
                  <c:v>5.6960611866522355E-2</c:v>
                </c:pt>
                <c:pt idx="5">
                  <c:v>0.39541831464615307</c:v>
                </c:pt>
              </c:numCache>
            </c:numRef>
          </c:val>
          <c:extLst>
            <c:ext xmlns:c16="http://schemas.microsoft.com/office/drawing/2014/chart" uri="{C3380CC4-5D6E-409C-BE32-E72D297353CC}">
              <c16:uniqueId val="{00000001-CA58-4533-81E7-259F700FAFE1}"/>
            </c:ext>
          </c:extLst>
        </c:ser>
        <c:ser>
          <c:idx val="2"/>
          <c:order val="2"/>
          <c:tx>
            <c:strRef>
              <c:f>'Ext Revenue PD Cons'!$B$31</c:f>
              <c:strCache>
                <c:ptCount val="1"/>
                <c:pt idx="0">
                  <c:v>Others</c:v>
                </c:pt>
              </c:strCache>
            </c:strRef>
          </c:tx>
          <c:spPr>
            <a:solidFill>
              <a:schemeClr val="accent3"/>
            </a:solidFill>
            <a:ln>
              <a:noFill/>
            </a:ln>
            <a:effectLst/>
          </c:spPr>
          <c:invertIfNegative val="0"/>
          <c:dLbls>
            <c:dLbl>
              <c:idx val="3"/>
              <c:layout>
                <c:manualLayout>
                  <c:x val="3.9566903375752534E-2"/>
                  <c:y val="0"/>
                </c:manualLayout>
              </c:layout>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A58-4533-81E7-259F700FAFE1}"/>
                </c:ext>
              </c:extLst>
            </c:dLbl>
            <c:dLbl>
              <c:idx val="4"/>
              <c:layout>
                <c:manualLayout>
                  <c:x val="3.2972419479793881E-2"/>
                  <c:y val="1.8086557925457338E-7"/>
                </c:manualLayout>
              </c:layout>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7.334701732012637E-2"/>
                      <c:h val="6.4247071062809538E-2"/>
                    </c:manualLayout>
                  </c15:layout>
                </c:ext>
                <c:ext xmlns:c16="http://schemas.microsoft.com/office/drawing/2014/chart" uri="{C3380CC4-5D6E-409C-BE32-E72D297353CC}">
                  <c16:uniqueId val="{00000003-CA58-4533-81E7-259F700FAFE1}"/>
                </c:ext>
              </c:extLst>
            </c:dLbl>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Cons'!$C$31:$H$31</c:f>
              <c:numCache>
                <c:formatCode>0%</c:formatCode>
                <c:ptCount val="6"/>
                <c:pt idx="0">
                  <c:v>4.4953354012956824E-2</c:v>
                </c:pt>
                <c:pt idx="1">
                  <c:v>4.5690856179162131E-2</c:v>
                </c:pt>
                <c:pt idx="2">
                  <c:v>4.5953372460832483E-2</c:v>
                </c:pt>
                <c:pt idx="3">
                  <c:v>2.2192353075993938E-2</c:v>
                </c:pt>
                <c:pt idx="4">
                  <c:v>9.7102191128686129E-3</c:v>
                </c:pt>
                <c:pt idx="5">
                  <c:v>5.9070237188093441E-2</c:v>
                </c:pt>
              </c:numCache>
            </c:numRef>
          </c:val>
          <c:extLst>
            <c:ext xmlns:c16="http://schemas.microsoft.com/office/drawing/2014/chart" uri="{C3380CC4-5D6E-409C-BE32-E72D297353CC}">
              <c16:uniqueId val="{00000002-CA58-4533-81E7-259F700FAFE1}"/>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Gamuda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percentStacked"/>
        <c:varyColors val="0"/>
        <c:ser>
          <c:idx val="0"/>
          <c:order val="0"/>
          <c:tx>
            <c:strRef>
              <c:f>'Ext Revenue PD Cons'!$B$41</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Cons'!$C$41:$H$41</c:f>
              <c:numCache>
                <c:formatCode>0%</c:formatCode>
                <c:ptCount val="6"/>
                <c:pt idx="0">
                  <c:v>0.18585935030554263</c:v>
                </c:pt>
                <c:pt idx="1">
                  <c:v>0.30001007936258772</c:v>
                </c:pt>
                <c:pt idx="2">
                  <c:v>0.3997728186479555</c:v>
                </c:pt>
                <c:pt idx="3">
                  <c:v>0.22384422354497852</c:v>
                </c:pt>
                <c:pt idx="4">
                  <c:v>0.19791377507137115</c:v>
                </c:pt>
                <c:pt idx="5">
                  <c:v>0.29889957079584767</c:v>
                </c:pt>
              </c:numCache>
            </c:numRef>
          </c:val>
          <c:extLst>
            <c:ext xmlns:c16="http://schemas.microsoft.com/office/drawing/2014/chart" uri="{C3380CC4-5D6E-409C-BE32-E72D297353CC}">
              <c16:uniqueId val="{00000000-966D-4805-9933-4E8828ABA59E}"/>
            </c:ext>
          </c:extLst>
        </c:ser>
        <c:ser>
          <c:idx val="1"/>
          <c:order val="1"/>
          <c:tx>
            <c:strRef>
              <c:f>'Ext Revenue PD Cons'!$B$42</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Cons'!$C$42:$H$42</c:f>
              <c:numCache>
                <c:formatCode>0%</c:formatCode>
                <c:ptCount val="6"/>
                <c:pt idx="0">
                  <c:v>0.71616108525395561</c:v>
                </c:pt>
                <c:pt idx="1">
                  <c:v>0.60552712587801993</c:v>
                </c:pt>
                <c:pt idx="2">
                  <c:v>0.36206954161367766</c:v>
                </c:pt>
                <c:pt idx="3">
                  <c:v>0.39250476030795317</c:v>
                </c:pt>
                <c:pt idx="4">
                  <c:v>0.26977292762901212</c:v>
                </c:pt>
                <c:pt idx="5">
                  <c:v>0.27005605471399063</c:v>
                </c:pt>
              </c:numCache>
            </c:numRef>
          </c:val>
          <c:extLst>
            <c:ext xmlns:c16="http://schemas.microsoft.com/office/drawing/2014/chart" uri="{C3380CC4-5D6E-409C-BE32-E72D297353CC}">
              <c16:uniqueId val="{00000001-966D-4805-9933-4E8828ABA59E}"/>
            </c:ext>
          </c:extLst>
        </c:ser>
        <c:ser>
          <c:idx val="2"/>
          <c:order val="2"/>
          <c:tx>
            <c:strRef>
              <c:f>'Ext Revenue PD Cons'!$B$43</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Cons'!$C$43:$H$43</c:f>
              <c:numCache>
                <c:formatCode>0%</c:formatCode>
                <c:ptCount val="6"/>
                <c:pt idx="0">
                  <c:v>9.7979564440501779E-2</c:v>
                </c:pt>
                <c:pt idx="1">
                  <c:v>9.4462794759392343E-2</c:v>
                </c:pt>
                <c:pt idx="2">
                  <c:v>0.23815763973836687</c:v>
                </c:pt>
                <c:pt idx="3">
                  <c:v>0.38365101614706837</c:v>
                </c:pt>
                <c:pt idx="4">
                  <c:v>0.53231329729961685</c:v>
                </c:pt>
                <c:pt idx="5">
                  <c:v>0.43104437449016164</c:v>
                </c:pt>
              </c:numCache>
            </c:numRef>
          </c:val>
          <c:extLst>
            <c:ext xmlns:c16="http://schemas.microsoft.com/office/drawing/2014/chart" uri="{C3380CC4-5D6E-409C-BE32-E72D297353CC}">
              <c16:uniqueId val="{00000002-966D-4805-9933-4E8828ABA59E}"/>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Sunway</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tx>
            <c:strRef>
              <c:f>'Ext Revenue PD Cons'!$B$49</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Cons'!$C$49:$H$49</c:f>
              <c:numCache>
                <c:formatCode>#,##0</c:formatCode>
                <c:ptCount val="6"/>
                <c:pt idx="0">
                  <c:v>1964.9349999999999</c:v>
                </c:pt>
                <c:pt idx="1">
                  <c:v>1414.9349999999999</c:v>
                </c:pt>
                <c:pt idx="2">
                  <c:v>1165.3119999999999</c:v>
                </c:pt>
                <c:pt idx="3">
                  <c:v>625.74900000000002</c:v>
                </c:pt>
                <c:pt idx="4">
                  <c:v>494.62299999999999</c:v>
                </c:pt>
                <c:pt idx="5">
                  <c:v>545.85199999999998</c:v>
                </c:pt>
              </c:numCache>
            </c:numRef>
          </c:val>
          <c:extLst>
            <c:ext xmlns:c16="http://schemas.microsoft.com/office/drawing/2014/chart" uri="{C3380CC4-5D6E-409C-BE32-E72D297353CC}">
              <c16:uniqueId val="{00000000-0276-4F7D-A375-AC7FB82A50C5}"/>
            </c:ext>
          </c:extLst>
        </c:ser>
        <c:ser>
          <c:idx val="1"/>
          <c:order val="1"/>
          <c:tx>
            <c:strRef>
              <c:f>'Ext Revenue PD Cons'!$B$50</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Cons'!$C$50:$H$50</c:f>
              <c:numCache>
                <c:formatCode>#,##0</c:formatCode>
                <c:ptCount val="6"/>
                <c:pt idx="0">
                  <c:v>2464.1</c:v>
                </c:pt>
                <c:pt idx="1">
                  <c:v>1688.855</c:v>
                </c:pt>
                <c:pt idx="2">
                  <c:v>1281.604</c:v>
                </c:pt>
                <c:pt idx="3">
                  <c:v>1111.6980000000001</c:v>
                </c:pt>
                <c:pt idx="4">
                  <c:v>990.22500000000002</c:v>
                </c:pt>
                <c:pt idx="5">
                  <c:v>1273.269</c:v>
                </c:pt>
              </c:numCache>
            </c:numRef>
          </c:val>
          <c:extLst>
            <c:ext xmlns:c16="http://schemas.microsoft.com/office/drawing/2014/chart" uri="{C3380CC4-5D6E-409C-BE32-E72D297353CC}">
              <c16:uniqueId val="{00000001-0276-4F7D-A375-AC7FB82A50C5}"/>
            </c:ext>
          </c:extLst>
        </c:ser>
        <c:ser>
          <c:idx val="2"/>
          <c:order val="2"/>
          <c:tx>
            <c:strRef>
              <c:f>'Ext Revenue PD Cons'!$B$51</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Cons'!$C$51:$H$51</c:f>
              <c:numCache>
                <c:formatCode>#,##0</c:formatCode>
                <c:ptCount val="6"/>
                <c:pt idx="0">
                  <c:v>3453.5220000000004</c:v>
                </c:pt>
                <c:pt idx="1">
                  <c:v>3032.4089999999992</c:v>
                </c:pt>
                <c:pt idx="2">
                  <c:v>2748.0329999999994</c:v>
                </c:pt>
                <c:pt idx="3">
                  <c:v>1979.8609999999996</c:v>
                </c:pt>
                <c:pt idx="4">
                  <c:v>1723.9110000000001</c:v>
                </c:pt>
                <c:pt idx="5">
                  <c:v>2961.1580000000004</c:v>
                </c:pt>
              </c:numCache>
            </c:numRef>
          </c:val>
          <c:extLst>
            <c:ext xmlns:c16="http://schemas.microsoft.com/office/drawing/2014/chart" uri="{C3380CC4-5D6E-409C-BE32-E72D297353CC}">
              <c16:uniqueId val="{00000002-0276-4F7D-A375-AC7FB82A50C5}"/>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max val="800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Gamuda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tx>
            <c:strRef>
              <c:f>'Ext Revenue PD Cons'!$B$86</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Cons'!$C$86:$H$86</c:f>
              <c:numCache>
                <c:formatCode>#,##0</c:formatCode>
                <c:ptCount val="6"/>
                <c:pt idx="0">
                  <c:v>2750.0610000000001</c:v>
                </c:pt>
                <c:pt idx="1">
                  <c:v>2723.4780000000001</c:v>
                </c:pt>
                <c:pt idx="2">
                  <c:v>2572.3409999999999</c:v>
                </c:pt>
                <c:pt idx="3">
                  <c:v>1122.7929999999999</c:v>
                </c:pt>
                <c:pt idx="4">
                  <c:v>1346.788</c:v>
                </c:pt>
                <c:pt idx="5">
                  <c:v>2146.4569999999999</c:v>
                </c:pt>
              </c:numCache>
            </c:numRef>
          </c:val>
          <c:extLst>
            <c:ext xmlns:c16="http://schemas.microsoft.com/office/drawing/2014/chart" uri="{C3380CC4-5D6E-409C-BE32-E72D297353CC}">
              <c16:uniqueId val="{00000000-01CD-4BDF-BB62-97D29643A3F3}"/>
            </c:ext>
          </c:extLst>
        </c:ser>
        <c:ser>
          <c:idx val="1"/>
          <c:order val="1"/>
          <c:tx>
            <c:strRef>
              <c:f>'Ext Revenue PD Cons'!$B$87</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Cons'!$C$87:$H$87</c:f>
              <c:numCache>
                <c:formatCode>#,##0</c:formatCode>
                <c:ptCount val="6"/>
                <c:pt idx="0">
                  <c:v>10596.651</c:v>
                </c:pt>
                <c:pt idx="1">
                  <c:v>5496.9480000000003</c:v>
                </c:pt>
                <c:pt idx="2">
                  <c:v>2329.739</c:v>
                </c:pt>
                <c:pt idx="3">
                  <c:v>1968.787</c:v>
                </c:pt>
                <c:pt idx="4">
                  <c:v>1835.7840000000001</c:v>
                </c:pt>
                <c:pt idx="5">
                  <c:v>1939.326</c:v>
                </c:pt>
              </c:numCache>
            </c:numRef>
          </c:val>
          <c:extLst>
            <c:ext xmlns:c16="http://schemas.microsoft.com/office/drawing/2014/chart" uri="{C3380CC4-5D6E-409C-BE32-E72D297353CC}">
              <c16:uniqueId val="{00000001-01CD-4BDF-BB62-97D29643A3F3}"/>
            </c:ext>
          </c:extLst>
        </c:ser>
        <c:ser>
          <c:idx val="2"/>
          <c:order val="2"/>
          <c:tx>
            <c:strRef>
              <c:f>'Ext Revenue PD Cons'!$B$88</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Cons'!$C$88:$H$88</c:f>
              <c:numCache>
                <c:formatCode>#,##0</c:formatCode>
                <c:ptCount val="6"/>
                <c:pt idx="0">
                  <c:v>1449.7510000000002</c:v>
                </c:pt>
                <c:pt idx="1">
                  <c:v>857.52899999999954</c:v>
                </c:pt>
                <c:pt idx="2">
                  <c:v>1532.4269999999997</c:v>
                </c:pt>
                <c:pt idx="3">
                  <c:v>1924.3770000000006</c:v>
                </c:pt>
                <c:pt idx="4">
                  <c:v>3622.3510000000001</c:v>
                </c:pt>
                <c:pt idx="5">
                  <c:v>3095.415</c:v>
                </c:pt>
              </c:numCache>
            </c:numRef>
          </c:val>
          <c:extLst>
            <c:ext xmlns:c16="http://schemas.microsoft.com/office/drawing/2014/chart" uri="{C3380CC4-5D6E-409C-BE32-E72D297353CC}">
              <c16:uniqueId val="{00000002-01CD-4BDF-BB62-97D29643A3F3}"/>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IJM Corp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tx>
            <c:strRef>
              <c:f>'Ext Revenue PD Cons'!$B$56</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Cons'!$C$56:$H$56</c:f>
              <c:numCache>
                <c:formatCode>#,##0</c:formatCode>
                <c:ptCount val="6"/>
                <c:pt idx="0">
                  <c:v>2029.2730000000004</c:v>
                </c:pt>
                <c:pt idx="1">
                  <c:v>1615.2150000000001</c:v>
                </c:pt>
                <c:pt idx="2">
                  <c:v>1273.6669999999999</c:v>
                </c:pt>
                <c:pt idx="3">
                  <c:v>1296.758</c:v>
                </c:pt>
                <c:pt idx="4">
                  <c:v>2189.547</c:v>
                </c:pt>
                <c:pt idx="5">
                  <c:v>1427.318</c:v>
                </c:pt>
              </c:numCache>
            </c:numRef>
          </c:val>
          <c:extLst>
            <c:ext xmlns:c16="http://schemas.microsoft.com/office/drawing/2014/chart" uri="{C3380CC4-5D6E-409C-BE32-E72D297353CC}">
              <c16:uniqueId val="{00000000-C28E-4E23-AE7A-AE1D8EF02CFD}"/>
            </c:ext>
          </c:extLst>
        </c:ser>
        <c:ser>
          <c:idx val="1"/>
          <c:order val="1"/>
          <c:tx>
            <c:strRef>
              <c:f>'Ext Revenue PD Cons'!$B$57</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Cons'!$C$57:$H$57</c:f>
              <c:numCache>
                <c:formatCode>#,##0</c:formatCode>
                <c:ptCount val="6"/>
                <c:pt idx="0">
                  <c:v>1675.5590000000002</c:v>
                </c:pt>
                <c:pt idx="1">
                  <c:v>1069.9059999999999</c:v>
                </c:pt>
                <c:pt idx="2">
                  <c:v>1529.306</c:v>
                </c:pt>
                <c:pt idx="3">
                  <c:v>1947.8650000000002</c:v>
                </c:pt>
                <c:pt idx="4">
                  <c:v>2051.848</c:v>
                </c:pt>
                <c:pt idx="5">
                  <c:v>1981.1529999999998</c:v>
                </c:pt>
              </c:numCache>
            </c:numRef>
          </c:val>
          <c:extLst>
            <c:ext xmlns:c16="http://schemas.microsoft.com/office/drawing/2014/chart" uri="{C3380CC4-5D6E-409C-BE32-E72D297353CC}">
              <c16:uniqueId val="{00000001-C28E-4E23-AE7A-AE1D8EF02CFD}"/>
            </c:ext>
          </c:extLst>
        </c:ser>
        <c:ser>
          <c:idx val="2"/>
          <c:order val="2"/>
          <c:tx>
            <c:strRef>
              <c:f>'Ext Revenue PD Cons'!$B$58</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Cons'!$C$58:$H$58</c:f>
              <c:numCache>
                <c:formatCode>#,##0</c:formatCode>
                <c:ptCount val="6"/>
                <c:pt idx="0">
                  <c:v>2213.982</c:v>
                </c:pt>
                <c:pt idx="1">
                  <c:v>1887.3639999999996</c:v>
                </c:pt>
                <c:pt idx="2">
                  <c:v>2078.5190000000002</c:v>
                </c:pt>
                <c:pt idx="3">
                  <c:v>2378.2469999999994</c:v>
                </c:pt>
                <c:pt idx="4">
                  <c:v>2363.7059999999997</c:v>
                </c:pt>
                <c:pt idx="5">
                  <c:v>2247.1900000000005</c:v>
                </c:pt>
              </c:numCache>
            </c:numRef>
          </c:val>
          <c:extLst>
            <c:ext xmlns:c16="http://schemas.microsoft.com/office/drawing/2014/chart" uri="{C3380CC4-5D6E-409C-BE32-E72D297353CC}">
              <c16:uniqueId val="{00000002-C28E-4E23-AE7A-AE1D8EF02CFD}"/>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Sunway Cons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percentStacked"/>
        <c:varyColors val="0"/>
        <c:ser>
          <c:idx val="0"/>
          <c:order val="0"/>
          <c:tx>
            <c:strRef>
              <c:f>'Cons Ext &amp; Interco Charts'!$B$66</c:f>
              <c:strCache>
                <c:ptCount val="1"/>
                <c:pt idx="0">
                  <c:v>Cons Ext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 Charts'!$C$3:$H$3</c:f>
              <c:numCache>
                <c:formatCode>General</c:formatCode>
                <c:ptCount val="6"/>
                <c:pt idx="0">
                  <c:v>2019</c:v>
                </c:pt>
                <c:pt idx="1">
                  <c:v>2020</c:v>
                </c:pt>
                <c:pt idx="2">
                  <c:v>2021</c:v>
                </c:pt>
                <c:pt idx="3">
                  <c:v>2022</c:v>
                </c:pt>
                <c:pt idx="4">
                  <c:v>2023</c:v>
                </c:pt>
                <c:pt idx="5">
                  <c:v>2024</c:v>
                </c:pt>
              </c:numCache>
            </c:numRef>
          </c:cat>
          <c:val>
            <c:numRef>
              <c:f>'Cons Ext &amp; Interco Charts'!$C$66:$H$66</c:f>
              <c:numCache>
                <c:formatCode>0%</c:formatCode>
                <c:ptCount val="6"/>
                <c:pt idx="0">
                  <c:v>0.477223841158888</c:v>
                </c:pt>
                <c:pt idx="1">
                  <c:v>0.48129008928089734</c:v>
                </c:pt>
                <c:pt idx="2">
                  <c:v>0.49438419106202297</c:v>
                </c:pt>
                <c:pt idx="3">
                  <c:v>0.42560997762698605</c:v>
                </c:pt>
                <c:pt idx="4">
                  <c:v>0.48359736847756835</c:v>
                </c:pt>
                <c:pt idx="5">
                  <c:v>0.55530866156212078</c:v>
                </c:pt>
              </c:numCache>
            </c:numRef>
          </c:val>
          <c:extLst>
            <c:ext xmlns:c16="http://schemas.microsoft.com/office/drawing/2014/chart" uri="{C3380CC4-5D6E-409C-BE32-E72D297353CC}">
              <c16:uniqueId val="{00000000-E9B8-49D1-9125-7028AC6343CE}"/>
            </c:ext>
          </c:extLst>
        </c:ser>
        <c:ser>
          <c:idx val="1"/>
          <c:order val="1"/>
          <c:tx>
            <c:strRef>
              <c:f>'Cons Ext &amp; Interco Charts'!$B$67</c:f>
              <c:strCache>
                <c:ptCount val="1"/>
                <c:pt idx="0">
                  <c:v>Cons Interco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 Charts'!$C$3:$H$3</c:f>
              <c:numCache>
                <c:formatCode>General</c:formatCode>
                <c:ptCount val="6"/>
                <c:pt idx="0">
                  <c:v>2019</c:v>
                </c:pt>
                <c:pt idx="1">
                  <c:v>2020</c:v>
                </c:pt>
                <c:pt idx="2">
                  <c:v>2021</c:v>
                </c:pt>
                <c:pt idx="3">
                  <c:v>2022</c:v>
                </c:pt>
                <c:pt idx="4">
                  <c:v>2023</c:v>
                </c:pt>
                <c:pt idx="5">
                  <c:v>2024</c:v>
                </c:pt>
              </c:numCache>
            </c:numRef>
          </c:cat>
          <c:val>
            <c:numRef>
              <c:f>'Cons Ext &amp; Interco Charts'!$C$67:$H$67</c:f>
              <c:numCache>
                <c:formatCode>0%</c:formatCode>
                <c:ptCount val="6"/>
                <c:pt idx="0">
                  <c:v>0.52277615884111206</c:v>
                </c:pt>
                <c:pt idx="1">
                  <c:v>0.51870991071910277</c:v>
                </c:pt>
                <c:pt idx="2">
                  <c:v>0.50561580893797708</c:v>
                </c:pt>
                <c:pt idx="3">
                  <c:v>0.57439002237301395</c:v>
                </c:pt>
                <c:pt idx="4">
                  <c:v>0.51640263152243171</c:v>
                </c:pt>
                <c:pt idx="5">
                  <c:v>0.44469133843787917</c:v>
                </c:pt>
              </c:numCache>
            </c:numRef>
          </c:val>
          <c:extLst>
            <c:ext xmlns:c16="http://schemas.microsoft.com/office/drawing/2014/chart" uri="{C3380CC4-5D6E-409C-BE32-E72D297353CC}">
              <c16:uniqueId val="{00000001-E9B8-49D1-9125-7028AC6343CE}"/>
            </c:ext>
          </c:extLst>
        </c:ser>
        <c:dLbls>
          <c:dLblPos val="ctr"/>
          <c:showLegendKey val="0"/>
          <c:showVal val="1"/>
          <c:showCatName val="0"/>
          <c:showSerName val="0"/>
          <c:showPercent val="0"/>
          <c:showBubbleSize val="0"/>
        </c:dLbls>
        <c:gapWidth val="50"/>
        <c:overlap val="100"/>
        <c:axId val="1975019039"/>
        <c:axId val="1975017599"/>
      </c:barChart>
      <c:catAx>
        <c:axId val="1975019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7599"/>
        <c:crosses val="autoZero"/>
        <c:auto val="1"/>
        <c:lblAlgn val="ctr"/>
        <c:lblOffset val="100"/>
        <c:noMultiLvlLbl val="0"/>
      </c:catAx>
      <c:valAx>
        <c:axId val="197501759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90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IJM Cons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percentStacked"/>
        <c:varyColors val="0"/>
        <c:ser>
          <c:idx val="0"/>
          <c:order val="0"/>
          <c:tx>
            <c:strRef>
              <c:f>'Cons Ext &amp; Interco Charts'!$B$75</c:f>
              <c:strCache>
                <c:ptCount val="1"/>
                <c:pt idx="0">
                  <c:v>Cons Ext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 Charts'!$C$3:$H$3</c:f>
              <c:numCache>
                <c:formatCode>General</c:formatCode>
                <c:ptCount val="6"/>
                <c:pt idx="0">
                  <c:v>2019</c:v>
                </c:pt>
                <c:pt idx="1">
                  <c:v>2020</c:v>
                </c:pt>
                <c:pt idx="2">
                  <c:v>2021</c:v>
                </c:pt>
                <c:pt idx="3">
                  <c:v>2022</c:v>
                </c:pt>
                <c:pt idx="4">
                  <c:v>2023</c:v>
                </c:pt>
                <c:pt idx="5">
                  <c:v>2024</c:v>
                </c:pt>
              </c:numCache>
            </c:numRef>
          </c:cat>
          <c:val>
            <c:numRef>
              <c:f>'Cons Ext &amp; Interco Charts'!$C$75:$H$75</c:f>
              <c:numCache>
                <c:formatCode>0%</c:formatCode>
                <c:ptCount val="6"/>
                <c:pt idx="0">
                  <c:v>0.69299918497556678</c:v>
                </c:pt>
                <c:pt idx="1">
                  <c:v>0.78430389210970819</c:v>
                </c:pt>
                <c:pt idx="2">
                  <c:v>0.85978336195062521</c:v>
                </c:pt>
                <c:pt idx="3">
                  <c:v>0.76008677867709729</c:v>
                </c:pt>
                <c:pt idx="4">
                  <c:v>0.5644193592802651</c:v>
                </c:pt>
                <c:pt idx="5">
                  <c:v>0.59034725500835017</c:v>
                </c:pt>
              </c:numCache>
            </c:numRef>
          </c:val>
          <c:extLst>
            <c:ext xmlns:c16="http://schemas.microsoft.com/office/drawing/2014/chart" uri="{C3380CC4-5D6E-409C-BE32-E72D297353CC}">
              <c16:uniqueId val="{00000000-FFD7-4FDA-B236-037152D3484C}"/>
            </c:ext>
          </c:extLst>
        </c:ser>
        <c:ser>
          <c:idx val="1"/>
          <c:order val="1"/>
          <c:tx>
            <c:strRef>
              <c:f>'Cons Ext &amp; Interco Charts'!$B$76</c:f>
              <c:strCache>
                <c:ptCount val="1"/>
                <c:pt idx="0">
                  <c:v>Cons Interco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 Charts'!$C$3:$H$3</c:f>
              <c:numCache>
                <c:formatCode>General</c:formatCode>
                <c:ptCount val="6"/>
                <c:pt idx="0">
                  <c:v>2019</c:v>
                </c:pt>
                <c:pt idx="1">
                  <c:v>2020</c:v>
                </c:pt>
                <c:pt idx="2">
                  <c:v>2021</c:v>
                </c:pt>
                <c:pt idx="3">
                  <c:v>2022</c:v>
                </c:pt>
                <c:pt idx="4">
                  <c:v>2023</c:v>
                </c:pt>
                <c:pt idx="5">
                  <c:v>2024</c:v>
                </c:pt>
              </c:numCache>
            </c:numRef>
          </c:cat>
          <c:val>
            <c:numRef>
              <c:f>'Cons Ext &amp; Interco Charts'!$C$76:$H$76</c:f>
              <c:numCache>
                <c:formatCode>0%</c:formatCode>
                <c:ptCount val="6"/>
                <c:pt idx="0">
                  <c:v>0.30700081502443327</c:v>
                </c:pt>
                <c:pt idx="1">
                  <c:v>0.21569610789029178</c:v>
                </c:pt>
                <c:pt idx="2">
                  <c:v>0.14021663804937476</c:v>
                </c:pt>
                <c:pt idx="3">
                  <c:v>0.23991322132290266</c:v>
                </c:pt>
                <c:pt idx="4">
                  <c:v>0.43558064071973479</c:v>
                </c:pt>
                <c:pt idx="5">
                  <c:v>0.40965274499164978</c:v>
                </c:pt>
              </c:numCache>
            </c:numRef>
          </c:val>
          <c:extLst>
            <c:ext xmlns:c16="http://schemas.microsoft.com/office/drawing/2014/chart" uri="{C3380CC4-5D6E-409C-BE32-E72D297353CC}">
              <c16:uniqueId val="{00000001-FFD7-4FDA-B236-037152D3484C}"/>
            </c:ext>
          </c:extLst>
        </c:ser>
        <c:dLbls>
          <c:dLblPos val="ctr"/>
          <c:showLegendKey val="0"/>
          <c:showVal val="1"/>
          <c:showCatName val="0"/>
          <c:showSerName val="0"/>
          <c:showPercent val="0"/>
          <c:showBubbleSize val="0"/>
        </c:dLbls>
        <c:gapWidth val="50"/>
        <c:overlap val="100"/>
        <c:axId val="1975019039"/>
        <c:axId val="1975017599"/>
      </c:barChart>
      <c:catAx>
        <c:axId val="1975019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7599"/>
        <c:crosses val="autoZero"/>
        <c:auto val="1"/>
        <c:lblAlgn val="ctr"/>
        <c:lblOffset val="100"/>
        <c:noMultiLvlLbl val="0"/>
      </c:catAx>
      <c:valAx>
        <c:axId val="197501759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90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Gamuda Cons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MY"/>
        </a:p>
      </c:txPr>
    </c:title>
    <c:autoTitleDeleted val="0"/>
    <c:plotArea>
      <c:layout/>
      <c:barChart>
        <c:barDir val="col"/>
        <c:grouping val="percentStacked"/>
        <c:varyColors val="0"/>
        <c:ser>
          <c:idx val="0"/>
          <c:order val="0"/>
          <c:tx>
            <c:strRef>
              <c:f>'Cons Ext &amp; Interco Charts'!$B$115</c:f>
              <c:strCache>
                <c:ptCount val="1"/>
                <c:pt idx="0">
                  <c:v>Cons Ext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 Charts'!$C$3:$H$3</c:f>
              <c:numCache>
                <c:formatCode>General</c:formatCode>
                <c:ptCount val="6"/>
                <c:pt idx="0">
                  <c:v>2019</c:v>
                </c:pt>
                <c:pt idx="1">
                  <c:v>2020</c:v>
                </c:pt>
                <c:pt idx="2">
                  <c:v>2021</c:v>
                </c:pt>
                <c:pt idx="3">
                  <c:v>2022</c:v>
                </c:pt>
                <c:pt idx="4">
                  <c:v>2023</c:v>
                </c:pt>
                <c:pt idx="5">
                  <c:v>2024</c:v>
                </c:pt>
              </c:numCache>
            </c:numRef>
          </c:cat>
          <c:val>
            <c:numRef>
              <c:f>'Cons Ext &amp; Interco Charts'!$C$115:$H$115</c:f>
              <c:numCache>
                <c:formatCode>0%</c:formatCode>
                <c:ptCount val="6"/>
                <c:pt idx="0">
                  <c:v>0.41862916920935561</c:v>
                </c:pt>
                <c:pt idx="1">
                  <c:v>0.35691602270999578</c:v>
                </c:pt>
                <c:pt idx="2">
                  <c:v>0.55094297277224535</c:v>
                </c:pt>
                <c:pt idx="3">
                  <c:v>0.62505087491438127</c:v>
                </c:pt>
                <c:pt idx="4">
                  <c:v>0.87054244635352185</c:v>
                </c:pt>
                <c:pt idx="5">
                  <c:v>0.96604517870874607</c:v>
                </c:pt>
              </c:numCache>
            </c:numRef>
          </c:val>
          <c:extLst>
            <c:ext xmlns:c16="http://schemas.microsoft.com/office/drawing/2014/chart" uri="{C3380CC4-5D6E-409C-BE32-E72D297353CC}">
              <c16:uniqueId val="{00000000-5B57-4391-9094-65BAD34DDC26}"/>
            </c:ext>
          </c:extLst>
        </c:ser>
        <c:ser>
          <c:idx val="1"/>
          <c:order val="1"/>
          <c:tx>
            <c:strRef>
              <c:f>'Cons Ext &amp; Interco Charts'!$B$116</c:f>
              <c:strCache>
                <c:ptCount val="1"/>
                <c:pt idx="0">
                  <c:v>Cons Interco</c:v>
                </c:pt>
              </c:strCache>
            </c:strRef>
          </c:tx>
          <c:spPr>
            <a:solidFill>
              <a:schemeClr val="accent2"/>
            </a:solidFill>
            <a:ln>
              <a:noFill/>
            </a:ln>
            <a:effectLst/>
          </c:spPr>
          <c:invertIfNegative val="0"/>
          <c:dLbls>
            <c:dLbl>
              <c:idx val="5"/>
              <c:layout>
                <c:manualLayout>
                  <c:x val="0"/>
                  <c:y val="-5.4140466801662609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B57-4391-9094-65BAD34DDC2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 Charts'!$C$3:$H$3</c:f>
              <c:numCache>
                <c:formatCode>General</c:formatCode>
                <c:ptCount val="6"/>
                <c:pt idx="0">
                  <c:v>2019</c:v>
                </c:pt>
                <c:pt idx="1">
                  <c:v>2020</c:v>
                </c:pt>
                <c:pt idx="2">
                  <c:v>2021</c:v>
                </c:pt>
                <c:pt idx="3">
                  <c:v>2022</c:v>
                </c:pt>
                <c:pt idx="4">
                  <c:v>2023</c:v>
                </c:pt>
                <c:pt idx="5">
                  <c:v>2024</c:v>
                </c:pt>
              </c:numCache>
            </c:numRef>
          </c:cat>
          <c:val>
            <c:numRef>
              <c:f>'Cons Ext &amp; Interco Charts'!$C$116:$H$116</c:f>
              <c:numCache>
                <c:formatCode>0%</c:formatCode>
                <c:ptCount val="6"/>
                <c:pt idx="0">
                  <c:v>0.58137083079064444</c:v>
                </c:pt>
                <c:pt idx="1">
                  <c:v>0.64308397729000433</c:v>
                </c:pt>
                <c:pt idx="2">
                  <c:v>0.44905702722775465</c:v>
                </c:pt>
                <c:pt idx="3">
                  <c:v>0.37494912508561873</c:v>
                </c:pt>
                <c:pt idx="4">
                  <c:v>0.12945755364647818</c:v>
                </c:pt>
                <c:pt idx="5">
                  <c:v>3.3954821291253941E-2</c:v>
                </c:pt>
              </c:numCache>
            </c:numRef>
          </c:val>
          <c:extLst>
            <c:ext xmlns:c16="http://schemas.microsoft.com/office/drawing/2014/chart" uri="{C3380CC4-5D6E-409C-BE32-E72D297353CC}">
              <c16:uniqueId val="{00000001-5B57-4391-9094-65BAD34DDC26}"/>
            </c:ext>
          </c:extLst>
        </c:ser>
        <c:dLbls>
          <c:dLblPos val="ctr"/>
          <c:showLegendKey val="0"/>
          <c:showVal val="1"/>
          <c:showCatName val="0"/>
          <c:showSerName val="0"/>
          <c:showPercent val="0"/>
          <c:showBubbleSize val="0"/>
        </c:dLbls>
        <c:gapWidth val="50"/>
        <c:overlap val="100"/>
        <c:axId val="1975019039"/>
        <c:axId val="1975017599"/>
      </c:barChart>
      <c:catAx>
        <c:axId val="1975019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7599"/>
        <c:crosses val="autoZero"/>
        <c:auto val="1"/>
        <c:lblAlgn val="ctr"/>
        <c:lblOffset val="100"/>
        <c:noMultiLvlLbl val="0"/>
      </c:catAx>
      <c:valAx>
        <c:axId val="197501759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90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solidFill>
                  <a:schemeClr val="tx1"/>
                </a:solidFill>
              </a:rPr>
              <a:t>Revenue Mix From SunCon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'Charts for Slides'!$B$33</c:f>
              <c:strCache>
                <c:ptCount val="1"/>
                <c:pt idx="0">
                  <c:v>Commercial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'Charts for Slides'!$A$34:$A$38</c:f>
              <c:numCache>
                <c:formatCode>General</c:formatCode>
                <c:ptCount val="5"/>
                <c:pt idx="0">
                  <c:v>2020</c:v>
                </c:pt>
                <c:pt idx="1">
                  <c:v>2021</c:v>
                </c:pt>
                <c:pt idx="2">
                  <c:v>2022</c:v>
                </c:pt>
                <c:pt idx="3">
                  <c:v>2023</c:v>
                </c:pt>
                <c:pt idx="4">
                  <c:v>2024</c:v>
                </c:pt>
              </c:numCache>
            </c:numRef>
          </c:cat>
          <c:val>
            <c:numRef>
              <c:f>'Charts for Slides'!$B$34:$B$38</c:f>
              <c:numCache>
                <c:formatCode>0%</c:formatCode>
                <c:ptCount val="5"/>
                <c:pt idx="0">
                  <c:v>0.73</c:v>
                </c:pt>
                <c:pt idx="1">
                  <c:v>0.73</c:v>
                </c:pt>
                <c:pt idx="2">
                  <c:v>0.78</c:v>
                </c:pt>
                <c:pt idx="3">
                  <c:v>0.76</c:v>
                </c:pt>
                <c:pt idx="4">
                  <c:v>0.73</c:v>
                </c:pt>
              </c:numCache>
            </c:numRef>
          </c:val>
          <c:extLst>
            <c:ext xmlns:c16="http://schemas.microsoft.com/office/drawing/2014/chart" uri="{C3380CC4-5D6E-409C-BE32-E72D297353CC}">
              <c16:uniqueId val="{00000000-B137-415A-97DE-4A9FC4F97B15}"/>
            </c:ext>
          </c:extLst>
        </c:ser>
        <c:ser>
          <c:idx val="1"/>
          <c:order val="1"/>
          <c:tx>
            <c:strRef>
              <c:f>'Charts for Slides'!$C$33</c:f>
              <c:strCache>
                <c:ptCount val="1"/>
                <c:pt idx="0">
                  <c:v>Residential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'Charts for Slides'!$A$34:$A$38</c:f>
              <c:numCache>
                <c:formatCode>General</c:formatCode>
                <c:ptCount val="5"/>
                <c:pt idx="0">
                  <c:v>2020</c:v>
                </c:pt>
                <c:pt idx="1">
                  <c:v>2021</c:v>
                </c:pt>
                <c:pt idx="2">
                  <c:v>2022</c:v>
                </c:pt>
                <c:pt idx="3">
                  <c:v>2023</c:v>
                </c:pt>
                <c:pt idx="4">
                  <c:v>2024</c:v>
                </c:pt>
              </c:numCache>
            </c:numRef>
          </c:cat>
          <c:val>
            <c:numRef>
              <c:f>'Charts for Slides'!$C$34:$C$38</c:f>
              <c:numCache>
                <c:formatCode>0%</c:formatCode>
                <c:ptCount val="5"/>
                <c:pt idx="0">
                  <c:v>0.17</c:v>
                </c:pt>
                <c:pt idx="1">
                  <c:v>0.13</c:v>
                </c:pt>
                <c:pt idx="2">
                  <c:v>0.11</c:v>
                </c:pt>
                <c:pt idx="3">
                  <c:v>0.15</c:v>
                </c:pt>
                <c:pt idx="4">
                  <c:v>0.21</c:v>
                </c:pt>
              </c:numCache>
            </c:numRef>
          </c:val>
          <c:extLst>
            <c:ext xmlns:c16="http://schemas.microsoft.com/office/drawing/2014/chart" uri="{C3380CC4-5D6E-409C-BE32-E72D297353CC}">
              <c16:uniqueId val="{00000001-B137-415A-97DE-4A9FC4F97B15}"/>
            </c:ext>
          </c:extLst>
        </c:ser>
        <c:ser>
          <c:idx val="2"/>
          <c:order val="2"/>
          <c:tx>
            <c:strRef>
              <c:f>'Charts for Slides'!$D$33</c:f>
              <c:strCache>
                <c:ptCount val="1"/>
                <c:pt idx="0">
                  <c:v>Mixed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'Charts for Slides'!$A$34:$A$38</c:f>
              <c:numCache>
                <c:formatCode>General</c:formatCode>
                <c:ptCount val="5"/>
                <c:pt idx="0">
                  <c:v>2020</c:v>
                </c:pt>
                <c:pt idx="1">
                  <c:v>2021</c:v>
                </c:pt>
                <c:pt idx="2">
                  <c:v>2022</c:v>
                </c:pt>
                <c:pt idx="3">
                  <c:v>2023</c:v>
                </c:pt>
                <c:pt idx="4">
                  <c:v>2024</c:v>
                </c:pt>
              </c:numCache>
            </c:numRef>
          </c:cat>
          <c:val>
            <c:numRef>
              <c:f>'Charts for Slides'!$D$34:$D$38</c:f>
              <c:numCache>
                <c:formatCode>0%</c:formatCode>
                <c:ptCount val="5"/>
                <c:pt idx="0">
                  <c:v>0.1</c:v>
                </c:pt>
                <c:pt idx="1">
                  <c:v>0.14000000000000001</c:v>
                </c:pt>
                <c:pt idx="2">
                  <c:v>0.11</c:v>
                </c:pt>
                <c:pt idx="3">
                  <c:v>0.09</c:v>
                </c:pt>
                <c:pt idx="4">
                  <c:v>0.06</c:v>
                </c:pt>
              </c:numCache>
            </c:numRef>
          </c:val>
          <c:extLst>
            <c:ext xmlns:c16="http://schemas.microsoft.com/office/drawing/2014/chart" uri="{C3380CC4-5D6E-409C-BE32-E72D297353CC}">
              <c16:uniqueId val="{00000002-B137-415A-97DE-4A9FC4F97B15}"/>
            </c:ext>
          </c:extLst>
        </c:ser>
        <c:dLbls>
          <c:dLblPos val="ctr"/>
          <c:showLegendKey val="0"/>
          <c:showVal val="1"/>
          <c:showCatName val="0"/>
          <c:showSerName val="0"/>
          <c:showPercent val="0"/>
          <c:showBubbleSize val="0"/>
        </c:dLbls>
        <c:gapWidth val="50"/>
        <c:overlap val="100"/>
        <c:axId val="1186435904"/>
        <c:axId val="1186437344"/>
      </c:barChart>
      <c:catAx>
        <c:axId val="1186435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86437344"/>
        <c:crosses val="autoZero"/>
        <c:auto val="1"/>
        <c:lblAlgn val="ctr"/>
        <c:lblOffset val="100"/>
        <c:noMultiLvlLbl val="0"/>
      </c:catAx>
      <c:valAx>
        <c:axId val="1186437344"/>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186435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solidFill>
                  <a:schemeClr val="tx1"/>
                </a:solidFill>
              </a:rPr>
              <a:t>FY2025 Order</a:t>
            </a:r>
            <a:r>
              <a:rPr lang="en-MY" baseline="0">
                <a:solidFill>
                  <a:schemeClr val="tx1"/>
                </a:solidFill>
              </a:rPr>
              <a:t> Book Mix</a:t>
            </a:r>
            <a:endParaRPr lang="en-MY">
              <a:solidFill>
                <a:schemeClr val="tx1"/>
              </a:solidFill>
            </a:endParaRPr>
          </a:p>
        </c:rich>
      </c:tx>
      <c:layout>
        <c:manualLayout>
          <c:xMode val="edge"/>
          <c:yMode val="edge"/>
          <c:x val="0.31687489063867019"/>
          <c:y val="9.722222222222222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MY"/>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346-4060-8B20-E03CF3DC025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346-4060-8B20-E03CF3DC025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346-4060-8B20-E03CF3DC0256}"/>
              </c:ext>
            </c:extLst>
          </c:dPt>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'Charts for Slides'!$A$2:$A$4</c:f>
              <c:strCache>
                <c:ptCount val="3"/>
                <c:pt idx="0">
                  <c:v>Renewal Energy </c:v>
                </c:pt>
                <c:pt idx="1">
                  <c:v>Transport &amp; Infra </c:v>
                </c:pt>
                <c:pt idx="2">
                  <c:v>Data Centre</c:v>
                </c:pt>
              </c:strCache>
            </c:strRef>
          </c:cat>
          <c:val>
            <c:numRef>
              <c:f>'Charts for Slides'!$B$2:$B$4</c:f>
              <c:numCache>
                <c:formatCode>0%</c:formatCode>
                <c:ptCount val="3"/>
                <c:pt idx="0">
                  <c:v>0.25</c:v>
                </c:pt>
                <c:pt idx="1">
                  <c:v>0.2</c:v>
                </c:pt>
                <c:pt idx="2">
                  <c:v>0.15</c:v>
                </c:pt>
              </c:numCache>
            </c:numRef>
          </c:val>
          <c:extLst>
            <c:ext xmlns:c16="http://schemas.microsoft.com/office/drawing/2014/chart" uri="{C3380CC4-5D6E-409C-BE32-E72D297353CC}">
              <c16:uniqueId val="{00000006-7346-4060-8B20-E03CF3DC0256}"/>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61018985126859138"/>
          <c:y val="0.41542723826188394"/>
          <c:w val="0.26407852143482063"/>
          <c:h val="0.25960739282589679"/>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solidFill>
                  <a:schemeClr val="tx1"/>
                </a:solidFill>
              </a:rPr>
              <a:t>Gamuda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tx>
            <c:strRef>
              <c:f>'Ext Revenue PD Cons'!$B$86</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9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Cons'!$C$86:$H$86</c:f>
              <c:numCache>
                <c:formatCode>#,##0</c:formatCode>
                <c:ptCount val="6"/>
                <c:pt idx="0">
                  <c:v>2750.0610000000001</c:v>
                </c:pt>
                <c:pt idx="1">
                  <c:v>2723.4780000000001</c:v>
                </c:pt>
                <c:pt idx="2">
                  <c:v>2572.3409999999999</c:v>
                </c:pt>
                <c:pt idx="3">
                  <c:v>1122.7929999999999</c:v>
                </c:pt>
                <c:pt idx="4">
                  <c:v>1346.788</c:v>
                </c:pt>
                <c:pt idx="5">
                  <c:v>2146.4569999999999</c:v>
                </c:pt>
              </c:numCache>
            </c:numRef>
          </c:val>
          <c:extLst>
            <c:ext xmlns:c16="http://schemas.microsoft.com/office/drawing/2014/chart" uri="{C3380CC4-5D6E-409C-BE32-E72D297353CC}">
              <c16:uniqueId val="{00000000-FC71-48C0-BC17-46B4DCFD64AA}"/>
            </c:ext>
          </c:extLst>
        </c:ser>
        <c:ser>
          <c:idx val="1"/>
          <c:order val="1"/>
          <c:tx>
            <c:strRef>
              <c:f>'Ext Revenue PD Cons'!$B$87</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Cons'!$C$87:$H$87</c:f>
              <c:numCache>
                <c:formatCode>#,##0</c:formatCode>
                <c:ptCount val="6"/>
                <c:pt idx="0">
                  <c:v>10596.651</c:v>
                </c:pt>
                <c:pt idx="1">
                  <c:v>5496.9480000000003</c:v>
                </c:pt>
                <c:pt idx="2">
                  <c:v>2329.739</c:v>
                </c:pt>
                <c:pt idx="3">
                  <c:v>1968.787</c:v>
                </c:pt>
                <c:pt idx="4">
                  <c:v>1835.7840000000001</c:v>
                </c:pt>
                <c:pt idx="5">
                  <c:v>1939.326</c:v>
                </c:pt>
              </c:numCache>
            </c:numRef>
          </c:val>
          <c:extLst>
            <c:ext xmlns:c16="http://schemas.microsoft.com/office/drawing/2014/chart" uri="{C3380CC4-5D6E-409C-BE32-E72D297353CC}">
              <c16:uniqueId val="{00000001-FC71-48C0-BC17-46B4DCFD64AA}"/>
            </c:ext>
          </c:extLst>
        </c:ser>
        <c:ser>
          <c:idx val="2"/>
          <c:order val="2"/>
          <c:tx>
            <c:strRef>
              <c:f>'Ext Revenue PD Cons'!$B$88</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Cons'!$C$88:$H$88</c:f>
              <c:numCache>
                <c:formatCode>#,##0</c:formatCode>
                <c:ptCount val="6"/>
                <c:pt idx="0">
                  <c:v>1449.7510000000002</c:v>
                </c:pt>
                <c:pt idx="1">
                  <c:v>857.52899999999954</c:v>
                </c:pt>
                <c:pt idx="2">
                  <c:v>1532.4269999999997</c:v>
                </c:pt>
                <c:pt idx="3">
                  <c:v>1924.3770000000006</c:v>
                </c:pt>
                <c:pt idx="4">
                  <c:v>3622.3510000000001</c:v>
                </c:pt>
                <c:pt idx="5">
                  <c:v>3095.415</c:v>
                </c:pt>
              </c:numCache>
            </c:numRef>
          </c:val>
          <c:extLst>
            <c:ext xmlns:c16="http://schemas.microsoft.com/office/drawing/2014/chart" uri="{C3380CC4-5D6E-409C-BE32-E72D297353CC}">
              <c16:uniqueId val="{00000002-FC71-48C0-BC17-46B4DCFD64AA}"/>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sz="1400" b="0" i="0" u="none" strike="noStrike" kern="1200" spc="0" baseline="0">
                <a:solidFill>
                  <a:schemeClr val="tx1"/>
                </a:solidFill>
              </a:rPr>
              <a:t>Gamuda Cons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'Cons Ext &amp; Interco'!$B$55</c:f>
              <c:strCache>
                <c:ptCount val="1"/>
                <c:pt idx="0">
                  <c:v>Cons Ext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Interco'!$C$3:$H$3</c:f>
              <c:numCache>
                <c:formatCode>General</c:formatCode>
                <c:ptCount val="6"/>
                <c:pt idx="0">
                  <c:v>2019</c:v>
                </c:pt>
                <c:pt idx="1">
                  <c:v>2020</c:v>
                </c:pt>
                <c:pt idx="2">
                  <c:v>2021</c:v>
                </c:pt>
                <c:pt idx="3">
                  <c:v>2022</c:v>
                </c:pt>
                <c:pt idx="4">
                  <c:v>2023</c:v>
                </c:pt>
                <c:pt idx="5">
                  <c:v>2024</c:v>
                </c:pt>
              </c:numCache>
            </c:numRef>
          </c:cat>
          <c:val>
            <c:numRef>
              <c:f>'Cons Ext &amp; Interco'!$C$55:$H$55</c:f>
              <c:numCache>
                <c:formatCode>#,##0</c:formatCode>
                <c:ptCount val="6"/>
                <c:pt idx="0">
                  <c:v>1939.326</c:v>
                </c:pt>
                <c:pt idx="1">
                  <c:v>1835.7840000000001</c:v>
                </c:pt>
                <c:pt idx="2">
                  <c:v>1968.787</c:v>
                </c:pt>
                <c:pt idx="3">
                  <c:v>2329.739</c:v>
                </c:pt>
                <c:pt idx="4">
                  <c:v>5496.9480000000003</c:v>
                </c:pt>
                <c:pt idx="5">
                  <c:v>10596.651</c:v>
                </c:pt>
              </c:numCache>
            </c:numRef>
          </c:val>
          <c:extLst>
            <c:ext xmlns:c16="http://schemas.microsoft.com/office/drawing/2014/chart" uri="{C3380CC4-5D6E-409C-BE32-E72D297353CC}">
              <c16:uniqueId val="{00000000-9E65-4283-9EC2-F3703464CF49}"/>
            </c:ext>
          </c:extLst>
        </c:ser>
        <c:ser>
          <c:idx val="1"/>
          <c:order val="1"/>
          <c:tx>
            <c:strRef>
              <c:f>'Cons Ext &amp; Interco'!$B$56</c:f>
              <c:strCache>
                <c:ptCount val="1"/>
                <c:pt idx="0">
                  <c:v>Cons Interco</c:v>
                </c:pt>
              </c:strCache>
            </c:strRef>
          </c:tx>
          <c:spPr>
            <a:solidFill>
              <a:schemeClr val="accent2"/>
            </a:solidFill>
            <a:ln>
              <a:noFill/>
            </a:ln>
            <a:effectLst/>
          </c:spPr>
          <c:invertIfNegative val="0"/>
          <c:dLbls>
            <c:dLbl>
              <c:idx val="5"/>
              <c:layout>
                <c:manualLayout>
                  <c:x val="0"/>
                  <c:y val="-4.468909410162604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E65-4283-9EC2-F3703464CF4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Interco'!$C$3:$H$3</c:f>
              <c:numCache>
                <c:formatCode>General</c:formatCode>
                <c:ptCount val="6"/>
                <c:pt idx="0">
                  <c:v>2019</c:v>
                </c:pt>
                <c:pt idx="1">
                  <c:v>2020</c:v>
                </c:pt>
                <c:pt idx="2">
                  <c:v>2021</c:v>
                </c:pt>
                <c:pt idx="3">
                  <c:v>2022</c:v>
                </c:pt>
                <c:pt idx="4">
                  <c:v>2023</c:v>
                </c:pt>
                <c:pt idx="5">
                  <c:v>2024</c:v>
                </c:pt>
              </c:numCache>
            </c:numRef>
          </c:cat>
          <c:val>
            <c:numRef>
              <c:f>'Cons Ext &amp; Interco'!$C$56:$H$56</c:f>
              <c:numCache>
                <c:formatCode>#,##0</c:formatCode>
                <c:ptCount val="6"/>
                <c:pt idx="0">
                  <c:v>2693.2370000000001</c:v>
                </c:pt>
                <c:pt idx="1">
                  <c:v>3307.6779999999999</c:v>
                </c:pt>
                <c:pt idx="2">
                  <c:v>1604.6990000000001</c:v>
                </c:pt>
                <c:pt idx="3">
                  <c:v>1397.54</c:v>
                </c:pt>
                <c:pt idx="4">
                  <c:v>817.44599999999991</c:v>
                </c:pt>
                <c:pt idx="5">
                  <c:v>372.45400000000001</c:v>
                </c:pt>
              </c:numCache>
            </c:numRef>
          </c:val>
          <c:extLst>
            <c:ext xmlns:c16="http://schemas.microsoft.com/office/drawing/2014/chart" uri="{C3380CC4-5D6E-409C-BE32-E72D297353CC}">
              <c16:uniqueId val="{00000001-9E65-4283-9EC2-F3703464CF49}"/>
            </c:ext>
          </c:extLst>
        </c:ser>
        <c:dLbls>
          <c:dLblPos val="ctr"/>
          <c:showLegendKey val="0"/>
          <c:showVal val="1"/>
          <c:showCatName val="0"/>
          <c:showSerName val="0"/>
          <c:showPercent val="0"/>
          <c:showBubbleSize val="0"/>
        </c:dLbls>
        <c:gapWidth val="50"/>
        <c:overlap val="100"/>
        <c:axId val="1975019039"/>
        <c:axId val="1975017599"/>
      </c:barChart>
      <c:catAx>
        <c:axId val="1975019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7599"/>
        <c:crosses val="autoZero"/>
        <c:auto val="1"/>
        <c:lblAlgn val="ctr"/>
        <c:lblOffset val="100"/>
        <c:noMultiLvlLbl val="0"/>
      </c:catAx>
      <c:valAx>
        <c:axId val="197501759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90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solidFill>
                  <a:schemeClr val="tx1"/>
                </a:solidFill>
              </a:rPr>
              <a:t>IJM Corp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tx>
            <c:strRef>
              <c:f>'Ext Revenue PD Cons'!$B$56</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Cons'!$C$56:$H$56</c:f>
              <c:numCache>
                <c:formatCode>#,##0</c:formatCode>
                <c:ptCount val="6"/>
                <c:pt idx="0">
                  <c:v>2029.2730000000004</c:v>
                </c:pt>
                <c:pt idx="1">
                  <c:v>1615.2150000000001</c:v>
                </c:pt>
                <c:pt idx="2">
                  <c:v>1273.6669999999999</c:v>
                </c:pt>
                <c:pt idx="3">
                  <c:v>1296.758</c:v>
                </c:pt>
                <c:pt idx="4">
                  <c:v>2189.547</c:v>
                </c:pt>
                <c:pt idx="5">
                  <c:v>1427.318</c:v>
                </c:pt>
              </c:numCache>
            </c:numRef>
          </c:val>
          <c:extLst>
            <c:ext xmlns:c16="http://schemas.microsoft.com/office/drawing/2014/chart" uri="{C3380CC4-5D6E-409C-BE32-E72D297353CC}">
              <c16:uniqueId val="{00000000-330D-490E-895C-813802052C26}"/>
            </c:ext>
          </c:extLst>
        </c:ser>
        <c:ser>
          <c:idx val="1"/>
          <c:order val="1"/>
          <c:tx>
            <c:strRef>
              <c:f>'Ext Revenue PD Cons'!$B$57</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Cons'!$C$57:$H$57</c:f>
              <c:numCache>
                <c:formatCode>#,##0</c:formatCode>
                <c:ptCount val="6"/>
                <c:pt idx="0">
                  <c:v>1675.5590000000002</c:v>
                </c:pt>
                <c:pt idx="1">
                  <c:v>1069.9059999999999</c:v>
                </c:pt>
                <c:pt idx="2">
                  <c:v>1529.306</c:v>
                </c:pt>
                <c:pt idx="3">
                  <c:v>1947.8650000000002</c:v>
                </c:pt>
                <c:pt idx="4">
                  <c:v>2051.848</c:v>
                </c:pt>
                <c:pt idx="5">
                  <c:v>1981.1529999999998</c:v>
                </c:pt>
              </c:numCache>
            </c:numRef>
          </c:val>
          <c:extLst>
            <c:ext xmlns:c16="http://schemas.microsoft.com/office/drawing/2014/chart" uri="{C3380CC4-5D6E-409C-BE32-E72D297353CC}">
              <c16:uniqueId val="{00000001-330D-490E-895C-813802052C26}"/>
            </c:ext>
          </c:extLst>
        </c:ser>
        <c:ser>
          <c:idx val="2"/>
          <c:order val="2"/>
          <c:tx>
            <c:strRef>
              <c:f>'Ext Revenue PD Cons'!$B$58</c:f>
              <c:strCache>
                <c:ptCount val="1"/>
                <c:pt idx="0">
                  <c:v>Others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Cons'!$C$58:$H$58</c:f>
              <c:numCache>
                <c:formatCode>#,##0</c:formatCode>
                <c:ptCount val="6"/>
                <c:pt idx="0">
                  <c:v>2213.982</c:v>
                </c:pt>
                <c:pt idx="1">
                  <c:v>1887.3639999999996</c:v>
                </c:pt>
                <c:pt idx="2">
                  <c:v>2078.5190000000002</c:v>
                </c:pt>
                <c:pt idx="3">
                  <c:v>2378.2469999999994</c:v>
                </c:pt>
                <c:pt idx="4">
                  <c:v>2363.7059999999997</c:v>
                </c:pt>
                <c:pt idx="5">
                  <c:v>2247.1900000000005</c:v>
                </c:pt>
              </c:numCache>
            </c:numRef>
          </c:val>
          <c:extLst>
            <c:ext xmlns:c16="http://schemas.microsoft.com/office/drawing/2014/chart" uri="{C3380CC4-5D6E-409C-BE32-E72D297353CC}">
              <c16:uniqueId val="{00000002-330D-490E-895C-813802052C26}"/>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solidFill>
                  <a:schemeClr val="tx1"/>
                </a:solidFill>
              </a:rPr>
              <a:t>IJM Cons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'Cons Ext &amp; Interco'!$B$15</c:f>
              <c:strCache>
                <c:ptCount val="1"/>
                <c:pt idx="0">
                  <c:v>Cons Ext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Interco'!$C$3:$H$3</c:f>
              <c:numCache>
                <c:formatCode>General</c:formatCode>
                <c:ptCount val="6"/>
                <c:pt idx="0">
                  <c:v>2019</c:v>
                </c:pt>
                <c:pt idx="1">
                  <c:v>2020</c:v>
                </c:pt>
                <c:pt idx="2">
                  <c:v>2021</c:v>
                </c:pt>
                <c:pt idx="3">
                  <c:v>2022</c:v>
                </c:pt>
                <c:pt idx="4">
                  <c:v>2023</c:v>
                </c:pt>
                <c:pt idx="5">
                  <c:v>2024</c:v>
                </c:pt>
              </c:numCache>
            </c:numRef>
          </c:cat>
          <c:val>
            <c:numRef>
              <c:f>'Cons Ext &amp; Interco'!$C$15:$H$15</c:f>
              <c:numCache>
                <c:formatCode>#,##0</c:formatCode>
                <c:ptCount val="6"/>
                <c:pt idx="0">
                  <c:v>1981.1529999999998</c:v>
                </c:pt>
                <c:pt idx="1">
                  <c:v>2051.848</c:v>
                </c:pt>
                <c:pt idx="2">
                  <c:v>1947.8650000000002</c:v>
                </c:pt>
                <c:pt idx="3">
                  <c:v>1529.306</c:v>
                </c:pt>
                <c:pt idx="4">
                  <c:v>1069.9059999999999</c:v>
                </c:pt>
                <c:pt idx="5">
                  <c:v>1675.5590000000002</c:v>
                </c:pt>
              </c:numCache>
            </c:numRef>
          </c:val>
          <c:extLst>
            <c:ext xmlns:c16="http://schemas.microsoft.com/office/drawing/2014/chart" uri="{C3380CC4-5D6E-409C-BE32-E72D297353CC}">
              <c16:uniqueId val="{00000000-6839-4201-9A9F-D327957F8B60}"/>
            </c:ext>
          </c:extLst>
        </c:ser>
        <c:ser>
          <c:idx val="1"/>
          <c:order val="1"/>
          <c:tx>
            <c:strRef>
              <c:f>'Cons Ext &amp; Interco'!$B$16</c:f>
              <c:strCache>
                <c:ptCount val="1"/>
                <c:pt idx="0">
                  <c:v>Cons Interco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Interco'!$C$3:$H$3</c:f>
              <c:numCache>
                <c:formatCode>General</c:formatCode>
                <c:ptCount val="6"/>
                <c:pt idx="0">
                  <c:v>2019</c:v>
                </c:pt>
                <c:pt idx="1">
                  <c:v>2020</c:v>
                </c:pt>
                <c:pt idx="2">
                  <c:v>2021</c:v>
                </c:pt>
                <c:pt idx="3">
                  <c:v>2022</c:v>
                </c:pt>
                <c:pt idx="4">
                  <c:v>2023</c:v>
                </c:pt>
                <c:pt idx="5">
                  <c:v>2024</c:v>
                </c:pt>
              </c:numCache>
            </c:numRef>
          </c:cat>
          <c:val>
            <c:numRef>
              <c:f>'Cons Ext &amp; Interco'!$C$16:$H$16</c:f>
              <c:numCache>
                <c:formatCode>#,##0</c:formatCode>
                <c:ptCount val="6"/>
                <c:pt idx="0">
                  <c:v>877.65699999999993</c:v>
                </c:pt>
                <c:pt idx="1">
                  <c:v>564.29100000000005</c:v>
                </c:pt>
                <c:pt idx="2">
                  <c:v>317.66500000000002</c:v>
                </c:pt>
                <c:pt idx="3">
                  <c:v>482.709</c:v>
                </c:pt>
                <c:pt idx="4">
                  <c:v>825.68099999999993</c:v>
                </c:pt>
                <c:pt idx="5">
                  <c:v>1162.701</c:v>
                </c:pt>
              </c:numCache>
            </c:numRef>
          </c:val>
          <c:extLst>
            <c:ext xmlns:c16="http://schemas.microsoft.com/office/drawing/2014/chart" uri="{C3380CC4-5D6E-409C-BE32-E72D297353CC}">
              <c16:uniqueId val="{00000001-6839-4201-9A9F-D327957F8B60}"/>
            </c:ext>
          </c:extLst>
        </c:ser>
        <c:dLbls>
          <c:showLegendKey val="0"/>
          <c:showVal val="0"/>
          <c:showCatName val="0"/>
          <c:showSerName val="0"/>
          <c:showPercent val="0"/>
          <c:showBubbleSize val="0"/>
        </c:dLbls>
        <c:gapWidth val="50"/>
        <c:overlap val="100"/>
        <c:axId val="1975019039"/>
        <c:axId val="1975017599"/>
      </c:barChart>
      <c:catAx>
        <c:axId val="1975019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5017599"/>
        <c:crosses val="autoZero"/>
        <c:auto val="1"/>
        <c:lblAlgn val="ctr"/>
        <c:lblOffset val="100"/>
        <c:noMultiLvlLbl val="0"/>
      </c:catAx>
      <c:valAx>
        <c:axId val="197501759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750190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LBS Bina Group</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bar"/>
        <c:grouping val="stacked"/>
        <c:varyColors val="0"/>
        <c:ser>
          <c:idx val="0"/>
          <c:order val="0"/>
          <c:tx>
            <c:strRef>
              <c:f>'Ext Revenue PD Cons'!$B$62</c:f>
              <c:strCache>
                <c:ptCount val="1"/>
                <c:pt idx="0">
                  <c:v>PD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Cons'!$C$62:$H$62</c:f>
              <c:numCache>
                <c:formatCode>#,##0</c:formatCode>
                <c:ptCount val="6"/>
                <c:pt idx="0">
                  <c:v>1372.1501929999999</c:v>
                </c:pt>
                <c:pt idx="1">
                  <c:v>1754.058935</c:v>
                </c:pt>
                <c:pt idx="2">
                  <c:v>1654.136037</c:v>
                </c:pt>
                <c:pt idx="3">
                  <c:v>1302.2982509999999</c:v>
                </c:pt>
                <c:pt idx="4">
                  <c:v>1034.8869950000001</c:v>
                </c:pt>
                <c:pt idx="5">
                  <c:v>1181.0345950000001</c:v>
                </c:pt>
              </c:numCache>
            </c:numRef>
          </c:val>
          <c:extLst>
            <c:ext xmlns:c16="http://schemas.microsoft.com/office/drawing/2014/chart" uri="{C3380CC4-5D6E-409C-BE32-E72D297353CC}">
              <c16:uniqueId val="{00000000-24A2-414C-8954-575F20622A84}"/>
            </c:ext>
          </c:extLst>
        </c:ser>
        <c:ser>
          <c:idx val="1"/>
          <c:order val="1"/>
          <c:tx>
            <c:strRef>
              <c:f>'Ext Revenue PD Cons'!$B$63</c:f>
              <c:strCache>
                <c:ptCount val="1"/>
                <c:pt idx="0">
                  <c:v>Cons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Cons'!$C$63:$H$63</c:f>
              <c:numCache>
                <c:formatCode>#,##0</c:formatCode>
                <c:ptCount val="6"/>
                <c:pt idx="0">
                  <c:v>37.95421900000008</c:v>
                </c:pt>
                <c:pt idx="1">
                  <c:v>31.03773000000001</c:v>
                </c:pt>
                <c:pt idx="2">
                  <c:v>35.235399000000029</c:v>
                </c:pt>
                <c:pt idx="3">
                  <c:v>34.237380999999914</c:v>
                </c:pt>
                <c:pt idx="4">
                  <c:v>32.147261000000015</c:v>
                </c:pt>
                <c:pt idx="5">
                  <c:v>111.66337899999996</c:v>
                </c:pt>
              </c:numCache>
            </c:numRef>
          </c:val>
          <c:extLst>
            <c:ext xmlns:c16="http://schemas.microsoft.com/office/drawing/2014/chart" uri="{C3380CC4-5D6E-409C-BE32-E72D297353CC}">
              <c16:uniqueId val="{00000001-24A2-414C-8954-575F20622A84}"/>
            </c:ext>
          </c:extLst>
        </c:ser>
        <c:ser>
          <c:idx val="2"/>
          <c:order val="2"/>
          <c:tx>
            <c:strRef>
              <c:f>'Ext Revenue PD Cons'!$B$64</c:f>
              <c:strCache>
                <c:ptCount val="1"/>
                <c:pt idx="0">
                  <c:v>Others</c:v>
                </c:pt>
              </c:strCache>
            </c:strRef>
          </c:tx>
          <c:spPr>
            <a:solidFill>
              <a:schemeClr val="accent3"/>
            </a:solidFill>
            <a:ln>
              <a:noFill/>
            </a:ln>
            <a:effectLst/>
          </c:spPr>
          <c:invertIfNegative val="0"/>
          <c:dLbls>
            <c:dLbl>
              <c:idx val="0"/>
              <c:layout>
                <c:manualLayout>
                  <c:x val="2.4943310657596373E-2"/>
                  <c:y val="-1.5890517527525411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24A2-414C-8954-575F20622A84}"/>
                </c:ext>
              </c:extLst>
            </c:dLbl>
            <c:dLbl>
              <c:idx val="1"/>
              <c:layout>
                <c:manualLayout>
                  <c:x val="2.0408163265305958E-2"/>
                  <c:y val="-7.9452587637627057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4A2-414C-8954-575F20622A84}"/>
                </c:ext>
              </c:extLst>
            </c:dLbl>
            <c:dLbl>
              <c:idx val="2"/>
              <c:layout>
                <c:manualLayout>
                  <c:x val="2.947845804988662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4A2-414C-8954-575F20622A84}"/>
                </c:ext>
              </c:extLst>
            </c:dLbl>
            <c:dLbl>
              <c:idx val="3"/>
              <c:layout>
                <c:manualLayout>
                  <c:x val="2.7210884353741496E-2"/>
                  <c:y val="-7.9452587637627057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4A2-414C-8954-575F20622A84}"/>
                </c:ext>
              </c:extLst>
            </c:dLbl>
            <c:dLbl>
              <c:idx val="4"/>
              <c:layout>
                <c:manualLayout>
                  <c:x val="2.7210884353741496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4A2-414C-8954-575F20622A84}"/>
                </c:ext>
              </c:extLst>
            </c:dLbl>
            <c:dLbl>
              <c:idx val="5"/>
              <c:layout>
                <c:manualLayout>
                  <c:x val="2.7210884353741412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4A2-414C-8954-575F20622A8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'Ext Revenue PD Cons'!$C$3:$H$3</c:f>
              <c:numCache>
                <c:formatCode>General</c:formatCode>
                <c:ptCount val="6"/>
                <c:pt idx="0">
                  <c:v>2024</c:v>
                </c:pt>
                <c:pt idx="1">
                  <c:v>2023</c:v>
                </c:pt>
                <c:pt idx="2">
                  <c:v>2022</c:v>
                </c:pt>
                <c:pt idx="3">
                  <c:v>2021</c:v>
                </c:pt>
                <c:pt idx="4">
                  <c:v>2020</c:v>
                </c:pt>
                <c:pt idx="5">
                  <c:v>2019</c:v>
                </c:pt>
              </c:numCache>
            </c:numRef>
          </c:cat>
          <c:val>
            <c:numRef>
              <c:f>'Ext Revenue PD Cons'!$C$64:$H$64</c:f>
              <c:numCache>
                <c:formatCode>#,##0</c:formatCode>
                <c:ptCount val="6"/>
                <c:pt idx="0">
                  <c:v>24.553855999999996</c:v>
                </c:pt>
                <c:pt idx="1">
                  <c:v>21.037659000000076</c:v>
                </c:pt>
                <c:pt idx="2">
                  <c:v>34.485954999999876</c:v>
                </c:pt>
                <c:pt idx="3">
                  <c:v>29.221352000000024</c:v>
                </c:pt>
                <c:pt idx="4">
                  <c:v>29.296800999999959</c:v>
                </c:pt>
                <c:pt idx="5">
                  <c:v>32.56181000000015</c:v>
                </c:pt>
              </c:numCache>
            </c:numRef>
          </c:val>
          <c:extLst>
            <c:ext xmlns:c16="http://schemas.microsoft.com/office/drawing/2014/chart" uri="{C3380CC4-5D6E-409C-BE32-E72D297353CC}">
              <c16:uniqueId val="{00000002-24A2-414C-8954-575F20622A84}"/>
            </c:ext>
          </c:extLst>
        </c:ser>
        <c:dLbls>
          <c:dLblPos val="ctr"/>
          <c:showLegendKey val="0"/>
          <c:showVal val="1"/>
          <c:showCatName val="0"/>
          <c:showSerName val="0"/>
          <c:showPercent val="0"/>
          <c:showBubbleSize val="0"/>
        </c:dLbls>
        <c:gapWidth val="50"/>
        <c:overlap val="100"/>
        <c:axId val="1980433135"/>
        <c:axId val="1980422575"/>
      </c:barChart>
      <c:catAx>
        <c:axId val="198043313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22575"/>
        <c:crosses val="autoZero"/>
        <c:auto val="1"/>
        <c:lblAlgn val="ctr"/>
        <c:lblOffset val="100"/>
        <c:noMultiLvlLbl val="0"/>
      </c:catAx>
      <c:valAx>
        <c:axId val="1980422575"/>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804331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MGB Cons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stacked"/>
        <c:varyColors val="0"/>
        <c:ser>
          <c:idx val="0"/>
          <c:order val="0"/>
          <c:tx>
            <c:strRef>
              <c:f>'Cons Ext &amp; Interco'!$B$31</c:f>
              <c:strCache>
                <c:ptCount val="1"/>
                <c:pt idx="0">
                  <c:v>Cons Ext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Interco'!$C$3:$H$3</c:f>
              <c:numCache>
                <c:formatCode>General</c:formatCode>
                <c:ptCount val="6"/>
                <c:pt idx="0">
                  <c:v>2019</c:v>
                </c:pt>
                <c:pt idx="1">
                  <c:v>2020</c:v>
                </c:pt>
                <c:pt idx="2">
                  <c:v>2021</c:v>
                </c:pt>
                <c:pt idx="3">
                  <c:v>2022</c:v>
                </c:pt>
                <c:pt idx="4">
                  <c:v>2023</c:v>
                </c:pt>
                <c:pt idx="5">
                  <c:v>2024</c:v>
                </c:pt>
              </c:numCache>
            </c:numRef>
          </c:cat>
          <c:val>
            <c:numRef>
              <c:f>'Cons Ext &amp; Interco'!$C$31:$H$31</c:f>
              <c:numCache>
                <c:formatCode>#,##0</c:formatCode>
                <c:ptCount val="6"/>
                <c:pt idx="0">
                  <c:v>631.02168900000004</c:v>
                </c:pt>
                <c:pt idx="1">
                  <c:v>479.13570299999992</c:v>
                </c:pt>
                <c:pt idx="2">
                  <c:v>576.95185300000003</c:v>
                </c:pt>
                <c:pt idx="3">
                  <c:v>588.992299</c:v>
                </c:pt>
                <c:pt idx="4">
                  <c:v>856.2365430000001</c:v>
                </c:pt>
                <c:pt idx="5">
                  <c:v>548.36708199999998</c:v>
                </c:pt>
              </c:numCache>
            </c:numRef>
          </c:val>
          <c:extLst>
            <c:ext xmlns:c16="http://schemas.microsoft.com/office/drawing/2014/chart" uri="{C3380CC4-5D6E-409C-BE32-E72D297353CC}">
              <c16:uniqueId val="{00000000-6447-4F28-9A78-67FACDDB5876}"/>
            </c:ext>
          </c:extLst>
        </c:ser>
        <c:ser>
          <c:idx val="1"/>
          <c:order val="1"/>
          <c:tx>
            <c:strRef>
              <c:f>'Cons Ext &amp; Interco'!$B$32</c:f>
              <c:strCache>
                <c:ptCount val="1"/>
                <c:pt idx="0">
                  <c:v>Cons Interco</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'Cons Ext &amp; Interco'!$C$3:$H$3</c:f>
              <c:numCache>
                <c:formatCode>General</c:formatCode>
                <c:ptCount val="6"/>
                <c:pt idx="0">
                  <c:v>2019</c:v>
                </c:pt>
                <c:pt idx="1">
                  <c:v>2020</c:v>
                </c:pt>
                <c:pt idx="2">
                  <c:v>2021</c:v>
                </c:pt>
                <c:pt idx="3">
                  <c:v>2022</c:v>
                </c:pt>
                <c:pt idx="4">
                  <c:v>2023</c:v>
                </c:pt>
                <c:pt idx="5">
                  <c:v>2024</c:v>
                </c:pt>
              </c:numCache>
            </c:numRef>
          </c:cat>
          <c:val>
            <c:numRef>
              <c:f>'Cons Ext &amp; Interco'!$C$32:$H$32</c:f>
              <c:numCache>
                <c:formatCode>#,##0</c:formatCode>
                <c:ptCount val="6"/>
                <c:pt idx="0">
                  <c:v>134.63761499999998</c:v>
                </c:pt>
                <c:pt idx="1">
                  <c:v>95.937134999999998</c:v>
                </c:pt>
                <c:pt idx="2">
                  <c:v>44.352608999999994</c:v>
                </c:pt>
                <c:pt idx="3">
                  <c:v>53.708396</c:v>
                </c:pt>
                <c:pt idx="4">
                  <c:v>195.34090599999999</c:v>
                </c:pt>
                <c:pt idx="5">
                  <c:v>408.81733399999996</c:v>
                </c:pt>
              </c:numCache>
            </c:numRef>
          </c:val>
          <c:extLst>
            <c:ext xmlns:c16="http://schemas.microsoft.com/office/drawing/2014/chart" uri="{C3380CC4-5D6E-409C-BE32-E72D297353CC}">
              <c16:uniqueId val="{00000001-6447-4F28-9A78-67FACDDB5876}"/>
            </c:ext>
          </c:extLst>
        </c:ser>
        <c:dLbls>
          <c:dLblPos val="ctr"/>
          <c:showLegendKey val="0"/>
          <c:showVal val="1"/>
          <c:showCatName val="0"/>
          <c:showSerName val="0"/>
          <c:showPercent val="0"/>
          <c:showBubbleSize val="0"/>
        </c:dLbls>
        <c:gapWidth val="50"/>
        <c:overlap val="100"/>
        <c:axId val="1975019039"/>
        <c:axId val="1975017599"/>
      </c:barChart>
      <c:catAx>
        <c:axId val="19750190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7599"/>
        <c:crosses val="autoZero"/>
        <c:auto val="1"/>
        <c:lblAlgn val="ctr"/>
        <c:lblOffset val="100"/>
        <c:noMultiLvlLbl val="0"/>
      </c:catAx>
      <c:valAx>
        <c:axId val="197501759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9750190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Binastra!$A$14</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Binastra!$B$13:$F$13</c:f>
              <c:strCache>
                <c:ptCount val="5"/>
                <c:pt idx="0">
                  <c:v>FY2021</c:v>
                </c:pt>
                <c:pt idx="1">
                  <c:v>FY2022</c:v>
                </c:pt>
                <c:pt idx="2">
                  <c:v>FY2023</c:v>
                </c:pt>
                <c:pt idx="3">
                  <c:v>FY2024</c:v>
                </c:pt>
                <c:pt idx="4">
                  <c:v>FY2025</c:v>
                </c:pt>
              </c:strCache>
            </c:strRef>
          </c:cat>
          <c:val>
            <c:numRef>
              <c:f>Binastra!$B$14:$F$14</c:f>
              <c:numCache>
                <c:formatCode>#,##0</c:formatCode>
                <c:ptCount val="5"/>
                <c:pt idx="0">
                  <c:v>1.8320000000000001</c:v>
                </c:pt>
                <c:pt idx="1">
                  <c:v>38.546999999999997</c:v>
                </c:pt>
                <c:pt idx="2">
                  <c:v>184.846</c:v>
                </c:pt>
                <c:pt idx="3">
                  <c:v>425.202</c:v>
                </c:pt>
                <c:pt idx="4">
                  <c:v>946.596</c:v>
                </c:pt>
              </c:numCache>
            </c:numRef>
          </c:val>
          <c:extLst>
            <c:ext xmlns:c16="http://schemas.microsoft.com/office/drawing/2014/chart" uri="{C3380CC4-5D6E-409C-BE32-E72D297353CC}">
              <c16:uniqueId val="{00000000-A22A-4260-A8DD-92B0AF4C2CCC}"/>
            </c:ext>
          </c:extLst>
        </c:ser>
        <c:ser>
          <c:idx val="1"/>
          <c:order val="1"/>
          <c:tx>
            <c:strRef>
              <c:f>Binastra!$A$15</c:f>
              <c:strCache>
                <c:ptCount val="1"/>
                <c:pt idx="0">
                  <c:v>PBT</c:v>
                </c:pt>
              </c:strCache>
            </c:strRef>
          </c:tx>
          <c:spPr>
            <a:solidFill>
              <a:schemeClr val="accent2"/>
            </a:solidFill>
            <a:ln>
              <a:noFill/>
            </a:ln>
            <a:effectLst/>
          </c:spPr>
          <c:invertIfNegative val="0"/>
          <c:dLbls>
            <c:dLbl>
              <c:idx val="0"/>
              <c:layout>
                <c:manualLayout>
                  <c:x val="0"/>
                  <c:y val="8.0218026577098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22A-4260-A8DD-92B0AF4C2CC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Binastra!$B$13:$F$13</c:f>
              <c:strCache>
                <c:ptCount val="5"/>
                <c:pt idx="0">
                  <c:v>FY2021</c:v>
                </c:pt>
                <c:pt idx="1">
                  <c:v>FY2022</c:v>
                </c:pt>
                <c:pt idx="2">
                  <c:v>FY2023</c:v>
                </c:pt>
                <c:pt idx="3">
                  <c:v>FY2024</c:v>
                </c:pt>
                <c:pt idx="4">
                  <c:v>FY2025</c:v>
                </c:pt>
              </c:strCache>
            </c:strRef>
          </c:cat>
          <c:val>
            <c:numRef>
              <c:f>Binastra!$B$15:$F$15</c:f>
              <c:numCache>
                <c:formatCode>#,##0</c:formatCode>
                <c:ptCount val="5"/>
                <c:pt idx="0">
                  <c:v>-4.4729999999999999</c:v>
                </c:pt>
                <c:pt idx="1">
                  <c:v>4.92</c:v>
                </c:pt>
                <c:pt idx="2">
                  <c:v>23.545000000000002</c:v>
                </c:pt>
                <c:pt idx="3">
                  <c:v>55.142000000000003</c:v>
                </c:pt>
                <c:pt idx="4">
                  <c:v>124.486</c:v>
                </c:pt>
              </c:numCache>
            </c:numRef>
          </c:val>
          <c:extLst>
            <c:ext xmlns:c16="http://schemas.microsoft.com/office/drawing/2014/chart" uri="{C3380CC4-5D6E-409C-BE32-E72D297353CC}">
              <c16:uniqueId val="{00000001-A22A-4260-A8DD-92B0AF4C2CCC}"/>
            </c:ext>
          </c:extLst>
        </c:ser>
        <c:dLbls>
          <c:showLegendKey val="0"/>
          <c:showVal val="1"/>
          <c:showCatName val="0"/>
          <c:showSerName val="0"/>
          <c:showPercent val="0"/>
          <c:showBubbleSize val="0"/>
        </c:dLbls>
        <c:gapWidth val="50"/>
        <c:axId val="764084207"/>
        <c:axId val="764081327"/>
      </c:barChart>
      <c:lineChart>
        <c:grouping val="standard"/>
        <c:varyColors val="0"/>
        <c:ser>
          <c:idx val="2"/>
          <c:order val="2"/>
          <c:tx>
            <c:strRef>
              <c:f>Binastra!$A$16</c:f>
              <c:strCache>
                <c:ptCount val="1"/>
                <c:pt idx="0">
                  <c:v>PBT Margin</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solidFill>
                <a:schemeClr val="bg1"/>
              </a:solidFill>
              <a:ln>
                <a:solidFill>
                  <a:schemeClr val="tx1"/>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Binastra!$B$13:$F$13</c:f>
              <c:strCache>
                <c:ptCount val="5"/>
                <c:pt idx="0">
                  <c:v>FY2021</c:v>
                </c:pt>
                <c:pt idx="1">
                  <c:v>FY2022</c:v>
                </c:pt>
                <c:pt idx="2">
                  <c:v>FY2023</c:v>
                </c:pt>
                <c:pt idx="3">
                  <c:v>FY2024</c:v>
                </c:pt>
                <c:pt idx="4">
                  <c:v>FY2025</c:v>
                </c:pt>
              </c:strCache>
            </c:strRef>
          </c:cat>
          <c:val>
            <c:numRef>
              <c:f>Binastra!$B$16:$F$16</c:f>
              <c:numCache>
                <c:formatCode>0.0%</c:formatCode>
                <c:ptCount val="5"/>
                <c:pt idx="1">
                  <c:v>0.12763639193711573</c:v>
                </c:pt>
                <c:pt idx="2">
                  <c:v>0.12737630243554093</c:v>
                </c:pt>
                <c:pt idx="3">
                  <c:v>0.12968424419452401</c:v>
                </c:pt>
                <c:pt idx="4">
                  <c:v>0.13150911265207121</c:v>
                </c:pt>
              </c:numCache>
            </c:numRef>
          </c:val>
          <c:smooth val="0"/>
          <c:extLst>
            <c:ext xmlns:c16="http://schemas.microsoft.com/office/drawing/2014/chart" uri="{C3380CC4-5D6E-409C-BE32-E72D297353CC}">
              <c16:uniqueId val="{00000002-A22A-4260-A8DD-92B0AF4C2CCC}"/>
            </c:ext>
          </c:extLst>
        </c:ser>
        <c:dLbls>
          <c:showLegendKey val="0"/>
          <c:showVal val="1"/>
          <c:showCatName val="0"/>
          <c:showSerName val="0"/>
          <c:showPercent val="0"/>
          <c:showBubbleSize val="0"/>
        </c:dLbls>
        <c:marker val="1"/>
        <c:smooth val="0"/>
        <c:axId val="1403598991"/>
        <c:axId val="1403601391"/>
      </c:lineChart>
      <c:catAx>
        <c:axId val="764084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64081327"/>
        <c:crosses val="autoZero"/>
        <c:auto val="1"/>
        <c:lblAlgn val="ctr"/>
        <c:lblOffset val="100"/>
        <c:noMultiLvlLbl val="0"/>
      </c:catAx>
      <c:valAx>
        <c:axId val="764081327"/>
        <c:scaling>
          <c:orientation val="minMax"/>
          <c:min val="-1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64084207"/>
        <c:crosses val="autoZero"/>
        <c:crossBetween val="between"/>
      </c:valAx>
      <c:valAx>
        <c:axId val="1403601391"/>
        <c:scaling>
          <c:orientation val="minMax"/>
          <c:max val="0.13500000000000001"/>
          <c:min val="0.12000000000000001"/>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03598991"/>
        <c:crosses val="max"/>
        <c:crossBetween val="between"/>
      </c:valAx>
      <c:catAx>
        <c:axId val="1403598991"/>
        <c:scaling>
          <c:orientation val="minMax"/>
        </c:scaling>
        <c:delete val="1"/>
        <c:axPos val="b"/>
        <c:numFmt formatCode="General" sourceLinked="1"/>
        <c:majorTickMark val="none"/>
        <c:minorTickMark val="none"/>
        <c:tickLblPos val="nextTo"/>
        <c:crossAx val="1403601391"/>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Binastra!$A$86</c:f>
              <c:strCache>
                <c:ptCount val="1"/>
                <c:pt idx="0">
                  <c:v>Asset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Binastra!$B$85:$F$85</c:f>
              <c:strCache>
                <c:ptCount val="5"/>
                <c:pt idx="0">
                  <c:v>FY2021</c:v>
                </c:pt>
                <c:pt idx="1">
                  <c:v>FY2022</c:v>
                </c:pt>
                <c:pt idx="2">
                  <c:v>FY2023</c:v>
                </c:pt>
                <c:pt idx="3">
                  <c:v>FY2024</c:v>
                </c:pt>
                <c:pt idx="4">
                  <c:v>FY2025</c:v>
                </c:pt>
              </c:strCache>
            </c:strRef>
          </c:cat>
          <c:val>
            <c:numRef>
              <c:f>Binastra!$B$86:$F$86</c:f>
              <c:numCache>
                <c:formatCode>0</c:formatCode>
                <c:ptCount val="5"/>
                <c:pt idx="0">
                  <c:v>13.113</c:v>
                </c:pt>
                <c:pt idx="1">
                  <c:v>30.306999999999999</c:v>
                </c:pt>
                <c:pt idx="2">
                  <c:v>137.63200000000001</c:v>
                </c:pt>
                <c:pt idx="3">
                  <c:v>295.90800000000002</c:v>
                </c:pt>
                <c:pt idx="4">
                  <c:v>730.95799999999997</c:v>
                </c:pt>
              </c:numCache>
            </c:numRef>
          </c:val>
          <c:extLst>
            <c:ext xmlns:c16="http://schemas.microsoft.com/office/drawing/2014/chart" uri="{C3380CC4-5D6E-409C-BE32-E72D297353CC}">
              <c16:uniqueId val="{00000000-1E2C-40A3-873B-AB633E5912CD}"/>
            </c:ext>
          </c:extLst>
        </c:ser>
        <c:ser>
          <c:idx val="1"/>
          <c:order val="1"/>
          <c:tx>
            <c:strRef>
              <c:f>Binastra!$A$87</c:f>
              <c:strCache>
                <c:ptCount val="1"/>
                <c:pt idx="0">
                  <c:v>Liability </c:v>
                </c:pt>
              </c:strCache>
            </c:strRef>
          </c:tx>
          <c:spPr>
            <a:solidFill>
              <a:schemeClr val="accent2"/>
            </a:solidFill>
            <a:ln>
              <a:noFill/>
            </a:ln>
            <a:effectLst/>
          </c:spPr>
          <c:invertIfNegative val="0"/>
          <c:dLbls>
            <c:dLbl>
              <c:idx val="0"/>
              <c:tx>
                <c:rich>
                  <a:bodyPr/>
                  <a:lstStyle/>
                  <a:p>
                    <a:r>
                      <a:rPr lang="en-US"/>
                      <a:t>15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E2C-40A3-873B-AB633E5912CD}"/>
                </c:ext>
              </c:extLst>
            </c:dLbl>
            <c:dLbl>
              <c:idx val="1"/>
              <c:tx>
                <c:rich>
                  <a:bodyPr/>
                  <a:lstStyle/>
                  <a:p>
                    <a:r>
                      <a:rPr lang="en-US"/>
                      <a:t>28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E2C-40A3-873B-AB633E5912CD}"/>
                </c:ext>
              </c:extLst>
            </c:dLbl>
            <c:dLbl>
              <c:idx val="2"/>
              <c:tx>
                <c:rich>
                  <a:bodyPr/>
                  <a:lstStyle/>
                  <a:p>
                    <a:r>
                      <a:rPr lang="en-US"/>
                      <a:t>95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E2C-40A3-873B-AB633E5912CD}"/>
                </c:ext>
              </c:extLst>
            </c:dLbl>
            <c:dLbl>
              <c:idx val="3"/>
              <c:tx>
                <c:rich>
                  <a:bodyPr/>
                  <a:lstStyle/>
                  <a:p>
                    <a:r>
                      <a:rPr lang="en-US"/>
                      <a:t>213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E2C-40A3-873B-AB633E5912CD}"/>
                </c:ext>
              </c:extLst>
            </c:dLbl>
            <c:dLbl>
              <c:idx val="4"/>
              <c:tx>
                <c:rich>
                  <a:bodyPr/>
                  <a:lstStyle/>
                  <a:p>
                    <a:r>
                      <a:rPr lang="en-US"/>
                      <a:t>449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E2C-40A3-873B-AB633E5912CD}"/>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Binastra!$B$85:$F$85</c:f>
              <c:strCache>
                <c:ptCount val="5"/>
                <c:pt idx="0">
                  <c:v>FY2021</c:v>
                </c:pt>
                <c:pt idx="1">
                  <c:v>FY2022</c:v>
                </c:pt>
                <c:pt idx="2">
                  <c:v>FY2023</c:v>
                </c:pt>
                <c:pt idx="3">
                  <c:v>FY2024</c:v>
                </c:pt>
                <c:pt idx="4">
                  <c:v>FY2025</c:v>
                </c:pt>
              </c:strCache>
            </c:strRef>
          </c:cat>
          <c:val>
            <c:numRef>
              <c:f>Binastra!$B$87:$F$87</c:f>
              <c:numCache>
                <c:formatCode>0</c:formatCode>
                <c:ptCount val="5"/>
                <c:pt idx="0">
                  <c:v>13.113</c:v>
                </c:pt>
                <c:pt idx="1">
                  <c:v>30.306999999999999</c:v>
                </c:pt>
                <c:pt idx="2">
                  <c:v>137.63200000000001</c:v>
                </c:pt>
                <c:pt idx="3">
                  <c:v>295.90800000000002</c:v>
                </c:pt>
                <c:pt idx="4">
                  <c:v>730.95799999999997</c:v>
                </c:pt>
              </c:numCache>
            </c:numRef>
          </c:val>
          <c:extLst>
            <c:ext xmlns:c16="http://schemas.microsoft.com/office/drawing/2014/chart" uri="{C3380CC4-5D6E-409C-BE32-E72D297353CC}">
              <c16:uniqueId val="{00000001-1E2C-40A3-873B-AB633E5912CD}"/>
            </c:ext>
          </c:extLst>
        </c:ser>
        <c:ser>
          <c:idx val="2"/>
          <c:order val="2"/>
          <c:tx>
            <c:strRef>
              <c:f>Binastra!$A$88</c:f>
              <c:strCache>
                <c:ptCount val="1"/>
                <c:pt idx="0">
                  <c:v>Equity</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Binastra!$B$85:$F$85</c:f>
              <c:strCache>
                <c:ptCount val="5"/>
                <c:pt idx="0">
                  <c:v>FY2021</c:v>
                </c:pt>
                <c:pt idx="1">
                  <c:v>FY2022</c:v>
                </c:pt>
                <c:pt idx="2">
                  <c:v>FY2023</c:v>
                </c:pt>
                <c:pt idx="3">
                  <c:v>FY2024</c:v>
                </c:pt>
                <c:pt idx="4">
                  <c:v>FY2025</c:v>
                </c:pt>
              </c:strCache>
            </c:strRef>
          </c:cat>
          <c:val>
            <c:numRef>
              <c:f>Binastra!$B$88:$F$88</c:f>
              <c:numCache>
                <c:formatCode>0</c:formatCode>
                <c:ptCount val="5"/>
                <c:pt idx="0">
                  <c:v>-1.8480000000000001</c:v>
                </c:pt>
                <c:pt idx="1">
                  <c:v>1.851</c:v>
                </c:pt>
                <c:pt idx="2">
                  <c:v>42.438000000000002</c:v>
                </c:pt>
                <c:pt idx="3">
                  <c:v>83.210999999999999</c:v>
                </c:pt>
                <c:pt idx="4">
                  <c:v>282.44600000000003</c:v>
                </c:pt>
              </c:numCache>
            </c:numRef>
          </c:val>
          <c:extLst>
            <c:ext xmlns:c16="http://schemas.microsoft.com/office/drawing/2014/chart" uri="{C3380CC4-5D6E-409C-BE32-E72D297353CC}">
              <c16:uniqueId val="{00000002-1E2C-40A3-873B-AB633E5912CD}"/>
            </c:ext>
          </c:extLst>
        </c:ser>
        <c:dLbls>
          <c:dLblPos val="outEnd"/>
          <c:showLegendKey val="0"/>
          <c:showVal val="1"/>
          <c:showCatName val="0"/>
          <c:showSerName val="0"/>
          <c:showPercent val="0"/>
          <c:showBubbleSize val="0"/>
        </c:dLbls>
        <c:gapWidth val="50"/>
        <c:overlap val="-15"/>
        <c:axId val="843274847"/>
        <c:axId val="843270047"/>
      </c:barChart>
      <c:catAx>
        <c:axId val="843274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43270047"/>
        <c:crosses val="autoZero"/>
        <c:auto val="1"/>
        <c:lblAlgn val="ctr"/>
        <c:lblOffset val="100"/>
        <c:noMultiLvlLbl val="0"/>
      </c:catAx>
      <c:valAx>
        <c:axId val="843270047"/>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843274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Nestcon!$A$14</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Nestcon!$B$13:$F$13</c:f>
              <c:strCache>
                <c:ptCount val="5"/>
                <c:pt idx="0">
                  <c:v>FY2020</c:v>
                </c:pt>
                <c:pt idx="1">
                  <c:v>FY2021</c:v>
                </c:pt>
                <c:pt idx="2">
                  <c:v>FY2022</c:v>
                </c:pt>
                <c:pt idx="3">
                  <c:v>FY2023</c:v>
                </c:pt>
                <c:pt idx="4">
                  <c:v>FY2024</c:v>
                </c:pt>
              </c:strCache>
            </c:strRef>
          </c:cat>
          <c:val>
            <c:numRef>
              <c:f>Nestcon!$B$14:$F$14</c:f>
              <c:numCache>
                <c:formatCode>0</c:formatCode>
                <c:ptCount val="5"/>
                <c:pt idx="0">
                  <c:v>344.47899999999998</c:v>
                </c:pt>
                <c:pt idx="1">
                  <c:v>358.26100000000002</c:v>
                </c:pt>
                <c:pt idx="2">
                  <c:v>461.51799999999997</c:v>
                </c:pt>
                <c:pt idx="3">
                  <c:v>775.14599999999996</c:v>
                </c:pt>
                <c:pt idx="4">
                  <c:v>838.13199999999995</c:v>
                </c:pt>
              </c:numCache>
            </c:numRef>
          </c:val>
          <c:extLst>
            <c:ext xmlns:c16="http://schemas.microsoft.com/office/drawing/2014/chart" uri="{C3380CC4-5D6E-409C-BE32-E72D297353CC}">
              <c16:uniqueId val="{00000000-0389-4668-862C-31EAD16DC85E}"/>
            </c:ext>
          </c:extLst>
        </c:ser>
        <c:ser>
          <c:idx val="1"/>
          <c:order val="1"/>
          <c:tx>
            <c:strRef>
              <c:f>Nestcon!$A$15</c:f>
              <c:strCache>
                <c:ptCount val="1"/>
                <c:pt idx="0">
                  <c:v>PBT</c:v>
                </c:pt>
              </c:strCache>
            </c:strRef>
          </c:tx>
          <c:spPr>
            <a:solidFill>
              <a:schemeClr val="accent2"/>
            </a:solidFill>
            <a:ln>
              <a:noFill/>
            </a:ln>
            <a:effectLst/>
          </c:spPr>
          <c:invertIfNegative val="0"/>
          <c:dLbls>
            <c:dLbl>
              <c:idx val="2"/>
              <c:layout>
                <c:manualLayout>
                  <c:x val="4.742007553826947E-2"/>
                  <c:y val="3.84022136489764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389-4668-862C-31EAD16DC85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Nestcon!$B$13:$F$13</c:f>
              <c:strCache>
                <c:ptCount val="5"/>
                <c:pt idx="0">
                  <c:v>FY2020</c:v>
                </c:pt>
                <c:pt idx="1">
                  <c:v>FY2021</c:v>
                </c:pt>
                <c:pt idx="2">
                  <c:v>FY2022</c:v>
                </c:pt>
                <c:pt idx="3">
                  <c:v>FY2023</c:v>
                </c:pt>
                <c:pt idx="4">
                  <c:v>FY2024</c:v>
                </c:pt>
              </c:strCache>
            </c:strRef>
          </c:cat>
          <c:val>
            <c:numRef>
              <c:f>Nestcon!$B$15:$F$15</c:f>
              <c:numCache>
                <c:formatCode>0</c:formatCode>
                <c:ptCount val="5"/>
                <c:pt idx="0">
                  <c:v>19.210999999999999</c:v>
                </c:pt>
                <c:pt idx="1">
                  <c:v>12.803000000000001</c:v>
                </c:pt>
                <c:pt idx="2">
                  <c:v>-18.673999999999999</c:v>
                </c:pt>
                <c:pt idx="3">
                  <c:v>5.367</c:v>
                </c:pt>
                <c:pt idx="4">
                  <c:v>9.7799999999999994</c:v>
                </c:pt>
              </c:numCache>
            </c:numRef>
          </c:val>
          <c:extLst>
            <c:ext xmlns:c16="http://schemas.microsoft.com/office/drawing/2014/chart" uri="{C3380CC4-5D6E-409C-BE32-E72D297353CC}">
              <c16:uniqueId val="{00000001-0389-4668-862C-31EAD16DC85E}"/>
            </c:ext>
          </c:extLst>
        </c:ser>
        <c:dLbls>
          <c:showLegendKey val="0"/>
          <c:showVal val="1"/>
          <c:showCatName val="0"/>
          <c:showSerName val="0"/>
          <c:showPercent val="0"/>
          <c:showBubbleSize val="0"/>
        </c:dLbls>
        <c:gapWidth val="219"/>
        <c:overlap val="-27"/>
        <c:axId val="310518927"/>
        <c:axId val="323232623"/>
      </c:barChart>
      <c:lineChart>
        <c:grouping val="standard"/>
        <c:varyColors val="0"/>
        <c:ser>
          <c:idx val="2"/>
          <c:order val="2"/>
          <c:tx>
            <c:strRef>
              <c:f>Nestcon!$A$16</c:f>
              <c:strCache>
                <c:ptCount val="1"/>
                <c:pt idx="0">
                  <c:v>PBT Margin</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solidFill>
                <a:schemeClr val="bg1"/>
              </a:solidFill>
              <a:ln>
                <a:solidFill>
                  <a:schemeClr val="tx1"/>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Nestcon!$B$13:$F$13</c:f>
              <c:strCache>
                <c:ptCount val="5"/>
                <c:pt idx="0">
                  <c:v>FY2020</c:v>
                </c:pt>
                <c:pt idx="1">
                  <c:v>FY2021</c:v>
                </c:pt>
                <c:pt idx="2">
                  <c:v>FY2022</c:v>
                </c:pt>
                <c:pt idx="3">
                  <c:v>FY2023</c:v>
                </c:pt>
                <c:pt idx="4">
                  <c:v>FY2024</c:v>
                </c:pt>
              </c:strCache>
            </c:strRef>
          </c:cat>
          <c:val>
            <c:numRef>
              <c:f>Nestcon!$B$16:$F$16</c:f>
              <c:numCache>
                <c:formatCode>0.0%</c:formatCode>
                <c:ptCount val="5"/>
                <c:pt idx="0">
                  <c:v>5.5768276150360396E-2</c:v>
                </c:pt>
                <c:pt idx="1">
                  <c:v>3.5736516115346076E-2</c:v>
                </c:pt>
                <c:pt idx="2">
                  <c:v>-4.0462127154303841E-2</c:v>
                </c:pt>
                <c:pt idx="3">
                  <c:v>6.923856925017997E-3</c:v>
                </c:pt>
                <c:pt idx="4">
                  <c:v>1.1668806345539844E-2</c:v>
                </c:pt>
              </c:numCache>
            </c:numRef>
          </c:val>
          <c:smooth val="0"/>
          <c:extLst>
            <c:ext xmlns:c16="http://schemas.microsoft.com/office/drawing/2014/chart" uri="{C3380CC4-5D6E-409C-BE32-E72D297353CC}">
              <c16:uniqueId val="{00000002-0389-4668-862C-31EAD16DC85E}"/>
            </c:ext>
          </c:extLst>
        </c:ser>
        <c:dLbls>
          <c:showLegendKey val="0"/>
          <c:showVal val="1"/>
          <c:showCatName val="0"/>
          <c:showSerName val="0"/>
          <c:showPercent val="0"/>
          <c:showBubbleSize val="0"/>
        </c:dLbls>
        <c:marker val="1"/>
        <c:smooth val="0"/>
        <c:axId val="843524767"/>
        <c:axId val="843524287"/>
      </c:lineChart>
      <c:catAx>
        <c:axId val="310518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323232623"/>
        <c:crosses val="autoZero"/>
        <c:auto val="1"/>
        <c:lblAlgn val="ctr"/>
        <c:lblOffset val="100"/>
        <c:noMultiLvlLbl val="0"/>
      </c:catAx>
      <c:valAx>
        <c:axId val="32323262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310518927"/>
        <c:crosses val="autoZero"/>
        <c:crossBetween val="between"/>
      </c:valAx>
      <c:valAx>
        <c:axId val="843524287"/>
        <c:scaling>
          <c:orientation val="minMax"/>
        </c:scaling>
        <c:delete val="0"/>
        <c:axPos val="r"/>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843524767"/>
        <c:crosses val="max"/>
        <c:crossBetween val="between"/>
      </c:valAx>
      <c:catAx>
        <c:axId val="843524767"/>
        <c:scaling>
          <c:orientation val="minMax"/>
        </c:scaling>
        <c:delete val="1"/>
        <c:axPos val="b"/>
        <c:numFmt formatCode="General" sourceLinked="1"/>
        <c:majorTickMark val="none"/>
        <c:minorTickMark val="none"/>
        <c:tickLblPos val="nextTo"/>
        <c:crossAx val="8435242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Nestcon!$A$62</c:f>
              <c:strCache>
                <c:ptCount val="1"/>
                <c:pt idx="0">
                  <c:v>Asset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Nestcon!$B$61:$F$61</c:f>
              <c:strCache>
                <c:ptCount val="5"/>
                <c:pt idx="0">
                  <c:v>FY2020</c:v>
                </c:pt>
                <c:pt idx="1">
                  <c:v>FY2021</c:v>
                </c:pt>
                <c:pt idx="2">
                  <c:v>FY2022</c:v>
                </c:pt>
                <c:pt idx="3">
                  <c:v>FY2023</c:v>
                </c:pt>
                <c:pt idx="4">
                  <c:v>FY2024</c:v>
                </c:pt>
              </c:strCache>
            </c:strRef>
          </c:cat>
          <c:val>
            <c:numRef>
              <c:f>Nestcon!$B$62:$F$62</c:f>
              <c:numCache>
                <c:formatCode>0</c:formatCode>
                <c:ptCount val="5"/>
                <c:pt idx="0">
                  <c:v>342.52940999999998</c:v>
                </c:pt>
                <c:pt idx="1">
                  <c:v>403.53274800000003</c:v>
                </c:pt>
                <c:pt idx="2">
                  <c:v>522.36171400000001</c:v>
                </c:pt>
                <c:pt idx="3">
                  <c:v>705.99432899999999</c:v>
                </c:pt>
                <c:pt idx="4">
                  <c:v>775.81602499999997</c:v>
                </c:pt>
              </c:numCache>
            </c:numRef>
          </c:val>
          <c:extLst>
            <c:ext xmlns:c16="http://schemas.microsoft.com/office/drawing/2014/chart" uri="{C3380CC4-5D6E-409C-BE32-E72D297353CC}">
              <c16:uniqueId val="{00000000-6D98-469E-9E24-5C6146B19980}"/>
            </c:ext>
          </c:extLst>
        </c:ser>
        <c:ser>
          <c:idx val="1"/>
          <c:order val="1"/>
          <c:tx>
            <c:strRef>
              <c:f>Nestcon!$A$63</c:f>
              <c:strCache>
                <c:ptCount val="1"/>
                <c:pt idx="0">
                  <c:v>Liability </c:v>
                </c:pt>
              </c:strCache>
            </c:strRef>
          </c:tx>
          <c:spPr>
            <a:solidFill>
              <a:schemeClr val="accent2"/>
            </a:solidFill>
            <a:ln>
              <a:noFill/>
            </a:ln>
            <a:effectLst/>
          </c:spPr>
          <c:invertIfNegative val="0"/>
          <c:dLbls>
            <c:dLbl>
              <c:idx val="0"/>
              <c:tx>
                <c:rich>
                  <a:bodyPr/>
                  <a:lstStyle/>
                  <a:p>
                    <a:r>
                      <a:rPr lang="en-US"/>
                      <a:t>270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D98-469E-9E24-5C6146B19980}"/>
                </c:ext>
              </c:extLst>
            </c:dLbl>
            <c:dLbl>
              <c:idx val="1"/>
              <c:tx>
                <c:rich>
                  <a:bodyPr/>
                  <a:lstStyle/>
                  <a:p>
                    <a:r>
                      <a:rPr lang="en-US"/>
                      <a:t>276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D98-469E-9E24-5C6146B19980}"/>
                </c:ext>
              </c:extLst>
            </c:dLbl>
            <c:dLbl>
              <c:idx val="2"/>
              <c:tx>
                <c:rich>
                  <a:bodyPr/>
                  <a:lstStyle/>
                  <a:p>
                    <a:r>
                      <a:rPr lang="en-US"/>
                      <a:t>400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D98-469E-9E24-5C6146B19980}"/>
                </c:ext>
              </c:extLst>
            </c:dLbl>
            <c:dLbl>
              <c:idx val="3"/>
              <c:tx>
                <c:rich>
                  <a:bodyPr/>
                  <a:lstStyle/>
                  <a:p>
                    <a:r>
                      <a:rPr lang="en-US"/>
                      <a:t>573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D98-469E-9E24-5C6146B19980}"/>
                </c:ext>
              </c:extLst>
            </c:dLbl>
            <c:dLbl>
              <c:idx val="4"/>
              <c:tx>
                <c:rich>
                  <a:bodyPr/>
                  <a:lstStyle/>
                  <a:p>
                    <a:r>
                      <a:rPr lang="en-US"/>
                      <a:t>625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D98-469E-9E24-5C6146B1998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Nestcon!$B$61:$F$61</c:f>
              <c:strCache>
                <c:ptCount val="5"/>
                <c:pt idx="0">
                  <c:v>FY2020</c:v>
                </c:pt>
                <c:pt idx="1">
                  <c:v>FY2021</c:v>
                </c:pt>
                <c:pt idx="2">
                  <c:v>FY2022</c:v>
                </c:pt>
                <c:pt idx="3">
                  <c:v>FY2023</c:v>
                </c:pt>
                <c:pt idx="4">
                  <c:v>FY2024</c:v>
                </c:pt>
              </c:strCache>
            </c:strRef>
          </c:cat>
          <c:val>
            <c:numRef>
              <c:f>Nestcon!$B$63:$F$63</c:f>
              <c:numCache>
                <c:formatCode>0</c:formatCode>
                <c:ptCount val="5"/>
                <c:pt idx="0">
                  <c:v>342.52940999999998</c:v>
                </c:pt>
                <c:pt idx="1">
                  <c:v>403.53274800000003</c:v>
                </c:pt>
                <c:pt idx="2">
                  <c:v>522.36171400000001</c:v>
                </c:pt>
                <c:pt idx="3">
                  <c:v>705.99432899999999</c:v>
                </c:pt>
                <c:pt idx="4">
                  <c:v>775.81602499999997</c:v>
                </c:pt>
              </c:numCache>
            </c:numRef>
          </c:val>
          <c:extLst>
            <c:ext xmlns:c16="http://schemas.microsoft.com/office/drawing/2014/chart" uri="{C3380CC4-5D6E-409C-BE32-E72D297353CC}">
              <c16:uniqueId val="{00000001-6D98-469E-9E24-5C6146B19980}"/>
            </c:ext>
          </c:extLst>
        </c:ser>
        <c:ser>
          <c:idx val="2"/>
          <c:order val="2"/>
          <c:tx>
            <c:strRef>
              <c:f>Nestcon!$A$64</c:f>
              <c:strCache>
                <c:ptCount val="1"/>
                <c:pt idx="0">
                  <c:v>Equity</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Nestcon!$B$61:$F$61</c:f>
              <c:strCache>
                <c:ptCount val="5"/>
                <c:pt idx="0">
                  <c:v>FY2020</c:v>
                </c:pt>
                <c:pt idx="1">
                  <c:v>FY2021</c:v>
                </c:pt>
                <c:pt idx="2">
                  <c:v>FY2022</c:v>
                </c:pt>
                <c:pt idx="3">
                  <c:v>FY2023</c:v>
                </c:pt>
                <c:pt idx="4">
                  <c:v>FY2024</c:v>
                </c:pt>
              </c:strCache>
            </c:strRef>
          </c:cat>
          <c:val>
            <c:numRef>
              <c:f>Nestcon!$B$64:$F$64</c:f>
              <c:numCache>
                <c:formatCode>0</c:formatCode>
                <c:ptCount val="5"/>
                <c:pt idx="0">
                  <c:v>72.244911999999999</c:v>
                </c:pt>
                <c:pt idx="1">
                  <c:v>127.54084</c:v>
                </c:pt>
                <c:pt idx="2">
                  <c:v>122.023072</c:v>
                </c:pt>
                <c:pt idx="3">
                  <c:v>132.988675</c:v>
                </c:pt>
                <c:pt idx="4">
                  <c:v>150.34608900000001</c:v>
                </c:pt>
              </c:numCache>
            </c:numRef>
          </c:val>
          <c:extLst>
            <c:ext xmlns:c16="http://schemas.microsoft.com/office/drawing/2014/chart" uri="{C3380CC4-5D6E-409C-BE32-E72D297353CC}">
              <c16:uniqueId val="{00000002-6D98-469E-9E24-5C6146B19980}"/>
            </c:ext>
          </c:extLst>
        </c:ser>
        <c:dLbls>
          <c:dLblPos val="outEnd"/>
          <c:showLegendKey val="0"/>
          <c:showVal val="1"/>
          <c:showCatName val="0"/>
          <c:showSerName val="0"/>
          <c:showPercent val="0"/>
          <c:showBubbleSize val="0"/>
        </c:dLbls>
        <c:gapWidth val="50"/>
        <c:overlap val="-15"/>
        <c:axId val="791085631"/>
        <c:axId val="791082751"/>
      </c:barChart>
      <c:catAx>
        <c:axId val="791085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91082751"/>
        <c:crosses val="autoZero"/>
        <c:auto val="1"/>
        <c:lblAlgn val="ctr"/>
        <c:lblOffset val="100"/>
        <c:noMultiLvlLbl val="0"/>
      </c:catAx>
      <c:valAx>
        <c:axId val="791082751"/>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9108563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userShapes r:id="rId4"/>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Quarterly!$B$4</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ptos" panose="020B000402020202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Quarterly!$C$2:$J$3</c:f>
              <c:multiLvlStrCache>
                <c:ptCount val="8"/>
                <c:lvl>
                  <c:pt idx="0">
                    <c:v>4Q23</c:v>
                  </c:pt>
                  <c:pt idx="1">
                    <c:v>1Q24</c:v>
                  </c:pt>
                  <c:pt idx="2">
                    <c:v>2Q24</c:v>
                  </c:pt>
                  <c:pt idx="3">
                    <c:v>3Q24</c:v>
                  </c:pt>
                  <c:pt idx="4">
                    <c:v>4Q24</c:v>
                  </c:pt>
                  <c:pt idx="5">
                    <c:v>1Q25</c:v>
                  </c:pt>
                  <c:pt idx="6">
                    <c:v>2Q25</c:v>
                  </c:pt>
                  <c:pt idx="7">
                    <c:v>3Q25</c:v>
                  </c:pt>
                </c:lvl>
                <c:lvl>
                  <c:pt idx="0">
                    <c:v>2023</c:v>
                  </c:pt>
                  <c:pt idx="1">
                    <c:v>2024</c:v>
                  </c:pt>
                  <c:pt idx="5">
                    <c:v>2025</c:v>
                  </c:pt>
                </c:lvl>
              </c:multiLvlStrCache>
            </c:multiLvlStrRef>
          </c:cat>
          <c:val>
            <c:numRef>
              <c:f>Quarterly!$C$4:$J$4</c:f>
              <c:numCache>
                <c:formatCode>#,##0</c:formatCode>
                <c:ptCount val="8"/>
                <c:pt idx="0">
                  <c:v>158.76900000000001</c:v>
                </c:pt>
                <c:pt idx="1">
                  <c:v>158.99700000000001</c:v>
                </c:pt>
                <c:pt idx="2">
                  <c:v>154.108</c:v>
                </c:pt>
                <c:pt idx="3">
                  <c:v>181.059</c:v>
                </c:pt>
                <c:pt idx="4">
                  <c:v>196.61500000000001</c:v>
                </c:pt>
                <c:pt idx="5">
                  <c:v>194.596</c:v>
                </c:pt>
                <c:pt idx="6">
                  <c:v>186.11199999999999</c:v>
                </c:pt>
                <c:pt idx="7">
                  <c:v>188.26300000000001</c:v>
                </c:pt>
              </c:numCache>
            </c:numRef>
          </c:val>
          <c:extLst>
            <c:ext xmlns:c16="http://schemas.microsoft.com/office/drawing/2014/chart" uri="{C3380CC4-5D6E-409C-BE32-E72D297353CC}">
              <c16:uniqueId val="{00000000-2564-4DC9-BFA9-00FBCCC2C78F}"/>
            </c:ext>
          </c:extLst>
        </c:ser>
        <c:ser>
          <c:idx val="1"/>
          <c:order val="1"/>
          <c:tx>
            <c:strRef>
              <c:f>Quarterly!$B$5</c:f>
              <c:strCache>
                <c:ptCount val="1"/>
                <c:pt idx="0">
                  <c:v>PAT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Quarterly!$C$2:$J$3</c:f>
              <c:multiLvlStrCache>
                <c:ptCount val="8"/>
                <c:lvl>
                  <c:pt idx="0">
                    <c:v>4Q23</c:v>
                  </c:pt>
                  <c:pt idx="1">
                    <c:v>1Q24</c:v>
                  </c:pt>
                  <c:pt idx="2">
                    <c:v>2Q24</c:v>
                  </c:pt>
                  <c:pt idx="3">
                    <c:v>3Q24</c:v>
                  </c:pt>
                  <c:pt idx="4">
                    <c:v>4Q24</c:v>
                  </c:pt>
                  <c:pt idx="5">
                    <c:v>1Q25</c:v>
                  </c:pt>
                  <c:pt idx="6">
                    <c:v>2Q25</c:v>
                  </c:pt>
                  <c:pt idx="7">
                    <c:v>3Q25</c:v>
                  </c:pt>
                </c:lvl>
                <c:lvl>
                  <c:pt idx="0">
                    <c:v>2023</c:v>
                  </c:pt>
                  <c:pt idx="1">
                    <c:v>2024</c:v>
                  </c:pt>
                  <c:pt idx="5">
                    <c:v>2025</c:v>
                  </c:pt>
                </c:lvl>
              </c:multiLvlStrCache>
            </c:multiLvlStrRef>
          </c:cat>
          <c:val>
            <c:numRef>
              <c:f>Quarterly!$C$5:$J$5</c:f>
              <c:numCache>
                <c:formatCode>#,##0</c:formatCode>
                <c:ptCount val="8"/>
                <c:pt idx="0">
                  <c:v>6.6269999999999998</c:v>
                </c:pt>
                <c:pt idx="1">
                  <c:v>6.9009999999999998</c:v>
                </c:pt>
                <c:pt idx="2">
                  <c:v>8.3919999999999995</c:v>
                </c:pt>
                <c:pt idx="3">
                  <c:v>8.9190000000000005</c:v>
                </c:pt>
                <c:pt idx="4">
                  <c:v>8.8320000000000007</c:v>
                </c:pt>
                <c:pt idx="5">
                  <c:v>10.042</c:v>
                </c:pt>
                <c:pt idx="6">
                  <c:v>9.6850000000000005</c:v>
                </c:pt>
                <c:pt idx="7">
                  <c:v>10.026</c:v>
                </c:pt>
              </c:numCache>
            </c:numRef>
          </c:val>
          <c:extLst>
            <c:ext xmlns:c16="http://schemas.microsoft.com/office/drawing/2014/chart" uri="{C3380CC4-5D6E-409C-BE32-E72D297353CC}">
              <c16:uniqueId val="{00000001-2564-4DC9-BFA9-00FBCCC2C78F}"/>
            </c:ext>
          </c:extLst>
        </c:ser>
        <c:dLbls>
          <c:showLegendKey val="0"/>
          <c:showVal val="1"/>
          <c:showCatName val="0"/>
          <c:showSerName val="0"/>
          <c:showPercent val="0"/>
          <c:showBubbleSize val="0"/>
        </c:dLbls>
        <c:gapWidth val="50"/>
        <c:axId val="1266656560"/>
        <c:axId val="1266661360"/>
      </c:barChart>
      <c:lineChart>
        <c:grouping val="standard"/>
        <c:varyColors val="0"/>
        <c:ser>
          <c:idx val="2"/>
          <c:order val="2"/>
          <c:tx>
            <c:strRef>
              <c:f>Quarterly!$B$6</c:f>
              <c:strCache>
                <c:ptCount val="1"/>
                <c:pt idx="0">
                  <c:v>PAT Margin</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Quarterly!$C$2:$J$3</c:f>
              <c:multiLvlStrCache>
                <c:ptCount val="8"/>
                <c:lvl>
                  <c:pt idx="0">
                    <c:v>4Q23</c:v>
                  </c:pt>
                  <c:pt idx="1">
                    <c:v>1Q24</c:v>
                  </c:pt>
                  <c:pt idx="2">
                    <c:v>2Q24</c:v>
                  </c:pt>
                  <c:pt idx="3">
                    <c:v>3Q24</c:v>
                  </c:pt>
                  <c:pt idx="4">
                    <c:v>4Q24</c:v>
                  </c:pt>
                  <c:pt idx="5">
                    <c:v>1Q25</c:v>
                  </c:pt>
                  <c:pt idx="6">
                    <c:v>2Q25</c:v>
                  </c:pt>
                  <c:pt idx="7">
                    <c:v>3Q25</c:v>
                  </c:pt>
                </c:lvl>
                <c:lvl>
                  <c:pt idx="0">
                    <c:v>2023</c:v>
                  </c:pt>
                  <c:pt idx="1">
                    <c:v>2024</c:v>
                  </c:pt>
                  <c:pt idx="5">
                    <c:v>2025</c:v>
                  </c:pt>
                </c:lvl>
              </c:multiLvlStrCache>
            </c:multiLvlStrRef>
          </c:cat>
          <c:val>
            <c:numRef>
              <c:f>Quarterly!$C$6:$J$6</c:f>
              <c:numCache>
                <c:formatCode>0.00%</c:formatCode>
                <c:ptCount val="8"/>
                <c:pt idx="0">
                  <c:v>4.1739886249834664E-2</c:v>
                </c:pt>
                <c:pt idx="1">
                  <c:v>4.3403334654112967E-2</c:v>
                </c:pt>
                <c:pt idx="2">
                  <c:v>5.4455317050380245E-2</c:v>
                </c:pt>
                <c:pt idx="3">
                  <c:v>4.9260185906251558E-2</c:v>
                </c:pt>
                <c:pt idx="4">
                  <c:v>4.4920275665640975E-2</c:v>
                </c:pt>
                <c:pt idx="5">
                  <c:v>5.1604349524142321E-2</c:v>
                </c:pt>
                <c:pt idx="6">
                  <c:v>5.2038557427785424E-2</c:v>
                </c:pt>
                <c:pt idx="7">
                  <c:v>5.3255286487520113E-2</c:v>
                </c:pt>
              </c:numCache>
            </c:numRef>
          </c:val>
          <c:smooth val="0"/>
          <c:extLst>
            <c:ext xmlns:c16="http://schemas.microsoft.com/office/drawing/2014/chart" uri="{C3380CC4-5D6E-409C-BE32-E72D297353CC}">
              <c16:uniqueId val="{00000002-2564-4DC9-BFA9-00FBCCC2C78F}"/>
            </c:ext>
          </c:extLst>
        </c:ser>
        <c:dLbls>
          <c:showLegendKey val="0"/>
          <c:showVal val="1"/>
          <c:showCatName val="0"/>
          <c:showSerName val="0"/>
          <c:showPercent val="0"/>
          <c:showBubbleSize val="0"/>
        </c:dLbls>
        <c:marker val="1"/>
        <c:smooth val="0"/>
        <c:axId val="1266659440"/>
        <c:axId val="1266663280"/>
      </c:lineChart>
      <c:catAx>
        <c:axId val="1266656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266661360"/>
        <c:crosses val="autoZero"/>
        <c:auto val="1"/>
        <c:lblAlgn val="ctr"/>
        <c:lblOffset val="100"/>
        <c:noMultiLvlLbl val="0"/>
      </c:catAx>
      <c:valAx>
        <c:axId val="126666136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266656560"/>
        <c:crosses val="autoZero"/>
        <c:crossBetween val="between"/>
      </c:valAx>
      <c:valAx>
        <c:axId val="1266663280"/>
        <c:scaling>
          <c:orientation val="minMax"/>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266659440"/>
        <c:crosses val="max"/>
        <c:crossBetween val="between"/>
      </c:valAx>
      <c:catAx>
        <c:axId val="1266659440"/>
        <c:scaling>
          <c:orientation val="minMax"/>
        </c:scaling>
        <c:delete val="1"/>
        <c:axPos val="b"/>
        <c:numFmt formatCode="General" sourceLinked="1"/>
        <c:majorTickMark val="none"/>
        <c:minorTickMark val="none"/>
        <c:tickLblPos val="nextTo"/>
        <c:crossAx val="12666632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Annually!$A$20</c:f>
              <c:strCache>
                <c:ptCount val="1"/>
                <c:pt idx="0">
                  <c:v>Total Equity</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Annually!$B$19:$G$19</c:f>
              <c:strCache>
                <c:ptCount val="6"/>
                <c:pt idx="0">
                  <c:v>FY2020</c:v>
                </c:pt>
                <c:pt idx="1">
                  <c:v>FY2021</c:v>
                </c:pt>
                <c:pt idx="2">
                  <c:v>FY2022</c:v>
                </c:pt>
                <c:pt idx="3">
                  <c:v>FY2023</c:v>
                </c:pt>
                <c:pt idx="4">
                  <c:v>FY2024</c:v>
                </c:pt>
                <c:pt idx="5">
                  <c:v>2025 9M</c:v>
                </c:pt>
              </c:strCache>
            </c:strRef>
          </c:cat>
          <c:val>
            <c:numRef>
              <c:f>Annually!$B$20:$G$20</c:f>
              <c:numCache>
                <c:formatCode>#,##0</c:formatCode>
                <c:ptCount val="6"/>
                <c:pt idx="0">
                  <c:v>139.56847300000001</c:v>
                </c:pt>
                <c:pt idx="1">
                  <c:v>146.931937</c:v>
                </c:pt>
                <c:pt idx="2">
                  <c:v>152.32190400000002</c:v>
                </c:pt>
                <c:pt idx="3">
                  <c:v>169.54748999999998</c:v>
                </c:pt>
                <c:pt idx="4">
                  <c:v>193.567105</c:v>
                </c:pt>
                <c:pt idx="5">
                  <c:v>246.566</c:v>
                </c:pt>
              </c:numCache>
            </c:numRef>
          </c:val>
          <c:extLst>
            <c:ext xmlns:c16="http://schemas.microsoft.com/office/drawing/2014/chart" uri="{C3380CC4-5D6E-409C-BE32-E72D297353CC}">
              <c16:uniqueId val="{00000000-2389-4FA1-B827-A27E268F9657}"/>
            </c:ext>
          </c:extLst>
        </c:ser>
        <c:ser>
          <c:idx val="1"/>
          <c:order val="1"/>
          <c:tx>
            <c:strRef>
              <c:f>Annually!$A$21</c:f>
              <c:strCache>
                <c:ptCount val="1"/>
                <c:pt idx="0">
                  <c:v>Market Cap</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Annually!$B$19:$G$19</c:f>
              <c:strCache>
                <c:ptCount val="6"/>
                <c:pt idx="0">
                  <c:v>FY2020</c:v>
                </c:pt>
                <c:pt idx="1">
                  <c:v>FY2021</c:v>
                </c:pt>
                <c:pt idx="2">
                  <c:v>FY2022</c:v>
                </c:pt>
                <c:pt idx="3">
                  <c:v>FY2023</c:v>
                </c:pt>
                <c:pt idx="4">
                  <c:v>FY2024</c:v>
                </c:pt>
                <c:pt idx="5">
                  <c:v>2025 9M</c:v>
                </c:pt>
              </c:strCache>
            </c:strRef>
          </c:cat>
          <c:val>
            <c:numRef>
              <c:f>Annually!$B$21:$G$21</c:f>
              <c:numCache>
                <c:formatCode>#,##0</c:formatCode>
                <c:ptCount val="6"/>
                <c:pt idx="0">
                  <c:v>109.728095</c:v>
                </c:pt>
                <c:pt idx="1">
                  <c:v>171.28287900000001</c:v>
                </c:pt>
                <c:pt idx="2">
                  <c:v>139.16734</c:v>
                </c:pt>
                <c:pt idx="3">
                  <c:v>123.20617</c:v>
                </c:pt>
                <c:pt idx="4">
                  <c:v>211.27587</c:v>
                </c:pt>
                <c:pt idx="5">
                  <c:v>268.32818900000001</c:v>
                </c:pt>
              </c:numCache>
            </c:numRef>
          </c:val>
          <c:extLst>
            <c:ext xmlns:c16="http://schemas.microsoft.com/office/drawing/2014/chart" uri="{C3380CC4-5D6E-409C-BE32-E72D297353CC}">
              <c16:uniqueId val="{00000001-2389-4FA1-B827-A27E268F9657}"/>
            </c:ext>
          </c:extLst>
        </c:ser>
        <c:dLbls>
          <c:showLegendKey val="0"/>
          <c:showVal val="0"/>
          <c:showCatName val="0"/>
          <c:showSerName val="0"/>
          <c:showPercent val="0"/>
          <c:showBubbleSize val="0"/>
        </c:dLbls>
        <c:gapWidth val="50"/>
        <c:axId val="1440936032"/>
        <c:axId val="1440936512"/>
      </c:barChart>
      <c:catAx>
        <c:axId val="144093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440936512"/>
        <c:crosses val="autoZero"/>
        <c:auto val="1"/>
        <c:lblAlgn val="ctr"/>
        <c:lblOffset val="100"/>
        <c:noMultiLvlLbl val="0"/>
      </c:catAx>
      <c:valAx>
        <c:axId val="144093651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440936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Annually!$A$3</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Annually!$B$2:$G$2</c:f>
              <c:strCache>
                <c:ptCount val="6"/>
                <c:pt idx="0">
                  <c:v>FY2020</c:v>
                </c:pt>
                <c:pt idx="1">
                  <c:v>FY2021</c:v>
                </c:pt>
                <c:pt idx="2">
                  <c:v>FY2022</c:v>
                </c:pt>
                <c:pt idx="3">
                  <c:v>FY2023</c:v>
                </c:pt>
                <c:pt idx="4">
                  <c:v>FY2024</c:v>
                </c:pt>
                <c:pt idx="5">
                  <c:v>2025 9M</c:v>
                </c:pt>
              </c:strCache>
            </c:strRef>
          </c:cat>
          <c:val>
            <c:numRef>
              <c:f>Annually!$B$3:$G$3</c:f>
              <c:numCache>
                <c:formatCode>0</c:formatCode>
                <c:ptCount val="6"/>
                <c:pt idx="0">
                  <c:v>280.29667999999998</c:v>
                </c:pt>
                <c:pt idx="1">
                  <c:v>335.97908000000001</c:v>
                </c:pt>
                <c:pt idx="2">
                  <c:v>466.27344599999998</c:v>
                </c:pt>
                <c:pt idx="3">
                  <c:v>650.10736899999995</c:v>
                </c:pt>
                <c:pt idx="4">
                  <c:v>690.75977399999999</c:v>
                </c:pt>
                <c:pt idx="5">
                  <c:v>568.971</c:v>
                </c:pt>
              </c:numCache>
            </c:numRef>
          </c:val>
          <c:extLst>
            <c:ext xmlns:c16="http://schemas.microsoft.com/office/drawing/2014/chart" uri="{C3380CC4-5D6E-409C-BE32-E72D297353CC}">
              <c16:uniqueId val="{00000000-B985-4C5B-805F-32FC9626914F}"/>
            </c:ext>
          </c:extLst>
        </c:ser>
        <c:dLbls>
          <c:showLegendKey val="0"/>
          <c:showVal val="0"/>
          <c:showCatName val="0"/>
          <c:showSerName val="0"/>
          <c:showPercent val="0"/>
          <c:showBubbleSize val="0"/>
        </c:dLbls>
        <c:gapWidth val="50"/>
        <c:axId val="1624815808"/>
        <c:axId val="1624812928"/>
      </c:barChart>
      <c:barChart>
        <c:barDir val="col"/>
        <c:grouping val="clustered"/>
        <c:varyColors val="0"/>
        <c:ser>
          <c:idx val="1"/>
          <c:order val="1"/>
          <c:tx>
            <c:strRef>
              <c:f>Annually!$A$4</c:f>
              <c:strCache>
                <c:ptCount val="1"/>
                <c:pt idx="0">
                  <c:v>PAT</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Annually!$B$2:$G$2</c:f>
              <c:strCache>
                <c:ptCount val="6"/>
                <c:pt idx="0">
                  <c:v>FY2020</c:v>
                </c:pt>
                <c:pt idx="1">
                  <c:v>FY2021</c:v>
                </c:pt>
                <c:pt idx="2">
                  <c:v>FY2022</c:v>
                </c:pt>
                <c:pt idx="3">
                  <c:v>FY2023</c:v>
                </c:pt>
                <c:pt idx="4">
                  <c:v>FY2024</c:v>
                </c:pt>
                <c:pt idx="5">
                  <c:v>2025 9M</c:v>
                </c:pt>
              </c:strCache>
            </c:strRef>
          </c:cat>
          <c:val>
            <c:numRef>
              <c:f>Annually!$B$4:$G$4</c:f>
              <c:numCache>
                <c:formatCode>0</c:formatCode>
                <c:ptCount val="6"/>
                <c:pt idx="0">
                  <c:v>8.1012699999999995</c:v>
                </c:pt>
                <c:pt idx="1">
                  <c:v>11.781003999999999</c:v>
                </c:pt>
                <c:pt idx="2">
                  <c:v>9.5469869999999997</c:v>
                </c:pt>
                <c:pt idx="3">
                  <c:v>22.866274000000001</c:v>
                </c:pt>
                <c:pt idx="4">
                  <c:v>33.274203</c:v>
                </c:pt>
                <c:pt idx="5">
                  <c:v>29.753</c:v>
                </c:pt>
              </c:numCache>
            </c:numRef>
          </c:val>
          <c:extLst>
            <c:ext xmlns:c16="http://schemas.microsoft.com/office/drawing/2014/chart" uri="{C3380CC4-5D6E-409C-BE32-E72D297353CC}">
              <c16:uniqueId val="{00000001-B985-4C5B-805F-32FC9626914F}"/>
            </c:ext>
          </c:extLst>
        </c:ser>
        <c:dLbls>
          <c:showLegendKey val="0"/>
          <c:showVal val="0"/>
          <c:showCatName val="0"/>
          <c:showSerName val="0"/>
          <c:showPercent val="0"/>
          <c:showBubbleSize val="0"/>
        </c:dLbls>
        <c:gapWidth val="326"/>
        <c:axId val="1416139823"/>
        <c:axId val="1416155663"/>
      </c:barChart>
      <c:catAx>
        <c:axId val="1624815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624812928"/>
        <c:crosses val="autoZero"/>
        <c:auto val="1"/>
        <c:lblAlgn val="ctr"/>
        <c:lblOffset val="100"/>
        <c:noMultiLvlLbl val="0"/>
      </c:catAx>
      <c:valAx>
        <c:axId val="162481292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624815808"/>
        <c:crosses val="autoZero"/>
        <c:crossBetween val="between"/>
      </c:valAx>
      <c:valAx>
        <c:axId val="1416155663"/>
        <c:scaling>
          <c:orientation val="minMax"/>
          <c:max val="800"/>
        </c:scaling>
        <c:delete val="1"/>
        <c:axPos val="r"/>
        <c:numFmt formatCode="0" sourceLinked="1"/>
        <c:majorTickMark val="out"/>
        <c:minorTickMark val="none"/>
        <c:tickLblPos val="nextTo"/>
        <c:crossAx val="1416139823"/>
        <c:crosses val="max"/>
        <c:crossBetween val="between"/>
      </c:valAx>
      <c:catAx>
        <c:axId val="1416139823"/>
        <c:scaling>
          <c:orientation val="minMax"/>
        </c:scaling>
        <c:delete val="1"/>
        <c:axPos val="b"/>
        <c:numFmt formatCode="General" sourceLinked="1"/>
        <c:majorTickMark val="out"/>
        <c:minorTickMark val="none"/>
        <c:tickLblPos val="nextTo"/>
        <c:crossAx val="141615566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60" b="0" i="0" u="none" strike="noStrike" kern="1200" spc="0" baseline="0">
                <a:solidFill>
                  <a:schemeClr val="tx1"/>
                </a:solidFill>
                <a:latin typeface="Aptos" panose="020B0004020202020204" pitchFamily="34" charset="0"/>
                <a:ea typeface="+mn-ea"/>
                <a:cs typeface="+mn-cs"/>
              </a:defRPr>
            </a:pPr>
            <a:r>
              <a:rPr lang="en-MY" sz="1100" b="1"/>
              <a:t>Revenue by Construction Segment (</a:t>
            </a:r>
            <a:r>
              <a:rPr lang="en-MY" sz="1100" b="1" err="1"/>
              <a:t>RM’Mil</a:t>
            </a:r>
            <a:r>
              <a:rPr lang="en-MY" sz="1100" b="1"/>
              <a:t>) </a:t>
            </a:r>
          </a:p>
        </c:rich>
      </c:tx>
      <c:layout>
        <c:manualLayout>
          <c:xMode val="edge"/>
          <c:yMode val="edge"/>
          <c:x val="0.28356141751901737"/>
          <c:y val="9.6391558125338648E-3"/>
        </c:manualLayout>
      </c:layout>
      <c:overlay val="0"/>
      <c:spPr>
        <a:noFill/>
        <a:ln>
          <a:noFill/>
        </a:ln>
        <a:effectLst/>
      </c:spPr>
      <c:txPr>
        <a:bodyPr rot="0" spcFirstLastPara="1" vertOverflow="ellipsis" vert="horz" wrap="square" anchor="ctr" anchorCtr="1"/>
        <a:lstStyle/>
        <a:p>
          <a:pPr>
            <a:defRPr sz="1260" b="0" i="0" u="none" strike="noStrike" kern="1200" spc="0" baseline="0">
              <a:solidFill>
                <a:schemeClr val="tx1"/>
              </a:solidFill>
              <a:latin typeface="Aptos" panose="020B0004020202020204" pitchFamily="34" charset="0"/>
              <a:ea typeface="+mn-ea"/>
              <a:cs typeface="+mn-cs"/>
            </a:defRPr>
          </a:pPr>
          <a:endParaRPr lang="en-US"/>
        </a:p>
      </c:txPr>
    </c:title>
    <c:autoTitleDeleted val="0"/>
    <c:plotArea>
      <c:layout/>
      <c:barChart>
        <c:barDir val="col"/>
        <c:grouping val="stacked"/>
        <c:varyColors val="0"/>
        <c:ser>
          <c:idx val="0"/>
          <c:order val="0"/>
          <c:tx>
            <c:strRef>
              <c:f>Segments!$H$5</c:f>
              <c:strCache>
                <c:ptCount val="1"/>
                <c:pt idx="0">
                  <c:v>High-Rise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bg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Segments!$I$4:$M$4</c:f>
              <c:strCache>
                <c:ptCount val="5"/>
                <c:pt idx="0">
                  <c:v>FY2020</c:v>
                </c:pt>
                <c:pt idx="1">
                  <c:v>FY2021</c:v>
                </c:pt>
                <c:pt idx="2">
                  <c:v>FY2022</c:v>
                </c:pt>
                <c:pt idx="3">
                  <c:v>FY2023</c:v>
                </c:pt>
                <c:pt idx="4">
                  <c:v>FY2024</c:v>
                </c:pt>
              </c:strCache>
            </c:strRef>
          </c:cat>
          <c:val>
            <c:numRef>
              <c:f>Segments!$I$5:$M$5</c:f>
              <c:numCache>
                <c:formatCode>0%</c:formatCode>
                <c:ptCount val="5"/>
                <c:pt idx="0">
                  <c:v>0.60720656439529086</c:v>
                </c:pt>
                <c:pt idx="1">
                  <c:v>0.66011904761904761</c:v>
                </c:pt>
                <c:pt idx="2">
                  <c:v>0.69333047394381297</c:v>
                </c:pt>
                <c:pt idx="3">
                  <c:v>0.78126442085832948</c:v>
                </c:pt>
                <c:pt idx="4">
                  <c:v>0.73885350318471343</c:v>
                </c:pt>
              </c:numCache>
            </c:numRef>
          </c:val>
          <c:extLst>
            <c:ext xmlns:c16="http://schemas.microsoft.com/office/drawing/2014/chart" uri="{C3380CC4-5D6E-409C-BE32-E72D297353CC}">
              <c16:uniqueId val="{00000000-28B0-418A-B439-B70BE5A6E120}"/>
            </c:ext>
          </c:extLst>
        </c:ser>
        <c:ser>
          <c:idx val="1"/>
          <c:order val="1"/>
          <c:tx>
            <c:strRef>
              <c:f>Segments!$H$6</c:f>
              <c:strCache>
                <c:ptCount val="1"/>
                <c:pt idx="0">
                  <c:v>Low-Rise</c:v>
                </c:pt>
              </c:strCache>
            </c:strRef>
          </c:tx>
          <c:spPr>
            <a:solidFill>
              <a:srgbClr val="FF9933"/>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Segments!$I$4:$M$4</c:f>
              <c:strCache>
                <c:ptCount val="5"/>
                <c:pt idx="0">
                  <c:v>FY2020</c:v>
                </c:pt>
                <c:pt idx="1">
                  <c:v>FY2021</c:v>
                </c:pt>
                <c:pt idx="2">
                  <c:v>FY2022</c:v>
                </c:pt>
                <c:pt idx="3">
                  <c:v>FY2023</c:v>
                </c:pt>
                <c:pt idx="4">
                  <c:v>FY2024</c:v>
                </c:pt>
              </c:strCache>
            </c:strRef>
          </c:cat>
          <c:val>
            <c:numRef>
              <c:f>Segments!$I$6:$M$6</c:f>
              <c:numCache>
                <c:formatCode>0%</c:formatCode>
                <c:ptCount val="5"/>
                <c:pt idx="0">
                  <c:v>0.39279343560470931</c:v>
                </c:pt>
                <c:pt idx="1">
                  <c:v>0.33988095238095239</c:v>
                </c:pt>
                <c:pt idx="2">
                  <c:v>0.30452498391593397</c:v>
                </c:pt>
                <c:pt idx="3">
                  <c:v>0.2045839101676665</c:v>
                </c:pt>
                <c:pt idx="4">
                  <c:v>0.18731905037637525</c:v>
                </c:pt>
              </c:numCache>
            </c:numRef>
          </c:val>
          <c:extLst>
            <c:ext xmlns:c16="http://schemas.microsoft.com/office/drawing/2014/chart" uri="{C3380CC4-5D6E-409C-BE32-E72D297353CC}">
              <c16:uniqueId val="{00000001-28B0-418A-B439-B70BE5A6E120}"/>
            </c:ext>
          </c:extLst>
        </c:ser>
        <c:ser>
          <c:idx val="2"/>
          <c:order val="2"/>
          <c:tx>
            <c:strRef>
              <c:f>Segments!$H$7</c:f>
              <c:strCache>
                <c:ptCount val="1"/>
                <c:pt idx="0">
                  <c:v>Others</c:v>
                </c:pt>
              </c:strCache>
            </c:strRef>
          </c:tx>
          <c:spPr>
            <a:solidFill>
              <a:schemeClr val="accent3"/>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2-28B0-418A-B439-B70BE5A6E120}"/>
                </c:ext>
              </c:extLst>
            </c:dLbl>
            <c:dLbl>
              <c:idx val="2"/>
              <c:layout>
                <c:manualLayout>
                  <c:x val="0"/>
                  <c:y val="-3.234202068870677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28B0-418A-B439-B70BE5A6E120}"/>
                </c:ext>
              </c:extLst>
            </c:dLbl>
            <c:dLbl>
              <c:idx val="3"/>
              <c:layout>
                <c:manualLayout>
                  <c:x val="0"/>
                  <c:y val="-3.773235747015793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8B0-418A-B439-B70BE5A6E120}"/>
                </c:ext>
              </c:extLst>
            </c:dLbl>
            <c:dLbl>
              <c:idx val="4"/>
              <c:layout>
                <c:manualLayout>
                  <c:x val="0"/>
                  <c:y val="-5.929370459596244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8B0-418A-B439-B70BE5A6E120}"/>
                </c:ext>
              </c:extLst>
            </c:dLbl>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Aptos" panose="020B0004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Segments!$I$4:$M$4</c:f>
              <c:strCache>
                <c:ptCount val="5"/>
                <c:pt idx="0">
                  <c:v>FY2020</c:v>
                </c:pt>
                <c:pt idx="1">
                  <c:v>FY2021</c:v>
                </c:pt>
                <c:pt idx="2">
                  <c:v>FY2022</c:v>
                </c:pt>
                <c:pt idx="3">
                  <c:v>FY2023</c:v>
                </c:pt>
                <c:pt idx="4">
                  <c:v>FY2024</c:v>
                </c:pt>
              </c:strCache>
            </c:strRef>
          </c:cat>
          <c:val>
            <c:numRef>
              <c:f>Segments!$I$7:$M$7</c:f>
              <c:numCache>
                <c:formatCode>0%</c:formatCode>
                <c:ptCount val="5"/>
                <c:pt idx="0">
                  <c:v>0</c:v>
                </c:pt>
                <c:pt idx="1">
                  <c:v>0</c:v>
                </c:pt>
                <c:pt idx="2" formatCode="0.0%">
                  <c:v>2.1445421402530558E-3</c:v>
                </c:pt>
                <c:pt idx="3" formatCode="0.0%">
                  <c:v>1.4151668974003998E-2</c:v>
                </c:pt>
                <c:pt idx="4" formatCode="0.0%">
                  <c:v>7.3827446438911412E-2</c:v>
                </c:pt>
              </c:numCache>
            </c:numRef>
          </c:val>
          <c:extLst>
            <c:ext xmlns:c16="http://schemas.microsoft.com/office/drawing/2014/chart" uri="{C3380CC4-5D6E-409C-BE32-E72D297353CC}">
              <c16:uniqueId val="{00000003-28B0-418A-B439-B70BE5A6E120}"/>
            </c:ext>
          </c:extLst>
        </c:ser>
        <c:dLbls>
          <c:dLblPos val="ctr"/>
          <c:showLegendKey val="0"/>
          <c:showVal val="1"/>
          <c:showCatName val="0"/>
          <c:showSerName val="0"/>
          <c:showPercent val="0"/>
          <c:showBubbleSize val="0"/>
        </c:dLbls>
        <c:gapWidth val="60"/>
        <c:overlap val="100"/>
        <c:axId val="1117523744"/>
        <c:axId val="1117518464"/>
      </c:barChart>
      <c:catAx>
        <c:axId val="1117523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Aptos" panose="020B0004020202020204" pitchFamily="34" charset="0"/>
                <a:ea typeface="+mn-ea"/>
                <a:cs typeface="+mn-cs"/>
              </a:defRPr>
            </a:pPr>
            <a:endParaRPr lang="en-US"/>
          </a:p>
        </c:txPr>
        <c:crossAx val="1117518464"/>
        <c:crosses val="autoZero"/>
        <c:auto val="1"/>
        <c:lblAlgn val="ctr"/>
        <c:lblOffset val="100"/>
        <c:noMultiLvlLbl val="0"/>
      </c:catAx>
      <c:valAx>
        <c:axId val="1117518464"/>
        <c:scaling>
          <c:orientation val="minMax"/>
          <c:max val="1"/>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solidFill>
                <a:latin typeface="Aptos" panose="020B0004020202020204" pitchFamily="34" charset="0"/>
                <a:ea typeface="+mn-ea"/>
                <a:cs typeface="+mn-cs"/>
              </a:defRPr>
            </a:pPr>
            <a:endParaRPr lang="en-US"/>
          </a:p>
        </c:txPr>
        <c:crossAx val="11175237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sz="1050">
          <a:solidFill>
            <a:schemeClr val="tx1"/>
          </a:solidFill>
          <a:latin typeface="Aptos" panose="020B0004020202020204" pitchFamily="34" charset="0"/>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Total Assets (RM'Mil)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Annually!$B$33</c:f>
              <c:strCache>
                <c:ptCount val="1"/>
                <c:pt idx="0">
                  <c:v>Total Assets</c:v>
                </c:pt>
              </c:strCache>
            </c:strRef>
          </c:tx>
          <c:spPr>
            <a:solidFill>
              <a:schemeClr val="accent1"/>
            </a:solidFill>
            <a:ln>
              <a:noFill/>
            </a:ln>
            <a:effectLst/>
          </c:spPr>
          <c:invertIfNegative val="0"/>
          <c:dPt>
            <c:idx val="8"/>
            <c:invertIfNegative val="0"/>
            <c:bubble3D val="0"/>
            <c:spPr>
              <a:solidFill>
                <a:srgbClr val="FF9933"/>
              </a:solidFill>
              <a:ln>
                <a:noFill/>
              </a:ln>
              <a:effectLst/>
            </c:spPr>
            <c:extLst>
              <c:ext xmlns:c16="http://schemas.microsoft.com/office/drawing/2014/chart" uri="{C3380CC4-5D6E-409C-BE32-E72D297353CC}">
                <c16:uniqueId val="{00000001-A27C-4AAD-BA03-BF2EF25D9BBB}"/>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Annually!$A$34:$A$42</c:f>
              <c:strCache>
                <c:ptCount val="9"/>
                <c:pt idx="0">
                  <c:v>FYE 2017</c:v>
                </c:pt>
                <c:pt idx="1">
                  <c:v>FYE 2018</c:v>
                </c:pt>
                <c:pt idx="2">
                  <c:v>FYE 2019</c:v>
                </c:pt>
                <c:pt idx="3">
                  <c:v>FYE 2020</c:v>
                </c:pt>
                <c:pt idx="4">
                  <c:v>FYE 2021</c:v>
                </c:pt>
                <c:pt idx="5">
                  <c:v>FYE 2022</c:v>
                </c:pt>
                <c:pt idx="6">
                  <c:v>FYE 2023</c:v>
                </c:pt>
                <c:pt idx="7">
                  <c:v>FYE 2024</c:v>
                </c:pt>
                <c:pt idx="8">
                  <c:v>Q3 FYE 2025</c:v>
                </c:pt>
              </c:strCache>
            </c:strRef>
          </c:cat>
          <c:val>
            <c:numRef>
              <c:f>Annually!$B$34:$B$42</c:f>
              <c:numCache>
                <c:formatCode>#,##0</c:formatCode>
                <c:ptCount val="9"/>
                <c:pt idx="0">
                  <c:v>251.4</c:v>
                </c:pt>
                <c:pt idx="1">
                  <c:v>362.3</c:v>
                </c:pt>
                <c:pt idx="2">
                  <c:v>363.5</c:v>
                </c:pt>
                <c:pt idx="3">
                  <c:v>338.2</c:v>
                </c:pt>
                <c:pt idx="4">
                  <c:v>385.4</c:v>
                </c:pt>
                <c:pt idx="5">
                  <c:v>425.7</c:v>
                </c:pt>
                <c:pt idx="6">
                  <c:v>509.3</c:v>
                </c:pt>
                <c:pt idx="7">
                  <c:v>621.6</c:v>
                </c:pt>
                <c:pt idx="8">
                  <c:v>677.51300000000003</c:v>
                </c:pt>
              </c:numCache>
            </c:numRef>
          </c:val>
          <c:extLst>
            <c:ext xmlns:c16="http://schemas.microsoft.com/office/drawing/2014/chart" uri="{C3380CC4-5D6E-409C-BE32-E72D297353CC}">
              <c16:uniqueId val="{00000000-A27C-4AAD-BA03-BF2EF25D9BBB}"/>
            </c:ext>
          </c:extLst>
        </c:ser>
        <c:dLbls>
          <c:dLblPos val="outEnd"/>
          <c:showLegendKey val="0"/>
          <c:showVal val="1"/>
          <c:showCatName val="0"/>
          <c:showSerName val="0"/>
          <c:showPercent val="0"/>
          <c:showBubbleSize val="0"/>
        </c:dLbls>
        <c:gapWidth val="50"/>
        <c:overlap val="-27"/>
        <c:axId val="1271444832"/>
        <c:axId val="1271443392"/>
      </c:barChart>
      <c:catAx>
        <c:axId val="1271444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3392"/>
        <c:crosses val="autoZero"/>
        <c:auto val="1"/>
        <c:lblAlgn val="ctr"/>
        <c:lblOffset val="100"/>
        <c:noMultiLvlLbl val="0"/>
      </c:catAx>
      <c:valAx>
        <c:axId val="127144339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4832"/>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Group Shareholder's Fund (</a:t>
            </a:r>
            <a:r>
              <a:rPr lang="en-MY" err="1"/>
              <a:t>RM'Mil</a:t>
            </a:r>
            <a:r>
              <a:rPr lang="en-MY"/>
              <a: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Annually!$C$33</c:f>
              <c:strCache>
                <c:ptCount val="1"/>
                <c:pt idx="0">
                  <c:v>Shareholder's Fund</c:v>
                </c:pt>
              </c:strCache>
            </c:strRef>
          </c:tx>
          <c:spPr>
            <a:solidFill>
              <a:schemeClr val="accent1"/>
            </a:solidFill>
            <a:ln>
              <a:noFill/>
            </a:ln>
            <a:effectLst/>
          </c:spPr>
          <c:invertIfNegative val="0"/>
          <c:dPt>
            <c:idx val="8"/>
            <c:invertIfNegative val="0"/>
            <c:bubble3D val="0"/>
            <c:spPr>
              <a:solidFill>
                <a:srgbClr val="FF9933"/>
              </a:solidFill>
              <a:ln>
                <a:noFill/>
              </a:ln>
              <a:effectLst/>
            </c:spPr>
            <c:extLst>
              <c:ext xmlns:c16="http://schemas.microsoft.com/office/drawing/2014/chart" uri="{C3380CC4-5D6E-409C-BE32-E72D297353CC}">
                <c16:uniqueId val="{00000001-5F96-4248-AC8B-90DBFFD660AA}"/>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Annually!$A$34:$A$42</c:f>
              <c:strCache>
                <c:ptCount val="9"/>
                <c:pt idx="0">
                  <c:v>FYE 2017</c:v>
                </c:pt>
                <c:pt idx="1">
                  <c:v>FYE 2018</c:v>
                </c:pt>
                <c:pt idx="2">
                  <c:v>FYE 2019</c:v>
                </c:pt>
                <c:pt idx="3">
                  <c:v>FYE 2020</c:v>
                </c:pt>
                <c:pt idx="4">
                  <c:v>FYE 2021</c:v>
                </c:pt>
                <c:pt idx="5">
                  <c:v>FYE 2022</c:v>
                </c:pt>
                <c:pt idx="6">
                  <c:v>FYE 2023</c:v>
                </c:pt>
                <c:pt idx="7">
                  <c:v>FYE 2024</c:v>
                </c:pt>
                <c:pt idx="8">
                  <c:v>Q3 FYE 2025</c:v>
                </c:pt>
              </c:strCache>
            </c:strRef>
          </c:cat>
          <c:val>
            <c:numRef>
              <c:f>Annually!$C$34:$C$42</c:f>
              <c:numCache>
                <c:formatCode>#,##0</c:formatCode>
                <c:ptCount val="9"/>
                <c:pt idx="0">
                  <c:v>99.9</c:v>
                </c:pt>
                <c:pt idx="1">
                  <c:v>121.1</c:v>
                </c:pt>
                <c:pt idx="2">
                  <c:v>136.80000000000001</c:v>
                </c:pt>
                <c:pt idx="3">
                  <c:v>139.6</c:v>
                </c:pt>
                <c:pt idx="4">
                  <c:v>146.80000000000001</c:v>
                </c:pt>
                <c:pt idx="5">
                  <c:v>152.1</c:v>
                </c:pt>
                <c:pt idx="6">
                  <c:v>169.2</c:v>
                </c:pt>
                <c:pt idx="7">
                  <c:v>193.3</c:v>
                </c:pt>
                <c:pt idx="8">
                  <c:v>246.566</c:v>
                </c:pt>
              </c:numCache>
            </c:numRef>
          </c:val>
          <c:extLst>
            <c:ext xmlns:c16="http://schemas.microsoft.com/office/drawing/2014/chart" uri="{C3380CC4-5D6E-409C-BE32-E72D297353CC}">
              <c16:uniqueId val="{00000000-5F96-4248-AC8B-90DBFFD660AA}"/>
            </c:ext>
          </c:extLst>
        </c:ser>
        <c:dLbls>
          <c:dLblPos val="outEnd"/>
          <c:showLegendKey val="0"/>
          <c:showVal val="1"/>
          <c:showCatName val="0"/>
          <c:showSerName val="0"/>
          <c:showPercent val="0"/>
          <c:showBubbleSize val="0"/>
        </c:dLbls>
        <c:gapWidth val="50"/>
        <c:overlap val="-27"/>
        <c:axId val="1271444832"/>
        <c:axId val="1271443392"/>
      </c:barChart>
      <c:catAx>
        <c:axId val="1271444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3392"/>
        <c:crosses val="autoZero"/>
        <c:auto val="1"/>
        <c:lblAlgn val="ctr"/>
        <c:lblOffset val="100"/>
        <c:noMultiLvlLbl val="0"/>
      </c:catAx>
      <c:valAx>
        <c:axId val="127144339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4832"/>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Tota Borrowings (RM'Mil)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Annually!$D$33</c:f>
              <c:strCache>
                <c:ptCount val="1"/>
                <c:pt idx="0">
                  <c:v>Total Borrowings</c:v>
                </c:pt>
              </c:strCache>
            </c:strRef>
          </c:tx>
          <c:spPr>
            <a:solidFill>
              <a:schemeClr val="accent1"/>
            </a:solidFill>
            <a:ln>
              <a:noFill/>
            </a:ln>
            <a:effectLst/>
          </c:spPr>
          <c:invertIfNegative val="0"/>
          <c:dPt>
            <c:idx val="8"/>
            <c:invertIfNegative val="0"/>
            <c:bubble3D val="0"/>
            <c:spPr>
              <a:solidFill>
                <a:srgbClr val="FF9933"/>
              </a:solidFill>
              <a:ln>
                <a:noFill/>
              </a:ln>
              <a:effectLst/>
            </c:spPr>
            <c:extLst>
              <c:ext xmlns:c16="http://schemas.microsoft.com/office/drawing/2014/chart" uri="{C3380CC4-5D6E-409C-BE32-E72D297353CC}">
                <c16:uniqueId val="{00000001-DE2B-408C-8A21-ACFB16A39127}"/>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Annually!$A$34:$A$42</c:f>
              <c:strCache>
                <c:ptCount val="9"/>
                <c:pt idx="0">
                  <c:v>FYE 2017</c:v>
                </c:pt>
                <c:pt idx="1">
                  <c:v>FYE 2018</c:v>
                </c:pt>
                <c:pt idx="2">
                  <c:v>FYE 2019</c:v>
                </c:pt>
                <c:pt idx="3">
                  <c:v>FYE 2020</c:v>
                </c:pt>
                <c:pt idx="4">
                  <c:v>FYE 2021</c:v>
                </c:pt>
                <c:pt idx="5">
                  <c:v>FYE 2022</c:v>
                </c:pt>
                <c:pt idx="6">
                  <c:v>FYE 2023</c:v>
                </c:pt>
                <c:pt idx="7">
                  <c:v>FYE 2024</c:v>
                </c:pt>
                <c:pt idx="8">
                  <c:v>Q3 FYE 2025</c:v>
                </c:pt>
              </c:strCache>
            </c:strRef>
          </c:cat>
          <c:val>
            <c:numRef>
              <c:f>Annually!$D$34:$D$42</c:f>
              <c:numCache>
                <c:formatCode>#,##0</c:formatCode>
                <c:ptCount val="9"/>
                <c:pt idx="0">
                  <c:v>11.5</c:v>
                </c:pt>
                <c:pt idx="1">
                  <c:v>34.5</c:v>
                </c:pt>
                <c:pt idx="2">
                  <c:v>39.700000000000003</c:v>
                </c:pt>
                <c:pt idx="3">
                  <c:v>37.799999999999997</c:v>
                </c:pt>
                <c:pt idx="4">
                  <c:v>48.7</c:v>
                </c:pt>
                <c:pt idx="5">
                  <c:v>86.8</c:v>
                </c:pt>
                <c:pt idx="6">
                  <c:v>66.5</c:v>
                </c:pt>
                <c:pt idx="7">
                  <c:v>112.6</c:v>
                </c:pt>
                <c:pt idx="8">
                  <c:v>145.4</c:v>
                </c:pt>
              </c:numCache>
            </c:numRef>
          </c:val>
          <c:extLst>
            <c:ext xmlns:c16="http://schemas.microsoft.com/office/drawing/2014/chart" uri="{C3380CC4-5D6E-409C-BE32-E72D297353CC}">
              <c16:uniqueId val="{00000000-DE2B-408C-8A21-ACFB16A39127}"/>
            </c:ext>
          </c:extLst>
        </c:ser>
        <c:dLbls>
          <c:dLblPos val="outEnd"/>
          <c:showLegendKey val="0"/>
          <c:showVal val="1"/>
          <c:showCatName val="0"/>
          <c:showSerName val="0"/>
          <c:showPercent val="0"/>
          <c:showBubbleSize val="0"/>
        </c:dLbls>
        <c:gapWidth val="50"/>
        <c:overlap val="-27"/>
        <c:axId val="1271444832"/>
        <c:axId val="1271443392"/>
      </c:barChart>
      <c:catAx>
        <c:axId val="1271444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3392"/>
        <c:crosses val="autoZero"/>
        <c:auto val="1"/>
        <c:lblAlgn val="ctr"/>
        <c:lblOffset val="100"/>
        <c:noMultiLvlLbl val="0"/>
      </c:catAx>
      <c:valAx>
        <c:axId val="127144339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4832"/>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MY"/>
              <a:t>Cash &amp; Equivalents (RM'Mil)</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Annually!$E$33</c:f>
              <c:strCache>
                <c:ptCount val="1"/>
                <c:pt idx="0">
                  <c:v>Cash &amp; Equivalents</c:v>
                </c:pt>
              </c:strCache>
            </c:strRef>
          </c:tx>
          <c:spPr>
            <a:solidFill>
              <a:schemeClr val="accent1"/>
            </a:solidFill>
            <a:ln>
              <a:noFill/>
            </a:ln>
            <a:effectLst/>
          </c:spPr>
          <c:invertIfNegative val="0"/>
          <c:dPt>
            <c:idx val="8"/>
            <c:invertIfNegative val="0"/>
            <c:bubble3D val="0"/>
            <c:spPr>
              <a:solidFill>
                <a:srgbClr val="FF9933"/>
              </a:solidFill>
              <a:ln>
                <a:noFill/>
              </a:ln>
              <a:effectLst/>
            </c:spPr>
            <c:extLst>
              <c:ext xmlns:c16="http://schemas.microsoft.com/office/drawing/2014/chart" uri="{C3380CC4-5D6E-409C-BE32-E72D297353CC}">
                <c16:uniqueId val="{00000001-27EE-4CF6-8EF1-2FC4DFBD3CD0}"/>
              </c:ext>
            </c:extLst>
          </c:dPt>
          <c:dLbls>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Annually!$A$34:$A$42</c:f>
              <c:strCache>
                <c:ptCount val="9"/>
                <c:pt idx="0">
                  <c:v>FYE 2017</c:v>
                </c:pt>
                <c:pt idx="1">
                  <c:v>FYE 2018</c:v>
                </c:pt>
                <c:pt idx="2">
                  <c:v>FYE 2019</c:v>
                </c:pt>
                <c:pt idx="3">
                  <c:v>FYE 2020</c:v>
                </c:pt>
                <c:pt idx="4">
                  <c:v>FYE 2021</c:v>
                </c:pt>
                <c:pt idx="5">
                  <c:v>FYE 2022</c:v>
                </c:pt>
                <c:pt idx="6">
                  <c:v>FYE 2023</c:v>
                </c:pt>
                <c:pt idx="7">
                  <c:v>FYE 2024</c:v>
                </c:pt>
                <c:pt idx="8">
                  <c:v>Q3 FYE 2025</c:v>
                </c:pt>
              </c:strCache>
            </c:strRef>
          </c:cat>
          <c:val>
            <c:numRef>
              <c:f>Annually!$E$34:$E$42</c:f>
              <c:numCache>
                <c:formatCode>#,##0</c:formatCode>
                <c:ptCount val="9"/>
                <c:pt idx="0">
                  <c:v>30.4</c:v>
                </c:pt>
                <c:pt idx="1">
                  <c:v>45.3</c:v>
                </c:pt>
                <c:pt idx="2">
                  <c:v>60.1</c:v>
                </c:pt>
                <c:pt idx="3">
                  <c:v>49.5</c:v>
                </c:pt>
                <c:pt idx="4">
                  <c:v>64.2</c:v>
                </c:pt>
                <c:pt idx="5">
                  <c:v>74.2</c:v>
                </c:pt>
                <c:pt idx="6">
                  <c:v>101.5</c:v>
                </c:pt>
                <c:pt idx="7">
                  <c:v>115</c:v>
                </c:pt>
                <c:pt idx="8">
                  <c:v>129.72200000000001</c:v>
                </c:pt>
              </c:numCache>
            </c:numRef>
          </c:val>
          <c:extLst>
            <c:ext xmlns:c16="http://schemas.microsoft.com/office/drawing/2014/chart" uri="{C3380CC4-5D6E-409C-BE32-E72D297353CC}">
              <c16:uniqueId val="{00000000-27EE-4CF6-8EF1-2FC4DFBD3CD0}"/>
            </c:ext>
          </c:extLst>
        </c:ser>
        <c:dLbls>
          <c:dLblPos val="outEnd"/>
          <c:showLegendKey val="0"/>
          <c:showVal val="1"/>
          <c:showCatName val="0"/>
          <c:showSerName val="0"/>
          <c:showPercent val="0"/>
          <c:showBubbleSize val="0"/>
        </c:dLbls>
        <c:gapWidth val="50"/>
        <c:overlap val="-27"/>
        <c:axId val="1271444832"/>
        <c:axId val="1271443392"/>
      </c:barChart>
      <c:catAx>
        <c:axId val="1271444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3392"/>
        <c:crosses val="autoZero"/>
        <c:auto val="1"/>
        <c:lblAlgn val="ctr"/>
        <c:lblOffset val="100"/>
        <c:noMultiLvlLbl val="0"/>
      </c:catAx>
      <c:valAx>
        <c:axId val="127144339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71444832"/>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6163579771176173E-2"/>
          <c:y val="0.10523939725502506"/>
          <c:w val="0.95341768648872538"/>
          <c:h val="0.81109478473322727"/>
        </c:manualLayout>
      </c:layout>
      <c:barChart>
        <c:barDir val="col"/>
        <c:grouping val="clustered"/>
        <c:varyColors val="0"/>
        <c:ser>
          <c:idx val="0"/>
          <c:order val="0"/>
          <c:tx>
            <c:strRef>
              <c:f>Quarterly!$B$13</c:f>
              <c:strCache>
                <c:ptCount val="1"/>
                <c:pt idx="0">
                  <c:v>Total Debt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Quarterly!$C$12:$I$12</c:f>
              <c:strCache>
                <c:ptCount val="7"/>
                <c:pt idx="0">
                  <c:v>1Q24</c:v>
                </c:pt>
                <c:pt idx="1">
                  <c:v>2Q24</c:v>
                </c:pt>
                <c:pt idx="2">
                  <c:v>3Q24</c:v>
                </c:pt>
                <c:pt idx="3">
                  <c:v>4Q24</c:v>
                </c:pt>
                <c:pt idx="4">
                  <c:v>1Q25</c:v>
                </c:pt>
                <c:pt idx="5">
                  <c:v>2Q25</c:v>
                </c:pt>
                <c:pt idx="6">
                  <c:v>3Q25</c:v>
                </c:pt>
              </c:strCache>
            </c:strRef>
          </c:cat>
          <c:val>
            <c:numRef>
              <c:f>Quarterly!$C$13:$I$13</c:f>
              <c:numCache>
                <c:formatCode>#,##0</c:formatCode>
                <c:ptCount val="7"/>
                <c:pt idx="0">
                  <c:v>69.138000000000005</c:v>
                </c:pt>
                <c:pt idx="1">
                  <c:v>60.734000000000002</c:v>
                </c:pt>
                <c:pt idx="2">
                  <c:v>111.976</c:v>
                </c:pt>
                <c:pt idx="3">
                  <c:v>112.648</c:v>
                </c:pt>
                <c:pt idx="4">
                  <c:v>156.88999999999999</c:v>
                </c:pt>
                <c:pt idx="5">
                  <c:v>175.05699999999999</c:v>
                </c:pt>
                <c:pt idx="6">
                  <c:v>145.4</c:v>
                </c:pt>
              </c:numCache>
            </c:numRef>
          </c:val>
          <c:extLst>
            <c:ext xmlns:c16="http://schemas.microsoft.com/office/drawing/2014/chart" uri="{C3380CC4-5D6E-409C-BE32-E72D297353CC}">
              <c16:uniqueId val="{00000000-C18B-4F06-8122-FEB5E255F1A1}"/>
            </c:ext>
          </c:extLst>
        </c:ser>
        <c:ser>
          <c:idx val="1"/>
          <c:order val="1"/>
          <c:tx>
            <c:strRef>
              <c:f>Quarterly!$B$14</c:f>
              <c:strCache>
                <c:ptCount val="1"/>
                <c:pt idx="0">
                  <c:v>Total Equity</c:v>
                </c:pt>
              </c:strCache>
            </c:strRef>
          </c:tx>
          <c:spPr>
            <a:solidFill>
              <a:schemeClr val="accent2"/>
            </a:solidFill>
            <a:ln>
              <a:noFill/>
            </a:ln>
            <a:effectLst/>
          </c:spPr>
          <c:invertIfNegative val="0"/>
          <c:dLbls>
            <c:dLbl>
              <c:idx val="6"/>
              <c:layout>
                <c:manualLayout>
                  <c:x val="2.3152741644663207E-3"/>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50D-4F96-83A9-D5408E8ABAC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Quarterly!$C$12:$I$12</c:f>
              <c:strCache>
                <c:ptCount val="7"/>
                <c:pt idx="0">
                  <c:v>1Q24</c:v>
                </c:pt>
                <c:pt idx="1">
                  <c:v>2Q24</c:v>
                </c:pt>
                <c:pt idx="2">
                  <c:v>3Q24</c:v>
                </c:pt>
                <c:pt idx="3">
                  <c:v>4Q24</c:v>
                </c:pt>
                <c:pt idx="4">
                  <c:v>1Q25</c:v>
                </c:pt>
                <c:pt idx="5">
                  <c:v>2Q25</c:v>
                </c:pt>
                <c:pt idx="6">
                  <c:v>3Q25</c:v>
                </c:pt>
              </c:strCache>
            </c:strRef>
          </c:cat>
          <c:val>
            <c:numRef>
              <c:f>Quarterly!$C$14:$I$14</c:f>
              <c:numCache>
                <c:formatCode>#,##0</c:formatCode>
                <c:ptCount val="7"/>
                <c:pt idx="0">
                  <c:v>174.24199999999999</c:v>
                </c:pt>
                <c:pt idx="1">
                  <c:v>184.589</c:v>
                </c:pt>
                <c:pt idx="2">
                  <c:v>190.01499999999999</c:v>
                </c:pt>
                <c:pt idx="3">
                  <c:v>193.56700000000001</c:v>
                </c:pt>
                <c:pt idx="4">
                  <c:v>203.93700000000001</c:v>
                </c:pt>
                <c:pt idx="5">
                  <c:v>240.29</c:v>
                </c:pt>
                <c:pt idx="6">
                  <c:v>246.566</c:v>
                </c:pt>
              </c:numCache>
            </c:numRef>
          </c:val>
          <c:extLst>
            <c:ext xmlns:c16="http://schemas.microsoft.com/office/drawing/2014/chart" uri="{C3380CC4-5D6E-409C-BE32-E72D297353CC}">
              <c16:uniqueId val="{00000001-C18B-4F06-8122-FEB5E255F1A1}"/>
            </c:ext>
          </c:extLst>
        </c:ser>
        <c:ser>
          <c:idx val="2"/>
          <c:order val="2"/>
          <c:tx>
            <c:strRef>
              <c:f>Quarterly!$B$15</c:f>
              <c:strCache>
                <c:ptCount val="1"/>
                <c:pt idx="0">
                  <c:v>Net Debt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Quarterly!$C$12:$I$12</c:f>
              <c:strCache>
                <c:ptCount val="7"/>
                <c:pt idx="0">
                  <c:v>1Q24</c:v>
                </c:pt>
                <c:pt idx="1">
                  <c:v>2Q24</c:v>
                </c:pt>
                <c:pt idx="2">
                  <c:v>3Q24</c:v>
                </c:pt>
                <c:pt idx="3">
                  <c:v>4Q24</c:v>
                </c:pt>
                <c:pt idx="4">
                  <c:v>1Q25</c:v>
                </c:pt>
                <c:pt idx="5">
                  <c:v>2Q25</c:v>
                </c:pt>
                <c:pt idx="6">
                  <c:v>3Q25</c:v>
                </c:pt>
              </c:strCache>
            </c:strRef>
          </c:cat>
          <c:val>
            <c:numRef>
              <c:f>Quarterly!$C$15:$I$15</c:f>
              <c:numCache>
                <c:formatCode>#,##0</c:formatCode>
                <c:ptCount val="7"/>
                <c:pt idx="0">
                  <c:v>-34.605999999999995</c:v>
                </c:pt>
                <c:pt idx="1">
                  <c:v>-22.190000000000005</c:v>
                </c:pt>
                <c:pt idx="2">
                  <c:v>21.866</c:v>
                </c:pt>
                <c:pt idx="3">
                  <c:v>-2.3400000000000034</c:v>
                </c:pt>
                <c:pt idx="4">
                  <c:v>39.253999999999991</c:v>
                </c:pt>
                <c:pt idx="5">
                  <c:v>34.448999999999984</c:v>
                </c:pt>
                <c:pt idx="6">
                  <c:v>15.677999999999997</c:v>
                </c:pt>
              </c:numCache>
            </c:numRef>
          </c:val>
          <c:extLst>
            <c:ext xmlns:c16="http://schemas.microsoft.com/office/drawing/2014/chart" uri="{C3380CC4-5D6E-409C-BE32-E72D297353CC}">
              <c16:uniqueId val="{00000002-C18B-4F06-8122-FEB5E255F1A1}"/>
            </c:ext>
          </c:extLst>
        </c:ser>
        <c:dLbls>
          <c:dLblPos val="outEnd"/>
          <c:showLegendKey val="0"/>
          <c:showVal val="1"/>
          <c:showCatName val="0"/>
          <c:showSerName val="0"/>
          <c:showPercent val="0"/>
          <c:showBubbleSize val="0"/>
        </c:dLbls>
        <c:gapWidth val="219"/>
        <c:axId val="1787833007"/>
        <c:axId val="1787833967"/>
      </c:barChart>
      <c:catAx>
        <c:axId val="17878330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787833967"/>
        <c:crosses val="autoZero"/>
        <c:auto val="1"/>
        <c:lblAlgn val="ctr"/>
        <c:lblOffset val="100"/>
        <c:noMultiLvlLbl val="0"/>
      </c:catAx>
      <c:valAx>
        <c:axId val="1787833967"/>
        <c:scaling>
          <c:orientation val="minMax"/>
          <c:max val="25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7878330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Aptos" panose="020B0004020202020204" pitchFamily="34" charset="0"/>
                <a:ea typeface="+mn-ea"/>
                <a:cs typeface="+mn-cs"/>
              </a:defRPr>
            </a:pPr>
            <a:r>
              <a:rPr lang="en-MY" b="1" i="0">
                <a:effectLst/>
              </a:rPr>
              <a:t>PPE &amp;</a:t>
            </a:r>
            <a:r>
              <a:rPr lang="en-MY" b="1" i="0" baseline="0">
                <a:effectLst/>
              </a:rPr>
              <a:t> Land Held for PD vs Total Assets</a:t>
            </a:r>
            <a:endParaRPr lang="en-MY" b="1" i="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Aptos" panose="020B0004020202020204" pitchFamily="34" charset="0"/>
              <a:ea typeface="+mn-ea"/>
              <a:cs typeface="+mn-cs"/>
            </a:defRPr>
          </a:pPr>
          <a:endParaRPr lang="en-MY"/>
        </a:p>
      </c:txPr>
    </c:title>
    <c:autoTitleDeleted val="0"/>
    <c:plotArea>
      <c:layout/>
      <c:barChart>
        <c:barDir val="col"/>
        <c:grouping val="stacked"/>
        <c:varyColors val="0"/>
        <c:ser>
          <c:idx val="0"/>
          <c:order val="0"/>
          <c:tx>
            <c:strRef>
              <c:f>Quarterly!$C$46</c:f>
              <c:strCache>
                <c:ptCount val="1"/>
                <c:pt idx="0">
                  <c:v>PPE</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Quarterly!$B$47:$B$53</c:f>
              <c:strCache>
                <c:ptCount val="7"/>
                <c:pt idx="0">
                  <c:v>1Q24</c:v>
                </c:pt>
                <c:pt idx="1">
                  <c:v>2Q24</c:v>
                </c:pt>
                <c:pt idx="2">
                  <c:v>3Q24</c:v>
                </c:pt>
                <c:pt idx="3">
                  <c:v>4Q24</c:v>
                </c:pt>
                <c:pt idx="4">
                  <c:v>1Q25</c:v>
                </c:pt>
                <c:pt idx="5">
                  <c:v>2Q25</c:v>
                </c:pt>
                <c:pt idx="6">
                  <c:v>3Q25</c:v>
                </c:pt>
              </c:strCache>
            </c:strRef>
          </c:cat>
          <c:val>
            <c:numRef>
              <c:f>Quarterly!$C$47:$C$53</c:f>
              <c:numCache>
                <c:formatCode>0</c:formatCode>
                <c:ptCount val="7"/>
                <c:pt idx="0">
                  <c:v>31.890999999999998</c:v>
                </c:pt>
                <c:pt idx="1">
                  <c:v>32.567</c:v>
                </c:pt>
                <c:pt idx="2">
                  <c:v>35.747</c:v>
                </c:pt>
                <c:pt idx="3">
                  <c:v>41.459330000000001</c:v>
                </c:pt>
                <c:pt idx="4">
                  <c:v>51.618000000000002</c:v>
                </c:pt>
                <c:pt idx="5">
                  <c:v>51.204999999999998</c:v>
                </c:pt>
                <c:pt idx="6">
                  <c:v>53.768000000000001</c:v>
                </c:pt>
              </c:numCache>
            </c:numRef>
          </c:val>
          <c:extLst>
            <c:ext xmlns:c16="http://schemas.microsoft.com/office/drawing/2014/chart" uri="{C3380CC4-5D6E-409C-BE32-E72D297353CC}">
              <c16:uniqueId val="{00000000-A1FE-4069-BA0C-5FE29C3C5020}"/>
            </c:ext>
          </c:extLst>
        </c:ser>
        <c:ser>
          <c:idx val="1"/>
          <c:order val="1"/>
          <c:tx>
            <c:strRef>
              <c:f>Quarterly!$D$46</c:f>
              <c:strCache>
                <c:ptCount val="1"/>
                <c:pt idx="0">
                  <c:v>Land held for Property Development</c:v>
                </c:pt>
              </c:strCache>
            </c:strRef>
          </c:tx>
          <c:spPr>
            <a:solidFill>
              <a:schemeClr val="accent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8-A1FE-4069-BA0C-5FE29C3C5020}"/>
                </c:ext>
              </c:extLst>
            </c:dLbl>
            <c:dLbl>
              <c:idx val="1"/>
              <c:delete val="1"/>
              <c:extLst>
                <c:ext xmlns:c15="http://schemas.microsoft.com/office/drawing/2012/chart" uri="{CE6537A1-D6FC-4f65-9D91-7224C49458BB}"/>
                <c:ext xmlns:c16="http://schemas.microsoft.com/office/drawing/2014/chart" uri="{C3380CC4-5D6E-409C-BE32-E72D297353CC}">
                  <c16:uniqueId val="{00000007-A1FE-4069-BA0C-5FE29C3C5020}"/>
                </c:ext>
              </c:extLst>
            </c:dLbl>
            <c:dLbl>
              <c:idx val="2"/>
              <c:delete val="1"/>
              <c:extLst>
                <c:ext xmlns:c15="http://schemas.microsoft.com/office/drawing/2012/chart" uri="{CE6537A1-D6FC-4f65-9D91-7224C49458BB}"/>
                <c:ext xmlns:c16="http://schemas.microsoft.com/office/drawing/2014/chart" uri="{C3380CC4-5D6E-409C-BE32-E72D297353CC}">
                  <c16:uniqueId val="{00000006-A1FE-4069-BA0C-5FE29C3C5020}"/>
                </c:ext>
              </c:extLst>
            </c:dLbl>
            <c:dLbl>
              <c:idx val="3"/>
              <c:delete val="1"/>
              <c:extLst>
                <c:ext xmlns:c15="http://schemas.microsoft.com/office/drawing/2012/chart" uri="{CE6537A1-D6FC-4f65-9D91-7224C49458BB}"/>
                <c:ext xmlns:c16="http://schemas.microsoft.com/office/drawing/2014/chart" uri="{C3380CC4-5D6E-409C-BE32-E72D297353CC}">
                  <c16:uniqueId val="{00000005-A1FE-4069-BA0C-5FE29C3C5020}"/>
                </c:ext>
              </c:extLst>
            </c:dLbl>
            <c:dLbl>
              <c:idx val="4"/>
              <c:delete val="1"/>
              <c:extLst>
                <c:ext xmlns:c15="http://schemas.microsoft.com/office/drawing/2012/chart" uri="{CE6537A1-D6FC-4f65-9D91-7224C49458BB}"/>
                <c:ext xmlns:c16="http://schemas.microsoft.com/office/drawing/2014/chart" uri="{C3380CC4-5D6E-409C-BE32-E72D297353CC}">
                  <c16:uniqueId val="{00000004-A1FE-4069-BA0C-5FE29C3C5020}"/>
                </c:ext>
              </c:extLst>
            </c:dLbl>
            <c:dLbl>
              <c:idx val="5"/>
              <c:layout>
                <c:manualLayout>
                  <c:x val="0"/>
                  <c:y val="-3.38466069109708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1FE-4069-BA0C-5FE29C3C5020}"/>
                </c:ext>
              </c:extLst>
            </c:dLbl>
            <c:dLbl>
              <c:idx val="6"/>
              <c:layout>
                <c:manualLayout>
                  <c:x val="0"/>
                  <c:y val="-2.961578104709941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1FE-4069-BA0C-5FE29C3C502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Quarterly!$B$47:$B$53</c:f>
              <c:strCache>
                <c:ptCount val="7"/>
                <c:pt idx="0">
                  <c:v>1Q24</c:v>
                </c:pt>
                <c:pt idx="1">
                  <c:v>2Q24</c:v>
                </c:pt>
                <c:pt idx="2">
                  <c:v>3Q24</c:v>
                </c:pt>
                <c:pt idx="3">
                  <c:v>4Q24</c:v>
                </c:pt>
                <c:pt idx="4">
                  <c:v>1Q25</c:v>
                </c:pt>
                <c:pt idx="5">
                  <c:v>2Q25</c:v>
                </c:pt>
                <c:pt idx="6">
                  <c:v>3Q25</c:v>
                </c:pt>
              </c:strCache>
            </c:strRef>
          </c:cat>
          <c:val>
            <c:numRef>
              <c:f>Quarterly!$D$47:$D$53</c:f>
              <c:numCache>
                <c:formatCode>0</c:formatCode>
                <c:ptCount val="7"/>
                <c:pt idx="0">
                  <c:v>0</c:v>
                </c:pt>
                <c:pt idx="1">
                  <c:v>0</c:v>
                </c:pt>
                <c:pt idx="2">
                  <c:v>0</c:v>
                </c:pt>
                <c:pt idx="3">
                  <c:v>0</c:v>
                </c:pt>
                <c:pt idx="4">
                  <c:v>0</c:v>
                </c:pt>
                <c:pt idx="5">
                  <c:v>24.032</c:v>
                </c:pt>
                <c:pt idx="6">
                  <c:v>24.245999999999999</c:v>
                </c:pt>
              </c:numCache>
            </c:numRef>
          </c:val>
          <c:extLst>
            <c:ext xmlns:c16="http://schemas.microsoft.com/office/drawing/2014/chart" uri="{C3380CC4-5D6E-409C-BE32-E72D297353CC}">
              <c16:uniqueId val="{00000001-A1FE-4069-BA0C-5FE29C3C5020}"/>
            </c:ext>
          </c:extLst>
        </c:ser>
        <c:dLbls>
          <c:showLegendKey val="0"/>
          <c:showVal val="1"/>
          <c:showCatName val="0"/>
          <c:showSerName val="0"/>
          <c:showPercent val="0"/>
          <c:showBubbleSize val="0"/>
        </c:dLbls>
        <c:gapWidth val="219"/>
        <c:overlap val="100"/>
        <c:axId val="1996196143"/>
        <c:axId val="1996196623"/>
      </c:barChart>
      <c:barChart>
        <c:barDir val="col"/>
        <c:grouping val="clustered"/>
        <c:varyColors val="0"/>
        <c:ser>
          <c:idx val="2"/>
          <c:order val="2"/>
          <c:tx>
            <c:strRef>
              <c:f>Quarterly!$E$46</c:f>
              <c:strCache>
                <c:ptCount val="1"/>
                <c:pt idx="0">
                  <c:v>Total Assets</c:v>
                </c:pt>
              </c:strCache>
            </c:strRef>
          </c:tx>
          <c:spPr>
            <a:solidFill>
              <a:srgbClr val="15608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Quarterly!$B$47:$B$53</c:f>
              <c:strCache>
                <c:ptCount val="7"/>
                <c:pt idx="0">
                  <c:v>1Q24</c:v>
                </c:pt>
                <c:pt idx="1">
                  <c:v>2Q24</c:v>
                </c:pt>
                <c:pt idx="2">
                  <c:v>3Q24</c:v>
                </c:pt>
                <c:pt idx="3">
                  <c:v>4Q24</c:v>
                </c:pt>
                <c:pt idx="4">
                  <c:v>1Q25</c:v>
                </c:pt>
                <c:pt idx="5">
                  <c:v>2Q25</c:v>
                </c:pt>
                <c:pt idx="6">
                  <c:v>3Q25</c:v>
                </c:pt>
              </c:strCache>
            </c:strRef>
          </c:cat>
          <c:val>
            <c:numRef>
              <c:f>Quarterly!$E$47:$E$53</c:f>
              <c:numCache>
                <c:formatCode>0</c:formatCode>
                <c:ptCount val="7"/>
                <c:pt idx="0">
                  <c:v>474.39299999999997</c:v>
                </c:pt>
                <c:pt idx="1">
                  <c:v>481.28300000000002</c:v>
                </c:pt>
                <c:pt idx="2">
                  <c:v>506.78399999999999</c:v>
                </c:pt>
                <c:pt idx="3">
                  <c:v>621.57623899999999</c:v>
                </c:pt>
                <c:pt idx="4">
                  <c:v>628.67700000000002</c:v>
                </c:pt>
                <c:pt idx="5">
                  <c:v>687.21699999999998</c:v>
                </c:pt>
                <c:pt idx="6">
                  <c:v>677.51300000000003</c:v>
                </c:pt>
              </c:numCache>
            </c:numRef>
          </c:val>
          <c:extLst>
            <c:ext xmlns:c16="http://schemas.microsoft.com/office/drawing/2014/chart" uri="{C3380CC4-5D6E-409C-BE32-E72D297353CC}">
              <c16:uniqueId val="{00000002-A1FE-4069-BA0C-5FE29C3C5020}"/>
            </c:ext>
          </c:extLst>
        </c:ser>
        <c:ser>
          <c:idx val="3"/>
          <c:order val="3"/>
          <c:tx>
            <c:strRef>
              <c:f>Quarterly!$F$46</c:f>
              <c:strCache>
                <c:ptCount val="1"/>
              </c:strCache>
            </c:strRef>
          </c:tx>
          <c:spPr>
            <a:no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Quarterly!$B$47:$B$53</c:f>
              <c:strCache>
                <c:ptCount val="7"/>
                <c:pt idx="0">
                  <c:v>1Q24</c:v>
                </c:pt>
                <c:pt idx="1">
                  <c:v>2Q24</c:v>
                </c:pt>
                <c:pt idx="2">
                  <c:v>3Q24</c:v>
                </c:pt>
                <c:pt idx="3">
                  <c:v>4Q24</c:v>
                </c:pt>
                <c:pt idx="4">
                  <c:v>1Q25</c:v>
                </c:pt>
                <c:pt idx="5">
                  <c:v>2Q25</c:v>
                </c:pt>
                <c:pt idx="6">
                  <c:v>3Q25</c:v>
                </c:pt>
              </c:strCache>
            </c:strRef>
          </c:cat>
          <c:val>
            <c:numRef>
              <c:f>Quarterly!$F$47:$F$53</c:f>
              <c:numCache>
                <c:formatCode>General</c:formatCode>
                <c:ptCount val="7"/>
              </c:numCache>
            </c:numRef>
          </c:val>
          <c:extLst>
            <c:ext xmlns:c16="http://schemas.microsoft.com/office/drawing/2014/chart" uri="{C3380CC4-5D6E-409C-BE32-E72D297353CC}">
              <c16:uniqueId val="{00000003-A1FE-4069-BA0C-5FE29C3C5020}"/>
            </c:ext>
          </c:extLst>
        </c:ser>
        <c:dLbls>
          <c:showLegendKey val="0"/>
          <c:showVal val="1"/>
          <c:showCatName val="0"/>
          <c:showSerName val="0"/>
          <c:showPercent val="0"/>
          <c:showBubbleSize val="0"/>
        </c:dLbls>
        <c:gapWidth val="15"/>
        <c:overlap val="-98"/>
        <c:axId val="118405103"/>
        <c:axId val="118416623"/>
      </c:barChart>
      <c:catAx>
        <c:axId val="1996196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996196623"/>
        <c:crosses val="autoZero"/>
        <c:auto val="1"/>
        <c:lblAlgn val="ctr"/>
        <c:lblOffset val="100"/>
        <c:noMultiLvlLbl val="0"/>
      </c:catAx>
      <c:valAx>
        <c:axId val="1996196623"/>
        <c:scaling>
          <c:orientation val="minMax"/>
          <c:max val="7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crossAx val="1996196143"/>
        <c:crosses val="autoZero"/>
        <c:crossBetween val="between"/>
      </c:valAx>
      <c:valAx>
        <c:axId val="118416623"/>
        <c:scaling>
          <c:orientation val="minMax"/>
          <c:max val="700"/>
        </c:scaling>
        <c:delete val="1"/>
        <c:axPos val="r"/>
        <c:numFmt formatCode="0" sourceLinked="1"/>
        <c:majorTickMark val="out"/>
        <c:minorTickMark val="none"/>
        <c:tickLblPos val="nextTo"/>
        <c:crossAx val="118405103"/>
        <c:crosses val="max"/>
        <c:crossBetween val="between"/>
      </c:valAx>
      <c:catAx>
        <c:axId val="118405103"/>
        <c:scaling>
          <c:orientation val="minMax"/>
        </c:scaling>
        <c:delete val="1"/>
        <c:axPos val="b"/>
        <c:numFmt formatCode="General" sourceLinked="1"/>
        <c:majorTickMark val="out"/>
        <c:minorTickMark val="none"/>
        <c:tickLblPos val="nextTo"/>
        <c:crossAx val="11841662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Aptos" panose="020B0004020202020204" pitchFamily="34"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latin typeface="Aptos" panose="020B00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A_34A21654.xml><?xml version="1.0" encoding="utf-8"?>
<p188:cmLst xmlns:a="http://schemas.openxmlformats.org/drawingml/2006/main" xmlns:r="http://schemas.openxmlformats.org/officeDocument/2006/relationships" xmlns:p188="http://schemas.microsoft.com/office/powerpoint/2018/8/main">
  <p188:cm id="{9113CD33-85F4-4D32-A72A-253C2466C9C1}" authorId="{31BB4BBE-0161-1758-AC37-0AAE28D2E54F}" created="2026-02-14T00:39:30.720">
    <ac:deMkLst xmlns:ac="http://schemas.microsoft.com/office/drawing/2013/main/command">
      <pc:docMk xmlns:pc="http://schemas.microsoft.com/office/powerpoint/2013/main/command"/>
      <pc:sldMk xmlns:pc="http://schemas.microsoft.com/office/powerpoint/2013/main/command" cId="883037780" sldId="266"/>
      <ac:graphicFrameMk id="7" creationId="{BFEC712F-5224-C958-56D4-472B3ED89263}"/>
    </ac:deMkLst>
    <p188:replyLst>
      <p188:reply id="{8FD98F26-B212-4D98-8C02-11517839F2F2}" authorId="{0C5CF484-4FAB-ECA3-B9CB-AF0DB65C3F6C}" created="2026-02-16T06:50:14.060">
        <p188:txBody>
          <a:bodyPr/>
          <a:lstStyle/>
          <a:p>
            <a:r>
              <a:rPr lang="en-US"/>
              <a:t>To discuss on removal of malton</a:t>
            </a:r>
          </a:p>
        </p188:txBody>
      </p188:reply>
      <p188:reply id="{757C874F-42E4-4A93-958A-D3470FA87447}" authorId="{31BB4BBE-0161-1758-AC37-0AAE28D2E54F}" created="2026-02-27T08:54:13.024">
        <p188:txBody>
          <a:bodyPr/>
          <a:lstStyle/>
          <a:p>
            <a:r>
              <a:rPr lang="en-MY"/>
              <a:t>Malton is owned by the same boss as WCT and Pavillion. Tan Sri Lim Siew Choon. So if we see the list of projects in their annual report - the projects are those in damansara height, and WCity</a:t>
            </a:r>
          </a:p>
        </p188:txBody>
      </p188:reply>
    </p188:replyLst>
    <p188:txBody>
      <a:bodyPr/>
      <a:lstStyle/>
      <a:p>
        <a:r>
          <a:rPr lang="en-MY"/>
          <a:t>This appendix I has no analysis of Malton. Either we delete it or to have an analysis on this - similar to Sunway, Gamuda, IJM and LBS</a:t>
        </a:r>
      </a:p>
    </p188:txBody>
  </p188:cm>
</p188:cmLst>
</file>

<file path=ppt/comments/modernComment_12D9_17E60B62.xml><?xml version="1.0" encoding="utf-8"?>
<p188:cmLst xmlns:a="http://schemas.openxmlformats.org/drawingml/2006/main" xmlns:r="http://schemas.openxmlformats.org/officeDocument/2006/relationships" xmlns:p188="http://schemas.microsoft.com/office/powerpoint/2018/8/main">
  <p188:cm id="{0EA4EFCC-CE80-4439-920A-1428E8F2B842}" authorId="{31BB4BBE-0161-1758-AC37-0AAE28D2E54F}" created="2026-02-14T03:17:35.407">
    <ac:deMkLst xmlns:ac="http://schemas.microsoft.com/office/drawing/2013/main/command">
      <pc:docMk xmlns:pc="http://schemas.microsoft.com/office/powerpoint/2013/main/command"/>
      <pc:sldMk xmlns:pc="http://schemas.microsoft.com/office/powerpoint/2013/main/command" cId="400952162" sldId="4825"/>
      <ac:spMk id="6" creationId="{53097B0C-3D1E-AE11-1E1F-B10084A5D1E4}"/>
    </ac:deMkLst>
    <p188:replyLst>
      <p188:reply id="{A1BC14A0-E4CA-41A8-A458-DA2D2B22C317}" authorId="{0C5CF484-4FAB-ECA3-B9CB-AF0DB65C3F6C}" created="2026-02-16T06:22:58.872">
        <p188:txBody>
          <a:bodyPr/>
          <a:lstStyle/>
          <a:p>
            <a:r>
              <a:rPr lang="en-US"/>
              <a:t>done</a:t>
            </a:r>
          </a:p>
        </p188:txBody>
      </p188:reply>
      <p188:reply id="{CF4DDAA3-EA24-46BB-B2E5-D0D64BD98329}" authorId="{0C5CF484-4FAB-ECA3-B9CB-AF0DB65C3F6C}" created="2026-02-16T06:23:03.140">
        <p188:txBody>
          <a:bodyPr/>
          <a:lstStyle/>
          <a:p>
            <a:r>
              <a:rPr lang="en-US"/>
              <a:t>done</a:t>
            </a:r>
          </a:p>
        </p188:txBody>
      </p188:reply>
    </p188:replyLst>
    <p188:txBody>
      <a:bodyPr/>
      <a:lstStyle/>
      <a:p>
        <a:r>
          <a:rPr lang="en-MY"/>
          <a:t>Put in key takeaways for all the data here - for e.g. gearing is at healthy level for construction company of 0.6x. To also mention the borrowings are mainly for construction work (this is what they represented to us in the meeting, see whether there’s anything in the financial to support this data).</a:t>
        </a:r>
      </a:p>
    </p188:txBody>
  </p188:cm>
</p188:cmLst>
</file>

<file path=ppt/comments/modernComment_12DA_BE37A0D6.xml><?xml version="1.0" encoding="utf-8"?>
<p188:cmLst xmlns:a="http://schemas.openxmlformats.org/drawingml/2006/main" xmlns:r="http://schemas.openxmlformats.org/officeDocument/2006/relationships" xmlns:p188="http://schemas.microsoft.com/office/powerpoint/2018/8/main">
  <p188:cm id="{F12D5C9E-9DCA-469E-9153-91EFEEF841CD}" authorId="{31BB4BBE-0161-1758-AC37-0AAE28D2E54F}" created="2026-02-14T03:15:00.097">
    <ac:deMkLst xmlns:ac="http://schemas.microsoft.com/office/drawing/2013/main/command">
      <pc:docMk xmlns:pc="http://schemas.microsoft.com/office/powerpoint/2013/main/command"/>
      <pc:sldMk xmlns:pc="http://schemas.microsoft.com/office/powerpoint/2013/main/command" cId="3191316694" sldId="4826"/>
      <ac:spMk id="5" creationId="{C3F17D60-3B7A-5179-63DC-B7C44C9743DF}"/>
    </ac:deMkLst>
    <p188:replyLst>
      <p188:reply id="{3699FF66-ED20-4473-BB2B-2D2DE014E2C4}" authorId="{0C5CF484-4FAB-ECA3-B9CB-AF0DB65C3F6C}" created="2026-02-16T06:23:14.495">
        <p188:txBody>
          <a:bodyPr/>
          <a:lstStyle/>
          <a:p>
            <a:r>
              <a:rPr lang="en-US"/>
              <a:t>done</a:t>
            </a:r>
          </a:p>
        </p188:txBody>
      </p188:reply>
    </p188:replyLst>
    <p188:txBody>
      <a:bodyPr/>
      <a:lstStyle/>
      <a:p>
        <a:r>
          <a:rPr lang="en-MY"/>
          <a:t>Put in some key takeaways on this slide. For e.g. say 72% of PPE is Plant &amp; Machineries. Any take aways on assets?</a:t>
        </a:r>
      </a:p>
    </p188:txBody>
  </p188:cm>
</p188:cmLst>
</file>

<file path=ppt/comments/modernComment_12DE_A4105B3F.xml><?xml version="1.0" encoding="utf-8"?>
<p188:cmLst xmlns:a="http://schemas.openxmlformats.org/drawingml/2006/main" xmlns:r="http://schemas.openxmlformats.org/officeDocument/2006/relationships" xmlns:p188="http://schemas.microsoft.com/office/powerpoint/2018/8/main">
  <p188:cm id="{3E68A7DF-70DE-4E7E-AE21-16B4304692A5}" authorId="{31BB4BBE-0161-1758-AC37-0AAE28D2E54F}" status="resolved" created="2026-02-14T03:48:18.543" complete="100000">
    <ac:txMkLst xmlns:ac="http://schemas.microsoft.com/office/drawing/2013/main/command">
      <pc:docMk xmlns:pc="http://schemas.microsoft.com/office/powerpoint/2013/main/command"/>
      <pc:sldMk xmlns:pc="http://schemas.microsoft.com/office/powerpoint/2013/main/command" cId="2752535359" sldId="4830"/>
      <ac:graphicFrameMk id="13" creationId="{DA018E3B-BDB4-C522-00AA-A25D9066CA81}"/>
      <ac:tblMk/>
      <ac:tcMk rowId="82663309" colId="1213989469"/>
      <ac:txMk cp="136" len="41">
        <ac:context len="346" hash="2739339477"/>
      </ac:txMk>
    </ac:txMkLst>
    <p188:pos x="4591050" y="3308096"/>
    <p188:replyLst>
      <p188:reply id="{2802F74B-5355-4CCA-95AC-7F5EDB9DD5D8}" authorId="{0C5CF484-4FAB-ECA3-B9CB-AF0DB65C3F6C}" created="2026-02-16T06:26:29.144">
        <p188:txBody>
          <a:bodyPr/>
          <a:lstStyle/>
          <a:p>
            <a:r>
              <a:rPr lang="en-US"/>
              <a:t>By “merging” with Inta, we get to save and pocket on the margin and earn the 1% (e.g 5% * 20% stake) and if they belong to us, we will have better visibility on their costing as opposed to awarding to 3rd party contractor. </a:t>
            </a:r>
          </a:p>
        </p188:txBody>
      </p188:reply>
      <p188:reply id="{85CCD2E7-F243-4374-81B1-46C559ABF955}" authorId="{31BB4BBE-0161-1758-AC37-0AAE28D2E54F}" created="2026-02-24T10:50:43.521">
        <p188:txBody>
          <a:bodyPr/>
          <a:lstStyle/>
          <a:p>
            <a:r>
              <a:rPr lang="en-MY"/>
              <a:t>Ok with your deletion of double margin. For better cost transparency on build costs - to add on a few words that “as compared to engaging 3rd party contractors”</a:t>
            </a:r>
          </a:p>
        </p188:txBody>
      </p188:reply>
    </p188:replyLst>
    <p188:txBody>
      <a:bodyPr/>
      <a:lstStyle/>
      <a:p>
        <a:r>
          <a:rPr lang="en-MY"/>
          <a:t>Why is it so?</a:t>
        </a:r>
      </a:p>
    </p188:txBody>
  </p188:cm>
  <p188:cm id="{3BB4B646-78CE-4F21-8545-2D71ACC3CBC9}" authorId="{31BB4BBE-0161-1758-AC37-0AAE28D2E54F}" status="resolved" created="2026-02-14T03:49:52.699" complete="100000">
    <ac:txMkLst xmlns:ac="http://schemas.microsoft.com/office/drawing/2013/main/command">
      <pc:docMk xmlns:pc="http://schemas.microsoft.com/office/powerpoint/2013/main/command"/>
      <pc:sldMk xmlns:pc="http://schemas.microsoft.com/office/powerpoint/2013/main/command" cId="2752535359" sldId="4830"/>
      <ac:graphicFrameMk id="13" creationId="{DA018E3B-BDB4-C522-00AA-A25D9066CA81}"/>
      <ac:tblMk/>
      <ac:tcMk rowId="889203107" colId="1213989469"/>
      <ac:txMk cp="40" len="82">
        <ac:context len="123" hash="1840364346"/>
      </ac:txMk>
    </ac:txMkLst>
    <p188:pos x="7118350" y="5149596"/>
    <p188:replyLst>
      <p188:reply id="{C220D02A-4E3A-47AC-B6C1-91E11A10F330}" authorId="{0C5CF484-4FAB-ECA3-B9CB-AF0DB65C3F6C}" created="2026-02-16T06:56:40.790">
        <p188:txBody>
          <a:bodyPr/>
          <a:lstStyle/>
          <a:p>
            <a:r>
              <a:rPr lang="en-US"/>
              <a:t>Generally, construction is a service industry, whereas for PD (MY context), it’s based on % of completion. My view is compare the two, construction  will have a shorter “gestation” period</a:t>
            </a:r>
          </a:p>
        </p188:txBody>
      </p188:reply>
      <p188:reply id="{C051CDEC-74D3-412D-B8C2-D8F16F85FB58}" authorId="{31BB4BBE-0161-1758-AC37-0AAE28D2E54F}" created="2026-02-24T11:02:54.660">
        <p188:txBody>
          <a:bodyPr/>
          <a:lstStyle/>
          <a:p>
            <a:r>
              <a:rPr lang="en-MY"/>
              <a:t>Contractor doesn’t get paid until developers get money (the usual practice), unless it’s internal so then doesn’t matter too much. But this will be an associate company only, I rather we don’t talk about this point here</a:t>
            </a:r>
          </a:p>
        </p188:txBody>
      </p188:reply>
    </p188:replyLst>
    <p188:txBody>
      <a:bodyPr/>
      <a:lstStyle/>
      <a:p>
        <a:r>
          <a:rPr lang="en-MY"/>
          <a:t>Development profit and cash in flow isn’t lumpy - it’s recognised by POS and POC. Also, is it true that construction arm gets cash before developer? Likely developer will only pay contractor after they receive cash.</a:t>
        </a:r>
      </a:p>
    </p188:txBody>
  </p188:cm>
</p188:cmLst>
</file>

<file path=ppt/comments/modernComment_12ED_21FCD7E.xml><?xml version="1.0" encoding="utf-8"?>
<p188:cmLst xmlns:a="http://schemas.openxmlformats.org/drawingml/2006/main" xmlns:r="http://schemas.openxmlformats.org/officeDocument/2006/relationships" xmlns:p188="http://schemas.microsoft.com/office/powerpoint/2018/8/main">
  <p188:cm id="{799F604D-C993-4A34-AAD7-CDC29D5A5CEA}" authorId="{31BB4BBE-0161-1758-AC37-0AAE28D2E54F}" created="2026-02-14T03:23:11.732">
    <ac:txMkLst xmlns:ac="http://schemas.microsoft.com/office/drawing/2013/main/command">
      <pc:docMk xmlns:pc="http://schemas.microsoft.com/office/powerpoint/2013/main/command"/>
      <pc:sldMk xmlns:pc="http://schemas.microsoft.com/office/powerpoint/2013/main/command" cId="35638654" sldId="4845"/>
      <ac:graphicFrameMk id="6" creationId="{EAA20C84-076E-AC36-093E-72A180FCDAF4}"/>
      <ac:tblMk/>
      <ac:tcMk rowId="2918492651" colId="1481423548"/>
      <ac:txMk cp="0" len="9">
        <ac:context len="10" hash="3165406611"/>
      </ac:txMk>
    </ac:txMkLst>
    <p188:pos x="490755" y="4373880"/>
    <p188:replyLst>
      <p188:reply id="{C457E5AB-E912-470E-885A-731EEABCB15E}" authorId="{0C5CF484-4FAB-ECA3-B9CB-AF0DB65C3F6C}" created="2026-02-16T06:22:46.468">
        <p188:txBody>
          <a:bodyPr/>
          <a:lstStyle/>
          <a:p>
            <a:r>
              <a:rPr lang="en-US"/>
              <a:t>ok</a:t>
            </a:r>
          </a:p>
        </p188:txBody>
      </p188:reply>
    </p188:replyLst>
    <p188:txBody>
      <a:bodyPr/>
      <a:lstStyle/>
      <a:p>
        <a:r>
          <a:rPr lang="en-MY"/>
          <a:t>For these 2 benchmarking slides, don’t colour all 3 companies - focus on Inta Bina</a:t>
        </a:r>
      </a:p>
    </p188:txBody>
  </p188:cm>
</p188:cmLst>
</file>

<file path=ppt/comments/modernComment_1326_C5AFE6C4.xml><?xml version="1.0" encoding="utf-8"?>
<p188:cmLst xmlns:a="http://schemas.openxmlformats.org/drawingml/2006/main" xmlns:r="http://schemas.openxmlformats.org/officeDocument/2006/relationships" xmlns:p188="http://schemas.microsoft.com/office/powerpoint/2018/8/main">
  <p188:cm id="{DC1748A6-47BC-4DD8-BD4F-A3DB59354639}" authorId="{31BB4BBE-0161-1758-AC37-0AAE28D2E54F}" status="resolved" created="2026-02-14T03:58:02.987" complete="100000">
    <ac:txMkLst xmlns:ac="http://schemas.microsoft.com/office/drawing/2013/main/command">
      <pc:docMk xmlns:pc="http://schemas.microsoft.com/office/powerpoint/2013/main/command"/>
      <pc:sldMk xmlns:pc="http://schemas.microsoft.com/office/powerpoint/2013/main/command" cId="3316639428" sldId="4902"/>
      <ac:spMk id="8" creationId="{318D44C4-3CC3-6F31-F208-2D7A715B2684}"/>
      <ac:txMk cp="8" len="36">
        <ac:context len="204" hash="411357373"/>
      </ac:txMk>
    </ac:txMkLst>
    <p188:pos x="2628148" y="342630"/>
    <p188:replyLst>
      <p188:reply id="{3B5C1E82-4D91-4638-9592-32381CAA6E25}" authorId="{0C5CF484-4FAB-ECA3-B9CB-AF0DB65C3F6C}" created="2026-02-16T06:56:50.058">
        <p188:txBody>
          <a:bodyPr/>
          <a:lstStyle/>
          <a:p>
            <a:r>
              <a:rPr lang="en-US"/>
              <a:t>To discuss</a:t>
            </a:r>
          </a:p>
        </p188:txBody>
      </p188:reply>
      <p188:reply id="{6EE98B20-5D0B-4D88-BB93-78EF1A43A9DE}" authorId="{31BB4BBE-0161-1758-AC37-0AAE28D2E54F}" created="2026-02-24T10:48:00.713">
        <p188:txBody>
          <a:bodyPr/>
          <a:lstStyle/>
          <a:p>
            <a:r>
              <a:rPr lang="en-MY"/>
              <a:t>I’ve added - earning &amp; valuation accretive point for reasons supporting</a:t>
            </a:r>
          </a:p>
        </p188:txBody>
      </p188:reply>
    </p188:replyLst>
    <p188:txBody>
      <a:bodyPr/>
      <a:lstStyle/>
      <a:p>
        <a:r>
          <a:rPr lang="en-MY"/>
          <a:t>Another benefit is value accretion - from the angle of P/E of OSK is higher than P/E of Inta Bina. </a:t>
        </a:r>
      </a:p>
    </p188:txBody>
  </p188:cm>
</p188:cmLst>
</file>

<file path=ppt/comments/modernComment_1330_D6E488C8.xml><?xml version="1.0" encoding="utf-8"?>
<p188:cmLst xmlns:a="http://schemas.openxmlformats.org/drawingml/2006/main" xmlns:r="http://schemas.openxmlformats.org/officeDocument/2006/relationships" xmlns:p188="http://schemas.microsoft.com/office/powerpoint/2018/8/main">
  <p188:cm id="{E788E9BD-3BE6-4ED4-B7FA-E8EAD289DF44}" authorId="{31BB4BBE-0161-1758-AC37-0AAE28D2E54F}" status="resolved" created="2026-02-14T03:36:14.118" complete="100000">
    <pc:sldMkLst xmlns:pc="http://schemas.microsoft.com/office/powerpoint/2013/main/command">
      <pc:docMk/>
      <pc:sldMk cId="3605301448" sldId="4912"/>
    </pc:sldMkLst>
    <p188:replyLst>
      <p188:reply id="{79846D69-00B1-4BDA-9823-06E878CE54F7}" authorId="{0C5CF484-4FAB-ECA3-B9CB-AF0DB65C3F6C}" created="2026-02-16T06:57:20.267">
        <p188:txBody>
          <a:bodyPr/>
          <a:lstStyle/>
          <a:p>
            <a:r>
              <a:rPr lang="en-US"/>
              <a:t>Limited info. To discuss whether to retain Malton. Prefer to retain bcz they hv a good balance between PD and construction</a:t>
            </a:r>
          </a:p>
        </p188:txBody>
      </p188:reply>
    </p188:replyLst>
    <p188:txBody>
      <a:bodyPr/>
      <a:lstStyle/>
      <a:p>
        <a:r>
          <a:rPr lang="en-MY"/>
          <a:t>There isn’t any analysis on construction earnings of Malton in the Appendix</a:t>
        </a:r>
      </a:p>
    </p188:txBody>
  </p188:cm>
</p188:cmLst>
</file>

<file path=ppt/comments/modernComment_1337_CD5045DD.xml><?xml version="1.0" encoding="utf-8"?>
<p188:cmLst xmlns:a="http://schemas.openxmlformats.org/drawingml/2006/main" xmlns:r="http://schemas.openxmlformats.org/officeDocument/2006/relationships" xmlns:p188="http://schemas.microsoft.com/office/powerpoint/2018/8/main">
  <p188:cm id="{6D63EBEA-C7EB-4F1E-9855-B3EDE9EC089A}" authorId="{31BB4BBE-0161-1758-AC37-0AAE28D2E54F}" status="resolved" created="2026-02-14T04:13:36.160" complete="100000">
    <ac:txMkLst xmlns:ac="http://schemas.microsoft.com/office/drawing/2013/main/command">
      <pc:docMk xmlns:pc="http://schemas.microsoft.com/office/powerpoint/2013/main/command"/>
      <pc:sldMk xmlns:pc="http://schemas.microsoft.com/office/powerpoint/2013/main/command" cId="3444590045" sldId="4919"/>
      <ac:spMk id="4" creationId="{326B43B2-6363-B18F-2E94-06282A38803C}"/>
      <ac:txMk cp="0">
        <ac:context len="41" hash="595977231"/>
      </ac:txMk>
    </ac:txMkLst>
    <p188:pos x="3332480" y="339344"/>
    <p188:txBody>
      <a:bodyPr/>
      <a:lstStyle/>
      <a:p>
        <a:r>
          <a:rPr lang="en-MY"/>
          <a:t>Create a slide on this based on these key points - where possible, summarise the key points and present in icon/image/chart etc - applicable for the main section of this deck</a:t>
        </a:r>
      </a:p>
    </p188:txBody>
  </p188:cm>
</p188:cmLst>
</file>

<file path=ppt/comments/modernComment_1338_C8567E51.xml><?xml version="1.0" encoding="utf-8"?>
<p188:cmLst xmlns:a="http://schemas.openxmlformats.org/drawingml/2006/main" xmlns:r="http://schemas.openxmlformats.org/officeDocument/2006/relationships" xmlns:p188="http://schemas.microsoft.com/office/powerpoint/2018/8/main">
  <p188:cm id="{20A31E59-B63C-4962-8879-6C32E103EF4D}" authorId="{31BB4BBE-0161-1758-AC37-0AAE28D2E54F}" status="resolved" created="2026-02-14T04:13:36.160" complete="100000">
    <ac:txMkLst xmlns:ac="http://schemas.microsoft.com/office/drawing/2013/main/command">
      <pc:docMk xmlns:pc="http://schemas.microsoft.com/office/powerpoint/2013/main/command"/>
      <pc:sldMk xmlns:pc="http://schemas.microsoft.com/office/powerpoint/2013/main/command" cId="3361111633" sldId="4920"/>
      <ac:spMk id="4" creationId="{C2FC22D9-DECF-7772-30D5-529D506A9DD3}"/>
      <ac:txMk cp="0">
        <ac:context len="41" hash="595977231"/>
      </ac:txMk>
    </ac:txMkLst>
    <p188:pos x="3332480" y="339344"/>
    <p188:txBody>
      <a:bodyPr/>
      <a:lstStyle/>
      <a:p>
        <a:r>
          <a:rPr lang="en-MY"/>
          <a:t>Create a slide on this based on these key points - where possible, summarise the key points and present in icon/image/chart etc - applicable for the main section of this deck</a:t>
        </a:r>
      </a:p>
    </p188:txBody>
  </p188:cm>
</p188:cmLst>
</file>

<file path=ppt/drawings/drawing1.xml><?xml version="1.0" encoding="utf-8"?>
<c:userShapes xmlns:c="http://schemas.openxmlformats.org/drawingml/2006/chart">
  <cdr:relSizeAnchor xmlns:cdr="http://schemas.openxmlformats.org/drawingml/2006/chartDrawing">
    <cdr:from>
      <cdr:x>0.85508</cdr:x>
      <cdr:y>0.66353</cdr:y>
    </cdr:from>
    <cdr:to>
      <cdr:x>0.90625</cdr:x>
      <cdr:y>0.78506</cdr:y>
    </cdr:to>
    <cdr:sp macro="" textlink="">
      <cdr:nvSpPr>
        <cdr:cNvPr id="2" name="Rectangle 1">
          <a:extLst xmlns:a="http://schemas.openxmlformats.org/drawingml/2006/main">
            <a:ext uri="{FF2B5EF4-FFF2-40B4-BE49-F238E27FC236}">
              <a16:creationId xmlns:a16="http://schemas.microsoft.com/office/drawing/2014/main" id="{905F8927-37B0-9852-F25B-FC8B91B92FA1}"/>
            </a:ext>
          </a:extLst>
        </cdr:cNvPr>
        <cdr:cNvSpPr/>
      </cdr:nvSpPr>
      <cdr:spPr>
        <a:xfrm xmlns:a="http://schemas.openxmlformats.org/drawingml/2006/main">
          <a:off x="3909430" y="1820193"/>
          <a:ext cx="233946" cy="333374"/>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defPPr>
            <a:defRPr lang="en-US"/>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xmlns:a="http://schemas.openxmlformats.org/drawingml/2006/main">
          <a:endParaRPr lang="en-MY" kern="1200"/>
        </a:p>
      </cdr:txBody>
    </cdr:sp>
  </cdr:relSizeAnchor>
  <cdr:relSizeAnchor xmlns:cdr="http://schemas.openxmlformats.org/drawingml/2006/chartDrawing">
    <cdr:from>
      <cdr:x>0.678</cdr:x>
      <cdr:y>0.67655</cdr:y>
    </cdr:from>
    <cdr:to>
      <cdr:x>0.72852</cdr:x>
      <cdr:y>0.7848</cdr:y>
    </cdr:to>
    <cdr:sp macro="" textlink="">
      <cdr:nvSpPr>
        <cdr:cNvPr id="3" name="Rectangle 2">
          <a:extLst xmlns:a="http://schemas.openxmlformats.org/drawingml/2006/main">
            <a:ext uri="{FF2B5EF4-FFF2-40B4-BE49-F238E27FC236}">
              <a16:creationId xmlns:a16="http://schemas.microsoft.com/office/drawing/2014/main" id="{F04DB97B-233C-A94F-7768-95BA19215AF3}"/>
            </a:ext>
          </a:extLst>
        </cdr:cNvPr>
        <cdr:cNvSpPr/>
      </cdr:nvSpPr>
      <cdr:spPr>
        <a:xfrm xmlns:a="http://schemas.openxmlformats.org/drawingml/2006/main">
          <a:off x="3099805" y="1855910"/>
          <a:ext cx="230982" cy="296955"/>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defPPr>
            <a:defRPr lang="en-US"/>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xmlns:a="http://schemas.openxmlformats.org/drawingml/2006/main">
          <a:endParaRPr lang="en-MY" kern="1200"/>
        </a:p>
      </cdr:txBody>
    </cdr:sp>
  </cdr:relSizeAnchor>
  <cdr:relSizeAnchor xmlns:cdr="http://schemas.openxmlformats.org/drawingml/2006/chartDrawing">
    <cdr:from>
      <cdr:x>0.5</cdr:x>
      <cdr:y>0.68783</cdr:y>
    </cdr:from>
    <cdr:to>
      <cdr:x>0.55052</cdr:x>
      <cdr:y>0.7848</cdr:y>
    </cdr:to>
    <cdr:sp macro="" textlink="">
      <cdr:nvSpPr>
        <cdr:cNvPr id="4" name="Rectangle 3">
          <a:extLst xmlns:a="http://schemas.openxmlformats.org/drawingml/2006/main">
            <a:ext uri="{FF2B5EF4-FFF2-40B4-BE49-F238E27FC236}">
              <a16:creationId xmlns:a16="http://schemas.microsoft.com/office/drawing/2014/main" id="{451EAA6B-DF3F-EEAF-E386-3351F5536621}"/>
            </a:ext>
          </a:extLst>
        </cdr:cNvPr>
        <cdr:cNvSpPr/>
      </cdr:nvSpPr>
      <cdr:spPr>
        <a:xfrm xmlns:a="http://schemas.openxmlformats.org/drawingml/2006/main">
          <a:off x="2286000" y="1886868"/>
          <a:ext cx="230982" cy="265997"/>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defPPr>
            <a:defRPr lang="en-US"/>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xmlns:a="http://schemas.openxmlformats.org/drawingml/2006/main">
          <a:endParaRPr lang="en-MY" kern="1200"/>
        </a:p>
      </cdr:txBody>
    </cdr:sp>
  </cdr:relSizeAnchor>
  <cdr:relSizeAnchor xmlns:cdr="http://schemas.openxmlformats.org/drawingml/2006/chartDrawing">
    <cdr:from>
      <cdr:x>0.32188</cdr:x>
      <cdr:y>0.68263</cdr:y>
    </cdr:from>
    <cdr:to>
      <cdr:x>0.37279</cdr:x>
      <cdr:y>0.78506</cdr:y>
    </cdr:to>
    <cdr:sp macro="" textlink="">
      <cdr:nvSpPr>
        <cdr:cNvPr id="5" name="Rectangle 4">
          <a:extLst xmlns:a="http://schemas.openxmlformats.org/drawingml/2006/main">
            <a:ext uri="{FF2B5EF4-FFF2-40B4-BE49-F238E27FC236}">
              <a16:creationId xmlns:a16="http://schemas.microsoft.com/office/drawing/2014/main" id="{DC30CBF7-B693-5973-A7C6-CC2CDA6F0145}"/>
            </a:ext>
          </a:extLst>
        </cdr:cNvPr>
        <cdr:cNvSpPr/>
      </cdr:nvSpPr>
      <cdr:spPr>
        <a:xfrm xmlns:a="http://schemas.openxmlformats.org/drawingml/2006/main">
          <a:off x="1471613" y="1872581"/>
          <a:ext cx="232780" cy="280987"/>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defPPr>
            <a:defRPr lang="en-US"/>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xmlns:a="http://schemas.openxmlformats.org/drawingml/2006/main">
          <a:endParaRPr lang="en-MY" kern="1200"/>
        </a:p>
      </cdr:txBody>
    </cdr:sp>
  </cdr:relSizeAnchor>
  <cdr:relSizeAnchor xmlns:cdr="http://schemas.openxmlformats.org/drawingml/2006/chartDrawing">
    <cdr:from>
      <cdr:x>0.14418</cdr:x>
      <cdr:y>0.72777</cdr:y>
    </cdr:from>
    <cdr:to>
      <cdr:x>0.1951</cdr:x>
      <cdr:y>0.78488</cdr:y>
    </cdr:to>
    <cdr:sp macro="" textlink="">
      <cdr:nvSpPr>
        <cdr:cNvPr id="6" name="Rectangle 5">
          <a:extLst xmlns:a="http://schemas.openxmlformats.org/drawingml/2006/main">
            <a:ext uri="{FF2B5EF4-FFF2-40B4-BE49-F238E27FC236}">
              <a16:creationId xmlns:a16="http://schemas.microsoft.com/office/drawing/2014/main" id="{9445C11C-036C-F51A-E9E2-3BB988AA0828}"/>
            </a:ext>
          </a:extLst>
        </cdr:cNvPr>
        <cdr:cNvSpPr/>
      </cdr:nvSpPr>
      <cdr:spPr>
        <a:xfrm xmlns:a="http://schemas.openxmlformats.org/drawingml/2006/main">
          <a:off x="659211" y="1996405"/>
          <a:ext cx="232780" cy="156686"/>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defPPr>
            <a:defRPr lang="en-US"/>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xmlns:a="http://schemas.openxmlformats.org/drawingml/2006/main">
          <a:endParaRPr lang="en-MY"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953E9E-3CE6-4CDF-9ED5-550AFAC768D7}" type="datetimeFigureOut">
              <a:rPr lang="en-MY" smtClean="0"/>
              <a:t>14/05/2026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F3AE3B-5638-4ECD-8B33-6B45359790A2}" type="slidenum">
              <a:rPr lang="en-MY" smtClean="0"/>
              <a:t>‹#›</a:t>
            </a:fld>
            <a:endParaRPr lang="en-MY"/>
          </a:p>
        </p:txBody>
      </p:sp>
    </p:spTree>
    <p:extLst>
      <p:ext uri="{BB962C8B-B14F-4D97-AF65-F5344CB8AC3E}">
        <p14:creationId xmlns:p14="http://schemas.microsoft.com/office/powerpoint/2010/main" val="1472810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46A2-3332-BF5D-DCDD-6812CD3A9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D66C3-AB36-846C-B610-93C4A5D6D7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2F1CD81-7238-0E9C-785B-A4B82608D901}"/>
              </a:ext>
            </a:extLst>
          </p:cNvPr>
          <p:cNvSpPr>
            <a:spLocks noGrp="1"/>
          </p:cNvSpPr>
          <p:nvPr>
            <p:ph type="body" idx="1"/>
          </p:nvPr>
        </p:nvSpPr>
        <p:spPr/>
        <p:txBody>
          <a:bodyPr/>
          <a:lstStyle/>
          <a:p>
            <a:endParaRPr lang="en-MY" i="0"/>
          </a:p>
        </p:txBody>
      </p:sp>
      <p:sp>
        <p:nvSpPr>
          <p:cNvPr id="4" name="Slide Number Placeholder 3">
            <a:extLst>
              <a:ext uri="{FF2B5EF4-FFF2-40B4-BE49-F238E27FC236}">
                <a16:creationId xmlns:a16="http://schemas.microsoft.com/office/drawing/2014/main" id="{8D5D40A4-F20D-7963-BCE7-CC4CD72CADF3}"/>
              </a:ext>
            </a:extLst>
          </p:cNvPr>
          <p:cNvSpPr>
            <a:spLocks noGrp="1"/>
          </p:cNvSpPr>
          <p:nvPr>
            <p:ph type="sldNum" sz="quarter" idx="5"/>
          </p:nvPr>
        </p:nvSpPr>
        <p:spPr/>
        <p:txBody>
          <a:bodyPr/>
          <a:lstStyle/>
          <a:p>
            <a:fld id="{D2475839-7633-465C-B787-258D709E8A22}" type="slidenum">
              <a:rPr lang="en-MY" smtClean="0"/>
              <a:t>13</a:t>
            </a:fld>
            <a:endParaRPr lang="en-MY"/>
          </a:p>
        </p:txBody>
      </p:sp>
    </p:spTree>
    <p:extLst>
      <p:ext uri="{BB962C8B-B14F-4D97-AF65-F5344CB8AC3E}">
        <p14:creationId xmlns:p14="http://schemas.microsoft.com/office/powerpoint/2010/main" val="749906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598FB-7B85-EF7E-2BFB-558D18567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CED00-8480-E783-61A9-9360CC6888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A2AB2B-4738-6CEC-3031-05F0F51D7816}"/>
              </a:ext>
            </a:extLst>
          </p:cNvPr>
          <p:cNvSpPr>
            <a:spLocks noGrp="1"/>
          </p:cNvSpPr>
          <p:nvPr>
            <p:ph type="body" idx="1"/>
          </p:nvPr>
        </p:nvSpPr>
        <p:spPr/>
        <p:txBody>
          <a:bodyPr/>
          <a:lstStyle/>
          <a:p>
            <a:r>
              <a:rPr lang="en-US" i="0"/>
              <a:t>External Residential work creates a conflict of interest, unlike Infrastructure &amp; Industrial work</a:t>
            </a:r>
            <a:endParaRPr lang="en-MY" i="0"/>
          </a:p>
        </p:txBody>
      </p:sp>
      <p:sp>
        <p:nvSpPr>
          <p:cNvPr id="4" name="Slide Number Placeholder 3">
            <a:extLst>
              <a:ext uri="{FF2B5EF4-FFF2-40B4-BE49-F238E27FC236}">
                <a16:creationId xmlns:a16="http://schemas.microsoft.com/office/drawing/2014/main" id="{CFB59600-74F0-4325-1803-16F6A73A288D}"/>
              </a:ext>
            </a:extLst>
          </p:cNvPr>
          <p:cNvSpPr>
            <a:spLocks noGrp="1"/>
          </p:cNvSpPr>
          <p:nvPr>
            <p:ph type="sldNum" sz="quarter" idx="5"/>
          </p:nvPr>
        </p:nvSpPr>
        <p:spPr/>
        <p:txBody>
          <a:bodyPr/>
          <a:lstStyle/>
          <a:p>
            <a:fld id="{D2475839-7633-465C-B787-258D709E8A22}" type="slidenum">
              <a:rPr lang="en-MY" smtClean="0"/>
              <a:t>14</a:t>
            </a:fld>
            <a:endParaRPr lang="en-MY"/>
          </a:p>
        </p:txBody>
      </p:sp>
    </p:spTree>
    <p:extLst>
      <p:ext uri="{BB962C8B-B14F-4D97-AF65-F5344CB8AC3E}">
        <p14:creationId xmlns:p14="http://schemas.microsoft.com/office/powerpoint/2010/main" val="2071778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0413B-1F13-7805-2088-11E57C6A87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9678DB59-518F-9405-9E10-A01049468C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AE878E4D-F5DF-FF8F-A88F-E5BC1E70E25F}"/>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5" name="Footer Placeholder 4">
            <a:extLst>
              <a:ext uri="{FF2B5EF4-FFF2-40B4-BE49-F238E27FC236}">
                <a16:creationId xmlns:a16="http://schemas.microsoft.com/office/drawing/2014/main" id="{6BD809D6-7496-A0CE-FBF2-9C42B9E64F8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843D1B3D-B153-055E-0CF4-76D312900579}"/>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1072973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AF24-A463-55C3-FB06-C423C0220C7A}"/>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DF01D864-B547-B641-DA46-11711F0D3E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19627486-91DD-DD17-9C4B-C891BECC2B48}"/>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5" name="Footer Placeholder 4">
            <a:extLst>
              <a:ext uri="{FF2B5EF4-FFF2-40B4-BE49-F238E27FC236}">
                <a16:creationId xmlns:a16="http://schemas.microsoft.com/office/drawing/2014/main" id="{408F3CC4-7F5E-7620-3DF8-3C82E4B1BC0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082CCD2C-8DB8-D5E1-6967-419DF3B0BE88}"/>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1315324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3415B-6583-1A84-82E3-D44A80F4A1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7E04ED5F-8680-6257-CF8D-5DD29B15AE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51F249-8D96-17EB-EC4F-37F05ECF3F28}"/>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5" name="Footer Placeholder 4">
            <a:extLst>
              <a:ext uri="{FF2B5EF4-FFF2-40B4-BE49-F238E27FC236}">
                <a16:creationId xmlns:a16="http://schemas.microsoft.com/office/drawing/2014/main" id="{D3CABA6D-3940-C098-3417-8F52AF5AAED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CBD282A-EC81-8115-CD3F-6FBAF8B8E1EF}"/>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2111894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05396-5549-4016-7BC8-57AB2FF91ED3}"/>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1B720DA7-FC42-E901-EC59-DEF3380EC5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CDC4226C-07C0-3C6A-92B7-D15A7252C2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AE1A5DFB-4667-BE10-2752-FF3883D65C8F}"/>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6" name="Footer Placeholder 5">
            <a:extLst>
              <a:ext uri="{FF2B5EF4-FFF2-40B4-BE49-F238E27FC236}">
                <a16:creationId xmlns:a16="http://schemas.microsoft.com/office/drawing/2014/main" id="{1B4BDAB2-928C-FC71-1C85-E8C2D48285F9}"/>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E1662CC5-AAED-8C5A-4AC5-7E4EE54A6761}"/>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107342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52A8A-4B24-8D6A-3FFD-136A89F8D2BC}"/>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DDAFC315-AB70-BFCC-D871-B6CFAB8719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932D34-DFF7-B2FE-EC07-2EE9A638CD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E775747F-2261-7301-1F24-FF8D1098B9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67CC-7439-B56D-81ED-0B982BCBE0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95C60226-061A-16E7-6389-E38D7BDCBAB7}"/>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8" name="Footer Placeholder 7">
            <a:extLst>
              <a:ext uri="{FF2B5EF4-FFF2-40B4-BE49-F238E27FC236}">
                <a16:creationId xmlns:a16="http://schemas.microsoft.com/office/drawing/2014/main" id="{CEB3208E-D3DF-71CB-797A-6ABE9D56528C}"/>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B72DDB9B-81AF-B3EF-5E91-66EB95AFF14E}"/>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2022411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1E4F2-9910-C36B-120A-FD98FD3334AA}"/>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482DBE06-F33F-1A13-A98A-068E4E5679BC}"/>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4" name="Footer Placeholder 3">
            <a:extLst>
              <a:ext uri="{FF2B5EF4-FFF2-40B4-BE49-F238E27FC236}">
                <a16:creationId xmlns:a16="http://schemas.microsoft.com/office/drawing/2014/main" id="{59D0AE1E-90A9-D286-0346-4854F7CA841F}"/>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4D5AA8A3-133E-774E-5596-C6F7236F04B7}"/>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643239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EBA211-B111-9763-EBA6-BBE0D8D7B55B}"/>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3" name="Footer Placeholder 2">
            <a:extLst>
              <a:ext uri="{FF2B5EF4-FFF2-40B4-BE49-F238E27FC236}">
                <a16:creationId xmlns:a16="http://schemas.microsoft.com/office/drawing/2014/main" id="{50FCC942-5A64-8AEA-866B-9A19E2C31996}"/>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FF02BBDE-9732-6DDB-6044-FDDB119B4A88}"/>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2459675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25562-7C94-F08C-E838-232389B70C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81C695B9-093D-085E-5502-3891578769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F07ABD62-32D2-AD92-AFF1-2CE600A496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54CB11-594D-B81A-548D-19C4214357F1}"/>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6" name="Footer Placeholder 5">
            <a:extLst>
              <a:ext uri="{FF2B5EF4-FFF2-40B4-BE49-F238E27FC236}">
                <a16:creationId xmlns:a16="http://schemas.microsoft.com/office/drawing/2014/main" id="{B60B9B9C-4B71-5626-1752-754E48A78BA3}"/>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BC003EF3-4B4F-9F13-1F6C-4CA8CEAC804D}"/>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244713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DA0C2-C936-199D-AF27-B87A46BD9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6D885379-1C15-2799-45DD-029AD3E4B8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377F883F-512E-B6CE-4DA1-95963CDA0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D02DAD-9CD2-9FDB-DCA3-E389517EF234}"/>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6" name="Footer Placeholder 5">
            <a:extLst>
              <a:ext uri="{FF2B5EF4-FFF2-40B4-BE49-F238E27FC236}">
                <a16:creationId xmlns:a16="http://schemas.microsoft.com/office/drawing/2014/main" id="{CAE33D5D-3B13-02C3-62E2-FA58C9DA3936}"/>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6519468D-7153-9F36-BB38-5AE82FEE14DD}"/>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3345170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0DF7D-C8A4-D82B-8AD7-0E3D847CDA83}"/>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E8C680C-FD1F-FF67-B862-2B83B8A9FB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F98DBAE-72C6-B63E-A937-239435F51428}"/>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5" name="Footer Placeholder 4">
            <a:extLst>
              <a:ext uri="{FF2B5EF4-FFF2-40B4-BE49-F238E27FC236}">
                <a16:creationId xmlns:a16="http://schemas.microsoft.com/office/drawing/2014/main" id="{30087505-137A-DDD4-45D9-B538EF807F9D}"/>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94CF99A-1BE2-7907-73E0-9D4975BD7485}"/>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2433134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6B2D97-3201-4F64-5582-ACF6D92987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B6C11439-523D-83A8-49AB-4F847DBB62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197B015-6F71-5071-B348-CFC110DB155C}"/>
              </a:ext>
            </a:extLst>
          </p:cNvPr>
          <p:cNvSpPr>
            <a:spLocks noGrp="1"/>
          </p:cNvSpPr>
          <p:nvPr>
            <p:ph type="dt" sz="half" idx="10"/>
          </p:nvPr>
        </p:nvSpPr>
        <p:spPr/>
        <p:txBody>
          <a:bodyPr/>
          <a:lstStyle/>
          <a:p>
            <a:fld id="{AB2C72E1-5042-495F-B54F-F63345516D6A}" type="datetimeFigureOut">
              <a:rPr lang="en-MY" smtClean="0"/>
              <a:t>14/05/2026</a:t>
            </a:fld>
            <a:endParaRPr lang="en-MY"/>
          </a:p>
        </p:txBody>
      </p:sp>
      <p:sp>
        <p:nvSpPr>
          <p:cNvPr id="5" name="Footer Placeholder 4">
            <a:extLst>
              <a:ext uri="{FF2B5EF4-FFF2-40B4-BE49-F238E27FC236}">
                <a16:creationId xmlns:a16="http://schemas.microsoft.com/office/drawing/2014/main" id="{30DCC340-D9CA-E6DD-8BF5-EC9A1225E0D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54A3CE8-BD15-7038-08D5-23C07DB9DF17}"/>
              </a:ext>
            </a:extLst>
          </p:cNvPr>
          <p:cNvSpPr>
            <a:spLocks noGrp="1"/>
          </p:cNvSpPr>
          <p:nvPr>
            <p:ph type="sldNum" sz="quarter" idx="12"/>
          </p:nvPr>
        </p:nvSpPr>
        <p:spPr/>
        <p:txBody>
          <a:bodyPr/>
          <a:lstStyle/>
          <a:p>
            <a:fld id="{1CB5BADB-5582-4E45-8CA8-DA8EACF4CD32}" type="slidenum">
              <a:rPr lang="en-MY" smtClean="0"/>
              <a:t>‹#›</a:t>
            </a:fld>
            <a:endParaRPr lang="en-MY"/>
          </a:p>
        </p:txBody>
      </p:sp>
    </p:spTree>
    <p:extLst>
      <p:ext uri="{BB962C8B-B14F-4D97-AF65-F5344CB8AC3E}">
        <p14:creationId xmlns:p14="http://schemas.microsoft.com/office/powerpoint/2010/main" val="615931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029AB1-BB0A-6DC6-4958-9C7BD1CF47C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1"/>
          <a:stretch/>
        </p:blipFill>
        <p:spPr>
          <a:xfrm>
            <a:off x="2097741" y="-34327"/>
            <a:ext cx="10094257" cy="6908562"/>
          </a:xfrm>
          <a:prstGeom prst="rect">
            <a:avLst/>
          </a:prstGeom>
        </p:spPr>
      </p:pic>
      <p:sp>
        <p:nvSpPr>
          <p:cNvPr id="6" name="Rectangle 5">
            <a:extLst>
              <a:ext uri="{FF2B5EF4-FFF2-40B4-BE49-F238E27FC236}">
                <a16:creationId xmlns:a16="http://schemas.microsoft.com/office/drawing/2014/main" id="{7AA8806D-CE32-421B-8A8C-B105075C36C7}"/>
              </a:ext>
            </a:extLst>
          </p:cNvPr>
          <p:cNvSpPr/>
          <p:nvPr userDrawn="1"/>
        </p:nvSpPr>
        <p:spPr>
          <a:xfrm>
            <a:off x="2097742" y="0"/>
            <a:ext cx="10094257" cy="6858001"/>
          </a:xfrm>
          <a:prstGeom prst="rect">
            <a:avLst/>
          </a:prstGeom>
          <a:solidFill>
            <a:srgbClr val="12102C">
              <a:alpha val="5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774C13D-A087-2EAD-F13D-81AD9740058D}"/>
              </a:ext>
            </a:extLst>
          </p:cNvPr>
          <p:cNvSpPr/>
          <p:nvPr userDrawn="1"/>
        </p:nvSpPr>
        <p:spPr>
          <a:xfrm>
            <a:off x="1861073" y="1350"/>
            <a:ext cx="236669" cy="6857999"/>
          </a:xfrm>
          <a:prstGeom prst="rect">
            <a:avLst/>
          </a:prstGeom>
          <a:solidFill>
            <a:srgbClr val="1A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9524A26-DF54-A1EC-38FC-3027896BBA7F}"/>
              </a:ext>
            </a:extLst>
          </p:cNvPr>
          <p:cNvSpPr/>
          <p:nvPr userDrawn="1"/>
        </p:nvSpPr>
        <p:spPr>
          <a:xfrm>
            <a:off x="1066351" y="2505187"/>
            <a:ext cx="1847627" cy="1847627"/>
          </a:xfrm>
          <a:prstGeom prst="ellipse">
            <a:avLst/>
          </a:prstGeom>
          <a:solidFill>
            <a:srgbClr val="1210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a:p>
        </p:txBody>
      </p:sp>
      <p:pic>
        <p:nvPicPr>
          <p:cNvPr id="9" name="Picture 8">
            <a:extLst>
              <a:ext uri="{FF2B5EF4-FFF2-40B4-BE49-F238E27FC236}">
                <a16:creationId xmlns:a16="http://schemas.microsoft.com/office/drawing/2014/main" id="{A91C8F5E-70D5-ABFE-D325-F31F958624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186862" y="252583"/>
            <a:ext cx="788423" cy="281143"/>
          </a:xfrm>
          <a:prstGeom prst="rect">
            <a:avLst/>
          </a:prstGeom>
        </p:spPr>
      </p:pic>
      <p:sp>
        <p:nvSpPr>
          <p:cNvPr id="10" name="Title 9">
            <a:extLst>
              <a:ext uri="{FF2B5EF4-FFF2-40B4-BE49-F238E27FC236}">
                <a16:creationId xmlns:a16="http://schemas.microsoft.com/office/drawing/2014/main" id="{BB0E7708-9786-E529-6117-A4D276A7DCAF}"/>
              </a:ext>
            </a:extLst>
          </p:cNvPr>
          <p:cNvSpPr>
            <a:spLocks noGrp="1"/>
          </p:cNvSpPr>
          <p:nvPr>
            <p:ph type="title"/>
          </p:nvPr>
        </p:nvSpPr>
        <p:spPr>
          <a:xfrm>
            <a:off x="3278910" y="2177328"/>
            <a:ext cx="8148782" cy="1325563"/>
          </a:xfrm>
        </p:spPr>
        <p:txBody>
          <a:bodyPr/>
          <a:lstStyle>
            <a:lvl1pPr>
              <a:defRPr b="1">
                <a:solidFill>
                  <a:schemeClr val="bg1"/>
                </a:solidFill>
                <a:latin typeface="+mn-lt"/>
              </a:defRPr>
            </a:lvl1pPr>
          </a:lstStyle>
          <a:p>
            <a:r>
              <a:rPr lang="en-US"/>
              <a:t>Click to edit Master title style</a:t>
            </a:r>
            <a:endParaRPr lang="en-MY"/>
          </a:p>
        </p:txBody>
      </p:sp>
      <p:sp>
        <p:nvSpPr>
          <p:cNvPr id="11" name="Subtitle 2">
            <a:extLst>
              <a:ext uri="{FF2B5EF4-FFF2-40B4-BE49-F238E27FC236}">
                <a16:creationId xmlns:a16="http://schemas.microsoft.com/office/drawing/2014/main" id="{A4958410-86F6-3A1C-28E9-9D9704B60894}"/>
              </a:ext>
            </a:extLst>
          </p:cNvPr>
          <p:cNvSpPr>
            <a:spLocks noGrp="1"/>
          </p:cNvSpPr>
          <p:nvPr>
            <p:ph type="subTitle" idx="1"/>
          </p:nvPr>
        </p:nvSpPr>
        <p:spPr>
          <a:xfrm>
            <a:off x="3278910" y="3532909"/>
            <a:ext cx="4436343" cy="800696"/>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14" name="Text Placeholder 13">
            <a:extLst>
              <a:ext uri="{FF2B5EF4-FFF2-40B4-BE49-F238E27FC236}">
                <a16:creationId xmlns:a16="http://schemas.microsoft.com/office/drawing/2014/main" id="{30196119-2085-9C72-5FBF-622DD08BF37E}"/>
              </a:ext>
            </a:extLst>
          </p:cNvPr>
          <p:cNvSpPr>
            <a:spLocks noGrp="1"/>
          </p:cNvSpPr>
          <p:nvPr>
            <p:ph type="body" sz="quarter" idx="10"/>
          </p:nvPr>
        </p:nvSpPr>
        <p:spPr>
          <a:xfrm>
            <a:off x="1441683" y="2890595"/>
            <a:ext cx="1072920" cy="1042662"/>
          </a:xfrm>
        </p:spPr>
        <p:txBody>
          <a:bodyPr anchor="ctr">
            <a:noAutofit/>
          </a:bodyPr>
          <a:lstStyle>
            <a:lvl1pPr marL="0" indent="0">
              <a:buNone/>
              <a:defRPr sz="6000" b="1">
                <a:solidFill>
                  <a:srgbClr val="B2844C"/>
                </a:solidFill>
              </a:defRPr>
            </a:lvl1pPr>
            <a:lvl2pPr marL="457200" indent="0">
              <a:buNone/>
              <a:defRPr sz="6000" b="1">
                <a:solidFill>
                  <a:srgbClr val="B2844C"/>
                </a:solidFill>
              </a:defRPr>
            </a:lvl2pPr>
            <a:lvl3pPr marL="914400" indent="0">
              <a:buNone/>
              <a:defRPr sz="6000" b="1">
                <a:solidFill>
                  <a:srgbClr val="B2844C"/>
                </a:solidFill>
              </a:defRPr>
            </a:lvl3pPr>
            <a:lvl4pPr marL="1371600" indent="0">
              <a:buNone/>
              <a:defRPr sz="6000" b="1">
                <a:solidFill>
                  <a:srgbClr val="B2844C"/>
                </a:solidFill>
              </a:defRPr>
            </a:lvl4pPr>
            <a:lvl5pPr marL="1828800" indent="0">
              <a:buNone/>
              <a:defRPr sz="6000" b="1">
                <a:solidFill>
                  <a:srgbClr val="B2844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4051821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F8F09-F11C-6E91-AFE5-14FBAC50D504}"/>
              </a:ext>
            </a:extLst>
          </p:cNvPr>
          <p:cNvSpPr>
            <a:spLocks noGrp="1"/>
          </p:cNvSpPr>
          <p:nvPr>
            <p:ph type="title"/>
          </p:nvPr>
        </p:nvSpPr>
        <p:spPr>
          <a:xfrm>
            <a:off x="838200" y="365125"/>
            <a:ext cx="10515600" cy="777600"/>
          </a:xfrm>
        </p:spPr>
        <p:txBody>
          <a:bodyPr/>
          <a:lstStyle>
            <a:lvl1pPr>
              <a:defRPr b="1">
                <a:latin typeface="+mn-lt"/>
              </a:defRPr>
            </a:lvl1pPr>
          </a:lstStyle>
          <a:p>
            <a:r>
              <a:rPr lang="en-US"/>
              <a:t>Click to edit Master title style</a:t>
            </a:r>
            <a:endParaRPr lang="en-MY"/>
          </a:p>
        </p:txBody>
      </p:sp>
      <p:sp>
        <p:nvSpPr>
          <p:cNvPr id="3" name="Date Placeholder 2">
            <a:extLst>
              <a:ext uri="{FF2B5EF4-FFF2-40B4-BE49-F238E27FC236}">
                <a16:creationId xmlns:a16="http://schemas.microsoft.com/office/drawing/2014/main" id="{724509AE-7B77-1316-E3DF-0FA8E2F54075}"/>
              </a:ext>
            </a:extLst>
          </p:cNvPr>
          <p:cNvSpPr>
            <a:spLocks noGrp="1"/>
          </p:cNvSpPr>
          <p:nvPr>
            <p:ph type="dt" sz="half" idx="10"/>
          </p:nvPr>
        </p:nvSpPr>
        <p:spPr/>
        <p:txBody>
          <a:bodyPr/>
          <a:lstStyle/>
          <a:p>
            <a:fld id="{FDE28B03-5426-41B4-B24C-9DD449E1E10C}" type="datetimeFigureOut">
              <a:rPr lang="en-MY" smtClean="0"/>
              <a:t>14/05/2026</a:t>
            </a:fld>
            <a:endParaRPr lang="en-MY"/>
          </a:p>
        </p:txBody>
      </p:sp>
      <p:sp>
        <p:nvSpPr>
          <p:cNvPr id="4" name="Footer Placeholder 3">
            <a:extLst>
              <a:ext uri="{FF2B5EF4-FFF2-40B4-BE49-F238E27FC236}">
                <a16:creationId xmlns:a16="http://schemas.microsoft.com/office/drawing/2014/main" id="{C785F38D-83D5-BB7A-4D87-056A6FE0EF49}"/>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46165548-EDE5-1AC3-EEA1-1433CDEF8B19}"/>
              </a:ext>
            </a:extLst>
          </p:cNvPr>
          <p:cNvSpPr>
            <a:spLocks noGrp="1"/>
          </p:cNvSpPr>
          <p:nvPr>
            <p:ph type="sldNum" sz="quarter" idx="12"/>
          </p:nvPr>
        </p:nvSpPr>
        <p:spPr/>
        <p:txBody>
          <a:bodyPr/>
          <a:lstStyle/>
          <a:p>
            <a:fld id="{CBFAB9EB-54AA-412A-A10C-19FA478213B4}" type="slidenum">
              <a:rPr lang="en-MY" smtClean="0"/>
              <a:t>‹#›</a:t>
            </a:fld>
            <a:endParaRPr lang="en-MY"/>
          </a:p>
        </p:txBody>
      </p:sp>
      <p:sp>
        <p:nvSpPr>
          <p:cNvPr id="6" name="Rectangle 5">
            <a:extLst>
              <a:ext uri="{FF2B5EF4-FFF2-40B4-BE49-F238E27FC236}">
                <a16:creationId xmlns:a16="http://schemas.microsoft.com/office/drawing/2014/main" id="{77D154EB-B388-1804-D597-7F3D986E7ABB}"/>
              </a:ext>
            </a:extLst>
          </p:cNvPr>
          <p:cNvSpPr/>
          <p:nvPr userDrawn="1"/>
        </p:nvSpPr>
        <p:spPr>
          <a:xfrm>
            <a:off x="0" y="1350"/>
            <a:ext cx="236669" cy="6857999"/>
          </a:xfrm>
          <a:prstGeom prst="rect">
            <a:avLst/>
          </a:prstGeom>
          <a:solidFill>
            <a:srgbClr val="1A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63433D14-A4BF-8004-93DE-AA88A71A2F2F}"/>
              </a:ext>
            </a:extLst>
          </p:cNvPr>
          <p:cNvSpPr>
            <a:spLocks noGrp="1"/>
          </p:cNvSpPr>
          <p:nvPr>
            <p:ph type="body" sz="quarter" idx="13"/>
          </p:nvPr>
        </p:nvSpPr>
        <p:spPr>
          <a:xfrm>
            <a:off x="838199" y="1414462"/>
            <a:ext cx="10515599" cy="4787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Tree>
    <p:extLst>
      <p:ext uri="{BB962C8B-B14F-4D97-AF65-F5344CB8AC3E}">
        <p14:creationId xmlns:p14="http://schemas.microsoft.com/office/powerpoint/2010/main" val="2173027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4F9DBB-790B-34A9-BAF6-049E8E759B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81994C1-3979-8737-9584-C5D858A880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363723B-6652-9485-AAA8-33597A6CD6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2C72E1-5042-495F-B54F-F63345516D6A}" type="datetimeFigureOut">
              <a:rPr lang="en-MY" smtClean="0"/>
              <a:t>14/05/2026</a:t>
            </a:fld>
            <a:endParaRPr lang="en-MY"/>
          </a:p>
        </p:txBody>
      </p:sp>
      <p:sp>
        <p:nvSpPr>
          <p:cNvPr id="5" name="Footer Placeholder 4">
            <a:extLst>
              <a:ext uri="{FF2B5EF4-FFF2-40B4-BE49-F238E27FC236}">
                <a16:creationId xmlns:a16="http://schemas.microsoft.com/office/drawing/2014/main" id="{FFAA2A90-375D-1E5F-8C89-E1B0055421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FD4C8252-BD7C-696F-4277-1811829F6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B5BADB-5582-4E45-8CA8-DA8EACF4CD32}" type="slidenum">
              <a:rPr lang="en-MY" smtClean="0"/>
              <a:t>‹#›</a:t>
            </a:fld>
            <a:endParaRPr lang="en-MY"/>
          </a:p>
        </p:txBody>
      </p:sp>
      <p:sp>
        <p:nvSpPr>
          <p:cNvPr id="7" name="Rectangle 6">
            <a:extLst>
              <a:ext uri="{FF2B5EF4-FFF2-40B4-BE49-F238E27FC236}">
                <a16:creationId xmlns:a16="http://schemas.microsoft.com/office/drawing/2014/main" id="{81C5ADBA-B965-1071-BAA5-20CF0068387D}"/>
              </a:ext>
            </a:extLst>
          </p:cNvPr>
          <p:cNvSpPr/>
          <p:nvPr userDrawn="1"/>
        </p:nvSpPr>
        <p:spPr>
          <a:xfrm>
            <a:off x="0" y="1350"/>
            <a:ext cx="236669" cy="6857999"/>
          </a:xfrm>
          <a:prstGeom prst="rect">
            <a:avLst/>
          </a:prstGeom>
          <a:solidFill>
            <a:srgbClr val="1A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7196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326_C5AFE6C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2" Type="http://schemas.microsoft.com/office/2018/10/relationships/comments" Target="../comments/modernComment_12DE_A4105B3F.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330_D6E488C8.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337_CD5045DD.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microsoft.com/office/2018/10/relationships/comments" Target="../comments/modernComment_1338_C8567E5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chart" Target="../charts/chart5.xml"/><Relationship Id="rId3" Type="http://schemas.microsoft.com/office/2018/10/relationships/comments" Target="../comments/modernComment_10A_34A21654.xml"/><Relationship Id="rId7" Type="http://schemas.openxmlformats.org/officeDocument/2006/relationships/chart" Target="../charts/chart4.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 Id="rId9" Type="http://schemas.openxmlformats.org/officeDocument/2006/relationships/chart" Target="../charts/chart6.xml"/></Relationships>
</file>

<file path=ppt/slides/_rels/slide14.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chart" Target="../charts/chart7.xml"/><Relationship Id="rId7" Type="http://schemas.openxmlformats.org/officeDocument/2006/relationships/chart" Target="../charts/chart1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chart" Target="../charts/chart8.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chart" Target="../charts/chart13.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chart" Target="../charts/chart16.xml"/></Relationships>
</file>

<file path=ppt/slides/_rels/slide1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chart" Target="../charts/chart18.xml"/></Relationships>
</file>

<file path=ppt/slides/_rels/slide1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chart" Target="../charts/chart22.xml"/><Relationship Id="rId5" Type="http://schemas.openxmlformats.org/officeDocument/2006/relationships/hyperlink" Target="https://www.mercurysecurities.com.my/wp-content/uploads/2025/09/Binastra-Corporation-250919-1HFY26-Result-Note-Mercury.pdf" TargetMode="External"/><Relationship Id="rId4" Type="http://schemas.openxmlformats.org/officeDocument/2006/relationships/hyperlink" Target="https://www.mercurysecurities.com.my/wp-content/uploads/2025/01/20250106-BNASTRA-Initiation-Coverage-2.pdf"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chart" Target="../charts/char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1.xml"/><Relationship Id="rId4" Type="http://schemas.openxmlformats.org/officeDocument/2006/relationships/chart" Target="../charts/chart27.xml"/></Relationships>
</file>

<file path=ppt/slides/_rels/slide28.xml.rels><?xml version="1.0" encoding="UTF-8" standalone="yes"?>
<Relationships xmlns="http://schemas.openxmlformats.org/package/2006/relationships"><Relationship Id="rId2" Type="http://schemas.openxmlformats.org/officeDocument/2006/relationships/chart" Target="../charts/chart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1.xml"/><Relationship Id="rId5" Type="http://schemas.openxmlformats.org/officeDocument/2006/relationships/chart" Target="../charts/chart32.xml"/><Relationship Id="rId4" Type="http://schemas.openxmlformats.org/officeDocument/2006/relationships/chart" Target="../charts/chart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www.bursamalaysia.com/market_information/announcements/company_announcement/announcement_details?ann_id=3534003" TargetMode="External"/><Relationship Id="rId2" Type="http://schemas.openxmlformats.org/officeDocument/2006/relationships/hyperlink" Target="https://www.bursamalaysia.com/market_information/announcements/company_announcement/announcement_details?ann_id=3528727"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intabina.com/wp-content/uploads/2025/04/Annual-Report-2024.pdf" TargetMode="External"/><Relationship Id="rId2" Type="http://schemas.openxmlformats.org/officeDocument/2006/relationships/hyperlink" Target="https://www.bursamalaysia.com/market_information/announcements/company_announcement/announcement_details?ann_id=3588536"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microsoft.com/office/2018/10/relationships/comments" Target="../comments/modernComment_12ED_21FCD7E.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chart" Target="../charts/chart33.xml"/><Relationship Id="rId2" Type="http://schemas.microsoft.com/office/2018/10/relationships/comments" Target="../comments/modernComment_12D9_17E60B6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34.xml"/><Relationship Id="rId2" Type="http://schemas.microsoft.com/office/2018/10/relationships/comments" Target="../comments/modernComment_12DA_BE37A0D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EACB-6F7D-9BD0-BB27-24DE5CE9E8A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4A14B9-B58A-B623-FD86-9D128E17271C}"/>
              </a:ext>
            </a:extLst>
          </p:cNvPr>
          <p:cNvSpPr>
            <a:spLocks noGrp="1"/>
          </p:cNvSpPr>
          <p:nvPr>
            <p:ph type="title"/>
          </p:nvPr>
        </p:nvSpPr>
        <p:spPr>
          <a:xfrm>
            <a:off x="362712" y="90805"/>
            <a:ext cx="10515600" cy="777600"/>
          </a:xfrm>
        </p:spPr>
        <p:txBody>
          <a:bodyPr>
            <a:normAutofit/>
          </a:bodyPr>
          <a:lstStyle/>
          <a:p>
            <a:r>
              <a:rPr lang="en-MY" sz="3600"/>
              <a:t>Introduction</a:t>
            </a:r>
          </a:p>
        </p:txBody>
      </p:sp>
      <p:sp>
        <p:nvSpPr>
          <p:cNvPr id="4" name="Slide Number Placeholder 4">
            <a:extLst>
              <a:ext uri="{FF2B5EF4-FFF2-40B4-BE49-F238E27FC236}">
                <a16:creationId xmlns:a16="http://schemas.microsoft.com/office/drawing/2014/main" id="{5E0184EA-5F4A-2BAA-E49F-52C534B03989}"/>
              </a:ext>
            </a:extLst>
          </p:cNvPr>
          <p:cNvSpPr>
            <a:spLocks noGrp="1"/>
          </p:cNvSpPr>
          <p:nvPr>
            <p:ph type="sldNum" sz="quarter" idx="12"/>
          </p:nvPr>
        </p:nvSpPr>
        <p:spPr>
          <a:xfrm>
            <a:off x="9375060" y="6356349"/>
            <a:ext cx="2743200" cy="365125"/>
          </a:xfrm>
          <a:prstGeom prst="rect">
            <a:avLst/>
          </a:prstGeom>
        </p:spPr>
        <p:txBody>
          <a:bodyPr/>
          <a:lstStyle/>
          <a:p>
            <a:fld id="{4C52F89C-230B-40F8-B5DC-B76BA2C55BBC}" type="slidenum">
              <a:rPr lang="en-US" smtClean="0"/>
              <a:t>1</a:t>
            </a:fld>
            <a:endParaRPr lang="en-US"/>
          </a:p>
        </p:txBody>
      </p:sp>
      <p:sp>
        <p:nvSpPr>
          <p:cNvPr id="2" name="TextBox 1">
            <a:extLst>
              <a:ext uri="{FF2B5EF4-FFF2-40B4-BE49-F238E27FC236}">
                <a16:creationId xmlns:a16="http://schemas.microsoft.com/office/drawing/2014/main" id="{01E118AA-FC91-2A0B-C716-D612F0FDD878}"/>
              </a:ext>
            </a:extLst>
          </p:cNvPr>
          <p:cNvSpPr txBox="1"/>
          <p:nvPr/>
        </p:nvSpPr>
        <p:spPr>
          <a:xfrm>
            <a:off x="412727" y="868405"/>
            <a:ext cx="11416561"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SzPct val="60000"/>
              <a:buFont typeface="Wingdings" panose="05000000000000000000" pitchFamily="2" charset="2"/>
              <a:buChar char="q"/>
            </a:pPr>
            <a:r>
              <a:rPr lang="en-US" sz="1600"/>
              <a:t>At the end of January 2026, we were invited to visit </a:t>
            </a:r>
            <a:r>
              <a:rPr lang="en-US" sz="1600" b="1" err="1"/>
              <a:t>Inta</a:t>
            </a:r>
            <a:r>
              <a:rPr lang="en-US" sz="1600" b="1"/>
              <a:t> Bina’s office</a:t>
            </a:r>
            <a:r>
              <a:rPr lang="en-US" sz="1600"/>
              <a:t> to explore a potential partnership with the founders for our construction business. The founders indicated their willingness to let go up to </a:t>
            </a:r>
            <a:r>
              <a:rPr lang="en-US" sz="1600" b="1"/>
              <a:t>20% equity</a:t>
            </a:r>
            <a:r>
              <a:rPr lang="en-US" sz="1600"/>
              <a:t>, with the possibility of enlarging the capital base by issuing new shares, to make OSK the </a:t>
            </a:r>
            <a:r>
              <a:rPr lang="en-US" sz="1600" b="1"/>
              <a:t>single largest shareholder</a:t>
            </a:r>
            <a:r>
              <a:rPr lang="en-US" sz="1600"/>
              <a:t> of </a:t>
            </a:r>
            <a:r>
              <a:rPr lang="en-US" sz="1600" err="1"/>
              <a:t>Inta</a:t>
            </a:r>
            <a:r>
              <a:rPr lang="en-US" sz="1600"/>
              <a:t> Bina. This could be via other means, such as a </a:t>
            </a:r>
            <a:r>
              <a:rPr lang="en-US" sz="1600" b="1"/>
              <a:t>share-swap arrangement</a:t>
            </a:r>
            <a:r>
              <a:rPr lang="en-US" sz="1600"/>
              <a:t> with our construction arm. </a:t>
            </a:r>
          </a:p>
          <a:p>
            <a:pPr marL="285750" indent="-285750" algn="just">
              <a:buSzPct val="60000"/>
              <a:buFont typeface="Wingdings" panose="05000000000000000000" pitchFamily="2" charset="2"/>
              <a:buChar char="q"/>
            </a:pPr>
            <a:endParaRPr lang="en-US" sz="1600"/>
          </a:p>
          <a:p>
            <a:pPr marL="285750" indent="-285750" algn="just">
              <a:buSzPct val="60000"/>
              <a:buFont typeface="Wingdings" panose="05000000000000000000" pitchFamily="2" charset="2"/>
              <a:buChar char="q"/>
            </a:pPr>
            <a:r>
              <a:rPr lang="en-US" sz="1600"/>
              <a:t>Currently, our Group has a construction platform primarily supporting its in-house property developments. Moving forward, it intends to progressively strengthen its construction capabilities by reducing reliance on external parties/contractors and securing external construction projects. </a:t>
            </a:r>
            <a:r>
              <a:rPr lang="en-US" sz="1600" kern="100">
                <a:ea typeface="Calibri" panose="020F0502020204030204" pitchFamily="34" charset="0"/>
                <a:cs typeface="Times New Roman" panose="02020603050405020304" pitchFamily="18" charset="0"/>
              </a:rPr>
              <a:t>This investment opportunity with </a:t>
            </a:r>
            <a:r>
              <a:rPr lang="en-US" sz="1600" kern="100" err="1">
                <a:ea typeface="Calibri" panose="020F0502020204030204" pitchFamily="34" charset="0"/>
                <a:cs typeface="Times New Roman" panose="02020603050405020304" pitchFamily="18" charset="0"/>
              </a:rPr>
              <a:t>Inta</a:t>
            </a:r>
            <a:r>
              <a:rPr lang="en-US" sz="1600" kern="100">
                <a:ea typeface="Calibri" panose="020F0502020204030204" pitchFamily="34" charset="0"/>
                <a:cs typeface="Times New Roman" panose="02020603050405020304" pitchFamily="18" charset="0"/>
              </a:rPr>
              <a:t> Bina provides a different trajectory by partnering with an established listed construction company that serves external clients.</a:t>
            </a:r>
            <a:endParaRPr lang="en-US" sz="1600"/>
          </a:p>
          <a:p>
            <a:pPr marL="285750" indent="-285750" algn="just">
              <a:buSzPct val="60000"/>
              <a:buFont typeface="Wingdings" panose="05000000000000000000" pitchFamily="2" charset="2"/>
              <a:buChar char="q"/>
            </a:pPr>
            <a:endParaRPr lang="en-US" sz="1600"/>
          </a:p>
          <a:p>
            <a:pPr marL="285750" indent="-285750" algn="just">
              <a:buSzPct val="60000"/>
              <a:buFont typeface="Wingdings" panose="05000000000000000000" pitchFamily="2" charset="2"/>
              <a:buChar char="q"/>
            </a:pPr>
            <a:r>
              <a:rPr lang="en-US" sz="1600"/>
              <a:t>We set out below and in the ensuing pages our assessment of this opportunity.</a:t>
            </a:r>
          </a:p>
          <a:p>
            <a:r>
              <a:rPr lang="en-US"/>
              <a:t> </a:t>
            </a:r>
          </a:p>
        </p:txBody>
      </p:sp>
      <p:sp>
        <p:nvSpPr>
          <p:cNvPr id="6" name="Arrow: Chevron 5">
            <a:extLst>
              <a:ext uri="{FF2B5EF4-FFF2-40B4-BE49-F238E27FC236}">
                <a16:creationId xmlns:a16="http://schemas.microsoft.com/office/drawing/2014/main" id="{5EAD236E-3021-890C-F205-1DEC54D28750}"/>
              </a:ext>
            </a:extLst>
          </p:cNvPr>
          <p:cNvSpPr/>
          <p:nvPr/>
        </p:nvSpPr>
        <p:spPr>
          <a:xfrm>
            <a:off x="904876" y="4586775"/>
            <a:ext cx="2562224" cy="1044193"/>
          </a:xfrm>
          <a:prstGeom prst="chevron">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Is </a:t>
            </a:r>
            <a:r>
              <a:rPr lang="en-US" sz="1600" b="1" err="1">
                <a:solidFill>
                  <a:schemeClr val="tx1"/>
                </a:solidFill>
              </a:rPr>
              <a:t>Inta</a:t>
            </a:r>
            <a:r>
              <a:rPr lang="en-US" sz="1600" b="1">
                <a:solidFill>
                  <a:schemeClr val="tx1"/>
                </a:solidFill>
              </a:rPr>
              <a:t> Bina a meaningful Target?</a:t>
            </a:r>
            <a:endParaRPr lang="en-US" sz="1500" b="1">
              <a:solidFill>
                <a:schemeClr val="tx1"/>
              </a:solidFill>
            </a:endParaRPr>
          </a:p>
        </p:txBody>
      </p:sp>
      <p:sp>
        <p:nvSpPr>
          <p:cNvPr id="7" name="Arrow: Chevron 6">
            <a:extLst>
              <a:ext uri="{FF2B5EF4-FFF2-40B4-BE49-F238E27FC236}">
                <a16:creationId xmlns:a16="http://schemas.microsoft.com/office/drawing/2014/main" id="{948B321D-0B2B-EAC4-ADD3-C755C546BEA8}"/>
              </a:ext>
            </a:extLst>
          </p:cNvPr>
          <p:cNvSpPr/>
          <p:nvPr/>
        </p:nvSpPr>
        <p:spPr>
          <a:xfrm>
            <a:off x="3654447" y="4569799"/>
            <a:ext cx="2562224" cy="1044194"/>
          </a:xfrm>
          <a:prstGeom prst="chevron">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tx1"/>
                </a:solidFill>
              </a:rPr>
              <a:t>Acquisition – Immediate Benefits &amp; Consideration</a:t>
            </a:r>
            <a:endParaRPr lang="en-MY" sz="1500" b="1">
              <a:solidFill>
                <a:schemeClr val="tx1"/>
              </a:solidFill>
            </a:endParaRPr>
          </a:p>
        </p:txBody>
      </p:sp>
      <p:sp>
        <p:nvSpPr>
          <p:cNvPr id="8" name="Arrow: Chevron 7">
            <a:extLst>
              <a:ext uri="{FF2B5EF4-FFF2-40B4-BE49-F238E27FC236}">
                <a16:creationId xmlns:a16="http://schemas.microsoft.com/office/drawing/2014/main" id="{2714E34B-A7C7-07FE-E7CD-2A70CBB4346F}"/>
              </a:ext>
            </a:extLst>
          </p:cNvPr>
          <p:cNvSpPr/>
          <p:nvPr/>
        </p:nvSpPr>
        <p:spPr>
          <a:xfrm>
            <a:off x="6426225" y="4571874"/>
            <a:ext cx="2562224" cy="1044194"/>
          </a:xfrm>
          <a:prstGeom prst="chevron">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t>Strategic Fit &amp; Proposed Transaction Structure</a:t>
            </a:r>
            <a:endParaRPr lang="en-MY" sz="1500" b="1"/>
          </a:p>
        </p:txBody>
      </p:sp>
      <p:sp>
        <p:nvSpPr>
          <p:cNvPr id="9" name="Arrow: Chevron 8">
            <a:extLst>
              <a:ext uri="{FF2B5EF4-FFF2-40B4-BE49-F238E27FC236}">
                <a16:creationId xmlns:a16="http://schemas.microsoft.com/office/drawing/2014/main" id="{CDE960A0-135B-B437-ABF5-E2D0D47E6C25}"/>
              </a:ext>
            </a:extLst>
          </p:cNvPr>
          <p:cNvSpPr/>
          <p:nvPr/>
        </p:nvSpPr>
        <p:spPr>
          <a:xfrm>
            <a:off x="9030280" y="4564423"/>
            <a:ext cx="2998565" cy="1044194"/>
          </a:xfrm>
          <a:prstGeom prst="chevron">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bg1"/>
                </a:solidFill>
              </a:rPr>
              <a:t>Recommendation &amp; Long Term Consideration</a:t>
            </a:r>
            <a:endParaRPr lang="en-MY" sz="1500" b="1">
              <a:solidFill>
                <a:schemeClr val="bg1"/>
              </a:solidFill>
            </a:endParaRPr>
          </a:p>
        </p:txBody>
      </p:sp>
      <p:sp>
        <p:nvSpPr>
          <p:cNvPr id="10" name="TextBox 9">
            <a:extLst>
              <a:ext uri="{FF2B5EF4-FFF2-40B4-BE49-F238E27FC236}">
                <a16:creationId xmlns:a16="http://schemas.microsoft.com/office/drawing/2014/main" id="{71A7D36F-80D5-2610-2945-8C6D58DB5EB3}"/>
              </a:ext>
            </a:extLst>
          </p:cNvPr>
          <p:cNvSpPr txBox="1"/>
          <p:nvPr/>
        </p:nvSpPr>
        <p:spPr>
          <a:xfrm>
            <a:off x="717529" y="3838003"/>
            <a:ext cx="676788" cy="523220"/>
          </a:xfrm>
          <a:prstGeom prst="rect">
            <a:avLst/>
          </a:prstGeom>
          <a:noFill/>
        </p:spPr>
        <p:txBody>
          <a:bodyPr wrap="none" rtlCol="0">
            <a:spAutoFit/>
          </a:bodyPr>
          <a:lstStyle/>
          <a:p>
            <a:r>
              <a:rPr lang="en-US" sz="2800" b="1"/>
              <a:t>1.0</a:t>
            </a:r>
          </a:p>
        </p:txBody>
      </p:sp>
      <p:sp>
        <p:nvSpPr>
          <p:cNvPr id="11" name="TextBox 10">
            <a:extLst>
              <a:ext uri="{FF2B5EF4-FFF2-40B4-BE49-F238E27FC236}">
                <a16:creationId xmlns:a16="http://schemas.microsoft.com/office/drawing/2014/main" id="{C2BD85C1-CB0A-6674-A28A-4F62C57A2BB3}"/>
              </a:ext>
            </a:extLst>
          </p:cNvPr>
          <p:cNvSpPr txBox="1"/>
          <p:nvPr/>
        </p:nvSpPr>
        <p:spPr>
          <a:xfrm>
            <a:off x="3517115" y="3838003"/>
            <a:ext cx="676788" cy="523220"/>
          </a:xfrm>
          <a:prstGeom prst="rect">
            <a:avLst/>
          </a:prstGeom>
          <a:noFill/>
        </p:spPr>
        <p:txBody>
          <a:bodyPr wrap="none" rtlCol="0">
            <a:spAutoFit/>
          </a:bodyPr>
          <a:lstStyle/>
          <a:p>
            <a:r>
              <a:rPr lang="en-US" sz="2800" b="1"/>
              <a:t>2.0</a:t>
            </a:r>
          </a:p>
        </p:txBody>
      </p:sp>
      <p:sp>
        <p:nvSpPr>
          <p:cNvPr id="13" name="TextBox 12">
            <a:extLst>
              <a:ext uri="{FF2B5EF4-FFF2-40B4-BE49-F238E27FC236}">
                <a16:creationId xmlns:a16="http://schemas.microsoft.com/office/drawing/2014/main" id="{6C032983-6662-F98F-A23E-4968BA472886}"/>
              </a:ext>
            </a:extLst>
          </p:cNvPr>
          <p:cNvSpPr txBox="1"/>
          <p:nvPr/>
        </p:nvSpPr>
        <p:spPr>
          <a:xfrm>
            <a:off x="6404018" y="3838003"/>
            <a:ext cx="676788" cy="523220"/>
          </a:xfrm>
          <a:prstGeom prst="rect">
            <a:avLst/>
          </a:prstGeom>
          <a:noFill/>
        </p:spPr>
        <p:txBody>
          <a:bodyPr wrap="none" rtlCol="0">
            <a:spAutoFit/>
          </a:bodyPr>
          <a:lstStyle/>
          <a:p>
            <a:r>
              <a:rPr lang="en-US" sz="2800" b="1"/>
              <a:t>3.0</a:t>
            </a:r>
          </a:p>
        </p:txBody>
      </p:sp>
      <p:sp>
        <p:nvSpPr>
          <p:cNvPr id="14" name="TextBox 13">
            <a:extLst>
              <a:ext uri="{FF2B5EF4-FFF2-40B4-BE49-F238E27FC236}">
                <a16:creationId xmlns:a16="http://schemas.microsoft.com/office/drawing/2014/main" id="{971B3715-D16F-EAF0-BFA7-86413E58BF70}"/>
              </a:ext>
            </a:extLst>
          </p:cNvPr>
          <p:cNvSpPr txBox="1"/>
          <p:nvPr/>
        </p:nvSpPr>
        <p:spPr>
          <a:xfrm>
            <a:off x="9030280" y="3838003"/>
            <a:ext cx="676788" cy="523220"/>
          </a:xfrm>
          <a:prstGeom prst="rect">
            <a:avLst/>
          </a:prstGeom>
          <a:noFill/>
        </p:spPr>
        <p:txBody>
          <a:bodyPr wrap="none" rtlCol="0">
            <a:spAutoFit/>
          </a:bodyPr>
          <a:lstStyle/>
          <a:p>
            <a:r>
              <a:rPr lang="en-US" sz="2800" b="1"/>
              <a:t>4.0</a:t>
            </a:r>
          </a:p>
        </p:txBody>
      </p:sp>
    </p:spTree>
    <p:extLst>
      <p:ext uri="{BB962C8B-B14F-4D97-AF65-F5344CB8AC3E}">
        <p14:creationId xmlns:p14="http://schemas.microsoft.com/office/powerpoint/2010/main" val="365634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6C71-4313-7115-ECC4-D02449D097E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0DC5FA-D9C5-171E-E940-909AEBDE38E7}"/>
              </a:ext>
            </a:extLst>
          </p:cNvPr>
          <p:cNvSpPr>
            <a:spLocks noGrp="1"/>
          </p:cNvSpPr>
          <p:nvPr>
            <p:ph type="title"/>
          </p:nvPr>
        </p:nvSpPr>
        <p:spPr>
          <a:xfrm>
            <a:off x="362712" y="90805"/>
            <a:ext cx="10515600" cy="777600"/>
          </a:xfrm>
        </p:spPr>
        <p:txBody>
          <a:bodyPr>
            <a:normAutofit/>
          </a:bodyPr>
          <a:lstStyle/>
          <a:p>
            <a:r>
              <a:rPr lang="en-US" sz="3600"/>
              <a:t>Is </a:t>
            </a:r>
            <a:r>
              <a:rPr lang="en-US" sz="3600" err="1"/>
              <a:t>Inta</a:t>
            </a:r>
            <a:r>
              <a:rPr lang="en-US" sz="3600"/>
              <a:t> Bina a meaningful Target?</a:t>
            </a:r>
            <a:endParaRPr lang="en-MY" sz="3600"/>
          </a:p>
        </p:txBody>
      </p:sp>
      <p:sp>
        <p:nvSpPr>
          <p:cNvPr id="4" name="Slide Number Placeholder 4">
            <a:extLst>
              <a:ext uri="{FF2B5EF4-FFF2-40B4-BE49-F238E27FC236}">
                <a16:creationId xmlns:a16="http://schemas.microsoft.com/office/drawing/2014/main" id="{F9068B9A-239A-D249-5F64-FEB0E247CBD6}"/>
              </a:ext>
            </a:extLst>
          </p:cNvPr>
          <p:cNvSpPr>
            <a:spLocks noGrp="1"/>
          </p:cNvSpPr>
          <p:nvPr>
            <p:ph type="sldNum" sz="quarter" idx="12"/>
          </p:nvPr>
        </p:nvSpPr>
        <p:spPr>
          <a:xfrm>
            <a:off x="9375060" y="6356349"/>
            <a:ext cx="2743200" cy="365125"/>
          </a:xfrm>
          <a:prstGeom prst="rect">
            <a:avLst/>
          </a:prstGeom>
        </p:spPr>
        <p:txBody>
          <a:bodyPr/>
          <a:lstStyle/>
          <a:p>
            <a:fld id="{4C52F89C-230B-40F8-B5DC-B76BA2C55BBC}" type="slidenum">
              <a:rPr lang="en-US" smtClean="0"/>
              <a:pPr/>
              <a:t>2</a:t>
            </a:fld>
            <a:endParaRPr lang="en-US"/>
          </a:p>
        </p:txBody>
      </p:sp>
      <p:graphicFrame>
        <p:nvGraphicFramePr>
          <p:cNvPr id="11" name="Table 10">
            <a:extLst>
              <a:ext uri="{FF2B5EF4-FFF2-40B4-BE49-F238E27FC236}">
                <a16:creationId xmlns:a16="http://schemas.microsoft.com/office/drawing/2014/main" id="{B585F531-7E7D-FC10-8D32-F30AACDAB70B}"/>
              </a:ext>
            </a:extLst>
          </p:cNvPr>
          <p:cNvGraphicFramePr>
            <a:graphicFrameLocks noGrp="1"/>
          </p:cNvGraphicFramePr>
          <p:nvPr>
            <p:extLst>
              <p:ext uri="{D42A27DB-BD31-4B8C-83A1-F6EECF244321}">
                <p14:modId xmlns:p14="http://schemas.microsoft.com/office/powerpoint/2010/main" val="2760112678"/>
              </p:ext>
            </p:extLst>
          </p:nvPr>
        </p:nvGraphicFramePr>
        <p:xfrm>
          <a:off x="424242" y="1762653"/>
          <a:ext cx="8453058" cy="4572000"/>
        </p:xfrm>
        <a:graphic>
          <a:graphicData uri="http://schemas.openxmlformats.org/drawingml/2006/table">
            <a:tbl>
              <a:tblPr firstRow="1" bandRow="1">
                <a:tableStyleId>{5C22544A-7EE6-4342-B048-85BDC9FD1C3A}</a:tableStyleId>
              </a:tblPr>
              <a:tblGrid>
                <a:gridCol w="1220029">
                  <a:extLst>
                    <a:ext uri="{9D8B030D-6E8A-4147-A177-3AD203B41FA5}">
                      <a16:colId xmlns:a16="http://schemas.microsoft.com/office/drawing/2014/main" val="2654529235"/>
                    </a:ext>
                  </a:extLst>
                </a:gridCol>
                <a:gridCol w="7233029">
                  <a:extLst>
                    <a:ext uri="{9D8B030D-6E8A-4147-A177-3AD203B41FA5}">
                      <a16:colId xmlns:a16="http://schemas.microsoft.com/office/drawing/2014/main" val="2292628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tx1"/>
                          </a:solidFill>
                        </a:rPr>
                        <a:t>About </a:t>
                      </a:r>
                      <a:r>
                        <a:rPr lang="en-US" sz="1600" b="1" err="1">
                          <a:solidFill>
                            <a:schemeClr val="tx1"/>
                          </a:solidFill>
                        </a:rPr>
                        <a:t>Inta</a:t>
                      </a:r>
                      <a:r>
                        <a:rPr lang="en-US" sz="1600" b="1">
                          <a:solidFill>
                            <a:schemeClr val="tx1"/>
                          </a:solidFill>
                        </a:rPr>
                        <a:t> Bina Group Berhad – </a:t>
                      </a:r>
                    </a:p>
                    <a:p>
                      <a:endParaRPr 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lgn="just">
                        <a:buSzPct val="60000"/>
                        <a:buFont typeface="Wingdings" panose="05000000000000000000" pitchFamily="2" charset="2"/>
                        <a:buChar char="q"/>
                      </a:pPr>
                      <a:r>
                        <a:rPr lang="en-US" sz="1600" b="1">
                          <a:solidFill>
                            <a:schemeClr val="tx1"/>
                          </a:solidFill>
                        </a:rPr>
                        <a:t>Established:</a:t>
                      </a:r>
                      <a:r>
                        <a:rPr lang="en-US" sz="1600">
                          <a:solidFill>
                            <a:schemeClr val="tx1"/>
                          </a:solidFill>
                        </a:rPr>
                        <a:t> </a:t>
                      </a:r>
                      <a:r>
                        <a:rPr lang="en-US" sz="1600" b="0">
                          <a:solidFill>
                            <a:schemeClr val="tx1"/>
                          </a:solidFill>
                        </a:rPr>
                        <a:t>1987; </a:t>
                      </a:r>
                      <a:r>
                        <a:rPr lang="en-US" sz="1600" b="1">
                          <a:solidFill>
                            <a:schemeClr val="tx1"/>
                          </a:solidFill>
                        </a:rPr>
                        <a:t>Management buyout</a:t>
                      </a:r>
                      <a:r>
                        <a:rPr lang="en-US" sz="1600" b="0">
                          <a:solidFill>
                            <a:schemeClr val="tx1"/>
                          </a:solidFill>
                        </a:rPr>
                        <a:t>:  2000; </a:t>
                      </a:r>
                      <a:r>
                        <a:rPr lang="en-US" sz="1600" b="1">
                          <a:solidFill>
                            <a:schemeClr val="tx1"/>
                          </a:solidFill>
                        </a:rPr>
                        <a:t>Listed on ACE Market</a:t>
                      </a:r>
                      <a:r>
                        <a:rPr lang="en-US" sz="1600" b="0">
                          <a:solidFill>
                            <a:schemeClr val="tx1"/>
                          </a:solidFill>
                        </a:rPr>
                        <a:t> in 2017, then Main Market in 2018.</a:t>
                      </a:r>
                    </a:p>
                    <a:p>
                      <a:pPr marL="342900" indent="-342900" algn="just">
                        <a:buSzPct val="60000"/>
                        <a:buFont typeface="Wingdings" panose="05000000000000000000" pitchFamily="2" charset="2"/>
                        <a:buChar char="q"/>
                      </a:pPr>
                      <a:r>
                        <a:rPr lang="en-US" sz="1600" b="1">
                          <a:solidFill>
                            <a:schemeClr val="tx1"/>
                          </a:solidFill>
                        </a:rPr>
                        <a:t>Business:</a:t>
                      </a:r>
                      <a:r>
                        <a:rPr lang="en-US" sz="1600">
                          <a:solidFill>
                            <a:schemeClr val="tx1"/>
                          </a:solidFill>
                        </a:rPr>
                        <a:t> </a:t>
                      </a:r>
                      <a:r>
                        <a:rPr lang="en-US" sz="1600" b="0">
                          <a:solidFill>
                            <a:schemeClr val="tx1"/>
                          </a:solidFill>
                        </a:rPr>
                        <a:t>G7 building contractor with 30+ years’ experience, primarily in Klang Valley and Johor. Focuses on high-rise residential, commercial, industrial, and leisure construction.</a:t>
                      </a:r>
                    </a:p>
                    <a:p>
                      <a:pPr marL="342900" indent="-342900" algn="just">
                        <a:buSzPct val="60000"/>
                        <a:buFont typeface="Wingdings" panose="05000000000000000000" pitchFamily="2" charset="2"/>
                        <a:buChar char="q"/>
                      </a:pPr>
                      <a:r>
                        <a:rPr lang="en-US" sz="1600" b="1">
                          <a:solidFill>
                            <a:schemeClr val="tx1"/>
                          </a:solidFill>
                        </a:rPr>
                        <a:t>Track Record:</a:t>
                      </a:r>
                      <a:r>
                        <a:rPr lang="en-US" sz="1600">
                          <a:solidFill>
                            <a:schemeClr val="tx1"/>
                          </a:solidFill>
                        </a:rPr>
                        <a:t> </a:t>
                      </a:r>
                      <a:r>
                        <a:rPr lang="en-US" sz="1600" b="0">
                          <a:solidFill>
                            <a:schemeClr val="tx1"/>
                          </a:solidFill>
                        </a:rPr>
                        <a:t>Completed 155+ projects with total contract value c. RM5 billion.</a:t>
                      </a:r>
                    </a:p>
                    <a:p>
                      <a:pPr marL="342900" indent="-342900" algn="just">
                        <a:buSzPct val="60000"/>
                        <a:buFont typeface="Wingdings" panose="05000000000000000000" pitchFamily="2" charset="2"/>
                        <a:buChar char="q"/>
                      </a:pPr>
                      <a:r>
                        <a:rPr lang="en-US" sz="1600" b="1">
                          <a:solidFill>
                            <a:schemeClr val="tx1"/>
                          </a:solidFill>
                        </a:rPr>
                        <a:t>Clients:</a:t>
                      </a:r>
                      <a:r>
                        <a:rPr lang="en-US" sz="1600">
                          <a:solidFill>
                            <a:schemeClr val="tx1"/>
                          </a:solidFill>
                        </a:rPr>
                        <a:t> </a:t>
                      </a:r>
                      <a:r>
                        <a:rPr lang="en-US" sz="1600" b="0">
                          <a:solidFill>
                            <a:schemeClr val="tx1"/>
                          </a:solidFill>
                        </a:rPr>
                        <a:t>Long-standing relationships with major developers, including UEM Sunrise, Gamuda Land, Mah Sing, </a:t>
                      </a:r>
                      <a:r>
                        <a:rPr lang="en-US" sz="1600" b="0" err="1">
                          <a:solidFill>
                            <a:schemeClr val="tx1"/>
                          </a:solidFill>
                        </a:rPr>
                        <a:t>Mitraland</a:t>
                      </a:r>
                      <a:r>
                        <a:rPr lang="en-US" sz="1600" b="0">
                          <a:solidFill>
                            <a:schemeClr val="tx1"/>
                          </a:solidFill>
                        </a:rPr>
                        <a:t>, </a:t>
                      </a:r>
                      <a:r>
                        <a:rPr lang="en-US" sz="1600" b="0" err="1">
                          <a:solidFill>
                            <a:schemeClr val="tx1"/>
                          </a:solidFill>
                        </a:rPr>
                        <a:t>EcoWorld</a:t>
                      </a:r>
                      <a:r>
                        <a:rPr lang="en-US" sz="1600" b="0">
                          <a:solidFill>
                            <a:schemeClr val="tx1"/>
                          </a:solidFill>
                        </a:rPr>
                        <a:t>, Tropicana, among others.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38420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tx1"/>
                          </a:solidFill>
                        </a:rPr>
                        <a:t>Financial Highlights</a:t>
                      </a:r>
                    </a:p>
                    <a:p>
                      <a:endParaRPr 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buSzPct val="60000"/>
                        <a:buFont typeface="Wingdings" panose="05000000000000000000" pitchFamily="2" charset="2"/>
                        <a:buChar char="q"/>
                      </a:pPr>
                      <a:r>
                        <a:rPr lang="en-US" sz="1600" b="1">
                          <a:solidFill>
                            <a:schemeClr val="tx1"/>
                          </a:solidFill>
                        </a:rPr>
                        <a:t>Revenue &amp; Profit Growth:</a:t>
                      </a:r>
                      <a:r>
                        <a:rPr lang="en-US" sz="1600">
                          <a:solidFill>
                            <a:schemeClr val="tx1"/>
                          </a:solidFill>
                        </a:rPr>
                        <a:t> Revenue has shown </a:t>
                      </a:r>
                      <a:r>
                        <a:rPr lang="en-US" sz="1600" b="1">
                          <a:solidFill>
                            <a:schemeClr val="tx1"/>
                          </a:solidFill>
                        </a:rPr>
                        <a:t>consistent growth</a:t>
                      </a:r>
                      <a:r>
                        <a:rPr lang="en-US" sz="1600">
                          <a:solidFill>
                            <a:schemeClr val="tx1"/>
                          </a:solidFill>
                        </a:rPr>
                        <a:t> ( c.RM650 m in 2023 to c.RM690 m in 2024) with improving profit levels supported by better margins and a growing project pipeline. </a:t>
                      </a:r>
                    </a:p>
                    <a:p>
                      <a:pPr marL="285750" marR="0" lvl="0" indent="-285750" algn="just" defTabSz="914400" rtl="0" eaLnBrk="1" fontAlgn="auto" latinLnBrk="0" hangingPunct="1">
                        <a:lnSpc>
                          <a:spcPct val="100000"/>
                        </a:lnSpc>
                        <a:spcBef>
                          <a:spcPts val="0"/>
                        </a:spcBef>
                        <a:spcAft>
                          <a:spcPts val="0"/>
                        </a:spcAft>
                        <a:buClrTx/>
                        <a:buSzPct val="60000"/>
                        <a:buFont typeface="Wingdings" panose="05000000000000000000" pitchFamily="2" charset="2"/>
                        <a:buChar char="q"/>
                        <a:tabLst/>
                        <a:defRPr/>
                      </a:pPr>
                      <a:r>
                        <a:rPr lang="en-US" sz="1600" b="1">
                          <a:solidFill>
                            <a:schemeClr val="tx1"/>
                          </a:solidFill>
                        </a:rPr>
                        <a:t>Orderbook Strength:</a:t>
                      </a:r>
                      <a:r>
                        <a:rPr lang="en-US" sz="1600">
                          <a:solidFill>
                            <a:schemeClr val="tx1"/>
                          </a:solidFill>
                        </a:rPr>
                        <a:t> </a:t>
                      </a:r>
                      <a:r>
                        <a:rPr lang="en-US" sz="1600"/>
                        <a:t>As of mid-September 2025, the unbilled order book stood at </a:t>
                      </a:r>
                      <a:r>
                        <a:rPr lang="en-US" sz="1600" b="1"/>
                        <a:t>RM1.8 billion, providing earnings visibility for the next 2 to 2.5 years </a:t>
                      </a:r>
                    </a:p>
                    <a:p>
                      <a:pPr marL="285750" marR="0" lvl="0" indent="-285750" algn="just" defTabSz="914400" rtl="0" eaLnBrk="1" fontAlgn="auto" latinLnBrk="0" hangingPunct="1">
                        <a:lnSpc>
                          <a:spcPct val="100000"/>
                        </a:lnSpc>
                        <a:spcBef>
                          <a:spcPts val="0"/>
                        </a:spcBef>
                        <a:spcAft>
                          <a:spcPts val="0"/>
                        </a:spcAft>
                        <a:buClrTx/>
                        <a:buSzPct val="60000"/>
                        <a:buFont typeface="Wingdings" panose="05000000000000000000" pitchFamily="2" charset="2"/>
                        <a:buChar char="q"/>
                        <a:tabLst/>
                        <a:defRPr/>
                      </a:pPr>
                      <a:r>
                        <a:rPr lang="en-US" sz="1600" b="1"/>
                        <a:t>Tender Pipeline: </a:t>
                      </a:r>
                      <a:r>
                        <a:rPr lang="en-US" sz="1600"/>
                        <a:t>The company has a robust outstanding tender book of </a:t>
                      </a:r>
                      <a:r>
                        <a:rPr lang="en-US" sz="1600" b="1"/>
                        <a:t>RM4.5 billion, with a historical success rate of 15% to 20%.</a:t>
                      </a:r>
                      <a:endParaRPr 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495731"/>
                  </a:ext>
                </a:extLst>
              </a:tr>
            </a:tbl>
          </a:graphicData>
        </a:graphic>
      </p:graphicFrame>
      <p:sp>
        <p:nvSpPr>
          <p:cNvPr id="13" name="TextBox 12">
            <a:extLst>
              <a:ext uri="{FF2B5EF4-FFF2-40B4-BE49-F238E27FC236}">
                <a16:creationId xmlns:a16="http://schemas.microsoft.com/office/drawing/2014/main" id="{57626227-3AE0-0BA9-5BF6-DC29D38F24DA}"/>
              </a:ext>
            </a:extLst>
          </p:cNvPr>
          <p:cNvSpPr txBox="1"/>
          <p:nvPr/>
        </p:nvSpPr>
        <p:spPr>
          <a:xfrm>
            <a:off x="424241" y="784585"/>
            <a:ext cx="11681459" cy="877163"/>
          </a:xfrm>
          <a:prstGeom prst="rect">
            <a:avLst/>
          </a:prstGeom>
          <a:solidFill>
            <a:schemeClr val="accent2">
              <a:lumMod val="20000"/>
              <a:lumOff val="80000"/>
            </a:schemeClr>
          </a:solidFill>
        </p:spPr>
        <p:txBody>
          <a:bodyPr wrap="square">
            <a:spAutoFit/>
          </a:bodyPr>
          <a:lstStyle/>
          <a:p>
            <a:pPr algn="just"/>
            <a:r>
              <a:rPr lang="en-US" sz="1700" b="1" err="1"/>
              <a:t>Inta</a:t>
            </a:r>
            <a:r>
              <a:rPr lang="en-US" sz="1700" b="1"/>
              <a:t> Bina – A meaningful and viable acquisition target in the Malaysian construction sector space as the Group has demonstrated solid operational track record, diversified project pipeline, healthy cash/low leverage balance with a strong orderbook and positive growth outlook. </a:t>
            </a:r>
            <a:r>
              <a:rPr lang="en-US" sz="1700" i="1"/>
              <a:t>(refer Part 1 of Appendix of this report for more detailed information on </a:t>
            </a:r>
            <a:r>
              <a:rPr lang="en-US" sz="1700" i="1" err="1"/>
              <a:t>Inta</a:t>
            </a:r>
            <a:r>
              <a:rPr lang="en-US" sz="1700" i="1"/>
              <a:t>)</a:t>
            </a:r>
          </a:p>
        </p:txBody>
      </p:sp>
      <p:pic>
        <p:nvPicPr>
          <p:cNvPr id="15" name="Picture 14">
            <a:extLst>
              <a:ext uri="{FF2B5EF4-FFF2-40B4-BE49-F238E27FC236}">
                <a16:creationId xmlns:a16="http://schemas.microsoft.com/office/drawing/2014/main" id="{697E68C4-E167-822A-942F-2048CFAB0F0E}"/>
              </a:ext>
            </a:extLst>
          </p:cNvPr>
          <p:cNvPicPr>
            <a:picLocks noChangeAspect="1"/>
          </p:cNvPicPr>
          <p:nvPr/>
        </p:nvPicPr>
        <p:blipFill>
          <a:blip r:embed="rId2"/>
          <a:stretch>
            <a:fillRect/>
          </a:stretch>
        </p:blipFill>
        <p:spPr>
          <a:xfrm>
            <a:off x="9229725" y="1834918"/>
            <a:ext cx="2654436" cy="2197213"/>
          </a:xfrm>
          <a:prstGeom prst="rect">
            <a:avLst/>
          </a:prstGeom>
        </p:spPr>
      </p:pic>
      <p:pic>
        <p:nvPicPr>
          <p:cNvPr id="17" name="Picture 16">
            <a:extLst>
              <a:ext uri="{FF2B5EF4-FFF2-40B4-BE49-F238E27FC236}">
                <a16:creationId xmlns:a16="http://schemas.microsoft.com/office/drawing/2014/main" id="{4CFAFCCB-F840-75C2-F518-E6068FD4C1AE}"/>
              </a:ext>
            </a:extLst>
          </p:cNvPr>
          <p:cNvPicPr>
            <a:picLocks noChangeAspect="1"/>
          </p:cNvPicPr>
          <p:nvPr/>
        </p:nvPicPr>
        <p:blipFill>
          <a:blip r:embed="rId3"/>
          <a:stretch>
            <a:fillRect/>
          </a:stretch>
        </p:blipFill>
        <p:spPr>
          <a:xfrm>
            <a:off x="9375060" y="4292493"/>
            <a:ext cx="2730640" cy="2063856"/>
          </a:xfrm>
          <a:prstGeom prst="rect">
            <a:avLst/>
          </a:prstGeom>
        </p:spPr>
      </p:pic>
    </p:spTree>
    <p:extLst>
      <p:ext uri="{BB962C8B-B14F-4D97-AF65-F5344CB8AC3E}">
        <p14:creationId xmlns:p14="http://schemas.microsoft.com/office/powerpoint/2010/main" val="3660994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4554E-FC3B-1746-CE96-7E00E53D299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F021B4-8395-12D0-604D-4E7148F28C23}"/>
              </a:ext>
            </a:extLst>
          </p:cNvPr>
          <p:cNvSpPr>
            <a:spLocks noGrp="1"/>
          </p:cNvSpPr>
          <p:nvPr>
            <p:ph type="title"/>
          </p:nvPr>
        </p:nvSpPr>
        <p:spPr>
          <a:xfrm>
            <a:off x="362712" y="90805"/>
            <a:ext cx="10515600" cy="777600"/>
          </a:xfrm>
        </p:spPr>
        <p:txBody>
          <a:bodyPr>
            <a:normAutofit/>
          </a:bodyPr>
          <a:lstStyle/>
          <a:p>
            <a:r>
              <a:rPr lang="en-US" sz="3600"/>
              <a:t>Is </a:t>
            </a:r>
            <a:r>
              <a:rPr lang="en-US" sz="3600" err="1"/>
              <a:t>Inta</a:t>
            </a:r>
            <a:r>
              <a:rPr lang="en-US" sz="3600"/>
              <a:t> Bina a meaningful Target?</a:t>
            </a:r>
            <a:endParaRPr lang="en-MY" sz="3600"/>
          </a:p>
        </p:txBody>
      </p:sp>
      <p:sp>
        <p:nvSpPr>
          <p:cNvPr id="4" name="Slide Number Placeholder 4">
            <a:extLst>
              <a:ext uri="{FF2B5EF4-FFF2-40B4-BE49-F238E27FC236}">
                <a16:creationId xmlns:a16="http://schemas.microsoft.com/office/drawing/2014/main" id="{7E5DC6F7-2E25-EE31-1D8B-7450737B69E8}"/>
              </a:ext>
            </a:extLst>
          </p:cNvPr>
          <p:cNvSpPr>
            <a:spLocks noGrp="1"/>
          </p:cNvSpPr>
          <p:nvPr>
            <p:ph type="sldNum" sz="quarter" idx="12"/>
          </p:nvPr>
        </p:nvSpPr>
        <p:spPr>
          <a:xfrm>
            <a:off x="9375060" y="6356349"/>
            <a:ext cx="2743200" cy="365125"/>
          </a:xfrm>
          <a:prstGeom prst="rect">
            <a:avLst/>
          </a:prstGeom>
        </p:spPr>
        <p:txBody>
          <a:bodyPr/>
          <a:lstStyle/>
          <a:p>
            <a:fld id="{4C52F89C-230B-40F8-B5DC-B76BA2C55BBC}" type="slidenum">
              <a:rPr lang="en-US" smtClean="0"/>
              <a:pPr/>
              <a:t>3</a:t>
            </a:fld>
            <a:endParaRPr lang="en-US"/>
          </a:p>
        </p:txBody>
      </p:sp>
      <p:graphicFrame>
        <p:nvGraphicFramePr>
          <p:cNvPr id="11" name="Table 10">
            <a:extLst>
              <a:ext uri="{FF2B5EF4-FFF2-40B4-BE49-F238E27FC236}">
                <a16:creationId xmlns:a16="http://schemas.microsoft.com/office/drawing/2014/main" id="{EFD5ADFC-F0B2-2BE3-00B3-EC7F61631419}"/>
              </a:ext>
            </a:extLst>
          </p:cNvPr>
          <p:cNvGraphicFramePr>
            <a:graphicFrameLocks noGrp="1"/>
          </p:cNvGraphicFramePr>
          <p:nvPr>
            <p:extLst>
              <p:ext uri="{D42A27DB-BD31-4B8C-83A1-F6EECF244321}">
                <p14:modId xmlns:p14="http://schemas.microsoft.com/office/powerpoint/2010/main" val="2790032053"/>
              </p:ext>
            </p:extLst>
          </p:nvPr>
        </p:nvGraphicFramePr>
        <p:xfrm>
          <a:off x="441007" y="782555"/>
          <a:ext cx="11309985" cy="5791200"/>
        </p:xfrm>
        <a:graphic>
          <a:graphicData uri="http://schemas.openxmlformats.org/drawingml/2006/table">
            <a:tbl>
              <a:tblPr firstRow="1" bandRow="1">
                <a:tableStyleId>{5C22544A-7EE6-4342-B048-85BDC9FD1C3A}</a:tableStyleId>
              </a:tblPr>
              <a:tblGrid>
                <a:gridCol w="1490463">
                  <a:extLst>
                    <a:ext uri="{9D8B030D-6E8A-4147-A177-3AD203B41FA5}">
                      <a16:colId xmlns:a16="http://schemas.microsoft.com/office/drawing/2014/main" val="2654529235"/>
                    </a:ext>
                  </a:extLst>
                </a:gridCol>
                <a:gridCol w="9819522">
                  <a:extLst>
                    <a:ext uri="{9D8B030D-6E8A-4147-A177-3AD203B41FA5}">
                      <a16:colId xmlns:a16="http://schemas.microsoft.com/office/drawing/2014/main" val="22926280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tx1"/>
                          </a:solidFill>
                        </a:rPr>
                        <a:t>Financial Highlights</a:t>
                      </a:r>
                    </a:p>
                    <a:p>
                      <a:r>
                        <a:rPr lang="en-US" sz="1600">
                          <a:solidFill>
                            <a:schemeClr val="tx1"/>
                          </a:solidFill>
                        </a:rPr>
                        <a:t>(</a:t>
                      </a:r>
                      <a:r>
                        <a:rPr lang="en-US" sz="1600" err="1">
                          <a:solidFill>
                            <a:schemeClr val="tx1"/>
                          </a:solidFill>
                        </a:rPr>
                        <a:t>cont</a:t>
                      </a:r>
                      <a:r>
                        <a:rPr lang="en-US" sz="160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just" defTabSz="914400" rtl="0" eaLnBrk="1" fontAlgn="auto" latinLnBrk="0" hangingPunct="1">
                        <a:lnSpc>
                          <a:spcPct val="100000"/>
                        </a:lnSpc>
                        <a:spcBef>
                          <a:spcPts val="0"/>
                        </a:spcBef>
                        <a:spcAft>
                          <a:spcPts val="0"/>
                        </a:spcAft>
                        <a:buClrTx/>
                        <a:buSzPct val="60000"/>
                        <a:buFont typeface="Wingdings" panose="05000000000000000000" pitchFamily="2" charset="2"/>
                        <a:buChar char="q"/>
                        <a:tabLst/>
                        <a:defRPr/>
                      </a:pPr>
                      <a:r>
                        <a:rPr lang="en-US" sz="1600" b="1">
                          <a:solidFill>
                            <a:schemeClr val="tx1"/>
                          </a:solidFill>
                        </a:rPr>
                        <a:t>Cash flow &amp; Gearing &amp; P/B Ratio:</a:t>
                      </a:r>
                      <a:r>
                        <a:rPr lang="en-US" sz="1600">
                          <a:solidFill>
                            <a:schemeClr val="tx1"/>
                          </a:solidFill>
                        </a:rPr>
                        <a:t> </a:t>
                      </a:r>
                      <a:r>
                        <a:rPr lang="en-US" sz="1600" b="0">
                          <a:solidFill>
                            <a:schemeClr val="tx1"/>
                          </a:solidFill>
                        </a:rPr>
                        <a:t>The recent private placement has strengthened </a:t>
                      </a:r>
                      <a:r>
                        <a:rPr lang="en-US" sz="1600" b="0" err="1">
                          <a:solidFill>
                            <a:schemeClr val="tx1"/>
                          </a:solidFill>
                        </a:rPr>
                        <a:t>Inta</a:t>
                      </a:r>
                      <a:r>
                        <a:rPr lang="en-US" sz="1600" b="0">
                          <a:solidFill>
                            <a:schemeClr val="tx1"/>
                          </a:solidFill>
                        </a:rPr>
                        <a:t> Bina’s balance sheet, with a healthy cash (peaking at RM140.6 mil), low gearing &lt;1x and a healthy P/B in the range of  1.1–1.4x, reflecting strong liquidity, manageable leverage and fair valuation.</a:t>
                      </a:r>
                    </a:p>
                    <a:p>
                      <a:pPr marL="285750" marR="0" lvl="0" indent="-285750" algn="just" defTabSz="914400" rtl="0" eaLnBrk="1" fontAlgn="auto" latinLnBrk="0" hangingPunct="1">
                        <a:lnSpc>
                          <a:spcPct val="100000"/>
                        </a:lnSpc>
                        <a:spcBef>
                          <a:spcPts val="0"/>
                        </a:spcBef>
                        <a:spcAft>
                          <a:spcPts val="0"/>
                        </a:spcAft>
                        <a:buClrTx/>
                        <a:buSzPct val="60000"/>
                        <a:buFont typeface="Wingdings" panose="05000000000000000000" pitchFamily="2" charset="2"/>
                        <a:buChar char="q"/>
                        <a:tabLst/>
                        <a:defRPr/>
                      </a:pPr>
                      <a:r>
                        <a:rPr lang="en-US" sz="1600">
                          <a:solidFill>
                            <a:schemeClr val="tx1"/>
                          </a:solidFill>
                        </a:rPr>
                        <a:t>PPE: </a:t>
                      </a:r>
                      <a:r>
                        <a:rPr lang="en-US" sz="1600" b="0">
                          <a:solidFill>
                            <a:schemeClr val="tx1"/>
                          </a:solidFill>
                        </a:rPr>
                        <a:t>The Group’s fixed assets are heavily weighted towards plant and machinery, which comprise 72% of the PPE balance indicating that the bulk of the capex is focused on core assets rather than administrative or non-operational assets.</a:t>
                      </a:r>
                      <a:endParaRPr lang="en-MY" sz="1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24333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a:solidFill>
                            <a:schemeClr val="tx1"/>
                          </a:solidFill>
                        </a:rPr>
                        <a:t>Benchmark &amp; Valuation Context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i="1">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baseline="30000">
                          <a:solidFill>
                            <a:schemeClr val="tx1"/>
                          </a:solidFill>
                        </a:rPr>
                        <a:t>N1</a:t>
                      </a:r>
                      <a:r>
                        <a:rPr lang="en-US" sz="1400" b="1" i="1" baseline="30000">
                          <a:solidFill>
                            <a:schemeClr val="tx1"/>
                          </a:solidFill>
                        </a:rPr>
                        <a:t> </a:t>
                      </a:r>
                      <a:r>
                        <a:rPr lang="en-US" sz="1400" b="0" i="1">
                          <a:solidFill>
                            <a:schemeClr val="tx1"/>
                          </a:solidFill>
                        </a:rPr>
                        <a:t>research report dated 30 October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buSzPct val="60000"/>
                        <a:buFont typeface="Wingdings" panose="05000000000000000000" pitchFamily="2" charset="2"/>
                        <a:buChar char="q"/>
                      </a:pPr>
                      <a:r>
                        <a:rPr lang="en-US" sz="1600" b="0">
                          <a:solidFill>
                            <a:schemeClr val="tx1"/>
                          </a:solidFill>
                        </a:rPr>
                        <a:t>Broker coverage (RHB) has often assigned “Buy” ratings</a:t>
                      </a:r>
                      <a:r>
                        <a:rPr lang="en-US" sz="1600" b="0" baseline="30000">
                          <a:solidFill>
                            <a:schemeClr val="tx1"/>
                          </a:solidFill>
                        </a:rPr>
                        <a:t>N1</a:t>
                      </a:r>
                      <a:r>
                        <a:rPr lang="en-US" sz="1600" b="0">
                          <a:solidFill>
                            <a:schemeClr val="tx1"/>
                          </a:solidFill>
                        </a:rPr>
                        <a:t> with upside targets, based on solid orderbook and earnings growth prospects, though valuation multiples remain modest relative to larger peers. </a:t>
                      </a:r>
                      <a:r>
                        <a:rPr lang="en-US" sz="1600" b="1"/>
                        <a:t>Compelling value proposition relative to its peers</a:t>
                      </a:r>
                      <a:r>
                        <a:rPr lang="en-US" sz="1600"/>
                        <a:t>, trading at a </a:t>
                      </a:r>
                      <a:r>
                        <a:rPr lang="en-US" sz="1600" b="1"/>
                        <a:t>P/E of 6.91x</a:t>
                      </a:r>
                      <a:r>
                        <a:rPr lang="en-US" sz="1600"/>
                        <a:t>, </a:t>
                      </a:r>
                      <a:r>
                        <a:rPr lang="en-US" sz="1600" b="1"/>
                        <a:t>P/B of 1.09x</a:t>
                      </a:r>
                      <a:r>
                        <a:rPr lang="en-US" sz="1600"/>
                        <a:t>, and </a:t>
                      </a:r>
                      <a:r>
                        <a:rPr lang="en-US" sz="1600" b="1"/>
                        <a:t>EV/EBITDA of 4.61x</a:t>
                      </a:r>
                      <a:r>
                        <a:rPr lang="en-US" sz="1600"/>
                        <a:t>, supported by a </a:t>
                      </a:r>
                      <a:r>
                        <a:rPr lang="en-US" sz="1600" b="1"/>
                        <a:t>healthy cash position (more than RM100mil) </a:t>
                      </a:r>
                      <a:r>
                        <a:rPr lang="en-US" sz="1600"/>
                        <a:t>and </a:t>
                      </a:r>
                      <a:r>
                        <a:rPr lang="en-US" sz="1600" b="1"/>
                        <a:t>gearing below 1x</a:t>
                      </a:r>
                      <a:r>
                        <a:rPr lang="en-US" sz="1600"/>
                        <a:t>, reflecting a solid balance sheet. With a </a:t>
                      </a:r>
                      <a:r>
                        <a:rPr lang="en-US" sz="1600" b="1"/>
                        <a:t>market cap of RM267.4 mil</a:t>
                      </a:r>
                      <a:r>
                        <a:rPr lang="en-US" sz="1600"/>
                        <a:t> and 30+ years of operational track record, it offers </a:t>
                      </a:r>
                      <a:r>
                        <a:rPr lang="en-US" sz="1600" b="1"/>
                        <a:t>growth potential</a:t>
                      </a:r>
                      <a:r>
                        <a:rPr lang="en-US" sz="1600"/>
                        <a:t> and stability, making it a worthy consideration as an acquisition target—particularly for companies seeking a </a:t>
                      </a:r>
                      <a:r>
                        <a:rPr lang="en-US" sz="1600" b="1"/>
                        <a:t>mid-sized construction firm with room to scale and to unlock operational and cost synergies across both </a:t>
                      </a:r>
                      <a:r>
                        <a:rPr lang="en-US" sz="1600" b="1" err="1"/>
                        <a:t>organisations</a:t>
                      </a:r>
                      <a:r>
                        <a:rPr lang="en-US" sz="1600"/>
                        <a:t>.</a:t>
                      </a: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p>
                      <a:pPr marL="285750" indent="-285750">
                        <a:buSzPct val="60000"/>
                        <a:buFont typeface="Wingdings" panose="05000000000000000000" pitchFamily="2" charset="2"/>
                        <a:buChar char="q"/>
                      </a:pPr>
                      <a:endParaRPr lang="en-US" sz="16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9217069"/>
                  </a:ext>
                </a:extLst>
              </a:tr>
            </a:tbl>
          </a:graphicData>
        </a:graphic>
      </p:graphicFrame>
      <p:graphicFrame>
        <p:nvGraphicFramePr>
          <p:cNvPr id="3" name="Table 2">
            <a:extLst>
              <a:ext uri="{FF2B5EF4-FFF2-40B4-BE49-F238E27FC236}">
                <a16:creationId xmlns:a16="http://schemas.microsoft.com/office/drawing/2014/main" id="{1EED8FF5-A22B-C509-CD8C-2D23F7A699DE}"/>
              </a:ext>
            </a:extLst>
          </p:cNvPr>
          <p:cNvGraphicFramePr>
            <a:graphicFrameLocks noGrp="1"/>
          </p:cNvGraphicFramePr>
          <p:nvPr>
            <p:extLst>
              <p:ext uri="{D42A27DB-BD31-4B8C-83A1-F6EECF244321}">
                <p14:modId xmlns:p14="http://schemas.microsoft.com/office/powerpoint/2010/main" val="2293510195"/>
              </p:ext>
            </p:extLst>
          </p:nvPr>
        </p:nvGraphicFramePr>
        <p:xfrm>
          <a:off x="2284943" y="4389049"/>
          <a:ext cx="6079295" cy="182880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4089821962"/>
                    </a:ext>
                  </a:extLst>
                </a:gridCol>
                <a:gridCol w="831811">
                  <a:extLst>
                    <a:ext uri="{9D8B030D-6E8A-4147-A177-3AD203B41FA5}">
                      <a16:colId xmlns:a16="http://schemas.microsoft.com/office/drawing/2014/main" val="3501740069"/>
                    </a:ext>
                  </a:extLst>
                </a:gridCol>
                <a:gridCol w="831811">
                  <a:extLst>
                    <a:ext uri="{9D8B030D-6E8A-4147-A177-3AD203B41FA5}">
                      <a16:colId xmlns:a16="http://schemas.microsoft.com/office/drawing/2014/main" val="858187920"/>
                    </a:ext>
                  </a:extLst>
                </a:gridCol>
                <a:gridCol w="831811">
                  <a:extLst>
                    <a:ext uri="{9D8B030D-6E8A-4147-A177-3AD203B41FA5}">
                      <a16:colId xmlns:a16="http://schemas.microsoft.com/office/drawing/2014/main" val="874365871"/>
                    </a:ext>
                  </a:extLst>
                </a:gridCol>
                <a:gridCol w="831811">
                  <a:extLst>
                    <a:ext uri="{9D8B030D-6E8A-4147-A177-3AD203B41FA5}">
                      <a16:colId xmlns:a16="http://schemas.microsoft.com/office/drawing/2014/main" val="2877278015"/>
                    </a:ext>
                  </a:extLst>
                </a:gridCol>
                <a:gridCol w="831811">
                  <a:extLst>
                    <a:ext uri="{9D8B030D-6E8A-4147-A177-3AD203B41FA5}">
                      <a16:colId xmlns:a16="http://schemas.microsoft.com/office/drawing/2014/main" val="2270225802"/>
                    </a:ext>
                  </a:extLst>
                </a:gridCol>
              </a:tblGrid>
              <a:tr h="203200">
                <a:tc>
                  <a:txBody>
                    <a:bodyPr/>
                    <a:lstStyle/>
                    <a:p>
                      <a:pPr algn="ctr" fontAlgn="b">
                        <a:buNone/>
                      </a:pPr>
                      <a:r>
                        <a:rPr lang="en-US" sz="1400" u="none" strike="noStrike">
                          <a:solidFill>
                            <a:schemeClr val="bg1"/>
                          </a:solidFill>
                          <a:effectLst/>
                        </a:rPr>
                        <a:t> </a:t>
                      </a:r>
                      <a:endParaRPr lang="en-US" sz="1400" b="0" i="0" u="none" strike="noStrike">
                        <a:solidFill>
                          <a:schemeClr val="bg1"/>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solidFill>
                  </a:tcPr>
                </a:tc>
                <a:tc>
                  <a:txBody>
                    <a:bodyPr/>
                    <a:lstStyle/>
                    <a:p>
                      <a:pPr algn="ctr" fontAlgn="b">
                        <a:buNone/>
                      </a:pPr>
                      <a:r>
                        <a:rPr lang="en-US" sz="1400" b="1" u="none" strike="noStrike" err="1">
                          <a:solidFill>
                            <a:schemeClr val="tx1"/>
                          </a:solidFill>
                          <a:effectLst/>
                        </a:rPr>
                        <a:t>Inta</a:t>
                      </a:r>
                      <a:endParaRPr lang="en-US" sz="1400" b="1" i="0" u="none" strike="noStrike">
                        <a:solidFill>
                          <a:schemeClr val="tx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tx2">
                        <a:lumMod val="10000"/>
                        <a:lumOff val="90000"/>
                      </a:schemeClr>
                    </a:solidFill>
                  </a:tcPr>
                </a:tc>
                <a:tc>
                  <a:txBody>
                    <a:bodyPr/>
                    <a:lstStyle/>
                    <a:p>
                      <a:pPr algn="ctr" fontAlgn="b">
                        <a:buNone/>
                      </a:pPr>
                      <a:r>
                        <a:rPr lang="en-US" sz="1400" u="none" strike="noStrike" err="1">
                          <a:solidFill>
                            <a:schemeClr val="bg1"/>
                          </a:solidFill>
                          <a:effectLst/>
                        </a:rPr>
                        <a:t>Kitacon</a:t>
                      </a:r>
                      <a:endParaRPr lang="en-US" sz="1400" b="1" i="0" u="none" strike="noStrike">
                        <a:solidFill>
                          <a:schemeClr val="bg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tx2"/>
                    </a:solidFill>
                  </a:tcPr>
                </a:tc>
                <a:tc>
                  <a:txBody>
                    <a:bodyPr/>
                    <a:lstStyle/>
                    <a:p>
                      <a:pPr algn="ctr" fontAlgn="b">
                        <a:buNone/>
                      </a:pPr>
                      <a:r>
                        <a:rPr lang="en-US" sz="1400" u="none" strike="noStrike">
                          <a:solidFill>
                            <a:schemeClr val="bg1"/>
                          </a:solidFill>
                          <a:effectLst/>
                        </a:rPr>
                        <a:t>MGB</a:t>
                      </a:r>
                      <a:endParaRPr lang="en-US" sz="1400" b="1" i="0" u="none" strike="noStrike">
                        <a:solidFill>
                          <a:schemeClr val="bg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tx2"/>
                    </a:solidFill>
                  </a:tcPr>
                </a:tc>
                <a:tc>
                  <a:txBody>
                    <a:bodyPr/>
                    <a:lstStyle/>
                    <a:p>
                      <a:pPr algn="ctr" fontAlgn="b">
                        <a:buNone/>
                      </a:pPr>
                      <a:r>
                        <a:rPr lang="en-US" sz="1400" u="none" strike="noStrike">
                          <a:solidFill>
                            <a:schemeClr val="bg1"/>
                          </a:solidFill>
                          <a:effectLst/>
                        </a:rPr>
                        <a:t>Binastra</a:t>
                      </a:r>
                      <a:endParaRPr lang="en-US" sz="1400" b="1" i="0" u="none" strike="noStrike">
                        <a:solidFill>
                          <a:schemeClr val="bg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tx2"/>
                    </a:solidFill>
                  </a:tcPr>
                </a:tc>
                <a:tc>
                  <a:txBody>
                    <a:bodyPr/>
                    <a:lstStyle/>
                    <a:p>
                      <a:pPr algn="ctr" fontAlgn="b">
                        <a:buNone/>
                      </a:pPr>
                      <a:r>
                        <a:rPr lang="en-US" sz="1400" b="1" u="none" strike="noStrike" err="1">
                          <a:solidFill>
                            <a:schemeClr val="bg1"/>
                          </a:solidFill>
                          <a:effectLst/>
                        </a:rPr>
                        <a:t>Kerjaya</a:t>
                      </a:r>
                      <a:endParaRPr lang="en-US" sz="1400" b="1" i="0" u="none" strike="noStrike">
                        <a:solidFill>
                          <a:schemeClr val="bg1"/>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2699706153"/>
                  </a:ext>
                </a:extLst>
              </a:tr>
              <a:tr h="203200">
                <a:tc>
                  <a:txBody>
                    <a:bodyPr/>
                    <a:lstStyle/>
                    <a:p>
                      <a:pPr algn="l" fontAlgn="t">
                        <a:buNone/>
                      </a:pPr>
                      <a:r>
                        <a:rPr lang="en-US" sz="1400" u="none" strike="noStrike">
                          <a:effectLst/>
                        </a:rPr>
                        <a:t>P/E</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6.91 </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6.87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5.03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20.95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16.99</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393149504"/>
                  </a:ext>
                </a:extLst>
              </a:tr>
              <a:tr h="152400">
                <a:tc>
                  <a:txBody>
                    <a:bodyPr/>
                    <a:lstStyle/>
                    <a:p>
                      <a:pPr algn="l" fontAlgn="t">
                        <a:buNone/>
                      </a:pPr>
                      <a:r>
                        <a:rPr lang="en-US" sz="1400" u="none" strike="noStrike">
                          <a:effectLst/>
                        </a:rPr>
                        <a:t>P/B</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1.09 </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0.99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0.41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7.86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2.90</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833021084"/>
                  </a:ext>
                </a:extLst>
              </a:tr>
              <a:tr h="152400">
                <a:tc>
                  <a:txBody>
                    <a:bodyPr/>
                    <a:lstStyle/>
                    <a:p>
                      <a:pPr algn="l" fontAlgn="t">
                        <a:buNone/>
                      </a:pPr>
                      <a:r>
                        <a:rPr lang="en-US" sz="1400" u="none" strike="noStrike">
                          <a:effectLst/>
                        </a:rPr>
                        <a:t>EV/EBITDA</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b="0" i="0" u="none" strike="noStrike">
                          <a:solidFill>
                            <a:srgbClr val="212529"/>
                          </a:solidFill>
                          <a:effectLst/>
                          <a:latin typeface="Aptos" panose="020B0004020202020204" pitchFamily="34" charset="0"/>
                        </a:rPr>
                        <a:t>4.61</a:t>
                      </a:r>
                    </a:p>
                  </a:txBody>
                  <a:tcPr marL="45720" marR="45720">
                    <a:solidFill>
                      <a:schemeClr val="tx2">
                        <a:lumMod val="10000"/>
                        <a:lumOff val="90000"/>
                      </a:schemeClr>
                    </a:solidFill>
                  </a:tcPr>
                </a:tc>
                <a:tc>
                  <a:txBody>
                    <a:bodyPr/>
                    <a:lstStyle/>
                    <a:p>
                      <a:pPr algn="ctr" fontAlgn="t">
                        <a:buNone/>
                      </a:pPr>
                      <a:r>
                        <a:rPr lang="en-US" sz="1400" b="0" i="0" u="none" strike="noStrike">
                          <a:solidFill>
                            <a:srgbClr val="212529"/>
                          </a:solidFill>
                          <a:effectLst/>
                          <a:latin typeface="Aptos" panose="020B0004020202020204" pitchFamily="34" charset="0"/>
                        </a:rPr>
                        <a:t>1.87</a:t>
                      </a:r>
                    </a:p>
                  </a:txBody>
                  <a:tcPr marL="45720" marR="45720">
                    <a:noFill/>
                  </a:tcPr>
                </a:tc>
                <a:tc>
                  <a:txBody>
                    <a:bodyPr/>
                    <a:lstStyle/>
                    <a:p>
                      <a:pPr algn="ctr" fontAlgn="t">
                        <a:buNone/>
                      </a:pPr>
                      <a:r>
                        <a:rPr lang="en-US" sz="1400" b="0" i="0" u="none" strike="noStrike">
                          <a:solidFill>
                            <a:srgbClr val="212529"/>
                          </a:solidFill>
                          <a:effectLst/>
                          <a:latin typeface="Aptos" panose="020B0004020202020204" pitchFamily="34" charset="0"/>
                        </a:rPr>
                        <a:t>2.70</a:t>
                      </a:r>
                    </a:p>
                  </a:txBody>
                  <a:tcPr marL="45720" marR="45720">
                    <a:noFill/>
                  </a:tcPr>
                </a:tc>
                <a:tc>
                  <a:txBody>
                    <a:bodyPr/>
                    <a:lstStyle/>
                    <a:p>
                      <a:pPr algn="ctr" fontAlgn="t">
                        <a:buNone/>
                      </a:pPr>
                      <a:r>
                        <a:rPr lang="en-US" sz="1400" b="0" i="0" u="none" strike="noStrike">
                          <a:solidFill>
                            <a:srgbClr val="212529"/>
                          </a:solidFill>
                          <a:effectLst/>
                          <a:latin typeface="Aptos" panose="020B0004020202020204" pitchFamily="34" charset="0"/>
                        </a:rPr>
                        <a:t>13.77</a:t>
                      </a:r>
                    </a:p>
                  </a:txBody>
                  <a:tcPr marL="45720" marR="45720">
                    <a:noFill/>
                  </a:tcPr>
                </a:tc>
                <a:tc>
                  <a:txBody>
                    <a:bodyPr/>
                    <a:lstStyle/>
                    <a:p>
                      <a:pPr algn="ctr" fontAlgn="t">
                        <a:buNone/>
                      </a:pPr>
                      <a:r>
                        <a:rPr lang="en-US" sz="1400" b="0" i="0" u="none" strike="noStrike">
                          <a:solidFill>
                            <a:srgbClr val="212529"/>
                          </a:solidFill>
                          <a:effectLst/>
                          <a:latin typeface="Aptos" panose="020B0004020202020204" pitchFamily="34" charset="0"/>
                        </a:rPr>
                        <a:t>10.57</a:t>
                      </a: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95697560"/>
                  </a:ext>
                </a:extLst>
              </a:tr>
              <a:tr h="152400">
                <a:tc>
                  <a:txBody>
                    <a:bodyPr/>
                    <a:lstStyle/>
                    <a:p>
                      <a:pPr algn="l" fontAlgn="t">
                        <a:buNone/>
                      </a:pPr>
                      <a:r>
                        <a:rPr lang="en-US" sz="1400" u="none" strike="noStrike">
                          <a:effectLst/>
                        </a:rPr>
                        <a:t>Market Cap (RM’ mil) </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 267.4</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 362.7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 254.4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 2,433.7</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 3,434.5</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49879124"/>
                  </a:ext>
                </a:extLst>
              </a:tr>
              <a:tr h="152400">
                <a:tc>
                  <a:txBody>
                    <a:bodyPr/>
                    <a:lstStyle/>
                    <a:p>
                      <a:pPr algn="l" fontAlgn="t">
                        <a:buNone/>
                      </a:pPr>
                      <a:r>
                        <a:rPr lang="en-US" sz="1400" u="none" strike="noStrike">
                          <a:effectLst/>
                        </a:rPr>
                        <a:t>Shares (mil)</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614.63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fontAlgn="t">
                        <a:buNone/>
                      </a:pPr>
                      <a:r>
                        <a:rPr lang="en-US" sz="1400" u="none" strike="noStrike">
                          <a:effectLst/>
                        </a:rPr>
                        <a:t>500.34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591.65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1,091.35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1,267.21 </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5484356"/>
                  </a:ext>
                </a:extLst>
              </a:tr>
            </a:tbl>
          </a:graphicData>
        </a:graphic>
      </p:graphicFrame>
      <p:sp>
        <p:nvSpPr>
          <p:cNvPr id="6" name="TextBox 5">
            <a:extLst>
              <a:ext uri="{FF2B5EF4-FFF2-40B4-BE49-F238E27FC236}">
                <a16:creationId xmlns:a16="http://schemas.microsoft.com/office/drawing/2014/main" id="{5E2B5C7B-8F0F-3845-76C0-1051262FAB77}"/>
              </a:ext>
            </a:extLst>
          </p:cNvPr>
          <p:cNvSpPr txBox="1"/>
          <p:nvPr/>
        </p:nvSpPr>
        <p:spPr>
          <a:xfrm>
            <a:off x="8556445" y="6165200"/>
            <a:ext cx="2190215" cy="276999"/>
          </a:xfrm>
          <a:prstGeom prst="rect">
            <a:avLst/>
          </a:prstGeom>
          <a:noFill/>
        </p:spPr>
        <p:txBody>
          <a:bodyPr wrap="none" rtlCol="0">
            <a:spAutoFit/>
          </a:bodyPr>
          <a:lstStyle/>
          <a:p>
            <a:r>
              <a:rPr lang="en-US" sz="1200" i="1"/>
              <a:t>Information as at 21</a:t>
            </a:r>
            <a:r>
              <a:rPr lang="en-US" sz="1200" i="1" baseline="30000"/>
              <a:t>st</a:t>
            </a:r>
            <a:r>
              <a:rPr lang="en-US" sz="1200" i="1"/>
              <a:t> Jan 2026</a:t>
            </a:r>
          </a:p>
        </p:txBody>
      </p:sp>
      <p:sp>
        <p:nvSpPr>
          <p:cNvPr id="7" name="TextBox 6">
            <a:extLst>
              <a:ext uri="{FF2B5EF4-FFF2-40B4-BE49-F238E27FC236}">
                <a16:creationId xmlns:a16="http://schemas.microsoft.com/office/drawing/2014/main" id="{FC7A7C6E-99AC-3791-F107-F92760393613}"/>
              </a:ext>
            </a:extLst>
          </p:cNvPr>
          <p:cNvSpPr txBox="1"/>
          <p:nvPr/>
        </p:nvSpPr>
        <p:spPr>
          <a:xfrm>
            <a:off x="8364238" y="4351051"/>
            <a:ext cx="3308459" cy="954107"/>
          </a:xfrm>
          <a:prstGeom prst="rect">
            <a:avLst/>
          </a:prstGeom>
          <a:noFill/>
        </p:spPr>
        <p:txBody>
          <a:bodyPr wrap="square">
            <a:spAutoFit/>
          </a:bodyPr>
          <a:lstStyle/>
          <a:p>
            <a:pPr algn="just"/>
            <a:r>
              <a:rPr lang="en-US" sz="1400" b="1" i="1"/>
              <a:t>Note : </a:t>
            </a:r>
            <a:r>
              <a:rPr lang="en-US" sz="1400" i="1"/>
              <a:t>Given that OSK Group trades at a higher P/E multiple (9.27x) relative to </a:t>
            </a:r>
            <a:r>
              <a:rPr lang="en-US" sz="1400" i="1" err="1"/>
              <a:t>Inta</a:t>
            </a:r>
            <a:r>
              <a:rPr lang="en-US" sz="1400" i="1"/>
              <a:t> Bina, the transaction presents potential valuation accretion for OSK</a:t>
            </a:r>
          </a:p>
        </p:txBody>
      </p:sp>
    </p:spTree>
    <p:extLst>
      <p:ext uri="{BB962C8B-B14F-4D97-AF65-F5344CB8AC3E}">
        <p14:creationId xmlns:p14="http://schemas.microsoft.com/office/powerpoint/2010/main" val="128225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12385-35E5-FA2E-ABB8-B7683B753B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C54FC9-F0CF-F958-A4A6-D2901CC7CE25}"/>
              </a:ext>
            </a:extLst>
          </p:cNvPr>
          <p:cNvSpPr txBox="1"/>
          <p:nvPr/>
        </p:nvSpPr>
        <p:spPr>
          <a:xfrm>
            <a:off x="274320" y="219456"/>
            <a:ext cx="10562379" cy="646331"/>
          </a:xfrm>
          <a:prstGeom prst="rect">
            <a:avLst/>
          </a:prstGeom>
          <a:noFill/>
        </p:spPr>
        <p:txBody>
          <a:bodyPr wrap="none" rtlCol="0">
            <a:spAutoFit/>
          </a:bodyPr>
          <a:lstStyle/>
          <a:p>
            <a:r>
              <a:rPr lang="en-US" sz="3600" b="1"/>
              <a:t>Acquisition – Immediate Benefits &amp; Consideration</a:t>
            </a:r>
            <a:endParaRPr lang="en-MY" sz="3600" b="1"/>
          </a:p>
        </p:txBody>
      </p:sp>
      <p:sp>
        <p:nvSpPr>
          <p:cNvPr id="2" name="Slide Number Placeholder 2">
            <a:extLst>
              <a:ext uri="{FF2B5EF4-FFF2-40B4-BE49-F238E27FC236}">
                <a16:creationId xmlns:a16="http://schemas.microsoft.com/office/drawing/2014/main" id="{4F8ECA65-5775-C177-588F-95886F0D10CC}"/>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4</a:t>
            </a:fld>
            <a:endParaRPr lang="en-US" sz="1200">
              <a:solidFill>
                <a:schemeClr val="tx2">
                  <a:lumMod val="95000"/>
                  <a:lumOff val="5000"/>
                </a:schemeClr>
              </a:solidFill>
              <a:latin typeface="Aptos" panose="020B0004020202020204" pitchFamily="34" charset="0"/>
            </a:endParaRPr>
          </a:p>
        </p:txBody>
      </p:sp>
      <p:sp>
        <p:nvSpPr>
          <p:cNvPr id="6" name="TextBox 5">
            <a:extLst>
              <a:ext uri="{FF2B5EF4-FFF2-40B4-BE49-F238E27FC236}">
                <a16:creationId xmlns:a16="http://schemas.microsoft.com/office/drawing/2014/main" id="{A2E0DC28-BBD0-09C4-E8CA-505301D0997A}"/>
              </a:ext>
            </a:extLst>
          </p:cNvPr>
          <p:cNvSpPr txBox="1"/>
          <p:nvPr/>
        </p:nvSpPr>
        <p:spPr>
          <a:xfrm>
            <a:off x="274320" y="999411"/>
            <a:ext cx="11327130" cy="2215991"/>
          </a:xfrm>
          <a:prstGeom prst="rect">
            <a:avLst/>
          </a:prstGeom>
          <a:noFill/>
        </p:spPr>
        <p:txBody>
          <a:bodyPr wrap="square">
            <a:spAutoFit/>
          </a:bodyPr>
          <a:lstStyle/>
          <a:p>
            <a:pPr marL="285750" indent="-285750" algn="just">
              <a:spcBef>
                <a:spcPts val="300"/>
              </a:spcBef>
              <a:spcAft>
                <a:spcPts val="300"/>
              </a:spcAft>
              <a:buSzPct val="60000"/>
              <a:buFont typeface="Wingdings" panose="05000000000000000000" pitchFamily="2" charset="2"/>
              <a:buChar char="q"/>
            </a:pPr>
            <a:r>
              <a:rPr lang="en-US" sz="1600"/>
              <a:t>OSK’s property development arm is currently supported primarily by its in-house construction arm. OSKC which has historically played a project management office role by engaging, coordinating and overseeing external contractors for the construction works. </a:t>
            </a:r>
          </a:p>
          <a:p>
            <a:pPr marL="285750" indent="-285750" algn="just">
              <a:spcBef>
                <a:spcPts val="300"/>
              </a:spcBef>
              <a:spcAft>
                <a:spcPts val="300"/>
              </a:spcAft>
              <a:buSzPct val="60000"/>
              <a:buFont typeface="Wingdings" panose="05000000000000000000" pitchFamily="2" charset="2"/>
              <a:buChar char="q"/>
            </a:pPr>
            <a:r>
              <a:rPr lang="en-US" sz="1600"/>
              <a:t>Moving forward, the Group intends to progressively strengthen its construction capabilities by reducing reliance on external parties, taking on a larger scope of works in-house for its own property developments, while concurrently exploring opportunities to bid for construction projects from external third-party clients. </a:t>
            </a:r>
          </a:p>
          <a:p>
            <a:pPr marL="285750" indent="-285750" algn="just">
              <a:spcBef>
                <a:spcPts val="300"/>
              </a:spcBef>
              <a:spcAft>
                <a:spcPts val="300"/>
              </a:spcAft>
              <a:buSzPct val="60000"/>
              <a:buFont typeface="Wingdings" panose="05000000000000000000" pitchFamily="2" charset="2"/>
              <a:buChar char="q"/>
            </a:pPr>
            <a:r>
              <a:rPr lang="en-US" sz="1600"/>
              <a:t>In line with this strategic direction, the Group is exploring a potential “merger” with </a:t>
            </a:r>
            <a:r>
              <a:rPr lang="en-US" sz="1600" err="1"/>
              <a:t>Inta</a:t>
            </a:r>
            <a:r>
              <a:rPr lang="en-US" sz="1600"/>
              <a:t> Bina, a listed construction company with an established presence in the construction market.</a:t>
            </a:r>
          </a:p>
        </p:txBody>
      </p:sp>
      <p:sp>
        <p:nvSpPr>
          <p:cNvPr id="8" name="TextBox 7">
            <a:extLst>
              <a:ext uri="{FF2B5EF4-FFF2-40B4-BE49-F238E27FC236}">
                <a16:creationId xmlns:a16="http://schemas.microsoft.com/office/drawing/2014/main" id="{318D44C4-3CC3-6F31-F208-2D7A715B2684}"/>
              </a:ext>
            </a:extLst>
          </p:cNvPr>
          <p:cNvSpPr txBox="1"/>
          <p:nvPr/>
        </p:nvSpPr>
        <p:spPr>
          <a:xfrm>
            <a:off x="2515352" y="3429270"/>
            <a:ext cx="3422533" cy="2908489"/>
          </a:xfrm>
          <a:prstGeom prst="rect">
            <a:avLst/>
          </a:prstGeom>
          <a:noFill/>
        </p:spPr>
        <p:txBody>
          <a:bodyPr wrap="square">
            <a:spAutoFit/>
          </a:bodyPr>
          <a:lstStyle/>
          <a:p>
            <a:pPr marR="0" lvl="0" defTabSz="914400" rtl="0" eaLnBrk="1" fontAlgn="auto" latinLnBrk="0" hangingPunct="1">
              <a:lnSpc>
                <a:spcPct val="100000"/>
              </a:lnSpc>
              <a:spcBef>
                <a:spcPts val="300"/>
              </a:spcBef>
              <a:spcAft>
                <a:spcPts val="300"/>
              </a:spcAft>
              <a:buClrTx/>
              <a:buSzPct val="60000"/>
              <a:tabLst/>
              <a:defRPr/>
            </a:pPr>
            <a:r>
              <a:rPr lang="en-US" b="1">
                <a:solidFill>
                  <a:schemeClr val="tx1"/>
                </a:solidFill>
              </a:rPr>
              <a:t>Reasons supporting the Proposed Acquisition / Merger</a:t>
            </a:r>
          </a:p>
          <a:p>
            <a:pPr marL="285750" marR="0" lvl="0" indent="-285750" defTabSz="914400" rtl="0" eaLnBrk="1" fontAlgn="auto" latinLnBrk="0" hangingPunct="1">
              <a:lnSpc>
                <a:spcPct val="100000"/>
              </a:lnSpc>
              <a:spcBef>
                <a:spcPts val="300"/>
              </a:spcBef>
              <a:spcAft>
                <a:spcPts val="300"/>
              </a:spcAft>
              <a:buClrTx/>
              <a:buSzPct val="60000"/>
              <a:buFont typeface="Wingdings" panose="05000000000000000000" pitchFamily="2" charset="2"/>
              <a:buChar char="q"/>
              <a:tabLst/>
              <a:defRPr/>
            </a:pPr>
            <a:r>
              <a:rPr lang="en-US" sz="1600" b="0">
                <a:solidFill>
                  <a:schemeClr val="tx1"/>
                </a:solidFill>
              </a:rPr>
              <a:t>Revenue Diversification &amp; </a:t>
            </a:r>
            <a:endParaRPr lang="en-US" sz="1600"/>
          </a:p>
          <a:p>
            <a:pPr marL="292100" marR="0" lvl="0" defTabSz="914400" rtl="0" eaLnBrk="1" fontAlgn="auto" latinLnBrk="0" hangingPunct="1">
              <a:lnSpc>
                <a:spcPct val="100000"/>
              </a:lnSpc>
              <a:spcBef>
                <a:spcPts val="300"/>
              </a:spcBef>
              <a:spcAft>
                <a:spcPts val="300"/>
              </a:spcAft>
              <a:buClrTx/>
              <a:buSzPct val="60000"/>
              <a:tabLst/>
              <a:defRPr/>
            </a:pPr>
            <a:r>
              <a:rPr lang="en-US" sz="1600" b="0">
                <a:solidFill>
                  <a:schemeClr val="tx1"/>
                </a:solidFill>
              </a:rPr>
              <a:t>De-risking</a:t>
            </a:r>
          </a:p>
          <a:p>
            <a:pPr marL="285750" indent="-285750">
              <a:spcBef>
                <a:spcPts val="300"/>
              </a:spcBef>
              <a:spcAft>
                <a:spcPts val="300"/>
              </a:spcAft>
              <a:buSzPct val="60000"/>
              <a:buFont typeface="Wingdings" panose="05000000000000000000" pitchFamily="2" charset="2"/>
              <a:buChar char="q"/>
              <a:defRPr/>
            </a:pPr>
            <a:r>
              <a:rPr lang="en-US" sz="1600"/>
              <a:t>Immediate Market Access &amp; </a:t>
            </a:r>
          </a:p>
          <a:p>
            <a:pPr marL="292100">
              <a:spcBef>
                <a:spcPts val="300"/>
              </a:spcBef>
              <a:spcAft>
                <a:spcPts val="300"/>
              </a:spcAft>
              <a:buSzPct val="60000"/>
              <a:defRPr/>
            </a:pPr>
            <a:r>
              <a:rPr lang="en-US" sz="1600"/>
              <a:t>Track Record</a:t>
            </a:r>
          </a:p>
          <a:p>
            <a:pPr marL="285750" indent="-285750">
              <a:spcBef>
                <a:spcPts val="300"/>
              </a:spcBef>
              <a:spcAft>
                <a:spcPts val="300"/>
              </a:spcAft>
              <a:buSzPct val="60000"/>
              <a:buFont typeface="Wingdings" panose="05000000000000000000" pitchFamily="2" charset="2"/>
              <a:buChar char="q"/>
              <a:defRPr/>
            </a:pPr>
            <a:r>
              <a:rPr lang="en-US" sz="1600"/>
              <a:t>Margin &amp; Cost Synergies</a:t>
            </a:r>
          </a:p>
          <a:p>
            <a:pPr marL="285750" lvl="0" indent="-285750">
              <a:spcBef>
                <a:spcPts val="300"/>
              </a:spcBef>
              <a:spcAft>
                <a:spcPts val="300"/>
              </a:spcAft>
              <a:buSzPct val="60000"/>
              <a:buFont typeface="Wingdings" panose="05000000000000000000" pitchFamily="2" charset="2"/>
              <a:buChar char="q"/>
              <a:defRPr/>
            </a:pPr>
            <a:r>
              <a:rPr lang="en-US" sz="1600"/>
              <a:t>Capital Efficiency</a:t>
            </a:r>
          </a:p>
          <a:p>
            <a:pPr marL="285750" lvl="0" indent="-285750">
              <a:spcBef>
                <a:spcPts val="300"/>
              </a:spcBef>
              <a:spcAft>
                <a:spcPts val="300"/>
              </a:spcAft>
              <a:buSzPct val="60000"/>
              <a:buFont typeface="Wingdings" panose="05000000000000000000" pitchFamily="2" charset="2"/>
              <a:buChar char="q"/>
              <a:defRPr/>
            </a:pPr>
            <a:r>
              <a:rPr lang="en-US" sz="1600">
                <a:solidFill>
                  <a:srgbClr val="FF0000"/>
                </a:solidFill>
              </a:rPr>
              <a:t>Earning &amp; Valuation-accretive</a:t>
            </a:r>
          </a:p>
        </p:txBody>
      </p:sp>
      <p:sp>
        <p:nvSpPr>
          <p:cNvPr id="11" name="TextBox 10">
            <a:extLst>
              <a:ext uri="{FF2B5EF4-FFF2-40B4-BE49-F238E27FC236}">
                <a16:creationId xmlns:a16="http://schemas.microsoft.com/office/drawing/2014/main" id="{3295A6B1-D395-B0ED-5998-E21639F07A2D}"/>
              </a:ext>
            </a:extLst>
          </p:cNvPr>
          <p:cNvSpPr txBox="1"/>
          <p:nvPr/>
        </p:nvSpPr>
        <p:spPr>
          <a:xfrm>
            <a:off x="8170456" y="3416911"/>
            <a:ext cx="2878544" cy="2908489"/>
          </a:xfrm>
          <a:prstGeom prst="rect">
            <a:avLst/>
          </a:prstGeom>
          <a:noFill/>
        </p:spPr>
        <p:txBody>
          <a:bodyPr wrap="square">
            <a:spAutoFit/>
          </a:bodyPr>
          <a:lstStyle/>
          <a:p>
            <a:pPr>
              <a:spcBef>
                <a:spcPts val="300"/>
              </a:spcBef>
              <a:spcAft>
                <a:spcPts val="300"/>
              </a:spcAft>
              <a:buSzPct val="60000"/>
              <a:defRPr/>
            </a:pPr>
            <a:r>
              <a:rPr lang="en-US" b="1"/>
              <a:t>Matters for </a:t>
            </a:r>
          </a:p>
          <a:p>
            <a:pPr>
              <a:spcBef>
                <a:spcPts val="300"/>
              </a:spcBef>
              <a:spcAft>
                <a:spcPts val="300"/>
              </a:spcAft>
              <a:buSzPct val="60000"/>
              <a:defRPr/>
            </a:pPr>
            <a:r>
              <a:rPr lang="en-US" b="1"/>
              <a:t>Consideration</a:t>
            </a:r>
          </a:p>
          <a:p>
            <a:pPr marL="285750" marR="0" lvl="0" indent="-285750" fontAlgn="auto">
              <a:lnSpc>
                <a:spcPct val="100000"/>
              </a:lnSpc>
              <a:spcBef>
                <a:spcPts val="300"/>
              </a:spcBef>
              <a:spcAft>
                <a:spcPts val="300"/>
              </a:spcAft>
              <a:buClrTx/>
              <a:buSzPct val="60000"/>
              <a:buFont typeface="Wingdings" panose="05000000000000000000" pitchFamily="2" charset="2"/>
              <a:buChar char="q"/>
              <a:tabLst/>
              <a:defRPr/>
            </a:pPr>
            <a:r>
              <a:rPr lang="en-US" sz="1600"/>
              <a:t>Client Conflict &amp; Perception Risk</a:t>
            </a:r>
          </a:p>
          <a:p>
            <a:pPr marL="285750" indent="-285750">
              <a:spcBef>
                <a:spcPts val="300"/>
              </a:spcBef>
              <a:spcAft>
                <a:spcPts val="300"/>
              </a:spcAft>
              <a:buSzPct val="60000"/>
              <a:buFont typeface="Wingdings" panose="05000000000000000000" pitchFamily="2" charset="2"/>
              <a:buChar char="q"/>
              <a:defRPr/>
            </a:pPr>
            <a:r>
              <a:rPr lang="en-US" sz="1600"/>
              <a:t>Margin Dilution &amp; </a:t>
            </a:r>
          </a:p>
          <a:p>
            <a:pPr marL="292100">
              <a:spcBef>
                <a:spcPts val="300"/>
              </a:spcBef>
              <a:spcAft>
                <a:spcPts val="300"/>
              </a:spcAft>
              <a:buSzPct val="60000"/>
              <a:tabLst>
                <a:tab pos="292100" algn="l"/>
              </a:tabLst>
              <a:defRPr/>
            </a:pPr>
            <a:r>
              <a:rPr lang="en-US" sz="1600"/>
              <a:t>Earnings Quality</a:t>
            </a:r>
          </a:p>
          <a:p>
            <a:pPr marL="285750" indent="-285750">
              <a:spcBef>
                <a:spcPts val="300"/>
              </a:spcBef>
              <a:spcAft>
                <a:spcPts val="300"/>
              </a:spcAft>
              <a:buSzPct val="60000"/>
              <a:buFont typeface="Wingdings" panose="05000000000000000000" pitchFamily="2" charset="2"/>
              <a:buChar char="q"/>
              <a:defRPr/>
            </a:pPr>
            <a:r>
              <a:rPr lang="en-US" sz="1600"/>
              <a:t>Balance Sheet &amp; </a:t>
            </a:r>
          </a:p>
          <a:p>
            <a:pPr marL="292100">
              <a:spcBef>
                <a:spcPts val="300"/>
              </a:spcBef>
              <a:spcAft>
                <a:spcPts val="300"/>
              </a:spcAft>
              <a:buSzPct val="60000"/>
              <a:defRPr/>
            </a:pPr>
            <a:r>
              <a:rPr lang="en-US" sz="1600"/>
              <a:t>Risk Profile Shift</a:t>
            </a:r>
          </a:p>
          <a:p>
            <a:pPr marL="285750" indent="-285750">
              <a:spcBef>
                <a:spcPts val="300"/>
              </a:spcBef>
              <a:spcAft>
                <a:spcPts val="300"/>
              </a:spcAft>
              <a:buSzPct val="60000"/>
              <a:buFont typeface="Wingdings" panose="05000000000000000000" pitchFamily="2" charset="2"/>
              <a:buChar char="q"/>
              <a:defRPr/>
            </a:pPr>
            <a:r>
              <a:rPr lang="en-US" sz="1600"/>
              <a:t>Execution &amp; People Risk</a:t>
            </a:r>
          </a:p>
        </p:txBody>
      </p:sp>
      <p:pic>
        <p:nvPicPr>
          <p:cNvPr id="13" name="Graphic 12" descr="Questions with solid fill">
            <a:extLst>
              <a:ext uri="{FF2B5EF4-FFF2-40B4-BE49-F238E27FC236}">
                <a16:creationId xmlns:a16="http://schemas.microsoft.com/office/drawing/2014/main" id="{7B8FA45E-B45D-3FC5-4C26-45466AD779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02401" y="3798147"/>
            <a:ext cx="1573736" cy="1638184"/>
          </a:xfrm>
          <a:prstGeom prst="rect">
            <a:avLst/>
          </a:prstGeom>
        </p:spPr>
      </p:pic>
      <p:pic>
        <p:nvPicPr>
          <p:cNvPr id="15" name="Graphic 14" descr="Person with idea with solid fill">
            <a:extLst>
              <a:ext uri="{FF2B5EF4-FFF2-40B4-BE49-F238E27FC236}">
                <a16:creationId xmlns:a16="http://schemas.microsoft.com/office/drawing/2014/main" id="{6F7B6474-72CF-CA10-96C1-C701F317F8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914" y="3765373"/>
            <a:ext cx="1635643" cy="1635643"/>
          </a:xfrm>
          <a:prstGeom prst="rect">
            <a:avLst/>
          </a:prstGeom>
        </p:spPr>
      </p:pic>
    </p:spTree>
    <p:extLst>
      <p:ext uri="{BB962C8B-B14F-4D97-AF65-F5344CB8AC3E}">
        <p14:creationId xmlns:p14="http://schemas.microsoft.com/office/powerpoint/2010/main" val="3316639428"/>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78159-E5D2-5754-99BC-D592B3CDDC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B8BAF87-18B5-2753-EBAD-8D42F3915F69}"/>
              </a:ext>
            </a:extLst>
          </p:cNvPr>
          <p:cNvSpPr txBox="1"/>
          <p:nvPr/>
        </p:nvSpPr>
        <p:spPr>
          <a:xfrm>
            <a:off x="274320" y="219456"/>
            <a:ext cx="7086107" cy="646331"/>
          </a:xfrm>
          <a:prstGeom prst="rect">
            <a:avLst/>
          </a:prstGeom>
          <a:noFill/>
        </p:spPr>
        <p:txBody>
          <a:bodyPr wrap="none" rtlCol="0">
            <a:spAutoFit/>
          </a:bodyPr>
          <a:lstStyle/>
          <a:p>
            <a:r>
              <a:rPr lang="en-US" sz="3600" b="1"/>
              <a:t>Acquisition – Immediate Benefits</a:t>
            </a:r>
            <a:endParaRPr lang="en-MY" sz="3600" b="1"/>
          </a:p>
        </p:txBody>
      </p:sp>
      <p:sp>
        <p:nvSpPr>
          <p:cNvPr id="2" name="Slide Number Placeholder 2">
            <a:extLst>
              <a:ext uri="{FF2B5EF4-FFF2-40B4-BE49-F238E27FC236}">
                <a16:creationId xmlns:a16="http://schemas.microsoft.com/office/drawing/2014/main" id="{ADBDF0AC-1028-54D9-CA04-1775C5D123E8}"/>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5</a:t>
            </a:fld>
            <a:endParaRPr lang="en-US" sz="1200">
              <a:solidFill>
                <a:schemeClr val="tx2">
                  <a:lumMod val="95000"/>
                  <a:lumOff val="5000"/>
                </a:schemeClr>
              </a:solidFill>
              <a:latin typeface="Aptos" panose="020B0004020202020204" pitchFamily="34" charset="0"/>
            </a:endParaRPr>
          </a:p>
        </p:txBody>
      </p:sp>
      <p:sp>
        <p:nvSpPr>
          <p:cNvPr id="7" name="TextBox 6">
            <a:extLst>
              <a:ext uri="{FF2B5EF4-FFF2-40B4-BE49-F238E27FC236}">
                <a16:creationId xmlns:a16="http://schemas.microsoft.com/office/drawing/2014/main" id="{74E971F2-F72F-67C1-04F7-0E4DCA11569C}"/>
              </a:ext>
            </a:extLst>
          </p:cNvPr>
          <p:cNvSpPr txBox="1"/>
          <p:nvPr/>
        </p:nvSpPr>
        <p:spPr>
          <a:xfrm>
            <a:off x="312420" y="773454"/>
            <a:ext cx="6096000" cy="369332"/>
          </a:xfrm>
          <a:prstGeom prst="rect">
            <a:avLst/>
          </a:prstGeom>
          <a:noFill/>
        </p:spPr>
        <p:txBody>
          <a:bodyPr wrap="square">
            <a:spAutoFit/>
          </a:bodyPr>
          <a:lstStyle/>
          <a:p>
            <a:pPr marR="0" lvl="0" defTabSz="914400" rtl="0" eaLnBrk="1" fontAlgn="auto" latinLnBrk="0" hangingPunct="1">
              <a:lnSpc>
                <a:spcPct val="100000"/>
              </a:lnSpc>
              <a:spcBef>
                <a:spcPts val="300"/>
              </a:spcBef>
              <a:spcAft>
                <a:spcPts val="300"/>
              </a:spcAft>
              <a:buClrTx/>
              <a:buSzPct val="60000"/>
              <a:tabLst/>
              <a:defRPr/>
            </a:pPr>
            <a:r>
              <a:rPr lang="en-US" b="1">
                <a:solidFill>
                  <a:schemeClr val="tx1"/>
                </a:solidFill>
              </a:rPr>
              <a:t>- Reasons supporting the Proposed Acquisition / Merger</a:t>
            </a:r>
          </a:p>
        </p:txBody>
      </p:sp>
      <p:graphicFrame>
        <p:nvGraphicFramePr>
          <p:cNvPr id="13" name="Table 12">
            <a:extLst>
              <a:ext uri="{FF2B5EF4-FFF2-40B4-BE49-F238E27FC236}">
                <a16:creationId xmlns:a16="http://schemas.microsoft.com/office/drawing/2014/main" id="{DA018E3B-BDB4-C522-00AA-A25D9066CA81}"/>
              </a:ext>
            </a:extLst>
          </p:cNvPr>
          <p:cNvGraphicFramePr>
            <a:graphicFrameLocks noGrp="1"/>
          </p:cNvGraphicFramePr>
          <p:nvPr>
            <p:extLst>
              <p:ext uri="{D42A27DB-BD31-4B8C-83A1-F6EECF244321}">
                <p14:modId xmlns:p14="http://schemas.microsoft.com/office/powerpoint/2010/main" val="2533346605"/>
              </p:ext>
            </p:extLst>
          </p:nvPr>
        </p:nvGraphicFramePr>
        <p:xfrm>
          <a:off x="438150" y="1238504"/>
          <a:ext cx="11315700" cy="5110480"/>
        </p:xfrm>
        <a:graphic>
          <a:graphicData uri="http://schemas.openxmlformats.org/drawingml/2006/table">
            <a:tbl>
              <a:tblPr firstRow="1" bandRow="1">
                <a:tableStyleId>{5C22544A-7EE6-4342-B048-85BDC9FD1C3A}</a:tableStyleId>
              </a:tblPr>
              <a:tblGrid>
                <a:gridCol w="11315700">
                  <a:extLst>
                    <a:ext uri="{9D8B030D-6E8A-4147-A177-3AD203B41FA5}">
                      <a16:colId xmlns:a16="http://schemas.microsoft.com/office/drawing/2014/main" val="1213989469"/>
                    </a:ext>
                  </a:extLst>
                </a:gridCol>
              </a:tblGrid>
              <a:tr h="370840">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lphaUcPeriod"/>
                        <a:tabLst/>
                        <a:defRPr/>
                      </a:pPr>
                      <a:r>
                        <a:rPr lang="en-US" sz="1400" b="1" u="sng">
                          <a:solidFill>
                            <a:schemeClr val="tx1"/>
                          </a:solidFill>
                        </a:rPr>
                        <a:t>Revenue Diversification &amp; De-risking</a:t>
                      </a:r>
                    </a:p>
                    <a:p>
                      <a:pPr marL="571500" indent="-228600">
                        <a:buSzPct val="60000"/>
                        <a:buFont typeface="Wingdings" panose="05000000000000000000" pitchFamily="2" charset="2"/>
                        <a:buChar char="q"/>
                      </a:pPr>
                      <a:r>
                        <a:rPr lang="en-US" sz="1400" b="0">
                          <a:solidFill>
                            <a:schemeClr val="tx1"/>
                          </a:solidFill>
                        </a:rPr>
                        <a:t>Reduces cyclicality of in-house development: </a:t>
                      </a:r>
                      <a:r>
                        <a:rPr lang="en-US" sz="1400" b="0" i="1">
                          <a:solidFill>
                            <a:schemeClr val="tx1"/>
                          </a:solidFill>
                        </a:rPr>
                        <a:t>Construction revenue from third-party developers smooths earnings when your own launches slow.</a:t>
                      </a:r>
                    </a:p>
                    <a:p>
                      <a:pPr marL="571500" indent="-228600">
                        <a:buSzPct val="60000"/>
                        <a:buFont typeface="Wingdings" panose="05000000000000000000" pitchFamily="2" charset="2"/>
                        <a:buChar char="q"/>
                      </a:pPr>
                      <a:r>
                        <a:rPr lang="en-US" sz="1400" b="0">
                          <a:solidFill>
                            <a:schemeClr val="tx1"/>
                          </a:solidFill>
                        </a:rPr>
                        <a:t>Counter-cyclical benefits: </a:t>
                      </a:r>
                      <a:r>
                        <a:rPr lang="en-US" sz="1400" b="0" i="1">
                          <a:solidFill>
                            <a:schemeClr val="tx1"/>
                          </a:solidFill>
                        </a:rPr>
                        <a:t>External construction jobs may continue even when your landbank </a:t>
                      </a:r>
                      <a:r>
                        <a:rPr lang="en-US" sz="1400" b="0" i="1" err="1">
                          <a:solidFill>
                            <a:schemeClr val="tx1"/>
                          </a:solidFill>
                        </a:rPr>
                        <a:t>monetisation</a:t>
                      </a:r>
                      <a:r>
                        <a:rPr lang="en-US" sz="1400" b="0" i="1">
                          <a:solidFill>
                            <a:schemeClr val="tx1"/>
                          </a:solidFill>
                        </a:rPr>
                        <a:t> pauses.</a:t>
                      </a:r>
                    </a:p>
                    <a:p>
                      <a:pPr marL="571500" indent="-228600">
                        <a:buSzPct val="60000"/>
                        <a:buFont typeface="Wingdings" panose="05000000000000000000" pitchFamily="2" charset="2"/>
                        <a:buChar char="q"/>
                      </a:pPr>
                      <a:r>
                        <a:rPr lang="en-US" sz="1400" b="0">
                          <a:solidFill>
                            <a:schemeClr val="tx1"/>
                          </a:solidFill>
                        </a:rPr>
                        <a:t>Broader and New earnings base: </a:t>
                      </a:r>
                      <a:r>
                        <a:rPr lang="en-US" sz="1400" b="0" i="1">
                          <a:solidFill>
                            <a:schemeClr val="tx1"/>
                          </a:solidFill>
                        </a:rPr>
                        <a:t>Improves investor perception vs a “single-client (self)” construction model and venture into new business i.e. recurring income from </a:t>
                      </a:r>
                      <a:r>
                        <a:rPr lang="en-US" sz="1400" b="0">
                          <a:solidFill>
                            <a:schemeClr val="tx1"/>
                          </a:solidFill>
                        </a:rPr>
                        <a:t>facility management project such as Lifts and Escalator maintenance services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2652006"/>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lphaUcPeriod" startAt="2"/>
                        <a:tabLst/>
                        <a:defRPr/>
                      </a:pPr>
                      <a:r>
                        <a:rPr lang="en-US" sz="1400" b="1" u="sng" kern="1200">
                          <a:solidFill>
                            <a:schemeClr val="tx1"/>
                          </a:solidFill>
                          <a:latin typeface="+mn-lt"/>
                          <a:ea typeface="+mn-ea"/>
                          <a:cs typeface="+mn-cs"/>
                        </a:rPr>
                        <a:t>Immediate Market Access &amp; Track Record</a:t>
                      </a:r>
                    </a:p>
                    <a:p>
                      <a:pPr marL="571500" indent="-228600">
                        <a:buSzPct val="60000"/>
                        <a:buFont typeface="Wingdings" panose="05000000000000000000" pitchFamily="2" charset="2"/>
                        <a:buChar char="q"/>
                      </a:pPr>
                      <a:r>
                        <a:rPr lang="en-US" sz="1400"/>
                        <a:t>Acquiring a contractor with:</a:t>
                      </a:r>
                    </a:p>
                    <a:p>
                      <a:pPr marL="800100" lvl="2" indent="-228600">
                        <a:buSzPct val="100000"/>
                        <a:buFont typeface="+mj-lt"/>
                        <a:buAutoNum type="romanLcPeriod"/>
                      </a:pPr>
                      <a:r>
                        <a:rPr lang="en-US" sz="1400"/>
                        <a:t>Pre-qualified status with tier-1 developers</a:t>
                      </a:r>
                    </a:p>
                    <a:p>
                      <a:pPr marL="800100" lvl="2" indent="-228600">
                        <a:buSzPct val="100000"/>
                        <a:buFont typeface="+mj-lt"/>
                        <a:buAutoNum type="romanLcPeriod"/>
                      </a:pPr>
                      <a:r>
                        <a:rPr lang="en-US" sz="1400"/>
                        <a:t>Live order book and proven delivery</a:t>
                      </a:r>
                    </a:p>
                    <a:p>
                      <a:pPr marL="571500" indent="-228600">
                        <a:buSzPct val="60000"/>
                        <a:buFont typeface="Wingdings" panose="05000000000000000000" pitchFamily="2" charset="2"/>
                        <a:buChar char="q"/>
                      </a:pPr>
                      <a:r>
                        <a:rPr lang="en-US" sz="1400"/>
                        <a:t>Avoids the long gestation period of organically building credibility with external developers.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9758557"/>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lphaUcPeriod" startAt="3"/>
                        <a:tabLst/>
                        <a:defRPr/>
                      </a:pPr>
                      <a:r>
                        <a:rPr lang="en-US" sz="1400" b="1" u="sng" kern="1200">
                          <a:solidFill>
                            <a:schemeClr val="tx1"/>
                          </a:solidFill>
                          <a:latin typeface="+mn-lt"/>
                          <a:ea typeface="+mn-ea"/>
                          <a:cs typeface="+mn-cs"/>
                        </a:rPr>
                        <a:t>Margin &amp; Cost Synergies</a:t>
                      </a:r>
                    </a:p>
                    <a:p>
                      <a:pPr marL="571500" indent="-228600" algn="l" defTabSz="914400" rtl="0" eaLnBrk="1" latinLnBrk="0" hangingPunct="1">
                        <a:buSzPct val="60000"/>
                        <a:buFont typeface="Wingdings" panose="05000000000000000000" pitchFamily="2" charset="2"/>
                        <a:buChar char="q"/>
                      </a:pPr>
                      <a:r>
                        <a:rPr lang="en-US" sz="1400" b="1" kern="1200">
                          <a:solidFill>
                            <a:schemeClr val="dk1"/>
                          </a:solidFill>
                          <a:latin typeface="+mn-lt"/>
                          <a:ea typeface="+mn-ea"/>
                          <a:cs typeface="+mn-cs"/>
                        </a:rPr>
                        <a:t>Internal margin capture:</a:t>
                      </a:r>
                    </a:p>
                    <a:p>
                      <a:pPr marL="800100" lvl="2" indent="-228600" algn="l" defTabSz="914400" rtl="0" eaLnBrk="1" latinLnBrk="0" hangingPunct="1">
                        <a:buSzPct val="100000"/>
                        <a:buFont typeface="+mj-lt"/>
                        <a:buAutoNum type="romanLcPeriod"/>
                      </a:pPr>
                      <a:r>
                        <a:rPr lang="en-US" sz="1400"/>
                        <a:t>Allows the Group to capture the additional margin instead of paying it to a third party</a:t>
                      </a:r>
                      <a:endParaRPr lang="en-US" sz="1400" strike="sngStrike" kern="1200">
                        <a:solidFill>
                          <a:srgbClr val="FF0000"/>
                        </a:solidFill>
                        <a:latin typeface="+mn-lt"/>
                        <a:ea typeface="+mn-ea"/>
                        <a:cs typeface="+mn-cs"/>
                      </a:endParaRPr>
                    </a:p>
                    <a:p>
                      <a:pPr marL="800100" lvl="2" indent="-228600" algn="l" defTabSz="914400" rtl="0" eaLnBrk="1" latinLnBrk="0" hangingPunct="1">
                        <a:buSzPct val="100000"/>
                        <a:buFont typeface="+mj-lt"/>
                        <a:buAutoNum type="romanLcPeriod"/>
                      </a:pPr>
                      <a:r>
                        <a:rPr lang="en-US" sz="1400" kern="1200">
                          <a:solidFill>
                            <a:schemeClr val="dk1"/>
                          </a:solidFill>
                          <a:latin typeface="+mn-lt"/>
                          <a:ea typeface="+mn-ea"/>
                          <a:cs typeface="+mn-cs"/>
                        </a:rPr>
                        <a:t>Better cost transparency on build costs.</a:t>
                      </a:r>
                    </a:p>
                    <a:p>
                      <a:pPr marL="571500" indent="-228600">
                        <a:buSzPct val="60000"/>
                        <a:buFont typeface="Wingdings" panose="05000000000000000000" pitchFamily="2" charset="2"/>
                        <a:buChar char="q"/>
                      </a:pPr>
                      <a:r>
                        <a:rPr lang="en-US" sz="1400" b="1"/>
                        <a:t>Procurement leverage:</a:t>
                      </a:r>
                    </a:p>
                    <a:p>
                      <a:pPr marL="800100" lvl="2" indent="-228600">
                        <a:buSzPct val="100000"/>
                        <a:buFont typeface="+mj-lt"/>
                        <a:buAutoNum type="romanLcPeriod"/>
                      </a:pPr>
                      <a:r>
                        <a:rPr lang="en-US" sz="1400"/>
                        <a:t>Scale in materials, subcontractors, preliminaries.</a:t>
                      </a:r>
                    </a:p>
                    <a:p>
                      <a:pPr marL="571500" indent="-228600">
                        <a:buSzPct val="60000"/>
                        <a:buFont typeface="Wingdings" panose="05000000000000000000" pitchFamily="2" charset="2"/>
                        <a:buChar char="q"/>
                      </a:pPr>
                      <a:r>
                        <a:rPr lang="en-US" sz="1400" b="1" err="1"/>
                        <a:t>Standardisation</a:t>
                      </a:r>
                      <a:r>
                        <a:rPr lang="en-US" sz="1400" b="1"/>
                        <a:t>:</a:t>
                      </a:r>
                    </a:p>
                    <a:p>
                      <a:pPr marL="800100" lvl="2" indent="-228600">
                        <a:buSzPct val="100000"/>
                        <a:buFont typeface="+mj-lt"/>
                        <a:buAutoNum type="romanLcPeriod"/>
                      </a:pPr>
                      <a:r>
                        <a:rPr lang="en-US" sz="1400"/>
                        <a:t>Construction methodologies, specs, value engineering rolled out across group.</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63309"/>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lphaUcPeriod" startAt="4"/>
                        <a:tabLst/>
                        <a:defRPr/>
                      </a:pPr>
                      <a:r>
                        <a:rPr lang="en-US" sz="1400" b="1" u="sng" kern="1200">
                          <a:solidFill>
                            <a:schemeClr val="tx1"/>
                          </a:solidFill>
                          <a:latin typeface="+mn-lt"/>
                          <a:ea typeface="+mn-ea"/>
                          <a:cs typeface="+mn-cs"/>
                        </a:rPr>
                        <a:t>Capital Efficiency</a:t>
                      </a:r>
                    </a:p>
                    <a:p>
                      <a:pPr marL="571500" indent="-228600">
                        <a:spcBef>
                          <a:spcPts val="200"/>
                        </a:spcBef>
                        <a:spcAft>
                          <a:spcPts val="200"/>
                        </a:spcAft>
                        <a:buSzPct val="60000"/>
                        <a:buFont typeface="Wingdings" panose="05000000000000000000" pitchFamily="2" charset="2"/>
                        <a:buChar char="q"/>
                      </a:pPr>
                      <a:r>
                        <a:rPr lang="en-US" sz="1400" b="1"/>
                        <a:t>Construction arm can:</a:t>
                      </a:r>
                      <a:endParaRPr lang="en-US" sz="1400"/>
                    </a:p>
                    <a:p>
                      <a:pPr marL="800100" lvl="2" indent="-228600">
                        <a:spcBef>
                          <a:spcPts val="0"/>
                        </a:spcBef>
                        <a:spcAft>
                          <a:spcPts val="0"/>
                        </a:spcAft>
                        <a:buSzPct val="100000"/>
                        <a:buFont typeface="+mj-lt"/>
                        <a:buAutoNum type="romanLcPeriod"/>
                      </a:pPr>
                      <a:r>
                        <a:rPr lang="en-US" sz="1400"/>
                        <a:t>Improve group cash flow profile (progress billings vs lumpy development profits).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203107"/>
                  </a:ext>
                </a:extLst>
              </a:tr>
            </a:tbl>
          </a:graphicData>
        </a:graphic>
      </p:graphicFrame>
    </p:spTree>
    <p:extLst>
      <p:ext uri="{BB962C8B-B14F-4D97-AF65-F5344CB8AC3E}">
        <p14:creationId xmlns:p14="http://schemas.microsoft.com/office/powerpoint/2010/main" val="2752535359"/>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1AF73-EEE7-4AC2-65A0-DF6797BC19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B74192-6737-F868-31FF-C87BDAF19BC3}"/>
              </a:ext>
            </a:extLst>
          </p:cNvPr>
          <p:cNvSpPr txBox="1"/>
          <p:nvPr/>
        </p:nvSpPr>
        <p:spPr>
          <a:xfrm>
            <a:off x="274320" y="219456"/>
            <a:ext cx="5943615" cy="646331"/>
          </a:xfrm>
          <a:prstGeom prst="rect">
            <a:avLst/>
          </a:prstGeom>
          <a:noFill/>
        </p:spPr>
        <p:txBody>
          <a:bodyPr wrap="none" rtlCol="0">
            <a:spAutoFit/>
          </a:bodyPr>
          <a:lstStyle/>
          <a:p>
            <a:r>
              <a:rPr lang="en-US" sz="3600" b="1"/>
              <a:t>Acquisition – Consideration</a:t>
            </a:r>
            <a:endParaRPr lang="en-MY" sz="3600" b="1"/>
          </a:p>
        </p:txBody>
      </p:sp>
      <p:sp>
        <p:nvSpPr>
          <p:cNvPr id="2" name="Slide Number Placeholder 2">
            <a:extLst>
              <a:ext uri="{FF2B5EF4-FFF2-40B4-BE49-F238E27FC236}">
                <a16:creationId xmlns:a16="http://schemas.microsoft.com/office/drawing/2014/main" id="{88B59C2F-C4C9-EA89-EDDE-229CE6867AEE}"/>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6</a:t>
            </a:fld>
            <a:endParaRPr lang="en-US" sz="1200">
              <a:solidFill>
                <a:schemeClr val="tx2">
                  <a:lumMod val="95000"/>
                  <a:lumOff val="5000"/>
                </a:schemeClr>
              </a:solidFill>
              <a:latin typeface="Aptos" panose="020B0004020202020204" pitchFamily="34" charset="0"/>
            </a:endParaRPr>
          </a:p>
        </p:txBody>
      </p:sp>
      <p:sp>
        <p:nvSpPr>
          <p:cNvPr id="7" name="TextBox 6">
            <a:extLst>
              <a:ext uri="{FF2B5EF4-FFF2-40B4-BE49-F238E27FC236}">
                <a16:creationId xmlns:a16="http://schemas.microsoft.com/office/drawing/2014/main" id="{7121C9C6-36BD-2C1E-00D7-82826D028C05}"/>
              </a:ext>
            </a:extLst>
          </p:cNvPr>
          <p:cNvSpPr txBox="1"/>
          <p:nvPr/>
        </p:nvSpPr>
        <p:spPr>
          <a:xfrm>
            <a:off x="312420" y="773454"/>
            <a:ext cx="6096000" cy="369332"/>
          </a:xfrm>
          <a:prstGeom prst="rect">
            <a:avLst/>
          </a:prstGeom>
          <a:noFill/>
        </p:spPr>
        <p:txBody>
          <a:bodyPr wrap="square">
            <a:spAutoFit/>
          </a:bodyPr>
          <a:lstStyle/>
          <a:p>
            <a:pPr>
              <a:spcBef>
                <a:spcPts val="200"/>
              </a:spcBef>
              <a:spcAft>
                <a:spcPts val="200"/>
              </a:spcAft>
            </a:pPr>
            <a:r>
              <a:rPr lang="en-US" b="1"/>
              <a:t>- Matters for Consideration</a:t>
            </a:r>
            <a:endParaRPr lang="en-US"/>
          </a:p>
        </p:txBody>
      </p:sp>
      <p:sp>
        <p:nvSpPr>
          <p:cNvPr id="5" name="TextBox 4">
            <a:extLst>
              <a:ext uri="{FF2B5EF4-FFF2-40B4-BE49-F238E27FC236}">
                <a16:creationId xmlns:a16="http://schemas.microsoft.com/office/drawing/2014/main" id="{DD531B34-E87F-B005-9C76-F6446CA3D181}"/>
              </a:ext>
            </a:extLst>
          </p:cNvPr>
          <p:cNvSpPr txBox="1"/>
          <p:nvPr/>
        </p:nvSpPr>
        <p:spPr>
          <a:xfrm>
            <a:off x="312420" y="1142786"/>
            <a:ext cx="11384280" cy="5706690"/>
          </a:xfrm>
          <a:prstGeom prst="rect">
            <a:avLst/>
          </a:prstGeom>
          <a:noFill/>
        </p:spPr>
        <p:txBody>
          <a:bodyPr wrap="square">
            <a:spAutoFit/>
          </a:bodyPr>
          <a:lstStyle/>
          <a:p>
            <a:pPr>
              <a:spcBef>
                <a:spcPts val="300"/>
              </a:spcBef>
              <a:spcAft>
                <a:spcPts val="300"/>
              </a:spcAft>
              <a:buNone/>
            </a:pPr>
            <a:r>
              <a:rPr lang="en-US" sz="1400" b="1" u="sng"/>
              <a:t>A. Client Conflict &amp; Perception Risk </a:t>
            </a:r>
          </a:p>
          <a:p>
            <a:pPr marL="628650" indent="-285750">
              <a:spcBef>
                <a:spcPts val="200"/>
              </a:spcBef>
              <a:spcAft>
                <a:spcPts val="200"/>
              </a:spcAft>
              <a:buSzPct val="60000"/>
              <a:buFont typeface="Wingdings" panose="05000000000000000000" pitchFamily="2" charset="2"/>
              <a:buChar char="q"/>
            </a:pPr>
            <a:r>
              <a:rPr lang="en-US" sz="1400" b="1"/>
              <a:t>Third-party developers may:</a:t>
            </a:r>
          </a:p>
          <a:p>
            <a:pPr marL="1028700" lvl="1" indent="-400050">
              <a:spcBef>
                <a:spcPts val="200"/>
              </a:spcBef>
              <a:spcAft>
                <a:spcPts val="200"/>
              </a:spcAft>
              <a:buFont typeface="+mj-lt"/>
              <a:buAutoNum type="romanLcPeriod"/>
            </a:pPr>
            <a:r>
              <a:rPr lang="en-US" sz="1400"/>
              <a:t>Information leakage (pricing, margins, land strategy).</a:t>
            </a:r>
          </a:p>
          <a:p>
            <a:pPr marL="1028700" lvl="1" indent="-400050">
              <a:spcBef>
                <a:spcPts val="200"/>
              </a:spcBef>
              <a:spcAft>
                <a:spcPts val="200"/>
              </a:spcAft>
              <a:buFont typeface="+mj-lt"/>
              <a:buAutoNum type="romanLcPeriod"/>
            </a:pPr>
            <a:r>
              <a:rPr lang="en-US" sz="1400"/>
              <a:t>Fear capacity </a:t>
            </a:r>
            <a:r>
              <a:rPr lang="en-US" sz="1400" err="1"/>
              <a:t>prioritisation</a:t>
            </a:r>
            <a:r>
              <a:rPr lang="en-US" sz="1400"/>
              <a:t> for your own projects.</a:t>
            </a:r>
          </a:p>
          <a:p>
            <a:pPr marL="628650" indent="-285750">
              <a:spcBef>
                <a:spcPts val="200"/>
              </a:spcBef>
              <a:spcAft>
                <a:spcPts val="200"/>
              </a:spcAft>
              <a:buSzPct val="60000"/>
              <a:buFont typeface="Wingdings" panose="05000000000000000000" pitchFamily="2" charset="2"/>
              <a:buChar char="q"/>
            </a:pPr>
            <a:r>
              <a:rPr lang="en-US" sz="1400" b="1"/>
              <a:t>Risk of:</a:t>
            </a:r>
          </a:p>
          <a:p>
            <a:pPr marL="1028700" lvl="1" indent="-400050">
              <a:spcBef>
                <a:spcPts val="200"/>
              </a:spcBef>
              <a:spcAft>
                <a:spcPts val="200"/>
              </a:spcAft>
              <a:buFont typeface="+mj-lt"/>
              <a:buAutoNum type="romanLcPeriod"/>
            </a:pPr>
            <a:r>
              <a:rPr lang="en-US" sz="1400"/>
              <a:t>Order book attrition post-acquisition.</a:t>
            </a:r>
          </a:p>
          <a:p>
            <a:pPr marL="1028700" lvl="1" indent="-400050">
              <a:spcBef>
                <a:spcPts val="200"/>
              </a:spcBef>
              <a:spcAft>
                <a:spcPts val="200"/>
              </a:spcAft>
              <a:buFont typeface="+mj-lt"/>
              <a:buAutoNum type="romanLcPeriod"/>
            </a:pPr>
            <a:r>
              <a:rPr lang="en-US" sz="1400"/>
              <a:t>“Soft” exclusion from tenders.</a:t>
            </a:r>
          </a:p>
          <a:p>
            <a:pPr>
              <a:spcBef>
                <a:spcPts val="300"/>
              </a:spcBef>
              <a:spcAft>
                <a:spcPts val="300"/>
              </a:spcAft>
            </a:pPr>
            <a:r>
              <a:rPr lang="en-US" sz="1400" b="1" u="sng"/>
              <a:t>B. Margin Dilution &amp; Earnings Quality</a:t>
            </a:r>
          </a:p>
          <a:p>
            <a:pPr marL="628650" indent="-285750">
              <a:spcBef>
                <a:spcPts val="200"/>
              </a:spcBef>
              <a:spcAft>
                <a:spcPts val="200"/>
              </a:spcAft>
              <a:buSzPct val="60000"/>
              <a:buFont typeface="Wingdings" panose="05000000000000000000" pitchFamily="2" charset="2"/>
              <a:buChar char="q"/>
            </a:pPr>
            <a:r>
              <a:rPr lang="en-US" sz="1400" b="1"/>
              <a:t>External construction margins are often:</a:t>
            </a:r>
          </a:p>
          <a:p>
            <a:pPr marL="1028700" lvl="1" indent="-400050">
              <a:spcBef>
                <a:spcPts val="200"/>
              </a:spcBef>
              <a:spcAft>
                <a:spcPts val="200"/>
              </a:spcAft>
              <a:buFont typeface="+mj-lt"/>
              <a:buAutoNum type="romanLcPeriod"/>
            </a:pPr>
            <a:r>
              <a:rPr lang="en-US" sz="1400"/>
              <a:t>Low single digit</a:t>
            </a:r>
          </a:p>
          <a:p>
            <a:pPr marL="1028700" lvl="1" indent="-400050">
              <a:spcBef>
                <a:spcPts val="200"/>
              </a:spcBef>
              <a:spcAft>
                <a:spcPts val="200"/>
              </a:spcAft>
              <a:buFont typeface="+mj-lt"/>
              <a:buAutoNum type="romanLcPeriod"/>
            </a:pPr>
            <a:r>
              <a:rPr lang="en-US" sz="1400"/>
              <a:t>Exposed to cost overruns, LADs, subcontractor failures.</a:t>
            </a:r>
          </a:p>
          <a:p>
            <a:pPr>
              <a:spcBef>
                <a:spcPts val="300"/>
              </a:spcBef>
              <a:spcAft>
                <a:spcPts val="300"/>
              </a:spcAft>
            </a:pPr>
            <a:r>
              <a:rPr lang="en-US" sz="1400" b="1" u="sng"/>
              <a:t>C. Balance Sheet &amp; Risk Profile Shift</a:t>
            </a:r>
          </a:p>
          <a:p>
            <a:pPr marL="628650" indent="-285750">
              <a:spcBef>
                <a:spcPts val="200"/>
              </a:spcBef>
              <a:spcAft>
                <a:spcPts val="200"/>
              </a:spcAft>
              <a:buSzPct val="60000"/>
              <a:buFont typeface="Wingdings" panose="05000000000000000000" pitchFamily="2" charset="2"/>
              <a:buChar char="q"/>
            </a:pPr>
            <a:r>
              <a:rPr lang="en-US" sz="1400" b="1"/>
              <a:t>Construction brings:</a:t>
            </a:r>
          </a:p>
          <a:p>
            <a:pPr marL="971550" lvl="1" indent="-285750">
              <a:spcBef>
                <a:spcPts val="200"/>
              </a:spcBef>
              <a:spcAft>
                <a:spcPts val="200"/>
              </a:spcAft>
              <a:buFont typeface="+mj-lt"/>
              <a:buAutoNum type="romanLcPeriod"/>
            </a:pPr>
            <a:r>
              <a:rPr lang="en-US" sz="1400"/>
              <a:t>Higher working capital intensity</a:t>
            </a:r>
          </a:p>
          <a:p>
            <a:pPr marL="971550" lvl="1" indent="-285750">
              <a:spcBef>
                <a:spcPts val="200"/>
              </a:spcBef>
              <a:spcAft>
                <a:spcPts val="200"/>
              </a:spcAft>
              <a:buFont typeface="+mj-lt"/>
              <a:buAutoNum type="romanLcPeriod"/>
            </a:pPr>
            <a:r>
              <a:rPr lang="en-US" sz="1400"/>
              <a:t>Performance Bond, guarantees, retention sums etc.</a:t>
            </a:r>
          </a:p>
          <a:p>
            <a:pPr marL="628650" indent="-285750">
              <a:spcBef>
                <a:spcPts val="200"/>
              </a:spcBef>
              <a:spcAft>
                <a:spcPts val="200"/>
              </a:spcAft>
              <a:buSzPct val="60000"/>
              <a:buFont typeface="Wingdings" panose="05000000000000000000" pitchFamily="2" charset="2"/>
              <a:buChar char="q"/>
            </a:pPr>
            <a:r>
              <a:rPr lang="en-US" sz="1400" b="1"/>
              <a:t>Investors may see:</a:t>
            </a:r>
          </a:p>
          <a:p>
            <a:pPr marL="971550" lvl="1" indent="-285750">
              <a:spcBef>
                <a:spcPts val="200"/>
              </a:spcBef>
              <a:spcAft>
                <a:spcPts val="200"/>
              </a:spcAft>
              <a:buFont typeface="+mj-lt"/>
              <a:buAutoNum type="romanLcPeriod"/>
            </a:pPr>
            <a:r>
              <a:rPr lang="en-US" sz="1400"/>
              <a:t>Higher risk vs pure development model.</a:t>
            </a:r>
          </a:p>
          <a:p>
            <a:pPr marL="971550" lvl="1" indent="-285750">
              <a:spcBef>
                <a:spcPts val="200"/>
              </a:spcBef>
              <a:spcAft>
                <a:spcPts val="200"/>
              </a:spcAft>
              <a:buFont typeface="+mj-lt"/>
              <a:buAutoNum type="romanLcPeriod"/>
            </a:pPr>
            <a:r>
              <a:rPr lang="en-US" sz="1400"/>
              <a:t>Greater earnings volatility quarter-to-quarter.</a:t>
            </a:r>
          </a:p>
          <a:p>
            <a:pPr marL="971550" lvl="1" indent="-285750">
              <a:spcBef>
                <a:spcPts val="200"/>
              </a:spcBef>
              <a:spcAft>
                <a:spcPts val="200"/>
              </a:spcAft>
              <a:buFont typeface="+mj-lt"/>
              <a:buAutoNum type="romanLcPeriod"/>
            </a:pPr>
            <a:endParaRPr lang="en-US" sz="1400"/>
          </a:p>
          <a:p>
            <a:pPr marL="1028700" lvl="1" indent="-400050">
              <a:spcBef>
                <a:spcPts val="200"/>
              </a:spcBef>
              <a:spcAft>
                <a:spcPts val="200"/>
              </a:spcAft>
              <a:buFont typeface="+mj-lt"/>
              <a:buAutoNum type="romanLcPeriod"/>
            </a:pPr>
            <a:endParaRPr lang="en-US" sz="1400"/>
          </a:p>
          <a:p>
            <a:pPr marL="1028700" lvl="1" indent="-400050">
              <a:spcBef>
                <a:spcPts val="200"/>
              </a:spcBef>
              <a:spcAft>
                <a:spcPts val="200"/>
              </a:spcAft>
              <a:buFont typeface="+mj-lt"/>
              <a:buAutoNum type="romanLcPeriod"/>
            </a:pPr>
            <a:endParaRPr lang="en-US" sz="1400"/>
          </a:p>
        </p:txBody>
      </p:sp>
      <p:sp>
        <p:nvSpPr>
          <p:cNvPr id="8" name="TextBox 7">
            <a:extLst>
              <a:ext uri="{FF2B5EF4-FFF2-40B4-BE49-F238E27FC236}">
                <a16:creationId xmlns:a16="http://schemas.microsoft.com/office/drawing/2014/main" id="{4B98C640-CD6A-F6A3-52EC-66B3F4980B76}"/>
              </a:ext>
            </a:extLst>
          </p:cNvPr>
          <p:cNvSpPr txBox="1"/>
          <p:nvPr/>
        </p:nvSpPr>
        <p:spPr>
          <a:xfrm>
            <a:off x="6361976" y="1142786"/>
            <a:ext cx="5206354" cy="2403222"/>
          </a:xfrm>
          <a:prstGeom prst="rect">
            <a:avLst/>
          </a:prstGeom>
          <a:noFill/>
        </p:spPr>
        <p:txBody>
          <a:bodyPr wrap="square">
            <a:spAutoFit/>
          </a:bodyPr>
          <a:lstStyle/>
          <a:p>
            <a:pPr>
              <a:spcBef>
                <a:spcPts val="300"/>
              </a:spcBef>
              <a:spcAft>
                <a:spcPts val="300"/>
              </a:spcAft>
            </a:pPr>
            <a:r>
              <a:rPr lang="en-US" sz="1400" b="1" u="sng"/>
              <a:t>D. Execution &amp; People Risk</a:t>
            </a:r>
          </a:p>
          <a:p>
            <a:pPr marL="628650" indent="-285750">
              <a:spcBef>
                <a:spcPts val="200"/>
              </a:spcBef>
              <a:spcAft>
                <a:spcPts val="200"/>
              </a:spcAft>
              <a:buSzPct val="60000"/>
              <a:buFont typeface="Wingdings" panose="05000000000000000000" pitchFamily="2" charset="2"/>
              <a:buChar char="q"/>
            </a:pPr>
            <a:r>
              <a:rPr lang="en-US" sz="1400" b="1"/>
              <a:t>Construction success is people-driven:</a:t>
            </a:r>
          </a:p>
          <a:p>
            <a:pPr marL="971550" lvl="1" indent="-285750">
              <a:spcBef>
                <a:spcPts val="200"/>
              </a:spcBef>
              <a:spcAft>
                <a:spcPts val="200"/>
              </a:spcAft>
              <a:buFont typeface="+mj-lt"/>
              <a:buAutoNum type="romanLcPeriod"/>
            </a:pPr>
            <a:r>
              <a:rPr lang="en-US" sz="1400"/>
              <a:t>Project directors</a:t>
            </a:r>
          </a:p>
          <a:p>
            <a:pPr marL="971550" lvl="1" indent="-285750">
              <a:spcBef>
                <a:spcPts val="200"/>
              </a:spcBef>
              <a:spcAft>
                <a:spcPts val="200"/>
              </a:spcAft>
              <a:buFont typeface="+mj-lt"/>
              <a:buAutoNum type="romanLcPeriod"/>
            </a:pPr>
            <a:r>
              <a:rPr lang="en-US" sz="1400"/>
              <a:t>Commercial managers</a:t>
            </a:r>
          </a:p>
          <a:p>
            <a:pPr marL="971550" lvl="1" indent="-285750">
              <a:spcBef>
                <a:spcPts val="200"/>
              </a:spcBef>
              <a:spcAft>
                <a:spcPts val="200"/>
              </a:spcAft>
              <a:buFont typeface="+mj-lt"/>
              <a:buAutoNum type="romanLcPeriod"/>
            </a:pPr>
            <a:r>
              <a:rPr lang="en-US" sz="1400"/>
              <a:t>Site teams</a:t>
            </a:r>
          </a:p>
          <a:p>
            <a:pPr marL="628650" indent="-285750">
              <a:spcBef>
                <a:spcPts val="200"/>
              </a:spcBef>
              <a:spcAft>
                <a:spcPts val="200"/>
              </a:spcAft>
              <a:buSzPct val="60000"/>
              <a:buFont typeface="Wingdings" panose="05000000000000000000" pitchFamily="2" charset="2"/>
              <a:buChar char="q"/>
            </a:pPr>
            <a:r>
              <a:rPr lang="en-US" sz="1400" b="1"/>
              <a:t>Key risks:</a:t>
            </a:r>
          </a:p>
          <a:p>
            <a:pPr marL="971550" lvl="1" indent="-285750">
              <a:spcBef>
                <a:spcPts val="200"/>
              </a:spcBef>
              <a:spcAft>
                <a:spcPts val="200"/>
              </a:spcAft>
              <a:buFont typeface="+mj-lt"/>
              <a:buAutoNum type="romanLcPeriod"/>
            </a:pPr>
            <a:r>
              <a:rPr lang="en-US" sz="1400"/>
              <a:t>Talent flight post-deal</a:t>
            </a:r>
          </a:p>
          <a:p>
            <a:pPr marL="971550" lvl="1" indent="-285750">
              <a:spcBef>
                <a:spcPts val="200"/>
              </a:spcBef>
              <a:spcAft>
                <a:spcPts val="200"/>
              </a:spcAft>
              <a:buFont typeface="+mj-lt"/>
              <a:buAutoNum type="romanLcPeriod"/>
            </a:pPr>
            <a:r>
              <a:rPr lang="en-US" sz="1400"/>
              <a:t>Cultural clash Loss of entrepreneurial drive if over-integrated</a:t>
            </a:r>
          </a:p>
        </p:txBody>
      </p:sp>
    </p:spTree>
    <p:extLst>
      <p:ext uri="{BB962C8B-B14F-4D97-AF65-F5344CB8AC3E}">
        <p14:creationId xmlns:p14="http://schemas.microsoft.com/office/powerpoint/2010/main" val="2436228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6813D-468F-481A-F759-2AB27F1DF4C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2B770A5-239C-BD2B-2644-CF4BD243D817}"/>
              </a:ext>
            </a:extLst>
          </p:cNvPr>
          <p:cNvSpPr>
            <a:spLocks noGrp="1"/>
          </p:cNvSpPr>
          <p:nvPr>
            <p:ph type="title"/>
          </p:nvPr>
        </p:nvSpPr>
        <p:spPr>
          <a:xfrm>
            <a:off x="362712" y="90805"/>
            <a:ext cx="10515600" cy="777600"/>
          </a:xfrm>
        </p:spPr>
        <p:txBody>
          <a:bodyPr>
            <a:normAutofit/>
          </a:bodyPr>
          <a:lstStyle/>
          <a:p>
            <a:r>
              <a:rPr lang="en-MY" sz="3600"/>
              <a:t>Strategic Alignment with OSK Group</a:t>
            </a:r>
          </a:p>
        </p:txBody>
      </p:sp>
      <p:sp>
        <p:nvSpPr>
          <p:cNvPr id="4" name="Slide Number Placeholder 4">
            <a:extLst>
              <a:ext uri="{FF2B5EF4-FFF2-40B4-BE49-F238E27FC236}">
                <a16:creationId xmlns:a16="http://schemas.microsoft.com/office/drawing/2014/main" id="{CB2EBD6F-6083-3A49-1618-26B51F6347E5}"/>
              </a:ext>
            </a:extLst>
          </p:cNvPr>
          <p:cNvSpPr>
            <a:spLocks noGrp="1"/>
          </p:cNvSpPr>
          <p:nvPr>
            <p:ph type="sldNum" sz="quarter" idx="12"/>
          </p:nvPr>
        </p:nvSpPr>
        <p:spPr>
          <a:xfrm>
            <a:off x="9375060" y="6356349"/>
            <a:ext cx="2743200" cy="365125"/>
          </a:xfrm>
          <a:prstGeom prst="rect">
            <a:avLst/>
          </a:prstGeom>
        </p:spPr>
        <p:txBody>
          <a:bodyPr/>
          <a:lstStyle/>
          <a:p>
            <a:fld id="{4C52F89C-230B-40F8-B5DC-B76BA2C55BBC}" type="slidenum">
              <a:rPr lang="en-US" smtClean="0"/>
              <a:t>7</a:t>
            </a:fld>
            <a:endParaRPr lang="en-US"/>
          </a:p>
        </p:txBody>
      </p:sp>
      <p:sp>
        <p:nvSpPr>
          <p:cNvPr id="2" name="TextBox 1">
            <a:extLst>
              <a:ext uri="{FF2B5EF4-FFF2-40B4-BE49-F238E27FC236}">
                <a16:creationId xmlns:a16="http://schemas.microsoft.com/office/drawing/2014/main" id="{8617BEAF-6EDF-ED5C-14E8-31E2CEA0F526}"/>
              </a:ext>
            </a:extLst>
          </p:cNvPr>
          <p:cNvSpPr txBox="1"/>
          <p:nvPr/>
        </p:nvSpPr>
        <p:spPr>
          <a:xfrm>
            <a:off x="412727" y="868405"/>
            <a:ext cx="11416561"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SzPct val="60000"/>
              <a:buFont typeface="Wingdings" panose="05000000000000000000" pitchFamily="2" charset="2"/>
              <a:buChar char="q"/>
            </a:pPr>
            <a:r>
              <a:rPr lang="en-US" sz="1600"/>
              <a:t>In assessing the strategic alignment, there are 2 aspects that we consider:</a:t>
            </a:r>
          </a:p>
          <a:p>
            <a:pPr marL="265113" algn="just">
              <a:buSzPct val="60000"/>
            </a:pPr>
            <a:endParaRPr lang="en-US" sz="1600"/>
          </a:p>
          <a:p>
            <a:pPr marL="722313" indent="-457200" algn="just">
              <a:buSzPct val="60000"/>
              <a:buAutoNum type="alphaLcPeriod"/>
            </a:pPr>
            <a:r>
              <a:rPr lang="en-US" sz="1600"/>
              <a:t>Whether having </a:t>
            </a:r>
            <a:r>
              <a:rPr lang="en-US" sz="1600" err="1"/>
              <a:t>Inta</a:t>
            </a:r>
            <a:r>
              <a:rPr lang="en-US" sz="1600"/>
              <a:t> Bina Group under the umbrella of OSK Group, thereby becoming sister-company of OSK Property, </a:t>
            </a:r>
            <a:r>
              <a:rPr lang="en-US" sz="1600" b="1"/>
              <a:t>would affect </a:t>
            </a:r>
            <a:r>
              <a:rPr lang="en-US" sz="1600" b="1" err="1"/>
              <a:t>Inta</a:t>
            </a:r>
            <a:r>
              <a:rPr lang="en-US" sz="1600" b="1"/>
              <a:t> Bina’s long-term ability to win residential projects from third party property developers</a:t>
            </a:r>
            <a:r>
              <a:rPr lang="en-US" sz="1600"/>
              <a:t>.</a:t>
            </a:r>
          </a:p>
          <a:p>
            <a:pPr marL="722313" indent="-457200" algn="just">
              <a:buSzPct val="60000"/>
              <a:buAutoNum type="alphaLcPeriod"/>
            </a:pPr>
            <a:endParaRPr lang="en-US" sz="1600"/>
          </a:p>
          <a:p>
            <a:pPr marL="722313" indent="-457200" algn="just">
              <a:buSzPct val="60000"/>
              <a:buAutoNum type="alphaLcPeriod"/>
            </a:pPr>
            <a:r>
              <a:rPr lang="en-US" sz="1600"/>
              <a:t>Both OSK Construction and </a:t>
            </a:r>
            <a:r>
              <a:rPr lang="en-US" sz="1600" err="1"/>
              <a:t>Inta</a:t>
            </a:r>
            <a:r>
              <a:rPr lang="en-US" sz="1600"/>
              <a:t> Bina are involved in the same business, i.e. construction of residential buildings. There should not be 2 entities within the OSK Group which are competing in nature, therefore </a:t>
            </a:r>
            <a:r>
              <a:rPr lang="en-US" sz="1600" b="1"/>
              <a:t>proposed merger of these 2 construction entities </a:t>
            </a:r>
            <a:r>
              <a:rPr lang="en-US" sz="1600"/>
              <a:t>should be on the card if OSK Group wishes to explore the opportunity of investing in </a:t>
            </a:r>
            <a:r>
              <a:rPr lang="en-US" sz="1600" err="1"/>
              <a:t>Inta</a:t>
            </a:r>
            <a:r>
              <a:rPr lang="en-US" sz="1600"/>
              <a:t> Bina.</a:t>
            </a:r>
          </a:p>
          <a:p>
            <a:pPr marL="285750" indent="-285750" algn="just">
              <a:buSzPct val="60000"/>
              <a:buFont typeface="Wingdings" panose="05000000000000000000" pitchFamily="2" charset="2"/>
              <a:buChar char="q"/>
            </a:pPr>
            <a:endParaRPr lang="en-US" sz="1600"/>
          </a:p>
          <a:p>
            <a:pPr marL="285750" indent="-285750" algn="just">
              <a:buSzPct val="60000"/>
              <a:buFont typeface="Wingdings" panose="05000000000000000000" pitchFamily="2" charset="2"/>
              <a:buChar char="q"/>
            </a:pPr>
            <a:r>
              <a:rPr lang="en-US" sz="1600"/>
              <a:t>For item a above, we looked into Main-Market listing companies which are involved in both Property Development and Construction business within the Group to determine whether there’s any synergy or rather constraints of having both businesses within the Group.</a:t>
            </a:r>
          </a:p>
          <a:p>
            <a:pPr marL="285750" indent="-285750" algn="just">
              <a:buSzPct val="60000"/>
              <a:buFont typeface="Wingdings" panose="05000000000000000000" pitchFamily="2" charset="2"/>
              <a:buChar char="q"/>
            </a:pPr>
            <a:endParaRPr lang="en-US" sz="1600"/>
          </a:p>
          <a:p>
            <a:pPr marL="285750" indent="-285750" algn="just">
              <a:buSzPct val="60000"/>
              <a:buFont typeface="Wingdings" panose="05000000000000000000" pitchFamily="2" charset="2"/>
              <a:buChar char="q"/>
            </a:pPr>
            <a:r>
              <a:rPr lang="en-US" sz="1600"/>
              <a:t>For the purpose of this assessment, we have selected six (6) selected companies, namely, </a:t>
            </a:r>
            <a:r>
              <a:rPr lang="en-US" sz="1600" b="1"/>
              <a:t>Sunway, Gamuda, IJM Corporation, </a:t>
            </a:r>
            <a:r>
              <a:rPr lang="en-US" sz="1600" b="1" err="1"/>
              <a:t>Malton</a:t>
            </a:r>
            <a:r>
              <a:rPr lang="en-US" sz="1600" b="1"/>
              <a:t>, LBS Bina and MGB</a:t>
            </a:r>
            <a:r>
              <a:rPr lang="en-US" sz="1600"/>
              <a:t>. We observed that while certain listed groups exhibit scale across both property development (“</a:t>
            </a:r>
            <a:r>
              <a:rPr lang="en-US" sz="1600" b="1"/>
              <a:t>PD</a:t>
            </a:r>
            <a:r>
              <a:rPr lang="en-US" sz="1600"/>
              <a:t>”) and construction verticals, the </a:t>
            </a:r>
            <a:r>
              <a:rPr lang="en-US" sz="1600" b="1"/>
              <a:t>external construction earnings are predominantly derived from non-residential or infrastructure-related projects</a:t>
            </a:r>
            <a:r>
              <a:rPr lang="en-US" sz="1600"/>
              <a:t>, rather than third-party residential developments. This suggest a structural separation that </a:t>
            </a:r>
            <a:r>
              <a:rPr lang="en-US" sz="1600" b="1">
                <a:solidFill>
                  <a:srgbClr val="FF0000"/>
                </a:solidFill>
              </a:rPr>
              <a:t>limits the extent of synergies between PD and residential-focused construction within the same group</a:t>
            </a:r>
            <a:r>
              <a:rPr lang="en-US" sz="1600"/>
              <a:t>. </a:t>
            </a:r>
          </a:p>
          <a:p>
            <a:pPr marL="285750" indent="-285750" algn="just">
              <a:buSzPct val="60000"/>
              <a:buFont typeface="Wingdings" panose="05000000000000000000" pitchFamily="2" charset="2"/>
              <a:buChar char="q"/>
            </a:pPr>
            <a:endParaRPr lang="en-US" sz="1600"/>
          </a:p>
          <a:p>
            <a:pPr marL="285750" indent="-285750" algn="just">
              <a:buSzPct val="60000"/>
              <a:buFont typeface="Wingdings" panose="05000000000000000000" pitchFamily="2" charset="2"/>
              <a:buChar char="q"/>
            </a:pPr>
            <a:r>
              <a:rPr lang="en-US" sz="1600"/>
              <a:t>A detailed breakdown of the companies and key observations is set out in </a:t>
            </a:r>
            <a:r>
              <a:rPr lang="en-US" sz="1600" b="1"/>
              <a:t>Appendix 1</a:t>
            </a:r>
            <a:r>
              <a:rPr lang="en-US" sz="1600"/>
              <a:t>.</a:t>
            </a:r>
          </a:p>
        </p:txBody>
      </p:sp>
    </p:spTree>
    <p:extLst>
      <p:ext uri="{BB962C8B-B14F-4D97-AF65-F5344CB8AC3E}">
        <p14:creationId xmlns:p14="http://schemas.microsoft.com/office/powerpoint/2010/main" val="3605301448"/>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487F7-09A0-E595-604E-8D97200594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C16DBF4-2355-D3A8-B43E-8D5AA040FA9D}"/>
              </a:ext>
            </a:extLst>
          </p:cNvPr>
          <p:cNvSpPr txBox="1"/>
          <p:nvPr/>
        </p:nvSpPr>
        <p:spPr>
          <a:xfrm>
            <a:off x="274320" y="219456"/>
            <a:ext cx="6819880" cy="646331"/>
          </a:xfrm>
          <a:prstGeom prst="rect">
            <a:avLst/>
          </a:prstGeom>
          <a:noFill/>
        </p:spPr>
        <p:txBody>
          <a:bodyPr wrap="none" rtlCol="0">
            <a:spAutoFit/>
          </a:bodyPr>
          <a:lstStyle/>
          <a:p>
            <a:r>
              <a:rPr lang="en-US" sz="3600" b="1"/>
              <a:t>Proposed Transaction Structure</a:t>
            </a:r>
            <a:endParaRPr lang="en-MY" sz="3600" b="1"/>
          </a:p>
        </p:txBody>
      </p:sp>
      <p:sp>
        <p:nvSpPr>
          <p:cNvPr id="2" name="Slide Number Placeholder 2">
            <a:extLst>
              <a:ext uri="{FF2B5EF4-FFF2-40B4-BE49-F238E27FC236}">
                <a16:creationId xmlns:a16="http://schemas.microsoft.com/office/drawing/2014/main" id="{0D19B566-3A8D-544A-6BC5-06D27098CD7D}"/>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8</a:t>
            </a:fld>
            <a:endParaRPr lang="en-US" sz="1200">
              <a:solidFill>
                <a:schemeClr val="tx2">
                  <a:lumMod val="95000"/>
                  <a:lumOff val="5000"/>
                </a:schemeClr>
              </a:solidFill>
              <a:latin typeface="Aptos" panose="020B0004020202020204" pitchFamily="34" charset="0"/>
            </a:endParaRPr>
          </a:p>
        </p:txBody>
      </p:sp>
      <p:sp>
        <p:nvSpPr>
          <p:cNvPr id="16" name="TextBox 15">
            <a:extLst>
              <a:ext uri="{FF2B5EF4-FFF2-40B4-BE49-F238E27FC236}">
                <a16:creationId xmlns:a16="http://schemas.microsoft.com/office/drawing/2014/main" id="{C1DBA9C2-FDD6-9A92-FEBC-CBF999779DDF}"/>
              </a:ext>
            </a:extLst>
          </p:cNvPr>
          <p:cNvSpPr txBox="1"/>
          <p:nvPr/>
        </p:nvSpPr>
        <p:spPr>
          <a:xfrm>
            <a:off x="603580" y="809277"/>
            <a:ext cx="2981201" cy="548640"/>
          </a:xfrm>
          <a:prstGeom prst="rect">
            <a:avLst/>
          </a:prstGeom>
          <a:solidFill>
            <a:schemeClr val="accent1">
              <a:lumMod val="50000"/>
            </a:schemeClr>
          </a:solidFill>
        </p:spPr>
        <p:txBody>
          <a:bodyPr wrap="none" rtlCol="0">
            <a:spAutoFit/>
          </a:bodyPr>
          <a:lstStyle/>
          <a:p>
            <a:r>
              <a:rPr lang="en-US" sz="1600" b="1" u="sng">
                <a:solidFill>
                  <a:schemeClr val="bg1"/>
                </a:solidFill>
              </a:rPr>
              <a:t>Shareholding Structure (As-Is)</a:t>
            </a:r>
          </a:p>
        </p:txBody>
      </p:sp>
      <p:grpSp>
        <p:nvGrpSpPr>
          <p:cNvPr id="17" name="Group 16">
            <a:extLst>
              <a:ext uri="{FF2B5EF4-FFF2-40B4-BE49-F238E27FC236}">
                <a16:creationId xmlns:a16="http://schemas.microsoft.com/office/drawing/2014/main" id="{7B3D6836-E700-FD78-D2FF-D1E5AD658965}"/>
              </a:ext>
            </a:extLst>
          </p:cNvPr>
          <p:cNvGrpSpPr/>
          <p:nvPr/>
        </p:nvGrpSpPr>
        <p:grpSpPr>
          <a:xfrm>
            <a:off x="555894" y="1954598"/>
            <a:ext cx="3076574" cy="2150595"/>
            <a:chOff x="461963" y="1630145"/>
            <a:chExt cx="3076574" cy="2150595"/>
          </a:xfrm>
        </p:grpSpPr>
        <p:sp>
          <p:nvSpPr>
            <p:cNvPr id="6" name="Rectangle 5">
              <a:extLst>
                <a:ext uri="{FF2B5EF4-FFF2-40B4-BE49-F238E27FC236}">
                  <a16:creationId xmlns:a16="http://schemas.microsoft.com/office/drawing/2014/main" id="{29A17655-65E8-0CE8-A51A-61979252E1C8}"/>
                </a:ext>
              </a:extLst>
            </p:cNvPr>
            <p:cNvSpPr/>
            <p:nvPr/>
          </p:nvSpPr>
          <p:spPr>
            <a:xfrm>
              <a:off x="461963" y="1630145"/>
              <a:ext cx="1095374"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Founders </a:t>
              </a:r>
            </a:p>
            <a:p>
              <a:pPr algn="ctr"/>
              <a:r>
                <a:rPr lang="en-US" sz="1400" b="1">
                  <a:solidFill>
                    <a:schemeClr val="tx1"/>
                  </a:solidFill>
                </a:rPr>
                <a:t>&amp; PACs</a:t>
              </a:r>
            </a:p>
          </p:txBody>
        </p:sp>
        <p:sp>
          <p:nvSpPr>
            <p:cNvPr id="7" name="Rectangle 6">
              <a:extLst>
                <a:ext uri="{FF2B5EF4-FFF2-40B4-BE49-F238E27FC236}">
                  <a16:creationId xmlns:a16="http://schemas.microsoft.com/office/drawing/2014/main" id="{5ED0264F-3F4D-5638-A572-1065A8DEB418}"/>
                </a:ext>
              </a:extLst>
            </p:cNvPr>
            <p:cNvSpPr/>
            <p:nvPr/>
          </p:nvSpPr>
          <p:spPr>
            <a:xfrm>
              <a:off x="2443163" y="1630145"/>
              <a:ext cx="1095374"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Others</a:t>
              </a:r>
            </a:p>
          </p:txBody>
        </p:sp>
        <p:sp>
          <p:nvSpPr>
            <p:cNvPr id="8" name="Rectangle 7">
              <a:extLst>
                <a:ext uri="{FF2B5EF4-FFF2-40B4-BE49-F238E27FC236}">
                  <a16:creationId xmlns:a16="http://schemas.microsoft.com/office/drawing/2014/main" id="{092E5C3E-4828-A429-C29F-2731837C31EF}"/>
                </a:ext>
              </a:extLst>
            </p:cNvPr>
            <p:cNvSpPr/>
            <p:nvPr/>
          </p:nvSpPr>
          <p:spPr>
            <a:xfrm>
              <a:off x="1009650" y="3134410"/>
              <a:ext cx="1695450" cy="64633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err="1">
                  <a:solidFill>
                    <a:schemeClr val="tx1"/>
                  </a:solidFill>
                </a:rPr>
                <a:t>Inta</a:t>
              </a:r>
              <a:r>
                <a:rPr lang="en-US" sz="1400" b="1">
                  <a:solidFill>
                    <a:schemeClr val="tx1"/>
                  </a:solidFill>
                </a:rPr>
                <a:t> Bina </a:t>
              </a:r>
            </a:p>
            <a:p>
              <a:pPr algn="ctr"/>
              <a:r>
                <a:rPr lang="en-US" sz="1400" b="1">
                  <a:solidFill>
                    <a:schemeClr val="tx1"/>
                  </a:solidFill>
                </a:rPr>
                <a:t>Group (“</a:t>
              </a:r>
              <a:r>
                <a:rPr lang="en-US" sz="1400" b="1" err="1">
                  <a:solidFill>
                    <a:schemeClr val="tx1"/>
                  </a:solidFill>
                </a:rPr>
                <a:t>Inta</a:t>
              </a:r>
              <a:r>
                <a:rPr lang="en-US" sz="1400" b="1">
                  <a:solidFill>
                    <a:schemeClr val="tx1"/>
                  </a:solidFill>
                </a:rPr>
                <a:t>”)</a:t>
              </a:r>
            </a:p>
          </p:txBody>
        </p:sp>
        <p:cxnSp>
          <p:nvCxnSpPr>
            <p:cNvPr id="10" name="Straight Connector 9">
              <a:extLst>
                <a:ext uri="{FF2B5EF4-FFF2-40B4-BE49-F238E27FC236}">
                  <a16:creationId xmlns:a16="http://schemas.microsoft.com/office/drawing/2014/main" id="{B5DF7DFB-16C6-2886-F152-C8BE1A54FD5B}"/>
                </a:ext>
              </a:extLst>
            </p:cNvPr>
            <p:cNvCxnSpPr/>
            <p:nvPr/>
          </p:nvCxnSpPr>
          <p:spPr>
            <a:xfrm>
              <a:off x="1009650" y="2609850"/>
              <a:ext cx="1981200"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1C27E795-E4D6-FBE7-1453-9F77A1D8CFB6}"/>
                </a:ext>
              </a:extLst>
            </p:cNvPr>
            <p:cNvCxnSpPr/>
            <p:nvPr/>
          </p:nvCxnSpPr>
          <p:spPr>
            <a:xfrm>
              <a:off x="1914525" y="2609850"/>
              <a:ext cx="0" cy="361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F749CF6F-CD55-60E4-C945-5EB4C3A950BD}"/>
                </a:ext>
              </a:extLst>
            </p:cNvPr>
            <p:cNvCxnSpPr/>
            <p:nvPr/>
          </p:nvCxnSpPr>
          <p:spPr>
            <a:xfrm>
              <a:off x="1009650" y="2381250"/>
              <a:ext cx="0" cy="22860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A63F6498-1230-A665-9499-4EBD46A92579}"/>
                </a:ext>
              </a:extLst>
            </p:cNvPr>
            <p:cNvCxnSpPr/>
            <p:nvPr/>
          </p:nvCxnSpPr>
          <p:spPr>
            <a:xfrm>
              <a:off x="2990850" y="2390775"/>
              <a:ext cx="0" cy="228600"/>
            </a:xfrm>
            <a:prstGeom prst="line">
              <a:avLst/>
            </a:prstGeom>
          </p:spPr>
          <p:style>
            <a:lnRef idx="2">
              <a:schemeClr val="dk1"/>
            </a:lnRef>
            <a:fillRef idx="0">
              <a:schemeClr val="dk1"/>
            </a:fillRef>
            <a:effectRef idx="1">
              <a:schemeClr val="dk1"/>
            </a:effectRef>
            <a:fontRef idx="minor">
              <a:schemeClr val="tx1"/>
            </a:fontRef>
          </p:style>
        </p:cxnSp>
      </p:grpSp>
      <p:sp>
        <p:nvSpPr>
          <p:cNvPr id="26" name="TextBox 25">
            <a:extLst>
              <a:ext uri="{FF2B5EF4-FFF2-40B4-BE49-F238E27FC236}">
                <a16:creationId xmlns:a16="http://schemas.microsoft.com/office/drawing/2014/main" id="{79E8EACA-5C20-0826-F853-1A6E344B2C14}"/>
              </a:ext>
            </a:extLst>
          </p:cNvPr>
          <p:cNvSpPr txBox="1"/>
          <p:nvPr/>
        </p:nvSpPr>
        <p:spPr>
          <a:xfrm>
            <a:off x="434210" y="1530319"/>
            <a:ext cx="1624740" cy="338554"/>
          </a:xfrm>
          <a:prstGeom prst="rect">
            <a:avLst/>
          </a:prstGeom>
          <a:noFill/>
        </p:spPr>
        <p:txBody>
          <a:bodyPr wrap="none" rtlCol="0">
            <a:spAutoFit/>
          </a:bodyPr>
          <a:lstStyle/>
          <a:p>
            <a:r>
              <a:rPr lang="en-US" sz="1600" b="1" err="1"/>
              <a:t>Inta</a:t>
            </a:r>
            <a:r>
              <a:rPr lang="en-US" sz="1600" b="1"/>
              <a:t> Bina Group</a:t>
            </a:r>
          </a:p>
        </p:txBody>
      </p:sp>
      <p:sp>
        <p:nvSpPr>
          <p:cNvPr id="28" name="TextBox 27">
            <a:extLst>
              <a:ext uri="{FF2B5EF4-FFF2-40B4-BE49-F238E27FC236}">
                <a16:creationId xmlns:a16="http://schemas.microsoft.com/office/drawing/2014/main" id="{1290A191-9E23-DE4B-C22D-FE7968C47BFE}"/>
              </a:ext>
            </a:extLst>
          </p:cNvPr>
          <p:cNvSpPr txBox="1"/>
          <p:nvPr/>
        </p:nvSpPr>
        <p:spPr>
          <a:xfrm>
            <a:off x="481295" y="2689776"/>
            <a:ext cx="474810" cy="276999"/>
          </a:xfrm>
          <a:prstGeom prst="rect">
            <a:avLst/>
          </a:prstGeom>
          <a:noFill/>
        </p:spPr>
        <p:txBody>
          <a:bodyPr wrap="none" rtlCol="0">
            <a:spAutoFit/>
          </a:bodyPr>
          <a:lstStyle/>
          <a:p>
            <a:r>
              <a:rPr lang="en-US" sz="1200"/>
              <a:t>58%</a:t>
            </a:r>
          </a:p>
        </p:txBody>
      </p:sp>
      <p:sp>
        <p:nvSpPr>
          <p:cNvPr id="29" name="TextBox 28">
            <a:extLst>
              <a:ext uri="{FF2B5EF4-FFF2-40B4-BE49-F238E27FC236}">
                <a16:creationId xmlns:a16="http://schemas.microsoft.com/office/drawing/2014/main" id="{6594FB93-E467-03F3-AF72-49DED586B3D0}"/>
              </a:ext>
            </a:extLst>
          </p:cNvPr>
          <p:cNvSpPr txBox="1"/>
          <p:nvPr/>
        </p:nvSpPr>
        <p:spPr>
          <a:xfrm>
            <a:off x="3108972" y="2675639"/>
            <a:ext cx="474810" cy="276999"/>
          </a:xfrm>
          <a:prstGeom prst="rect">
            <a:avLst/>
          </a:prstGeom>
          <a:noFill/>
        </p:spPr>
        <p:txBody>
          <a:bodyPr wrap="none" rtlCol="0">
            <a:spAutoFit/>
          </a:bodyPr>
          <a:lstStyle/>
          <a:p>
            <a:r>
              <a:rPr lang="en-US" sz="1200"/>
              <a:t>42%</a:t>
            </a:r>
          </a:p>
        </p:txBody>
      </p:sp>
      <p:sp>
        <p:nvSpPr>
          <p:cNvPr id="31" name="Rectangle 30">
            <a:extLst>
              <a:ext uri="{FF2B5EF4-FFF2-40B4-BE49-F238E27FC236}">
                <a16:creationId xmlns:a16="http://schemas.microsoft.com/office/drawing/2014/main" id="{1D8AE210-29A7-7DD6-19BF-241EA1C8CE1E}"/>
              </a:ext>
            </a:extLst>
          </p:cNvPr>
          <p:cNvSpPr/>
          <p:nvPr/>
        </p:nvSpPr>
        <p:spPr>
          <a:xfrm>
            <a:off x="411621" y="1438341"/>
            <a:ext cx="3459480" cy="287703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493E135-2AAA-26E4-FBA8-3F5BEEF4E54B}"/>
              </a:ext>
            </a:extLst>
          </p:cNvPr>
          <p:cNvSpPr/>
          <p:nvPr/>
        </p:nvSpPr>
        <p:spPr>
          <a:xfrm>
            <a:off x="1496413" y="4870003"/>
            <a:ext cx="1095374" cy="49206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PJD</a:t>
            </a:r>
          </a:p>
        </p:txBody>
      </p:sp>
      <p:sp>
        <p:nvSpPr>
          <p:cNvPr id="21" name="Rectangle 20">
            <a:extLst>
              <a:ext uri="{FF2B5EF4-FFF2-40B4-BE49-F238E27FC236}">
                <a16:creationId xmlns:a16="http://schemas.microsoft.com/office/drawing/2014/main" id="{73DC2E6F-0A3C-283B-7358-EBB0ACEF5E5E}"/>
              </a:ext>
            </a:extLst>
          </p:cNvPr>
          <p:cNvSpPr/>
          <p:nvPr/>
        </p:nvSpPr>
        <p:spPr>
          <a:xfrm>
            <a:off x="1160731" y="5832659"/>
            <a:ext cx="1695450" cy="710877"/>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OSK Construction (“OSKC”)</a:t>
            </a:r>
          </a:p>
        </p:txBody>
      </p:sp>
      <p:cxnSp>
        <p:nvCxnSpPr>
          <p:cNvPr id="23" name="Straight Arrow Connector 22">
            <a:extLst>
              <a:ext uri="{FF2B5EF4-FFF2-40B4-BE49-F238E27FC236}">
                <a16:creationId xmlns:a16="http://schemas.microsoft.com/office/drawing/2014/main" id="{45664940-F165-41FD-EA1A-5FF055EF8C89}"/>
              </a:ext>
            </a:extLst>
          </p:cNvPr>
          <p:cNvCxnSpPr/>
          <p:nvPr/>
        </p:nvCxnSpPr>
        <p:spPr>
          <a:xfrm>
            <a:off x="2044100" y="5432780"/>
            <a:ext cx="0" cy="361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TextBox 26">
            <a:extLst>
              <a:ext uri="{FF2B5EF4-FFF2-40B4-BE49-F238E27FC236}">
                <a16:creationId xmlns:a16="http://schemas.microsoft.com/office/drawing/2014/main" id="{C3C02379-D0FB-1D22-5EC6-5CC35073DB12}"/>
              </a:ext>
            </a:extLst>
          </p:cNvPr>
          <p:cNvSpPr txBox="1"/>
          <p:nvPr/>
        </p:nvSpPr>
        <p:spPr>
          <a:xfrm>
            <a:off x="1317191" y="5475256"/>
            <a:ext cx="556563" cy="276999"/>
          </a:xfrm>
          <a:prstGeom prst="rect">
            <a:avLst/>
          </a:prstGeom>
          <a:noFill/>
        </p:spPr>
        <p:txBody>
          <a:bodyPr wrap="none" rtlCol="0">
            <a:spAutoFit/>
          </a:bodyPr>
          <a:lstStyle/>
          <a:p>
            <a:r>
              <a:rPr lang="en-US" sz="1200"/>
              <a:t>100%</a:t>
            </a:r>
          </a:p>
        </p:txBody>
      </p:sp>
      <p:sp>
        <p:nvSpPr>
          <p:cNvPr id="30" name="TextBox 29">
            <a:extLst>
              <a:ext uri="{FF2B5EF4-FFF2-40B4-BE49-F238E27FC236}">
                <a16:creationId xmlns:a16="http://schemas.microsoft.com/office/drawing/2014/main" id="{39A24BE8-6D75-F39C-BDF2-BA450393382B}"/>
              </a:ext>
            </a:extLst>
          </p:cNvPr>
          <p:cNvSpPr txBox="1"/>
          <p:nvPr/>
        </p:nvSpPr>
        <p:spPr>
          <a:xfrm>
            <a:off x="463869" y="4401097"/>
            <a:ext cx="1205073" cy="338554"/>
          </a:xfrm>
          <a:prstGeom prst="rect">
            <a:avLst/>
          </a:prstGeom>
          <a:noFill/>
        </p:spPr>
        <p:txBody>
          <a:bodyPr wrap="none" rtlCol="0">
            <a:spAutoFit/>
          </a:bodyPr>
          <a:lstStyle/>
          <a:p>
            <a:r>
              <a:rPr lang="en-US" sz="1600" b="1"/>
              <a:t>OSK Group</a:t>
            </a:r>
          </a:p>
        </p:txBody>
      </p:sp>
      <p:sp>
        <p:nvSpPr>
          <p:cNvPr id="32" name="Rectangle 31">
            <a:extLst>
              <a:ext uri="{FF2B5EF4-FFF2-40B4-BE49-F238E27FC236}">
                <a16:creationId xmlns:a16="http://schemas.microsoft.com/office/drawing/2014/main" id="{AD0301A8-74E3-C104-0F93-E1E0B21736E9}"/>
              </a:ext>
            </a:extLst>
          </p:cNvPr>
          <p:cNvSpPr/>
          <p:nvPr/>
        </p:nvSpPr>
        <p:spPr>
          <a:xfrm>
            <a:off x="394195" y="4410622"/>
            <a:ext cx="3459480" cy="23230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0A5B5EE-E7E0-D9D2-0EC7-3A97A0F25FFB}"/>
              </a:ext>
            </a:extLst>
          </p:cNvPr>
          <p:cNvSpPr txBox="1"/>
          <p:nvPr/>
        </p:nvSpPr>
        <p:spPr>
          <a:xfrm>
            <a:off x="4036765" y="810048"/>
            <a:ext cx="3854043" cy="615553"/>
          </a:xfrm>
          <a:prstGeom prst="rect">
            <a:avLst/>
          </a:prstGeom>
          <a:solidFill>
            <a:schemeClr val="accent1">
              <a:lumMod val="50000"/>
            </a:schemeClr>
          </a:solidFill>
        </p:spPr>
        <p:txBody>
          <a:bodyPr wrap="square" rtlCol="0">
            <a:spAutoFit/>
          </a:bodyPr>
          <a:lstStyle/>
          <a:p>
            <a:pPr algn="ctr"/>
            <a:r>
              <a:rPr lang="en-MY" sz="1600" b="1" u="sng">
                <a:solidFill>
                  <a:schemeClr val="bg1"/>
                </a:solidFill>
              </a:rPr>
              <a:t>Step 1 - Merger (</a:t>
            </a:r>
            <a:r>
              <a:rPr lang="en-MY" sz="1600" b="1" u="sng" err="1">
                <a:solidFill>
                  <a:schemeClr val="bg1"/>
                </a:solidFill>
              </a:rPr>
              <a:t>Inta</a:t>
            </a:r>
            <a:r>
              <a:rPr lang="en-MY" sz="1600" b="1" u="sng">
                <a:solidFill>
                  <a:schemeClr val="bg1"/>
                </a:solidFill>
              </a:rPr>
              <a:t> Bina acquire OSK Construction via share swap</a:t>
            </a:r>
            <a:r>
              <a:rPr lang="en-MY" b="1" u="sng">
                <a:solidFill>
                  <a:schemeClr val="bg1"/>
                </a:solidFill>
              </a:rPr>
              <a:t>)</a:t>
            </a:r>
          </a:p>
        </p:txBody>
      </p:sp>
      <p:sp>
        <p:nvSpPr>
          <p:cNvPr id="43" name="Rectangle 42">
            <a:extLst>
              <a:ext uri="{FF2B5EF4-FFF2-40B4-BE49-F238E27FC236}">
                <a16:creationId xmlns:a16="http://schemas.microsoft.com/office/drawing/2014/main" id="{8D3882E2-60C0-9269-C5E5-F14014FE67AF}"/>
              </a:ext>
            </a:extLst>
          </p:cNvPr>
          <p:cNvSpPr/>
          <p:nvPr/>
        </p:nvSpPr>
        <p:spPr>
          <a:xfrm>
            <a:off x="4036765" y="1462627"/>
            <a:ext cx="3854046" cy="52378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1CADCE7-05C9-4F61-84BF-9BC11793F32F}"/>
              </a:ext>
            </a:extLst>
          </p:cNvPr>
          <p:cNvSpPr txBox="1"/>
          <p:nvPr/>
        </p:nvSpPr>
        <p:spPr>
          <a:xfrm>
            <a:off x="4001166" y="3778227"/>
            <a:ext cx="681597" cy="276999"/>
          </a:xfrm>
          <a:prstGeom prst="rect">
            <a:avLst/>
          </a:prstGeom>
          <a:noFill/>
        </p:spPr>
        <p:txBody>
          <a:bodyPr wrap="none" rtlCol="0">
            <a:spAutoFit/>
          </a:bodyPr>
          <a:lstStyle/>
          <a:p>
            <a:r>
              <a:rPr lang="en-US" sz="1200"/>
              <a:t>47.23%</a:t>
            </a:r>
          </a:p>
        </p:txBody>
      </p:sp>
      <p:sp>
        <p:nvSpPr>
          <p:cNvPr id="44" name="Rectangle 43">
            <a:extLst>
              <a:ext uri="{FF2B5EF4-FFF2-40B4-BE49-F238E27FC236}">
                <a16:creationId xmlns:a16="http://schemas.microsoft.com/office/drawing/2014/main" id="{CA4785B8-46E1-7782-0B05-292E413AAA5D}"/>
              </a:ext>
            </a:extLst>
          </p:cNvPr>
          <p:cNvSpPr/>
          <p:nvPr/>
        </p:nvSpPr>
        <p:spPr>
          <a:xfrm>
            <a:off x="4191779" y="3087377"/>
            <a:ext cx="1095374"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Founders </a:t>
            </a:r>
          </a:p>
          <a:p>
            <a:pPr algn="ctr"/>
            <a:r>
              <a:rPr lang="en-US" sz="1400" b="1">
                <a:solidFill>
                  <a:schemeClr val="tx1"/>
                </a:solidFill>
              </a:rPr>
              <a:t>&amp; PACs</a:t>
            </a:r>
          </a:p>
        </p:txBody>
      </p:sp>
      <p:sp>
        <p:nvSpPr>
          <p:cNvPr id="45" name="Rectangle 44">
            <a:extLst>
              <a:ext uri="{FF2B5EF4-FFF2-40B4-BE49-F238E27FC236}">
                <a16:creationId xmlns:a16="http://schemas.microsoft.com/office/drawing/2014/main" id="{96FF23A0-08D0-03D1-7D22-92C8C23D9192}"/>
              </a:ext>
            </a:extLst>
          </p:cNvPr>
          <p:cNvSpPr/>
          <p:nvPr/>
        </p:nvSpPr>
        <p:spPr>
          <a:xfrm>
            <a:off x="6684004" y="3097588"/>
            <a:ext cx="1095374"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Others</a:t>
            </a:r>
          </a:p>
        </p:txBody>
      </p:sp>
      <p:sp>
        <p:nvSpPr>
          <p:cNvPr id="46" name="Rectangle 45">
            <a:extLst>
              <a:ext uri="{FF2B5EF4-FFF2-40B4-BE49-F238E27FC236}">
                <a16:creationId xmlns:a16="http://schemas.microsoft.com/office/drawing/2014/main" id="{2AF6F1C7-EFB3-1D76-3560-B3FD43EE7CC6}"/>
              </a:ext>
            </a:extLst>
          </p:cNvPr>
          <p:cNvSpPr/>
          <p:nvPr/>
        </p:nvSpPr>
        <p:spPr>
          <a:xfrm>
            <a:off x="5179539" y="4494886"/>
            <a:ext cx="1695450" cy="64633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err="1">
                <a:solidFill>
                  <a:schemeClr val="tx1"/>
                </a:solidFill>
              </a:rPr>
              <a:t>Inta</a:t>
            </a:r>
            <a:endParaRPr lang="en-US" sz="1400" b="1">
              <a:solidFill>
                <a:schemeClr val="tx1"/>
              </a:solidFill>
            </a:endParaRPr>
          </a:p>
        </p:txBody>
      </p:sp>
      <p:cxnSp>
        <p:nvCxnSpPr>
          <p:cNvPr id="47" name="Straight Connector 46">
            <a:extLst>
              <a:ext uri="{FF2B5EF4-FFF2-40B4-BE49-F238E27FC236}">
                <a16:creationId xmlns:a16="http://schemas.microsoft.com/office/drawing/2014/main" id="{237D09F3-6E29-F137-BF2A-CF75D6002761}"/>
              </a:ext>
            </a:extLst>
          </p:cNvPr>
          <p:cNvCxnSpPr>
            <a:cxnSpLocks/>
          </p:cNvCxnSpPr>
          <p:nvPr/>
        </p:nvCxnSpPr>
        <p:spPr>
          <a:xfrm>
            <a:off x="4739466" y="4067082"/>
            <a:ext cx="2302955" cy="0"/>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86272F40-2B3E-C712-A642-D8CD0ED3A9C0}"/>
              </a:ext>
            </a:extLst>
          </p:cNvPr>
          <p:cNvCxnSpPr/>
          <p:nvPr/>
        </p:nvCxnSpPr>
        <p:spPr>
          <a:xfrm>
            <a:off x="4739466" y="3838482"/>
            <a:ext cx="0" cy="228600"/>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E3DE1777-C7C5-CB1C-9AF0-BCFD591539EA}"/>
              </a:ext>
            </a:extLst>
          </p:cNvPr>
          <p:cNvCxnSpPr/>
          <p:nvPr/>
        </p:nvCxnSpPr>
        <p:spPr>
          <a:xfrm>
            <a:off x="5975356" y="3838482"/>
            <a:ext cx="0" cy="548640"/>
          </a:xfrm>
          <a:prstGeom prst="line">
            <a:avLst/>
          </a:prstGeom>
          <a:ln>
            <a:headEnd type="none"/>
            <a:tailEnd type="triangle"/>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81A791EB-4581-5EA2-5825-DD4669612FAD}"/>
              </a:ext>
            </a:extLst>
          </p:cNvPr>
          <p:cNvCxnSpPr/>
          <p:nvPr/>
        </p:nvCxnSpPr>
        <p:spPr>
          <a:xfrm>
            <a:off x="7042421" y="3838482"/>
            <a:ext cx="0" cy="228600"/>
          </a:xfrm>
          <a:prstGeom prst="line">
            <a:avLst/>
          </a:prstGeom>
        </p:spPr>
        <p:style>
          <a:lnRef idx="2">
            <a:schemeClr val="dk1"/>
          </a:lnRef>
          <a:fillRef idx="0">
            <a:schemeClr val="dk1"/>
          </a:fillRef>
          <a:effectRef idx="1">
            <a:schemeClr val="dk1"/>
          </a:effectRef>
          <a:fontRef idx="minor">
            <a:schemeClr val="tx1"/>
          </a:fontRef>
        </p:style>
      </p:cxnSp>
      <p:sp>
        <p:nvSpPr>
          <p:cNvPr id="53" name="Rectangle 52">
            <a:extLst>
              <a:ext uri="{FF2B5EF4-FFF2-40B4-BE49-F238E27FC236}">
                <a16:creationId xmlns:a16="http://schemas.microsoft.com/office/drawing/2014/main" id="{298EB967-42AE-736E-07AB-24A884891EFA}"/>
              </a:ext>
            </a:extLst>
          </p:cNvPr>
          <p:cNvSpPr/>
          <p:nvPr/>
        </p:nvSpPr>
        <p:spPr>
          <a:xfrm>
            <a:off x="5179539" y="5679275"/>
            <a:ext cx="1695450" cy="64633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OSKC</a:t>
            </a:r>
          </a:p>
        </p:txBody>
      </p:sp>
      <p:cxnSp>
        <p:nvCxnSpPr>
          <p:cNvPr id="54" name="Straight Arrow Connector 53">
            <a:extLst>
              <a:ext uri="{FF2B5EF4-FFF2-40B4-BE49-F238E27FC236}">
                <a16:creationId xmlns:a16="http://schemas.microsoft.com/office/drawing/2014/main" id="{A424571A-1086-9769-32B5-E4A332FF0242}"/>
              </a:ext>
            </a:extLst>
          </p:cNvPr>
          <p:cNvCxnSpPr/>
          <p:nvPr/>
        </p:nvCxnSpPr>
        <p:spPr>
          <a:xfrm>
            <a:off x="6006755" y="5252428"/>
            <a:ext cx="0" cy="361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Rectangle 54">
            <a:extLst>
              <a:ext uri="{FF2B5EF4-FFF2-40B4-BE49-F238E27FC236}">
                <a16:creationId xmlns:a16="http://schemas.microsoft.com/office/drawing/2014/main" id="{B48C28F3-3047-1365-9ED5-C0FDE337C506}"/>
              </a:ext>
            </a:extLst>
          </p:cNvPr>
          <p:cNvSpPr/>
          <p:nvPr/>
        </p:nvSpPr>
        <p:spPr>
          <a:xfrm>
            <a:off x="5427669" y="3097588"/>
            <a:ext cx="1095374" cy="64633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PJD</a:t>
            </a:r>
          </a:p>
        </p:txBody>
      </p:sp>
      <p:sp>
        <p:nvSpPr>
          <p:cNvPr id="58" name="TextBox 57">
            <a:extLst>
              <a:ext uri="{FF2B5EF4-FFF2-40B4-BE49-F238E27FC236}">
                <a16:creationId xmlns:a16="http://schemas.microsoft.com/office/drawing/2014/main" id="{A4A9D3B1-40C6-BB02-01C2-CD64031D87AB}"/>
              </a:ext>
            </a:extLst>
          </p:cNvPr>
          <p:cNvSpPr txBox="1"/>
          <p:nvPr/>
        </p:nvSpPr>
        <p:spPr>
          <a:xfrm>
            <a:off x="5257501" y="3778226"/>
            <a:ext cx="681597" cy="276999"/>
          </a:xfrm>
          <a:prstGeom prst="rect">
            <a:avLst/>
          </a:prstGeom>
          <a:noFill/>
        </p:spPr>
        <p:txBody>
          <a:bodyPr wrap="none" rtlCol="0">
            <a:spAutoFit/>
          </a:bodyPr>
          <a:lstStyle/>
          <a:p>
            <a:r>
              <a:rPr lang="en-US" sz="1200"/>
              <a:t>18.56%</a:t>
            </a:r>
          </a:p>
        </p:txBody>
      </p:sp>
      <p:sp>
        <p:nvSpPr>
          <p:cNvPr id="59" name="TextBox 58">
            <a:extLst>
              <a:ext uri="{FF2B5EF4-FFF2-40B4-BE49-F238E27FC236}">
                <a16:creationId xmlns:a16="http://schemas.microsoft.com/office/drawing/2014/main" id="{71088092-09F4-A95B-176D-CF63EB7F872D}"/>
              </a:ext>
            </a:extLst>
          </p:cNvPr>
          <p:cNvSpPr txBox="1"/>
          <p:nvPr/>
        </p:nvSpPr>
        <p:spPr>
          <a:xfrm>
            <a:off x="7007074" y="3778227"/>
            <a:ext cx="681597" cy="276999"/>
          </a:xfrm>
          <a:prstGeom prst="rect">
            <a:avLst/>
          </a:prstGeom>
          <a:noFill/>
        </p:spPr>
        <p:txBody>
          <a:bodyPr wrap="none" rtlCol="0">
            <a:spAutoFit/>
          </a:bodyPr>
          <a:lstStyle/>
          <a:p>
            <a:r>
              <a:rPr lang="en-US" sz="1200"/>
              <a:t>34.21%</a:t>
            </a:r>
          </a:p>
        </p:txBody>
      </p:sp>
      <p:sp>
        <p:nvSpPr>
          <p:cNvPr id="62" name="Rectangle 61">
            <a:extLst>
              <a:ext uri="{FF2B5EF4-FFF2-40B4-BE49-F238E27FC236}">
                <a16:creationId xmlns:a16="http://schemas.microsoft.com/office/drawing/2014/main" id="{F48F7BCE-284D-7E0E-71BA-877798611B8D}"/>
              </a:ext>
            </a:extLst>
          </p:cNvPr>
          <p:cNvSpPr/>
          <p:nvPr/>
        </p:nvSpPr>
        <p:spPr>
          <a:xfrm>
            <a:off x="4195493" y="1895036"/>
            <a:ext cx="1161706"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err="1">
                <a:solidFill>
                  <a:schemeClr val="tx1"/>
                </a:solidFill>
              </a:rPr>
              <a:t>Inta</a:t>
            </a:r>
            <a:r>
              <a:rPr lang="en-US" sz="1400" b="1">
                <a:solidFill>
                  <a:schemeClr val="tx1"/>
                </a:solidFill>
              </a:rPr>
              <a:t> Bina </a:t>
            </a:r>
          </a:p>
          <a:p>
            <a:pPr algn="ctr"/>
            <a:r>
              <a:rPr lang="en-US" sz="1400" b="1">
                <a:solidFill>
                  <a:schemeClr val="tx1"/>
                </a:solidFill>
              </a:rPr>
              <a:t>Group</a:t>
            </a:r>
          </a:p>
        </p:txBody>
      </p:sp>
      <p:sp>
        <p:nvSpPr>
          <p:cNvPr id="63" name="Rectangle 62">
            <a:extLst>
              <a:ext uri="{FF2B5EF4-FFF2-40B4-BE49-F238E27FC236}">
                <a16:creationId xmlns:a16="http://schemas.microsoft.com/office/drawing/2014/main" id="{F8DC2590-75B7-43DE-7A92-2F2B286198B3}"/>
              </a:ext>
            </a:extLst>
          </p:cNvPr>
          <p:cNvSpPr/>
          <p:nvPr/>
        </p:nvSpPr>
        <p:spPr>
          <a:xfrm>
            <a:off x="6381840" y="1891444"/>
            <a:ext cx="1095374" cy="64633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PJD</a:t>
            </a:r>
          </a:p>
        </p:txBody>
      </p:sp>
      <p:cxnSp>
        <p:nvCxnSpPr>
          <p:cNvPr id="65" name="Straight Arrow Connector 64">
            <a:extLst>
              <a:ext uri="{FF2B5EF4-FFF2-40B4-BE49-F238E27FC236}">
                <a16:creationId xmlns:a16="http://schemas.microsoft.com/office/drawing/2014/main" id="{CFF1F25D-756A-56DB-C481-BB0E626938A7}"/>
              </a:ext>
            </a:extLst>
          </p:cNvPr>
          <p:cNvCxnSpPr/>
          <p:nvPr/>
        </p:nvCxnSpPr>
        <p:spPr>
          <a:xfrm flipH="1">
            <a:off x="5547745" y="2132316"/>
            <a:ext cx="6667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6" name="TextBox 65">
            <a:extLst>
              <a:ext uri="{FF2B5EF4-FFF2-40B4-BE49-F238E27FC236}">
                <a16:creationId xmlns:a16="http://schemas.microsoft.com/office/drawing/2014/main" id="{295D97BE-7CF7-D9E5-52E1-6DBD06B5ECF5}"/>
              </a:ext>
            </a:extLst>
          </p:cNvPr>
          <p:cNvSpPr txBox="1"/>
          <p:nvPr/>
        </p:nvSpPr>
        <p:spPr>
          <a:xfrm>
            <a:off x="5534896" y="1777543"/>
            <a:ext cx="571631" cy="276999"/>
          </a:xfrm>
          <a:prstGeom prst="rect">
            <a:avLst/>
          </a:prstGeom>
          <a:noFill/>
        </p:spPr>
        <p:txBody>
          <a:bodyPr wrap="none" rtlCol="0">
            <a:spAutoFit/>
          </a:bodyPr>
          <a:lstStyle/>
          <a:p>
            <a:r>
              <a:rPr lang="en-US" sz="1200" i="1"/>
              <a:t>OSKC</a:t>
            </a:r>
          </a:p>
        </p:txBody>
      </p:sp>
      <p:cxnSp>
        <p:nvCxnSpPr>
          <p:cNvPr id="67" name="Straight Arrow Connector 66">
            <a:extLst>
              <a:ext uri="{FF2B5EF4-FFF2-40B4-BE49-F238E27FC236}">
                <a16:creationId xmlns:a16="http://schemas.microsoft.com/office/drawing/2014/main" id="{507C9869-5DD7-F64B-CFB4-B6F9173737D5}"/>
              </a:ext>
            </a:extLst>
          </p:cNvPr>
          <p:cNvCxnSpPr>
            <a:cxnSpLocks/>
          </p:cNvCxnSpPr>
          <p:nvPr/>
        </p:nvCxnSpPr>
        <p:spPr>
          <a:xfrm>
            <a:off x="5547745" y="2360200"/>
            <a:ext cx="6762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0" name="TextBox 69">
            <a:extLst>
              <a:ext uri="{FF2B5EF4-FFF2-40B4-BE49-F238E27FC236}">
                <a16:creationId xmlns:a16="http://schemas.microsoft.com/office/drawing/2014/main" id="{32C1766A-17A0-AB9E-D55A-E55FCAE65FE1}"/>
              </a:ext>
            </a:extLst>
          </p:cNvPr>
          <p:cNvSpPr txBox="1"/>
          <p:nvPr/>
        </p:nvSpPr>
        <p:spPr>
          <a:xfrm>
            <a:off x="5179539" y="2415193"/>
            <a:ext cx="1324043" cy="461665"/>
          </a:xfrm>
          <a:prstGeom prst="rect">
            <a:avLst/>
          </a:prstGeom>
          <a:noFill/>
        </p:spPr>
        <p:txBody>
          <a:bodyPr wrap="square" rtlCol="0">
            <a:spAutoFit/>
          </a:bodyPr>
          <a:lstStyle/>
          <a:p>
            <a:pPr algn="ctr"/>
            <a:r>
              <a:rPr lang="en-US" sz="1200" i="1"/>
              <a:t>issuance of shares in </a:t>
            </a:r>
            <a:r>
              <a:rPr lang="en-US" sz="1200" i="1" err="1"/>
              <a:t>Inta</a:t>
            </a:r>
            <a:endParaRPr lang="en-US" sz="1200" i="1"/>
          </a:p>
        </p:txBody>
      </p:sp>
      <p:cxnSp>
        <p:nvCxnSpPr>
          <p:cNvPr id="72" name="Straight Connector 71">
            <a:extLst>
              <a:ext uri="{FF2B5EF4-FFF2-40B4-BE49-F238E27FC236}">
                <a16:creationId xmlns:a16="http://schemas.microsoft.com/office/drawing/2014/main" id="{A5C4A1B3-9E6E-1364-106C-DF110790AACA}"/>
              </a:ext>
            </a:extLst>
          </p:cNvPr>
          <p:cNvCxnSpPr/>
          <p:nvPr/>
        </p:nvCxnSpPr>
        <p:spPr>
          <a:xfrm>
            <a:off x="7957483" y="809277"/>
            <a:ext cx="0" cy="5992213"/>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
        <p:nvSpPr>
          <p:cNvPr id="76" name="TextBox 75">
            <a:extLst>
              <a:ext uri="{FF2B5EF4-FFF2-40B4-BE49-F238E27FC236}">
                <a16:creationId xmlns:a16="http://schemas.microsoft.com/office/drawing/2014/main" id="{A7F458A2-328F-0005-139B-56A55CF2093B}"/>
              </a:ext>
            </a:extLst>
          </p:cNvPr>
          <p:cNvSpPr txBox="1"/>
          <p:nvPr/>
        </p:nvSpPr>
        <p:spPr>
          <a:xfrm>
            <a:off x="7997938" y="822788"/>
            <a:ext cx="3854043" cy="584775"/>
          </a:xfrm>
          <a:prstGeom prst="rect">
            <a:avLst/>
          </a:prstGeom>
          <a:solidFill>
            <a:schemeClr val="accent1">
              <a:lumMod val="50000"/>
            </a:schemeClr>
          </a:solidFill>
        </p:spPr>
        <p:txBody>
          <a:bodyPr wrap="square" rtlCol="0">
            <a:spAutoFit/>
          </a:bodyPr>
          <a:lstStyle/>
          <a:p>
            <a:pPr algn="ctr" fontAlgn="b"/>
            <a:r>
              <a:rPr lang="en-US" sz="1600" b="1" u="sng">
                <a:solidFill>
                  <a:schemeClr val="bg1"/>
                </a:solidFill>
              </a:rPr>
              <a:t>Step 2 - PJDH to acquire </a:t>
            </a:r>
            <a:r>
              <a:rPr lang="en-US" sz="1600" b="1" u="sng" err="1">
                <a:solidFill>
                  <a:schemeClr val="bg1"/>
                </a:solidFill>
              </a:rPr>
              <a:t>Inta</a:t>
            </a:r>
            <a:r>
              <a:rPr lang="en-US" sz="1600" b="1" u="sng">
                <a:solidFill>
                  <a:schemeClr val="bg1"/>
                </a:solidFill>
              </a:rPr>
              <a:t> Bina stake from existing major shareholders</a:t>
            </a:r>
          </a:p>
        </p:txBody>
      </p:sp>
      <p:sp>
        <p:nvSpPr>
          <p:cNvPr id="77" name="Rectangle 76">
            <a:extLst>
              <a:ext uri="{FF2B5EF4-FFF2-40B4-BE49-F238E27FC236}">
                <a16:creationId xmlns:a16="http://schemas.microsoft.com/office/drawing/2014/main" id="{9C3AF139-E2AB-84B0-CB7E-57815F9E0A89}"/>
              </a:ext>
            </a:extLst>
          </p:cNvPr>
          <p:cNvSpPr/>
          <p:nvPr/>
        </p:nvSpPr>
        <p:spPr>
          <a:xfrm>
            <a:off x="7997938" y="1475367"/>
            <a:ext cx="3854046" cy="52378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7FCFAFD0-B984-BDC0-DFB1-3847B3B999A2}"/>
              </a:ext>
            </a:extLst>
          </p:cNvPr>
          <p:cNvSpPr txBox="1"/>
          <p:nvPr/>
        </p:nvSpPr>
        <p:spPr>
          <a:xfrm>
            <a:off x="7997938" y="3781477"/>
            <a:ext cx="681597" cy="276999"/>
          </a:xfrm>
          <a:prstGeom prst="rect">
            <a:avLst/>
          </a:prstGeom>
          <a:noFill/>
        </p:spPr>
        <p:txBody>
          <a:bodyPr wrap="none" rtlCol="0">
            <a:spAutoFit/>
          </a:bodyPr>
          <a:lstStyle/>
          <a:p>
            <a:r>
              <a:rPr lang="en-US" sz="1200"/>
              <a:t>34.73%</a:t>
            </a:r>
          </a:p>
        </p:txBody>
      </p:sp>
      <p:sp>
        <p:nvSpPr>
          <p:cNvPr id="81" name="Rectangle 80">
            <a:extLst>
              <a:ext uri="{FF2B5EF4-FFF2-40B4-BE49-F238E27FC236}">
                <a16:creationId xmlns:a16="http://schemas.microsoft.com/office/drawing/2014/main" id="{8DD0A8EC-38EC-FB16-60BB-FA20A7CACBB5}"/>
              </a:ext>
            </a:extLst>
          </p:cNvPr>
          <p:cNvSpPr/>
          <p:nvPr/>
        </p:nvSpPr>
        <p:spPr>
          <a:xfrm>
            <a:off x="8152952" y="3100117"/>
            <a:ext cx="1095374"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Founders </a:t>
            </a:r>
          </a:p>
          <a:p>
            <a:pPr algn="ctr"/>
            <a:r>
              <a:rPr lang="en-US" sz="1400" b="1">
                <a:solidFill>
                  <a:schemeClr val="tx1"/>
                </a:solidFill>
              </a:rPr>
              <a:t>&amp; PACs</a:t>
            </a:r>
          </a:p>
        </p:txBody>
      </p:sp>
      <p:sp>
        <p:nvSpPr>
          <p:cNvPr id="82" name="Rectangle 81">
            <a:extLst>
              <a:ext uri="{FF2B5EF4-FFF2-40B4-BE49-F238E27FC236}">
                <a16:creationId xmlns:a16="http://schemas.microsoft.com/office/drawing/2014/main" id="{F7A6303B-FFF4-9BD3-CC65-6BF56F68F05A}"/>
              </a:ext>
            </a:extLst>
          </p:cNvPr>
          <p:cNvSpPr/>
          <p:nvPr/>
        </p:nvSpPr>
        <p:spPr>
          <a:xfrm>
            <a:off x="10645177" y="3110328"/>
            <a:ext cx="1095374"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Others</a:t>
            </a:r>
          </a:p>
        </p:txBody>
      </p:sp>
      <p:sp>
        <p:nvSpPr>
          <p:cNvPr id="83" name="Rectangle 82">
            <a:extLst>
              <a:ext uri="{FF2B5EF4-FFF2-40B4-BE49-F238E27FC236}">
                <a16:creationId xmlns:a16="http://schemas.microsoft.com/office/drawing/2014/main" id="{A893A7CA-60AC-2C28-673D-5A450CF94688}"/>
              </a:ext>
            </a:extLst>
          </p:cNvPr>
          <p:cNvSpPr/>
          <p:nvPr/>
        </p:nvSpPr>
        <p:spPr>
          <a:xfrm>
            <a:off x="9140712" y="4507626"/>
            <a:ext cx="1695450" cy="64633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err="1">
                <a:solidFill>
                  <a:schemeClr val="tx1"/>
                </a:solidFill>
              </a:rPr>
              <a:t>Inta</a:t>
            </a:r>
            <a:endParaRPr lang="en-US" sz="1400" b="1">
              <a:solidFill>
                <a:schemeClr val="tx1"/>
              </a:solidFill>
            </a:endParaRPr>
          </a:p>
        </p:txBody>
      </p:sp>
      <p:cxnSp>
        <p:nvCxnSpPr>
          <p:cNvPr id="84" name="Straight Connector 83">
            <a:extLst>
              <a:ext uri="{FF2B5EF4-FFF2-40B4-BE49-F238E27FC236}">
                <a16:creationId xmlns:a16="http://schemas.microsoft.com/office/drawing/2014/main" id="{FAD5527C-238D-5076-455E-DB4732EC8143}"/>
              </a:ext>
            </a:extLst>
          </p:cNvPr>
          <p:cNvCxnSpPr>
            <a:cxnSpLocks/>
          </p:cNvCxnSpPr>
          <p:nvPr/>
        </p:nvCxnSpPr>
        <p:spPr>
          <a:xfrm>
            <a:off x="8700639" y="4079822"/>
            <a:ext cx="2302955" cy="0"/>
          </a:xfrm>
          <a:prstGeom prst="line">
            <a:avLst/>
          </a:prstGeom>
        </p:spPr>
        <p:style>
          <a:lnRef idx="2">
            <a:schemeClr val="dk1"/>
          </a:lnRef>
          <a:fillRef idx="0">
            <a:schemeClr val="dk1"/>
          </a:fillRef>
          <a:effectRef idx="1">
            <a:schemeClr val="dk1"/>
          </a:effectRef>
          <a:fontRef idx="minor">
            <a:schemeClr val="tx1"/>
          </a:fontRef>
        </p:style>
      </p:cxnSp>
      <p:cxnSp>
        <p:nvCxnSpPr>
          <p:cNvPr id="85" name="Straight Connector 84">
            <a:extLst>
              <a:ext uri="{FF2B5EF4-FFF2-40B4-BE49-F238E27FC236}">
                <a16:creationId xmlns:a16="http://schemas.microsoft.com/office/drawing/2014/main" id="{95E36C5D-015A-224D-721A-E20693D56A17}"/>
              </a:ext>
            </a:extLst>
          </p:cNvPr>
          <p:cNvCxnSpPr/>
          <p:nvPr/>
        </p:nvCxnSpPr>
        <p:spPr>
          <a:xfrm>
            <a:off x="8700639" y="3851222"/>
            <a:ext cx="0" cy="228600"/>
          </a:xfrm>
          <a:prstGeom prst="line">
            <a:avLst/>
          </a:prstGeom>
        </p:spPr>
        <p:style>
          <a:lnRef idx="2">
            <a:schemeClr val="dk1"/>
          </a:lnRef>
          <a:fillRef idx="0">
            <a:schemeClr val="dk1"/>
          </a:fillRef>
          <a:effectRef idx="1">
            <a:schemeClr val="dk1"/>
          </a:effectRef>
          <a:fontRef idx="minor">
            <a:schemeClr val="tx1"/>
          </a:fontRef>
        </p:style>
      </p:cxnSp>
      <p:cxnSp>
        <p:nvCxnSpPr>
          <p:cNvPr id="86" name="Straight Connector 85">
            <a:extLst>
              <a:ext uri="{FF2B5EF4-FFF2-40B4-BE49-F238E27FC236}">
                <a16:creationId xmlns:a16="http://schemas.microsoft.com/office/drawing/2014/main" id="{BF8FDA3E-F794-8B41-10C0-8469BFC7A6C6}"/>
              </a:ext>
            </a:extLst>
          </p:cNvPr>
          <p:cNvCxnSpPr/>
          <p:nvPr/>
        </p:nvCxnSpPr>
        <p:spPr>
          <a:xfrm>
            <a:off x="9936529" y="3851222"/>
            <a:ext cx="0" cy="548640"/>
          </a:xfrm>
          <a:prstGeom prst="line">
            <a:avLst/>
          </a:prstGeom>
          <a:ln>
            <a:headEnd type="none"/>
            <a:tailEnd type="triangle"/>
          </a:ln>
        </p:spPr>
        <p:style>
          <a:lnRef idx="2">
            <a:schemeClr val="dk1"/>
          </a:lnRef>
          <a:fillRef idx="0">
            <a:schemeClr val="dk1"/>
          </a:fillRef>
          <a:effectRef idx="1">
            <a:schemeClr val="dk1"/>
          </a:effectRef>
          <a:fontRef idx="minor">
            <a:schemeClr val="tx1"/>
          </a:fontRef>
        </p:style>
      </p:cxnSp>
      <p:cxnSp>
        <p:nvCxnSpPr>
          <p:cNvPr id="87" name="Straight Connector 86">
            <a:extLst>
              <a:ext uri="{FF2B5EF4-FFF2-40B4-BE49-F238E27FC236}">
                <a16:creationId xmlns:a16="http://schemas.microsoft.com/office/drawing/2014/main" id="{007F1C37-4FF1-B189-9A97-DD80DB96CFB2}"/>
              </a:ext>
            </a:extLst>
          </p:cNvPr>
          <p:cNvCxnSpPr/>
          <p:nvPr/>
        </p:nvCxnSpPr>
        <p:spPr>
          <a:xfrm>
            <a:off x="11003594" y="3851222"/>
            <a:ext cx="0" cy="228600"/>
          </a:xfrm>
          <a:prstGeom prst="line">
            <a:avLst/>
          </a:prstGeom>
        </p:spPr>
        <p:style>
          <a:lnRef idx="2">
            <a:schemeClr val="dk1"/>
          </a:lnRef>
          <a:fillRef idx="0">
            <a:schemeClr val="dk1"/>
          </a:fillRef>
          <a:effectRef idx="1">
            <a:schemeClr val="dk1"/>
          </a:effectRef>
          <a:fontRef idx="minor">
            <a:schemeClr val="tx1"/>
          </a:fontRef>
        </p:style>
      </p:cxnSp>
      <p:sp>
        <p:nvSpPr>
          <p:cNvPr id="88" name="Rectangle 87">
            <a:extLst>
              <a:ext uri="{FF2B5EF4-FFF2-40B4-BE49-F238E27FC236}">
                <a16:creationId xmlns:a16="http://schemas.microsoft.com/office/drawing/2014/main" id="{BCDFB254-8EB1-A344-AA06-A1B130B29F16}"/>
              </a:ext>
            </a:extLst>
          </p:cNvPr>
          <p:cNvSpPr/>
          <p:nvPr/>
        </p:nvSpPr>
        <p:spPr>
          <a:xfrm>
            <a:off x="9140712" y="5692015"/>
            <a:ext cx="1695450" cy="64633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OSKC</a:t>
            </a:r>
          </a:p>
        </p:txBody>
      </p:sp>
      <p:cxnSp>
        <p:nvCxnSpPr>
          <p:cNvPr id="89" name="Straight Arrow Connector 88">
            <a:extLst>
              <a:ext uri="{FF2B5EF4-FFF2-40B4-BE49-F238E27FC236}">
                <a16:creationId xmlns:a16="http://schemas.microsoft.com/office/drawing/2014/main" id="{8314E14E-CA92-FDEE-CE2D-DDCA1403B81A}"/>
              </a:ext>
            </a:extLst>
          </p:cNvPr>
          <p:cNvCxnSpPr/>
          <p:nvPr/>
        </p:nvCxnSpPr>
        <p:spPr>
          <a:xfrm>
            <a:off x="9967928" y="5265168"/>
            <a:ext cx="0" cy="3619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0" name="Rectangle 89">
            <a:extLst>
              <a:ext uri="{FF2B5EF4-FFF2-40B4-BE49-F238E27FC236}">
                <a16:creationId xmlns:a16="http://schemas.microsoft.com/office/drawing/2014/main" id="{B389AC1D-984F-84EB-036B-E2F5FF40BC1F}"/>
              </a:ext>
            </a:extLst>
          </p:cNvPr>
          <p:cNvSpPr/>
          <p:nvPr/>
        </p:nvSpPr>
        <p:spPr>
          <a:xfrm>
            <a:off x="9388842" y="3110328"/>
            <a:ext cx="1095374" cy="64633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PJD</a:t>
            </a:r>
          </a:p>
        </p:txBody>
      </p:sp>
      <p:sp>
        <p:nvSpPr>
          <p:cNvPr id="91" name="TextBox 90">
            <a:extLst>
              <a:ext uri="{FF2B5EF4-FFF2-40B4-BE49-F238E27FC236}">
                <a16:creationId xmlns:a16="http://schemas.microsoft.com/office/drawing/2014/main" id="{EEAB68CA-E770-CE39-BF50-56F4ADBF0D46}"/>
              </a:ext>
            </a:extLst>
          </p:cNvPr>
          <p:cNvSpPr txBox="1"/>
          <p:nvPr/>
        </p:nvSpPr>
        <p:spPr>
          <a:xfrm>
            <a:off x="9218674" y="3790966"/>
            <a:ext cx="681597" cy="276999"/>
          </a:xfrm>
          <a:prstGeom prst="rect">
            <a:avLst/>
          </a:prstGeom>
          <a:noFill/>
        </p:spPr>
        <p:txBody>
          <a:bodyPr wrap="none" rtlCol="0">
            <a:spAutoFit/>
          </a:bodyPr>
          <a:lstStyle/>
          <a:p>
            <a:r>
              <a:rPr lang="en-US" sz="1200"/>
              <a:t>31.06%</a:t>
            </a:r>
          </a:p>
        </p:txBody>
      </p:sp>
      <p:sp>
        <p:nvSpPr>
          <p:cNvPr id="92" name="TextBox 91">
            <a:extLst>
              <a:ext uri="{FF2B5EF4-FFF2-40B4-BE49-F238E27FC236}">
                <a16:creationId xmlns:a16="http://schemas.microsoft.com/office/drawing/2014/main" id="{4CADB2A2-1DAA-742B-C024-903126DD9ACD}"/>
              </a:ext>
            </a:extLst>
          </p:cNvPr>
          <p:cNvSpPr txBox="1"/>
          <p:nvPr/>
        </p:nvSpPr>
        <p:spPr>
          <a:xfrm>
            <a:off x="10968247" y="3790967"/>
            <a:ext cx="681597" cy="276999"/>
          </a:xfrm>
          <a:prstGeom prst="rect">
            <a:avLst/>
          </a:prstGeom>
          <a:noFill/>
        </p:spPr>
        <p:txBody>
          <a:bodyPr wrap="none" rtlCol="0">
            <a:spAutoFit/>
          </a:bodyPr>
          <a:lstStyle/>
          <a:p>
            <a:r>
              <a:rPr lang="en-US" sz="1200"/>
              <a:t>34.21%</a:t>
            </a:r>
          </a:p>
        </p:txBody>
      </p:sp>
      <p:sp>
        <p:nvSpPr>
          <p:cNvPr id="93" name="Rectangle 92">
            <a:extLst>
              <a:ext uri="{FF2B5EF4-FFF2-40B4-BE49-F238E27FC236}">
                <a16:creationId xmlns:a16="http://schemas.microsoft.com/office/drawing/2014/main" id="{0EAF93D5-240E-A0FD-B42C-712A187FFF2A}"/>
              </a:ext>
            </a:extLst>
          </p:cNvPr>
          <p:cNvSpPr/>
          <p:nvPr/>
        </p:nvSpPr>
        <p:spPr>
          <a:xfrm>
            <a:off x="8156666" y="1907776"/>
            <a:ext cx="1161706" cy="646330"/>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Founders &amp; PACs</a:t>
            </a:r>
          </a:p>
        </p:txBody>
      </p:sp>
      <p:sp>
        <p:nvSpPr>
          <p:cNvPr id="94" name="Rectangle 93">
            <a:extLst>
              <a:ext uri="{FF2B5EF4-FFF2-40B4-BE49-F238E27FC236}">
                <a16:creationId xmlns:a16="http://schemas.microsoft.com/office/drawing/2014/main" id="{B5238DDF-3405-9A93-F370-99A61FFEDC97}"/>
              </a:ext>
            </a:extLst>
          </p:cNvPr>
          <p:cNvSpPr/>
          <p:nvPr/>
        </p:nvSpPr>
        <p:spPr>
          <a:xfrm>
            <a:off x="10343013" y="1904184"/>
            <a:ext cx="1095374" cy="64633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PJD</a:t>
            </a:r>
          </a:p>
        </p:txBody>
      </p:sp>
      <p:cxnSp>
        <p:nvCxnSpPr>
          <p:cNvPr id="95" name="Straight Arrow Connector 94">
            <a:extLst>
              <a:ext uri="{FF2B5EF4-FFF2-40B4-BE49-F238E27FC236}">
                <a16:creationId xmlns:a16="http://schemas.microsoft.com/office/drawing/2014/main" id="{7EF15D76-112D-7AB1-A001-91B0BD3FA880}"/>
              </a:ext>
            </a:extLst>
          </p:cNvPr>
          <p:cNvCxnSpPr/>
          <p:nvPr/>
        </p:nvCxnSpPr>
        <p:spPr>
          <a:xfrm flipH="1">
            <a:off x="9508918" y="2145056"/>
            <a:ext cx="6667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6" name="TextBox 95">
            <a:extLst>
              <a:ext uri="{FF2B5EF4-FFF2-40B4-BE49-F238E27FC236}">
                <a16:creationId xmlns:a16="http://schemas.microsoft.com/office/drawing/2014/main" id="{4C6DBFE2-B49B-FEC4-7E34-769CDB99593C}"/>
              </a:ext>
            </a:extLst>
          </p:cNvPr>
          <p:cNvSpPr txBox="1"/>
          <p:nvPr/>
        </p:nvSpPr>
        <p:spPr>
          <a:xfrm>
            <a:off x="9496069" y="1790283"/>
            <a:ext cx="532518" cy="276999"/>
          </a:xfrm>
          <a:prstGeom prst="rect">
            <a:avLst/>
          </a:prstGeom>
          <a:noFill/>
        </p:spPr>
        <p:txBody>
          <a:bodyPr wrap="none" rtlCol="0">
            <a:spAutoFit/>
          </a:bodyPr>
          <a:lstStyle/>
          <a:p>
            <a:r>
              <a:rPr lang="en-US" sz="1200" i="1"/>
              <a:t>Cash</a:t>
            </a:r>
          </a:p>
        </p:txBody>
      </p:sp>
      <p:cxnSp>
        <p:nvCxnSpPr>
          <p:cNvPr id="97" name="Straight Arrow Connector 96">
            <a:extLst>
              <a:ext uri="{FF2B5EF4-FFF2-40B4-BE49-F238E27FC236}">
                <a16:creationId xmlns:a16="http://schemas.microsoft.com/office/drawing/2014/main" id="{16BAE7D5-19D1-E96B-46D9-4F0728C5685F}"/>
              </a:ext>
            </a:extLst>
          </p:cNvPr>
          <p:cNvCxnSpPr>
            <a:cxnSpLocks/>
          </p:cNvCxnSpPr>
          <p:nvPr/>
        </p:nvCxnSpPr>
        <p:spPr>
          <a:xfrm>
            <a:off x="9508918" y="2372940"/>
            <a:ext cx="6762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8" name="TextBox 97">
            <a:extLst>
              <a:ext uri="{FF2B5EF4-FFF2-40B4-BE49-F238E27FC236}">
                <a16:creationId xmlns:a16="http://schemas.microsoft.com/office/drawing/2014/main" id="{EDB8B290-9C26-3CD8-1405-5C10FC257777}"/>
              </a:ext>
            </a:extLst>
          </p:cNvPr>
          <p:cNvSpPr txBox="1"/>
          <p:nvPr/>
        </p:nvSpPr>
        <p:spPr>
          <a:xfrm>
            <a:off x="9140712" y="2454078"/>
            <a:ext cx="1396955" cy="461665"/>
          </a:xfrm>
          <a:prstGeom prst="rect">
            <a:avLst/>
          </a:prstGeom>
          <a:noFill/>
        </p:spPr>
        <p:txBody>
          <a:bodyPr wrap="square" rtlCol="0">
            <a:spAutoFit/>
          </a:bodyPr>
          <a:lstStyle/>
          <a:p>
            <a:pPr algn="ctr"/>
            <a:r>
              <a:rPr lang="en-US" sz="1200" i="1"/>
              <a:t>Equity </a:t>
            </a:r>
          </a:p>
          <a:p>
            <a:pPr algn="ctr"/>
            <a:r>
              <a:rPr lang="en-US" sz="1200" i="1"/>
              <a:t>stake in </a:t>
            </a:r>
            <a:r>
              <a:rPr lang="en-US" sz="1200" i="1" err="1"/>
              <a:t>Inta</a:t>
            </a:r>
            <a:endParaRPr lang="en-US" sz="1200" i="1"/>
          </a:p>
        </p:txBody>
      </p:sp>
      <p:cxnSp>
        <p:nvCxnSpPr>
          <p:cNvPr id="3" name="Straight Connector 2">
            <a:extLst>
              <a:ext uri="{FF2B5EF4-FFF2-40B4-BE49-F238E27FC236}">
                <a16:creationId xmlns:a16="http://schemas.microsoft.com/office/drawing/2014/main" id="{4E1F3261-8B30-0CB2-53E2-DEE57E40F7DA}"/>
              </a:ext>
            </a:extLst>
          </p:cNvPr>
          <p:cNvCxnSpPr/>
          <p:nvPr/>
        </p:nvCxnSpPr>
        <p:spPr>
          <a:xfrm>
            <a:off x="3951409" y="822788"/>
            <a:ext cx="0" cy="5992213"/>
          </a:xfrm>
          <a:prstGeom prst="line">
            <a:avLst/>
          </a:prstGeom>
          <a:ln>
            <a:solidFill>
              <a:srgbClr val="FF0000"/>
            </a:solidFill>
            <a:prstDash val="dash"/>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5338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9132-BB3A-5774-8384-FEE36311F7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6B43B2-6363-B18F-2E94-06282A38803C}"/>
              </a:ext>
            </a:extLst>
          </p:cNvPr>
          <p:cNvSpPr txBox="1"/>
          <p:nvPr/>
        </p:nvSpPr>
        <p:spPr>
          <a:xfrm>
            <a:off x="274320" y="219456"/>
            <a:ext cx="9686562" cy="646331"/>
          </a:xfrm>
          <a:prstGeom prst="rect">
            <a:avLst/>
          </a:prstGeom>
          <a:noFill/>
        </p:spPr>
        <p:txBody>
          <a:bodyPr wrap="none" rtlCol="0">
            <a:spAutoFit/>
          </a:bodyPr>
          <a:lstStyle/>
          <a:p>
            <a:r>
              <a:rPr lang="en-US" sz="3600" b="1"/>
              <a:t>Recommendation &amp; Long-Term Consideration</a:t>
            </a:r>
            <a:endParaRPr lang="en-MY" sz="3600" b="1"/>
          </a:p>
        </p:txBody>
      </p:sp>
      <p:sp>
        <p:nvSpPr>
          <p:cNvPr id="2" name="Slide Number Placeholder 2">
            <a:extLst>
              <a:ext uri="{FF2B5EF4-FFF2-40B4-BE49-F238E27FC236}">
                <a16:creationId xmlns:a16="http://schemas.microsoft.com/office/drawing/2014/main" id="{73BA53FD-6BAB-93AD-CB69-625990503E04}"/>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9</a:t>
            </a:fld>
            <a:endParaRPr lang="en-US" sz="1200">
              <a:solidFill>
                <a:schemeClr val="tx2">
                  <a:lumMod val="95000"/>
                  <a:lumOff val="5000"/>
                </a:schemeClr>
              </a:solidFill>
              <a:latin typeface="Aptos" panose="020B0004020202020204" pitchFamily="34" charset="0"/>
            </a:endParaRPr>
          </a:p>
        </p:txBody>
      </p:sp>
      <p:sp>
        <p:nvSpPr>
          <p:cNvPr id="3" name="TextBox 2">
            <a:extLst>
              <a:ext uri="{FF2B5EF4-FFF2-40B4-BE49-F238E27FC236}">
                <a16:creationId xmlns:a16="http://schemas.microsoft.com/office/drawing/2014/main" id="{08FFA225-3254-1082-89EC-8631BDBA5107}"/>
              </a:ext>
            </a:extLst>
          </p:cNvPr>
          <p:cNvSpPr txBox="1"/>
          <p:nvPr/>
        </p:nvSpPr>
        <p:spPr>
          <a:xfrm>
            <a:off x="412727" y="868405"/>
            <a:ext cx="1141656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fontAlgn="t"/>
            <a:r>
              <a:rPr lang="en-US" sz="1600" b="1">
                <a:solidFill>
                  <a:srgbClr val="000000"/>
                </a:solidFill>
              </a:rPr>
              <a:t>Our view : </a:t>
            </a:r>
            <a:r>
              <a:rPr lang="en-US" sz="1600" i="1">
                <a:solidFill>
                  <a:srgbClr val="000000"/>
                </a:solidFill>
              </a:rPr>
              <a:t>For a longer-term strategic alignment and direction perspective, OSK may be better off keeping OSK Construction as an in-house residential contractor, and at the same time, </a:t>
            </a:r>
            <a:r>
              <a:rPr lang="en-US" sz="1600" b="1" i="1">
                <a:solidFill>
                  <a:srgbClr val="000000"/>
                </a:solidFill>
              </a:rPr>
              <a:t>focus on developing industrial &amp; commercial capabilities </a:t>
            </a:r>
            <a:r>
              <a:rPr lang="en-US" sz="1600" i="1">
                <a:solidFill>
                  <a:srgbClr val="000000"/>
                </a:solidFill>
              </a:rPr>
              <a:t>&amp; track record (either organically or via M&amp;A way).</a:t>
            </a:r>
          </a:p>
          <a:p>
            <a:pPr fontAlgn="t"/>
            <a:endParaRPr lang="en-US" sz="1600" b="1">
              <a:solidFill>
                <a:srgbClr val="000000"/>
              </a:solidFill>
              <a:highlight>
                <a:srgbClr val="FFFF00"/>
              </a:highlight>
            </a:endParaRPr>
          </a:p>
        </p:txBody>
      </p:sp>
      <p:sp>
        <p:nvSpPr>
          <p:cNvPr id="5" name="Rectangle 4">
            <a:extLst>
              <a:ext uri="{FF2B5EF4-FFF2-40B4-BE49-F238E27FC236}">
                <a16:creationId xmlns:a16="http://schemas.microsoft.com/office/drawing/2014/main" id="{290F6170-05C9-FA55-FAB6-F462F8FBE3CE}"/>
              </a:ext>
            </a:extLst>
          </p:cNvPr>
          <p:cNvSpPr/>
          <p:nvPr/>
        </p:nvSpPr>
        <p:spPr>
          <a:xfrm>
            <a:off x="1989382" y="2068733"/>
            <a:ext cx="2627697" cy="808523"/>
          </a:xfrm>
          <a:prstGeom prst="rect">
            <a:avLst/>
          </a:prstGeom>
          <a:solidFill>
            <a:schemeClr val="accent1">
              <a:lumMod val="20000"/>
              <a:lumOff val="80000"/>
            </a:schemeClr>
          </a:solidFill>
          <a:effectLst>
            <a:outerShdw blurRad="76200" dir="13500000" sy="23000" kx="1200000" algn="br" rotWithShape="0">
              <a:prstClr val="black">
                <a:alpha val="20000"/>
              </a:prstClr>
            </a:outerShdw>
          </a:effectLst>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rPr>
              <a:t>Today</a:t>
            </a:r>
          </a:p>
          <a:p>
            <a:pPr algn="ctr"/>
            <a:r>
              <a:rPr lang="en-US" sz="1600">
                <a:solidFill>
                  <a:schemeClr val="tx1"/>
                </a:solidFill>
              </a:rPr>
              <a:t>(Immediate Upside)</a:t>
            </a:r>
          </a:p>
        </p:txBody>
      </p:sp>
      <p:sp>
        <p:nvSpPr>
          <p:cNvPr id="6" name="Rectangle 5">
            <a:extLst>
              <a:ext uri="{FF2B5EF4-FFF2-40B4-BE49-F238E27FC236}">
                <a16:creationId xmlns:a16="http://schemas.microsoft.com/office/drawing/2014/main" id="{5B268DC0-8D95-8A5F-C9DB-4CB9F769EB4A}"/>
              </a:ext>
            </a:extLst>
          </p:cNvPr>
          <p:cNvSpPr/>
          <p:nvPr/>
        </p:nvSpPr>
        <p:spPr>
          <a:xfrm>
            <a:off x="7648795" y="2083477"/>
            <a:ext cx="2627697" cy="808523"/>
          </a:xfrm>
          <a:prstGeom prst="rect">
            <a:avLst/>
          </a:prstGeom>
          <a:solidFill>
            <a:schemeClr val="tx2">
              <a:lumMod val="90000"/>
              <a:lumOff val="10000"/>
            </a:schemeClr>
          </a:solidFill>
          <a:effectLst>
            <a:outerShdw blurRad="76200" dir="13500000" sy="23000" kx="1200000" algn="br" rotWithShape="0">
              <a:prstClr val="black">
                <a:alpha val="20000"/>
              </a:prstClr>
            </a:outerShdw>
          </a:effectLst>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bg1"/>
                </a:solidFill>
              </a:rPr>
              <a:t>Tomorrow</a:t>
            </a:r>
          </a:p>
          <a:p>
            <a:pPr algn="ctr"/>
            <a:r>
              <a:rPr lang="en-US" sz="1600">
                <a:solidFill>
                  <a:schemeClr val="bg1"/>
                </a:solidFill>
              </a:rPr>
              <a:t>(Long Term Focus)</a:t>
            </a:r>
          </a:p>
        </p:txBody>
      </p:sp>
      <p:sp>
        <p:nvSpPr>
          <p:cNvPr id="9" name="TextBox 8">
            <a:extLst>
              <a:ext uri="{FF2B5EF4-FFF2-40B4-BE49-F238E27FC236}">
                <a16:creationId xmlns:a16="http://schemas.microsoft.com/office/drawing/2014/main" id="{771D1253-EA67-8CDB-B9BB-904A47186F25}"/>
              </a:ext>
            </a:extLst>
          </p:cNvPr>
          <p:cNvSpPr txBox="1"/>
          <p:nvPr/>
        </p:nvSpPr>
        <p:spPr>
          <a:xfrm>
            <a:off x="6096000" y="3047766"/>
            <a:ext cx="5733288" cy="2865528"/>
          </a:xfrm>
          <a:prstGeom prst="rect">
            <a:avLst/>
          </a:prstGeom>
          <a:noFill/>
        </p:spPr>
        <p:txBody>
          <a:bodyPr wrap="square">
            <a:spAutoFit/>
          </a:bodyPr>
          <a:lstStyle/>
          <a:p>
            <a:pPr marL="285750" marR="0" indent="-285750" algn="just">
              <a:lnSpc>
                <a:spcPct val="115000"/>
              </a:lnSpc>
              <a:spcAft>
                <a:spcPts val="800"/>
              </a:spcAft>
              <a:buSzPct val="60000"/>
              <a:buFont typeface="Wingdings" panose="05000000000000000000" pitchFamily="2" charset="2"/>
              <a:buChar char="q"/>
            </a:pPr>
            <a:r>
              <a:rPr lang="en-US" sz="1400" kern="100">
                <a:effectLst/>
                <a:ea typeface="Calibri" panose="020F0502020204030204" pitchFamily="34" charset="0"/>
                <a:cs typeface="Times New Roman" panose="02020603050405020304" pitchFamily="18" charset="0"/>
              </a:rPr>
              <a:t>From a longer-term and strategic perspective, there is </a:t>
            </a:r>
            <a:r>
              <a:rPr lang="en-US" sz="1400" b="1" kern="100">
                <a:effectLst/>
                <a:ea typeface="Calibri" panose="020F0502020204030204" pitchFamily="34" charset="0"/>
                <a:cs typeface="Times New Roman" panose="02020603050405020304" pitchFamily="18" charset="0"/>
              </a:rPr>
              <a:t>an increasing risk for the enlarged </a:t>
            </a:r>
            <a:r>
              <a:rPr lang="en-US" sz="1400" b="1" kern="100" err="1">
                <a:effectLst/>
                <a:ea typeface="Calibri" panose="020F0502020204030204" pitchFamily="34" charset="0"/>
                <a:cs typeface="Times New Roman" panose="02020603050405020304" pitchFamily="18" charset="0"/>
              </a:rPr>
              <a:t>Inta</a:t>
            </a:r>
            <a:r>
              <a:rPr lang="en-US" sz="1400" b="1" kern="100">
                <a:effectLst/>
                <a:ea typeface="Calibri" panose="020F0502020204030204" pitchFamily="34" charset="0"/>
                <a:cs typeface="Times New Roman" panose="02020603050405020304" pitchFamily="18" charset="0"/>
              </a:rPr>
              <a:t> Bina group in securing external residential projects from third-party developers.</a:t>
            </a:r>
          </a:p>
          <a:p>
            <a:pPr marL="285750" marR="0" indent="-285750" algn="just">
              <a:lnSpc>
                <a:spcPct val="115000"/>
              </a:lnSpc>
              <a:spcAft>
                <a:spcPts val="800"/>
              </a:spcAft>
              <a:buSzPct val="60000"/>
              <a:buFont typeface="Wingdings" panose="05000000000000000000" pitchFamily="2" charset="2"/>
              <a:buChar char="q"/>
            </a:pPr>
            <a:r>
              <a:rPr lang="en-US" sz="1400" kern="100">
                <a:effectLst/>
                <a:ea typeface="Calibri" panose="020F0502020204030204" pitchFamily="34" charset="0"/>
                <a:cs typeface="Times New Roman" panose="02020603050405020304" pitchFamily="18" charset="0"/>
              </a:rPr>
              <a:t>This risk arises because </a:t>
            </a:r>
            <a:r>
              <a:rPr lang="en-US" sz="1400" kern="100" err="1">
                <a:effectLst/>
                <a:ea typeface="Calibri" panose="020F0502020204030204" pitchFamily="34" charset="0"/>
                <a:cs typeface="Times New Roman" panose="02020603050405020304" pitchFamily="18" charset="0"/>
              </a:rPr>
              <a:t>Inta</a:t>
            </a:r>
            <a:r>
              <a:rPr lang="en-US" sz="1400" kern="100">
                <a:effectLst/>
                <a:ea typeface="Calibri" panose="020F0502020204030204" pitchFamily="34" charset="0"/>
                <a:cs typeface="Times New Roman" panose="02020603050405020304" pitchFamily="18" charset="0"/>
              </a:rPr>
              <a:t> Bina will be associated with OSK Group, which has a significant presence in property development.</a:t>
            </a:r>
          </a:p>
          <a:p>
            <a:pPr marL="285750" marR="0" indent="-285750" algn="just">
              <a:lnSpc>
                <a:spcPct val="115000"/>
              </a:lnSpc>
              <a:spcAft>
                <a:spcPts val="800"/>
              </a:spcAft>
              <a:buSzPct val="60000"/>
              <a:buFont typeface="Wingdings" panose="05000000000000000000" pitchFamily="2" charset="2"/>
              <a:buChar char="q"/>
            </a:pPr>
            <a:r>
              <a:rPr lang="en-US" sz="1400" kern="100">
                <a:effectLst/>
                <a:ea typeface="Calibri" panose="020F0502020204030204" pitchFamily="34" charset="0"/>
                <a:cs typeface="Times New Roman" panose="02020603050405020304" pitchFamily="18" charset="0"/>
              </a:rPr>
              <a:t>We observed that construction arms of property developers focus on serving in-house residential projects. </a:t>
            </a:r>
            <a:r>
              <a:rPr lang="en-US" sz="1400" b="1" kern="100">
                <a:effectLst/>
                <a:ea typeface="Calibri" panose="020F0502020204030204" pitchFamily="34" charset="0"/>
                <a:cs typeface="Times New Roman" panose="02020603050405020304" pitchFamily="18" charset="0"/>
              </a:rPr>
              <a:t>External orderbooks are usually built in industrial, infrastructure, and commercial segments rather than residential (refer Appendix 1)</a:t>
            </a:r>
          </a:p>
          <a:p>
            <a:pPr marR="0" algn="just">
              <a:lnSpc>
                <a:spcPct val="115000"/>
              </a:lnSpc>
              <a:spcAft>
                <a:spcPts val="800"/>
              </a:spcAft>
              <a:buSzPct val="60000"/>
            </a:pPr>
            <a:endParaRPr lang="en-US" sz="1400" kern="100">
              <a:effectLs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6F5EAB5-BD3D-524B-91E8-CF82EB6EB5C0}"/>
              </a:ext>
            </a:extLst>
          </p:cNvPr>
          <p:cNvSpPr txBox="1"/>
          <p:nvPr/>
        </p:nvSpPr>
        <p:spPr>
          <a:xfrm>
            <a:off x="524417" y="2978899"/>
            <a:ext cx="5126656" cy="3010696"/>
          </a:xfrm>
          <a:prstGeom prst="rect">
            <a:avLst/>
          </a:prstGeom>
          <a:noFill/>
        </p:spPr>
        <p:txBody>
          <a:bodyPr wrap="square">
            <a:spAutoFit/>
          </a:bodyPr>
          <a:lstStyle/>
          <a:p>
            <a:pPr marL="285750" indent="-285750" algn="just">
              <a:lnSpc>
                <a:spcPct val="115000"/>
              </a:lnSpc>
              <a:spcAft>
                <a:spcPts val="800"/>
              </a:spcAft>
              <a:buSzPct val="60000"/>
              <a:buFont typeface="Wingdings" panose="05000000000000000000" pitchFamily="2" charset="2"/>
              <a:buChar char="q"/>
            </a:pPr>
            <a:r>
              <a:rPr lang="en-US" sz="1400" b="1"/>
              <a:t>Enhanced operational efficiency and margin capture</a:t>
            </a:r>
            <a:r>
              <a:rPr lang="en-US" sz="1400"/>
              <a:t> – Integrates the acquired group’s projects into existing operations, reducing reliance on third-party contractors and retaining full project margins.</a:t>
            </a:r>
          </a:p>
          <a:p>
            <a:pPr marL="285750" indent="-285750" algn="just">
              <a:lnSpc>
                <a:spcPct val="115000"/>
              </a:lnSpc>
              <a:spcAft>
                <a:spcPts val="8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Economies of scale</a:t>
            </a:r>
            <a:r>
              <a:rPr lang="en-US" sz="1400" kern="100">
                <a:effectLst/>
                <a:ea typeface="Calibri" panose="020F0502020204030204" pitchFamily="34" charset="0"/>
                <a:cs typeface="Times New Roman" panose="02020603050405020304" pitchFamily="18" charset="0"/>
              </a:rPr>
              <a:t> – Shared resources (equipment, workforce, procurement) reduce unit costs and improve efficiency.</a:t>
            </a:r>
          </a:p>
          <a:p>
            <a:pPr marL="285750" marR="0" indent="-285750" algn="just">
              <a:lnSpc>
                <a:spcPct val="115000"/>
              </a:lnSpc>
              <a:spcAft>
                <a:spcPts val="8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Earnings accretion potential</a:t>
            </a:r>
            <a:r>
              <a:rPr lang="en-US" sz="1400" kern="100">
                <a:effectLst/>
                <a:ea typeface="Calibri" panose="020F0502020204030204" pitchFamily="34" charset="0"/>
                <a:cs typeface="Times New Roman" panose="02020603050405020304" pitchFamily="18" charset="0"/>
              </a:rPr>
              <a:t> – Given that OSK Group trades at a higher P/E multiple (9.27x) relative to </a:t>
            </a:r>
            <a:r>
              <a:rPr lang="en-US" sz="1400" kern="100" err="1">
                <a:effectLst/>
                <a:ea typeface="Calibri" panose="020F0502020204030204" pitchFamily="34" charset="0"/>
                <a:cs typeface="Times New Roman" panose="02020603050405020304" pitchFamily="18" charset="0"/>
              </a:rPr>
              <a:t>Inta</a:t>
            </a:r>
            <a:r>
              <a:rPr lang="en-US" sz="1400" kern="100">
                <a:effectLst/>
                <a:ea typeface="Calibri" panose="020F0502020204030204" pitchFamily="34" charset="0"/>
                <a:cs typeface="Times New Roman" panose="02020603050405020304" pitchFamily="18" charset="0"/>
              </a:rPr>
              <a:t> Bina, the transaction presents potential earnings uplift through valuation arbitrage.</a:t>
            </a:r>
          </a:p>
        </p:txBody>
      </p:sp>
      <p:sp>
        <p:nvSpPr>
          <p:cNvPr id="15" name="TextBox 14">
            <a:extLst>
              <a:ext uri="{FF2B5EF4-FFF2-40B4-BE49-F238E27FC236}">
                <a16:creationId xmlns:a16="http://schemas.microsoft.com/office/drawing/2014/main" id="{85455DB3-3211-606F-DC48-86A6BEE68BC6}"/>
              </a:ext>
            </a:extLst>
          </p:cNvPr>
          <p:cNvSpPr txBox="1"/>
          <p:nvPr/>
        </p:nvSpPr>
        <p:spPr>
          <a:xfrm>
            <a:off x="605029" y="5985646"/>
            <a:ext cx="5046044" cy="738664"/>
          </a:xfrm>
          <a:prstGeom prst="rect">
            <a:avLst/>
          </a:prstGeom>
          <a:solidFill>
            <a:schemeClr val="bg2"/>
          </a:solidFill>
        </p:spPr>
        <p:txBody>
          <a:bodyPr wrap="square">
            <a:spAutoFit/>
          </a:bodyPr>
          <a:lstStyle/>
          <a:p>
            <a:pPr algn="just"/>
            <a:r>
              <a:rPr lang="en-US" sz="1400" b="1" i="1">
                <a:solidFill>
                  <a:srgbClr val="000000"/>
                </a:solidFill>
              </a:rPr>
              <a:t>Point to Note : </a:t>
            </a:r>
            <a:r>
              <a:rPr lang="en-US" sz="1400" i="1">
                <a:solidFill>
                  <a:srgbClr val="000000"/>
                </a:solidFill>
              </a:rPr>
              <a:t>To determine the potential erosion to OSK Property (</a:t>
            </a:r>
            <a:r>
              <a:rPr lang="en-US" sz="1400" i="1" err="1">
                <a:solidFill>
                  <a:srgbClr val="000000"/>
                </a:solidFill>
              </a:rPr>
              <a:t>PropDev</a:t>
            </a:r>
            <a:r>
              <a:rPr lang="en-US" sz="1400" i="1">
                <a:solidFill>
                  <a:srgbClr val="000000"/>
                </a:solidFill>
              </a:rPr>
              <a:t>) margin once the construction work is no longer done by “in house” group</a:t>
            </a:r>
            <a:endParaRPr lang="en-US" sz="1400" i="1"/>
          </a:p>
        </p:txBody>
      </p:sp>
    </p:spTree>
    <p:extLst>
      <p:ext uri="{BB962C8B-B14F-4D97-AF65-F5344CB8AC3E}">
        <p14:creationId xmlns:p14="http://schemas.microsoft.com/office/powerpoint/2010/main" val="344459004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ED792-AE6F-E285-7F68-CC9B9365FCF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78A3965-C52E-D56D-DE7F-9E274645EEBF}"/>
              </a:ext>
            </a:extLst>
          </p:cNvPr>
          <p:cNvSpPr/>
          <p:nvPr/>
        </p:nvSpPr>
        <p:spPr>
          <a:xfrm>
            <a:off x="7467600" y="2464436"/>
            <a:ext cx="4563308" cy="4174108"/>
          </a:xfrm>
          <a:prstGeom prst="rect">
            <a:avLst/>
          </a:prstGeom>
          <a:solidFill>
            <a:srgbClr val="F8F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81AF6827-E25F-AB1D-5107-DDE6003A4A23}"/>
              </a:ext>
            </a:extLst>
          </p:cNvPr>
          <p:cNvSpPr/>
          <p:nvPr/>
        </p:nvSpPr>
        <p:spPr>
          <a:xfrm>
            <a:off x="284842" y="860020"/>
            <a:ext cx="11746066" cy="1471116"/>
          </a:xfrm>
          <a:prstGeom prst="rect">
            <a:avLst/>
          </a:prstGeom>
          <a:solidFill>
            <a:schemeClr val="tx2">
              <a:lumMod val="10000"/>
              <a:lumOff val="90000"/>
            </a:schemeClr>
          </a:solidFill>
          <a:effectLst>
            <a:innerShdw blurRad="114300">
              <a:prstClr val="black"/>
            </a:innerShdw>
          </a:effectLst>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FC22D9-DECF-7772-30D5-529D506A9DD3}"/>
              </a:ext>
            </a:extLst>
          </p:cNvPr>
          <p:cNvSpPr txBox="1"/>
          <p:nvPr/>
        </p:nvSpPr>
        <p:spPr>
          <a:xfrm>
            <a:off x="274320" y="219456"/>
            <a:ext cx="12346305" cy="646331"/>
          </a:xfrm>
          <a:prstGeom prst="rect">
            <a:avLst/>
          </a:prstGeom>
          <a:noFill/>
        </p:spPr>
        <p:txBody>
          <a:bodyPr wrap="square" rtlCol="0">
            <a:spAutoFit/>
          </a:bodyPr>
          <a:lstStyle/>
          <a:p>
            <a:r>
              <a:rPr lang="en-US" sz="3600" b="1"/>
              <a:t>Recommendation &amp; Long-Term Consideration</a:t>
            </a:r>
            <a:endParaRPr lang="en-MY" sz="3600" b="1"/>
          </a:p>
        </p:txBody>
      </p:sp>
      <p:sp>
        <p:nvSpPr>
          <p:cNvPr id="2" name="Slide Number Placeholder 2">
            <a:extLst>
              <a:ext uri="{FF2B5EF4-FFF2-40B4-BE49-F238E27FC236}">
                <a16:creationId xmlns:a16="http://schemas.microsoft.com/office/drawing/2014/main" id="{11A0E321-1C24-AF12-BE23-96A5CA66F6AA}"/>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10</a:t>
            </a:fld>
            <a:endParaRPr lang="en-US" sz="1200">
              <a:solidFill>
                <a:schemeClr val="tx2">
                  <a:lumMod val="95000"/>
                  <a:lumOff val="5000"/>
                </a:schemeClr>
              </a:solidFill>
              <a:latin typeface="Aptos" panose="020B0004020202020204" pitchFamily="34" charset="0"/>
            </a:endParaRPr>
          </a:p>
        </p:txBody>
      </p:sp>
      <p:sp>
        <p:nvSpPr>
          <p:cNvPr id="3" name="TextBox 2">
            <a:extLst>
              <a:ext uri="{FF2B5EF4-FFF2-40B4-BE49-F238E27FC236}">
                <a16:creationId xmlns:a16="http://schemas.microsoft.com/office/drawing/2014/main" id="{316303DD-4814-C826-D892-09FC7C1E92B5}"/>
              </a:ext>
            </a:extLst>
          </p:cNvPr>
          <p:cNvSpPr txBox="1"/>
          <p:nvPr/>
        </p:nvSpPr>
        <p:spPr>
          <a:xfrm>
            <a:off x="357680" y="865787"/>
            <a:ext cx="9178948" cy="369332"/>
          </a:xfrm>
          <a:prstGeom prst="rect">
            <a:avLst/>
          </a:prstGeom>
          <a:noFill/>
        </p:spPr>
        <p:txBody>
          <a:bodyPr wrap="square">
            <a:spAutoFit/>
          </a:bodyPr>
          <a:lstStyle/>
          <a:p>
            <a:r>
              <a:rPr lang="en-US" sz="1800" b="1" u="sng">
                <a:solidFill>
                  <a:srgbClr val="000000"/>
                </a:solidFill>
              </a:rPr>
              <a:t>Strategic Consideration Moving Forward</a:t>
            </a:r>
            <a:endParaRPr lang="en-MY" u="sng"/>
          </a:p>
        </p:txBody>
      </p:sp>
      <p:sp>
        <p:nvSpPr>
          <p:cNvPr id="5" name="Rectangle 4">
            <a:extLst>
              <a:ext uri="{FF2B5EF4-FFF2-40B4-BE49-F238E27FC236}">
                <a16:creationId xmlns:a16="http://schemas.microsoft.com/office/drawing/2014/main" id="{3C4C766D-DCE3-683B-A7D1-49710933E9C0}"/>
              </a:ext>
            </a:extLst>
          </p:cNvPr>
          <p:cNvSpPr/>
          <p:nvPr/>
        </p:nvSpPr>
        <p:spPr>
          <a:xfrm>
            <a:off x="427514" y="1278842"/>
            <a:ext cx="2353786" cy="857089"/>
          </a:xfrm>
          <a:prstGeom prst="rect">
            <a:avLst/>
          </a:prstGeom>
          <a:solidFill>
            <a:srgbClr val="002060"/>
          </a:solidFill>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MY" sz="1600" b="1"/>
              <a:t>Maintain OSK Construction  (Residential)</a:t>
            </a:r>
          </a:p>
        </p:txBody>
      </p:sp>
      <p:sp>
        <p:nvSpPr>
          <p:cNvPr id="8" name="Rectangle 7">
            <a:extLst>
              <a:ext uri="{FF2B5EF4-FFF2-40B4-BE49-F238E27FC236}">
                <a16:creationId xmlns:a16="http://schemas.microsoft.com/office/drawing/2014/main" id="{B87FE4D7-16C6-56B5-C2F3-F9D16053A205}"/>
              </a:ext>
            </a:extLst>
          </p:cNvPr>
          <p:cNvSpPr/>
          <p:nvPr/>
        </p:nvSpPr>
        <p:spPr>
          <a:xfrm>
            <a:off x="3355651" y="1288745"/>
            <a:ext cx="3007049" cy="853492"/>
          </a:xfrm>
          <a:prstGeom prst="rect">
            <a:avLst/>
          </a:prstGeom>
          <a:solidFill>
            <a:srgbClr val="002060"/>
          </a:solidFill>
          <a:scene3d>
            <a:camera prst="orthographicFront"/>
            <a:lightRig rig="threePt" dir="t"/>
          </a:scene3d>
          <a:sp3d>
            <a:bevelT/>
          </a:sp3d>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MY" sz="1600" b="1"/>
              <a:t>Develop Non-Residential Capabilities (Organic / M&amp;A)</a:t>
            </a:r>
          </a:p>
        </p:txBody>
      </p:sp>
      <p:sp>
        <p:nvSpPr>
          <p:cNvPr id="10" name="Arrow: Right 9">
            <a:extLst>
              <a:ext uri="{FF2B5EF4-FFF2-40B4-BE49-F238E27FC236}">
                <a16:creationId xmlns:a16="http://schemas.microsoft.com/office/drawing/2014/main" id="{BE6D4F00-0B7E-CE04-12BD-9CDE54512B0F}"/>
              </a:ext>
            </a:extLst>
          </p:cNvPr>
          <p:cNvSpPr/>
          <p:nvPr/>
        </p:nvSpPr>
        <p:spPr>
          <a:xfrm>
            <a:off x="3040047" y="1554140"/>
            <a:ext cx="219022" cy="26444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MY"/>
          </a:p>
        </p:txBody>
      </p:sp>
      <p:sp>
        <p:nvSpPr>
          <p:cNvPr id="33" name="Rectangle 32">
            <a:extLst>
              <a:ext uri="{FF2B5EF4-FFF2-40B4-BE49-F238E27FC236}">
                <a16:creationId xmlns:a16="http://schemas.microsoft.com/office/drawing/2014/main" id="{7AC86B04-209D-0085-6D9C-4D4CF76CFCED}"/>
              </a:ext>
            </a:extLst>
          </p:cNvPr>
          <p:cNvSpPr/>
          <p:nvPr/>
        </p:nvSpPr>
        <p:spPr>
          <a:xfrm>
            <a:off x="489721" y="3157476"/>
            <a:ext cx="2955332" cy="1408264"/>
          </a:xfrm>
          <a:prstGeom prst="rect">
            <a:avLst/>
          </a:prstGeom>
          <a:solidFill>
            <a:schemeClr val="accent6">
              <a:lumMod val="20000"/>
              <a:lumOff val="8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400" b="1" u="sng">
              <a:solidFill>
                <a:schemeClr val="tx1"/>
              </a:solidFill>
            </a:endParaRPr>
          </a:p>
          <a:p>
            <a:pPr algn="ctr"/>
            <a:r>
              <a:rPr lang="en-MY" sz="1400" b="1" u="sng">
                <a:solidFill>
                  <a:schemeClr val="tx1"/>
                </a:solidFill>
              </a:rPr>
              <a:t>Short-Term Upside</a:t>
            </a:r>
          </a:p>
          <a:p>
            <a:pPr algn="ctr"/>
            <a:r>
              <a:rPr lang="en-MY" sz="1400">
                <a:solidFill>
                  <a:schemeClr val="tx1"/>
                </a:solidFill>
              </a:rPr>
              <a:t>Earning accretive for OSK Construction</a:t>
            </a:r>
          </a:p>
        </p:txBody>
      </p:sp>
      <p:sp>
        <p:nvSpPr>
          <p:cNvPr id="34" name="Rectangle 33">
            <a:extLst>
              <a:ext uri="{FF2B5EF4-FFF2-40B4-BE49-F238E27FC236}">
                <a16:creationId xmlns:a16="http://schemas.microsoft.com/office/drawing/2014/main" id="{F027A8C5-3447-3BC5-6C2B-7AC3DEABF8AB}"/>
              </a:ext>
            </a:extLst>
          </p:cNvPr>
          <p:cNvSpPr/>
          <p:nvPr/>
        </p:nvSpPr>
        <p:spPr>
          <a:xfrm>
            <a:off x="503355" y="4949736"/>
            <a:ext cx="2952485" cy="1365061"/>
          </a:xfrm>
          <a:prstGeom prst="rect">
            <a:avLst/>
          </a:prstGeom>
          <a:solidFill>
            <a:schemeClr val="accent2">
              <a:lumMod val="20000"/>
              <a:lumOff val="8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400" b="1" u="sng">
              <a:solidFill>
                <a:schemeClr val="tx1"/>
              </a:solidFill>
            </a:endParaRPr>
          </a:p>
          <a:p>
            <a:pPr algn="ctr"/>
            <a:r>
              <a:rPr lang="en-MY" sz="1400" b="1" u="sng">
                <a:solidFill>
                  <a:schemeClr val="tx1"/>
                </a:solidFill>
              </a:rPr>
              <a:t>Short-Term Margin Risk</a:t>
            </a:r>
          </a:p>
          <a:p>
            <a:pPr algn="ctr"/>
            <a:r>
              <a:rPr lang="en-MY" sz="1400">
                <a:solidFill>
                  <a:schemeClr val="tx1"/>
                </a:solidFill>
              </a:rPr>
              <a:t>Potential Margin Dilution for OSK Property Dev.</a:t>
            </a:r>
          </a:p>
        </p:txBody>
      </p:sp>
      <p:sp>
        <p:nvSpPr>
          <p:cNvPr id="46" name="TextBox 45">
            <a:extLst>
              <a:ext uri="{FF2B5EF4-FFF2-40B4-BE49-F238E27FC236}">
                <a16:creationId xmlns:a16="http://schemas.microsoft.com/office/drawing/2014/main" id="{C2E797D5-0D45-1C0D-3F83-4476705ABA6C}"/>
              </a:ext>
            </a:extLst>
          </p:cNvPr>
          <p:cNvSpPr txBox="1"/>
          <p:nvPr/>
        </p:nvSpPr>
        <p:spPr>
          <a:xfrm>
            <a:off x="1263446" y="2400178"/>
            <a:ext cx="3139650" cy="369332"/>
          </a:xfrm>
          <a:prstGeom prst="rect">
            <a:avLst/>
          </a:prstGeom>
          <a:noFill/>
        </p:spPr>
        <p:txBody>
          <a:bodyPr wrap="square">
            <a:spAutoFit/>
          </a:bodyPr>
          <a:lstStyle/>
          <a:p>
            <a:r>
              <a:rPr lang="en-US" sz="1800" b="1" u="sng">
                <a:solidFill>
                  <a:srgbClr val="000000"/>
                </a:solidFill>
              </a:rPr>
              <a:t>Short-Term</a:t>
            </a:r>
          </a:p>
        </p:txBody>
      </p:sp>
      <p:sp>
        <p:nvSpPr>
          <p:cNvPr id="35" name="Oval 34">
            <a:extLst>
              <a:ext uri="{FF2B5EF4-FFF2-40B4-BE49-F238E27FC236}">
                <a16:creationId xmlns:a16="http://schemas.microsoft.com/office/drawing/2014/main" id="{636E92DB-2F72-FCE1-4AE5-18D6F2BE6402}"/>
              </a:ext>
            </a:extLst>
          </p:cNvPr>
          <p:cNvSpPr/>
          <p:nvPr/>
        </p:nvSpPr>
        <p:spPr>
          <a:xfrm>
            <a:off x="3555848" y="2802819"/>
            <a:ext cx="2097573" cy="2097573"/>
          </a:xfrm>
          <a:prstGeom prst="ellipse">
            <a:avLst/>
          </a:prstGeom>
          <a:solidFill>
            <a:schemeClr val="accent2">
              <a:lumMod val="60000"/>
              <a:lumOff val="40000"/>
              <a:alpha val="8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400"/>
          </a:p>
        </p:txBody>
      </p:sp>
      <p:sp>
        <p:nvSpPr>
          <p:cNvPr id="38" name="Oval 37">
            <a:extLst>
              <a:ext uri="{FF2B5EF4-FFF2-40B4-BE49-F238E27FC236}">
                <a16:creationId xmlns:a16="http://schemas.microsoft.com/office/drawing/2014/main" id="{1FFE2635-894B-E810-1B95-51FED55F4A02}"/>
              </a:ext>
            </a:extLst>
          </p:cNvPr>
          <p:cNvSpPr/>
          <p:nvPr/>
        </p:nvSpPr>
        <p:spPr>
          <a:xfrm>
            <a:off x="5189607" y="2768285"/>
            <a:ext cx="2097573" cy="2097573"/>
          </a:xfrm>
          <a:prstGeom prst="ellipse">
            <a:avLst/>
          </a:prstGeom>
          <a:solidFill>
            <a:schemeClr val="accent6">
              <a:lumMod val="60000"/>
              <a:lumOff val="40000"/>
              <a:alpha val="8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1400"/>
          </a:p>
        </p:txBody>
      </p:sp>
      <p:sp>
        <p:nvSpPr>
          <p:cNvPr id="39" name="TextBox 38">
            <a:extLst>
              <a:ext uri="{FF2B5EF4-FFF2-40B4-BE49-F238E27FC236}">
                <a16:creationId xmlns:a16="http://schemas.microsoft.com/office/drawing/2014/main" id="{4F188003-819F-9317-53FB-9DCA7C0702B7}"/>
              </a:ext>
            </a:extLst>
          </p:cNvPr>
          <p:cNvSpPr txBox="1"/>
          <p:nvPr/>
        </p:nvSpPr>
        <p:spPr>
          <a:xfrm>
            <a:off x="3706435" y="3377767"/>
            <a:ext cx="790537" cy="369332"/>
          </a:xfrm>
          <a:prstGeom prst="rect">
            <a:avLst/>
          </a:prstGeom>
          <a:noFill/>
        </p:spPr>
        <p:txBody>
          <a:bodyPr wrap="none" rtlCol="0">
            <a:spAutoFit/>
          </a:bodyPr>
          <a:lstStyle/>
          <a:p>
            <a:r>
              <a:rPr lang="en-MY" b="1"/>
              <a:t>OSKC</a:t>
            </a:r>
          </a:p>
        </p:txBody>
      </p:sp>
      <p:sp>
        <p:nvSpPr>
          <p:cNvPr id="40" name="TextBox 39">
            <a:extLst>
              <a:ext uri="{FF2B5EF4-FFF2-40B4-BE49-F238E27FC236}">
                <a16:creationId xmlns:a16="http://schemas.microsoft.com/office/drawing/2014/main" id="{2CECB0E0-1694-95F1-FFA7-368A16691E72}"/>
              </a:ext>
            </a:extLst>
          </p:cNvPr>
          <p:cNvSpPr txBox="1"/>
          <p:nvPr/>
        </p:nvSpPr>
        <p:spPr>
          <a:xfrm>
            <a:off x="6101699" y="3346158"/>
            <a:ext cx="1104470" cy="369332"/>
          </a:xfrm>
          <a:prstGeom prst="rect">
            <a:avLst/>
          </a:prstGeom>
          <a:noFill/>
        </p:spPr>
        <p:txBody>
          <a:bodyPr wrap="none" rtlCol="0">
            <a:spAutoFit/>
          </a:bodyPr>
          <a:lstStyle/>
          <a:p>
            <a:r>
              <a:rPr lang="en-MY" b="1" err="1"/>
              <a:t>Inta</a:t>
            </a:r>
            <a:r>
              <a:rPr lang="en-MY" b="1"/>
              <a:t> Bina</a:t>
            </a:r>
          </a:p>
        </p:txBody>
      </p:sp>
      <p:sp>
        <p:nvSpPr>
          <p:cNvPr id="41" name="TextBox 40">
            <a:extLst>
              <a:ext uri="{FF2B5EF4-FFF2-40B4-BE49-F238E27FC236}">
                <a16:creationId xmlns:a16="http://schemas.microsoft.com/office/drawing/2014/main" id="{684557E2-8DDA-5983-44A7-E95F78CFA671}"/>
              </a:ext>
            </a:extLst>
          </p:cNvPr>
          <p:cNvSpPr txBox="1"/>
          <p:nvPr/>
        </p:nvSpPr>
        <p:spPr>
          <a:xfrm>
            <a:off x="3721104" y="3756238"/>
            <a:ext cx="1303247" cy="523220"/>
          </a:xfrm>
          <a:prstGeom prst="rect">
            <a:avLst/>
          </a:prstGeom>
          <a:noFill/>
        </p:spPr>
        <p:txBody>
          <a:bodyPr wrap="square" rtlCol="0">
            <a:spAutoFit/>
          </a:bodyPr>
          <a:lstStyle/>
          <a:p>
            <a:r>
              <a:rPr lang="en-MY" sz="1400" i="1"/>
              <a:t>Internal Focus Residential</a:t>
            </a:r>
          </a:p>
        </p:txBody>
      </p:sp>
      <p:sp>
        <p:nvSpPr>
          <p:cNvPr id="42" name="TextBox 41">
            <a:extLst>
              <a:ext uri="{FF2B5EF4-FFF2-40B4-BE49-F238E27FC236}">
                <a16:creationId xmlns:a16="http://schemas.microsoft.com/office/drawing/2014/main" id="{6D9355F5-A1E5-71CC-E56F-F5E7BDAC250B}"/>
              </a:ext>
            </a:extLst>
          </p:cNvPr>
          <p:cNvSpPr txBox="1"/>
          <p:nvPr/>
        </p:nvSpPr>
        <p:spPr>
          <a:xfrm>
            <a:off x="5546001" y="3761281"/>
            <a:ext cx="1690269" cy="523220"/>
          </a:xfrm>
          <a:prstGeom prst="rect">
            <a:avLst/>
          </a:prstGeom>
          <a:noFill/>
        </p:spPr>
        <p:txBody>
          <a:bodyPr wrap="square" rtlCol="0">
            <a:spAutoFit/>
          </a:bodyPr>
          <a:lstStyle/>
          <a:p>
            <a:pPr algn="r"/>
            <a:r>
              <a:rPr lang="en-MY" sz="1400" i="1"/>
              <a:t>External Focus – Residential Focus</a:t>
            </a:r>
          </a:p>
        </p:txBody>
      </p:sp>
      <p:sp>
        <p:nvSpPr>
          <p:cNvPr id="48" name="Oval 47">
            <a:extLst>
              <a:ext uri="{FF2B5EF4-FFF2-40B4-BE49-F238E27FC236}">
                <a16:creationId xmlns:a16="http://schemas.microsoft.com/office/drawing/2014/main" id="{04C93736-DB56-267D-98EC-DAC9702140DE}"/>
              </a:ext>
            </a:extLst>
          </p:cNvPr>
          <p:cNvSpPr/>
          <p:nvPr/>
        </p:nvSpPr>
        <p:spPr>
          <a:xfrm>
            <a:off x="5169231" y="3159544"/>
            <a:ext cx="482432" cy="1343571"/>
          </a:xfrm>
          <a:custGeom>
            <a:avLst/>
            <a:gdLst>
              <a:gd name="csX0" fmla="*/ 0 w 411297"/>
              <a:gd name="csY0" fmla="*/ 673145 h 1346290"/>
              <a:gd name="csX1" fmla="*/ 205649 w 411297"/>
              <a:gd name="csY1" fmla="*/ 0 h 1346290"/>
              <a:gd name="csX2" fmla="*/ 411298 w 411297"/>
              <a:gd name="csY2" fmla="*/ 673145 h 1346290"/>
              <a:gd name="csX3" fmla="*/ 205649 w 411297"/>
              <a:gd name="csY3" fmla="*/ 1346290 h 1346290"/>
              <a:gd name="csX4" fmla="*/ 0 w 411297"/>
              <a:gd name="csY4" fmla="*/ 673145 h 1346290"/>
              <a:gd name="csX0" fmla="*/ 0 w 439873"/>
              <a:gd name="csY0" fmla="*/ 673145 h 1346290"/>
              <a:gd name="csX1" fmla="*/ 234224 w 439873"/>
              <a:gd name="csY1" fmla="*/ 0 h 1346290"/>
              <a:gd name="csX2" fmla="*/ 439873 w 439873"/>
              <a:gd name="csY2" fmla="*/ 673145 h 1346290"/>
              <a:gd name="csX3" fmla="*/ 234224 w 439873"/>
              <a:gd name="csY3" fmla="*/ 1346290 h 1346290"/>
              <a:gd name="csX4" fmla="*/ 0 w 439873"/>
              <a:gd name="csY4" fmla="*/ 673145 h 1346290"/>
              <a:gd name="csX0" fmla="*/ 0 w 454161"/>
              <a:gd name="csY0" fmla="*/ 673320 h 1346614"/>
              <a:gd name="csX1" fmla="*/ 234224 w 454161"/>
              <a:gd name="csY1" fmla="*/ 175 h 1346614"/>
              <a:gd name="csX2" fmla="*/ 454161 w 454161"/>
              <a:gd name="csY2" fmla="*/ 625695 h 1346614"/>
              <a:gd name="csX3" fmla="*/ 234224 w 454161"/>
              <a:gd name="csY3" fmla="*/ 1346465 h 1346614"/>
              <a:gd name="csX4" fmla="*/ 0 w 454161"/>
              <a:gd name="csY4" fmla="*/ 673320 h 1346614"/>
              <a:gd name="csX0" fmla="*/ 0 w 454161"/>
              <a:gd name="csY0" fmla="*/ 673320 h 1294189"/>
              <a:gd name="csX1" fmla="*/ 234224 w 454161"/>
              <a:gd name="csY1" fmla="*/ 175 h 1294189"/>
              <a:gd name="csX2" fmla="*/ 454161 w 454161"/>
              <a:gd name="csY2" fmla="*/ 625695 h 1294189"/>
              <a:gd name="csX3" fmla="*/ 234224 w 454161"/>
              <a:gd name="csY3" fmla="*/ 1294077 h 1294189"/>
              <a:gd name="csX4" fmla="*/ 0 w 454161"/>
              <a:gd name="csY4" fmla="*/ 673320 h 1294189"/>
              <a:gd name="csX0" fmla="*/ 2 w 454163"/>
              <a:gd name="csY0" fmla="*/ 559149 h 1180013"/>
              <a:gd name="csX1" fmla="*/ 238988 w 454163"/>
              <a:gd name="csY1" fmla="*/ 304 h 1180013"/>
              <a:gd name="csX2" fmla="*/ 454163 w 454163"/>
              <a:gd name="csY2" fmla="*/ 511524 h 1180013"/>
              <a:gd name="csX3" fmla="*/ 234226 w 454163"/>
              <a:gd name="csY3" fmla="*/ 1179906 h 1180013"/>
              <a:gd name="csX4" fmla="*/ 2 w 454163"/>
              <a:gd name="csY4" fmla="*/ 559149 h 1180013"/>
              <a:gd name="csX0" fmla="*/ 0 w 454161"/>
              <a:gd name="csY0" fmla="*/ 687598 h 1308468"/>
              <a:gd name="csX1" fmla="*/ 234223 w 454161"/>
              <a:gd name="csY1" fmla="*/ 166 h 1308468"/>
              <a:gd name="csX2" fmla="*/ 454161 w 454161"/>
              <a:gd name="csY2" fmla="*/ 639973 h 1308468"/>
              <a:gd name="csX3" fmla="*/ 234224 w 454161"/>
              <a:gd name="csY3" fmla="*/ 1308355 h 1308468"/>
              <a:gd name="csX4" fmla="*/ 0 w 454161"/>
              <a:gd name="csY4" fmla="*/ 687598 h 1308468"/>
              <a:gd name="csX0" fmla="*/ 0 w 454161"/>
              <a:gd name="csY0" fmla="*/ 734763 h 1355633"/>
              <a:gd name="csX1" fmla="*/ 234223 w 454161"/>
              <a:gd name="csY1" fmla="*/ 47331 h 1355633"/>
              <a:gd name="csX2" fmla="*/ 454161 w 454161"/>
              <a:gd name="csY2" fmla="*/ 687138 h 1355633"/>
              <a:gd name="csX3" fmla="*/ 234224 w 454161"/>
              <a:gd name="csY3" fmla="*/ 1355520 h 1355633"/>
              <a:gd name="csX4" fmla="*/ 0 w 454161"/>
              <a:gd name="csY4" fmla="*/ 734763 h 1355633"/>
              <a:gd name="csX0" fmla="*/ 0 w 454161"/>
              <a:gd name="csY0" fmla="*/ 691312 h 1312182"/>
              <a:gd name="csX1" fmla="*/ 234223 w 454161"/>
              <a:gd name="csY1" fmla="*/ 3880 h 1312182"/>
              <a:gd name="csX2" fmla="*/ 454161 w 454161"/>
              <a:gd name="csY2" fmla="*/ 643687 h 1312182"/>
              <a:gd name="csX3" fmla="*/ 234224 w 454161"/>
              <a:gd name="csY3" fmla="*/ 1312069 h 1312182"/>
              <a:gd name="csX4" fmla="*/ 0 w 454161"/>
              <a:gd name="csY4" fmla="*/ 691312 h 1312182"/>
              <a:gd name="csX0" fmla="*/ 0 w 451780"/>
              <a:gd name="csY0" fmla="*/ 538038 h 1309479"/>
              <a:gd name="csX1" fmla="*/ 231842 w 451780"/>
              <a:gd name="csY1" fmla="*/ 625 h 1309479"/>
              <a:gd name="csX2" fmla="*/ 451780 w 451780"/>
              <a:gd name="csY2" fmla="*/ 640432 h 1309479"/>
              <a:gd name="csX3" fmla="*/ 231843 w 451780"/>
              <a:gd name="csY3" fmla="*/ 1308814 h 1309479"/>
              <a:gd name="csX4" fmla="*/ 0 w 451780"/>
              <a:gd name="csY4" fmla="*/ 538038 h 1309479"/>
              <a:gd name="csX0" fmla="*/ 0 w 444636"/>
              <a:gd name="csY0" fmla="*/ 568656 h 1308809"/>
              <a:gd name="csX1" fmla="*/ 224698 w 444636"/>
              <a:gd name="csY1" fmla="*/ 287 h 1308809"/>
              <a:gd name="csX2" fmla="*/ 444636 w 444636"/>
              <a:gd name="csY2" fmla="*/ 640094 h 1308809"/>
              <a:gd name="csX3" fmla="*/ 224699 w 444636"/>
              <a:gd name="csY3" fmla="*/ 1308476 h 1308809"/>
              <a:gd name="csX4" fmla="*/ 0 w 444636"/>
              <a:gd name="csY4" fmla="*/ 568656 h 1308809"/>
              <a:gd name="csX0" fmla="*/ 0 w 447017"/>
              <a:gd name="csY0" fmla="*/ 580470 h 1308618"/>
              <a:gd name="csX1" fmla="*/ 227079 w 447017"/>
              <a:gd name="csY1" fmla="*/ 195 h 1308618"/>
              <a:gd name="csX2" fmla="*/ 447017 w 447017"/>
              <a:gd name="csY2" fmla="*/ 640002 h 1308618"/>
              <a:gd name="csX3" fmla="*/ 227080 w 447017"/>
              <a:gd name="csY3" fmla="*/ 1308384 h 1308618"/>
              <a:gd name="csX4" fmla="*/ 0 w 447017"/>
              <a:gd name="csY4" fmla="*/ 580470 h 1308618"/>
              <a:gd name="csX0" fmla="*/ 0 w 458923"/>
              <a:gd name="csY0" fmla="*/ 580356 h 1308361"/>
              <a:gd name="csX1" fmla="*/ 227079 w 458923"/>
              <a:gd name="csY1" fmla="*/ 81 h 1308361"/>
              <a:gd name="csX2" fmla="*/ 458923 w 458923"/>
              <a:gd name="csY2" fmla="*/ 618457 h 1308361"/>
              <a:gd name="csX3" fmla="*/ 227080 w 458923"/>
              <a:gd name="csY3" fmla="*/ 1308270 h 1308361"/>
              <a:gd name="csX4" fmla="*/ 0 w 458923"/>
              <a:gd name="csY4" fmla="*/ 580356 h 1308361"/>
              <a:gd name="csX0" fmla="*/ 19 w 458942"/>
              <a:gd name="csY0" fmla="*/ 589879 h 1317884"/>
              <a:gd name="csX1" fmla="*/ 239004 w 458942"/>
              <a:gd name="csY1" fmla="*/ 79 h 1317884"/>
              <a:gd name="csX2" fmla="*/ 458942 w 458942"/>
              <a:gd name="csY2" fmla="*/ 627980 h 1317884"/>
              <a:gd name="csX3" fmla="*/ 227099 w 458942"/>
              <a:gd name="csY3" fmla="*/ 1317793 h 1317884"/>
              <a:gd name="csX4" fmla="*/ 19 w 458942"/>
              <a:gd name="csY4" fmla="*/ 589879 h 1317884"/>
              <a:gd name="csX0" fmla="*/ 19 w 439892"/>
              <a:gd name="csY0" fmla="*/ 590321 h 1318959"/>
              <a:gd name="csX1" fmla="*/ 239004 w 439892"/>
              <a:gd name="csY1" fmla="*/ 521 h 1318959"/>
              <a:gd name="csX2" fmla="*/ 439892 w 439892"/>
              <a:gd name="csY2" fmla="*/ 690334 h 1318959"/>
              <a:gd name="csX3" fmla="*/ 227099 w 439892"/>
              <a:gd name="csY3" fmla="*/ 1318235 h 1318959"/>
              <a:gd name="csX4" fmla="*/ 19 w 439892"/>
              <a:gd name="csY4" fmla="*/ 590321 h 1318959"/>
              <a:gd name="csX0" fmla="*/ 19 w 456560"/>
              <a:gd name="csY0" fmla="*/ 590321 h 1318959"/>
              <a:gd name="csX1" fmla="*/ 239004 w 456560"/>
              <a:gd name="csY1" fmla="*/ 521 h 1318959"/>
              <a:gd name="csX2" fmla="*/ 456560 w 456560"/>
              <a:gd name="csY2" fmla="*/ 690334 h 1318959"/>
              <a:gd name="csX3" fmla="*/ 227099 w 456560"/>
              <a:gd name="csY3" fmla="*/ 1318235 h 1318959"/>
              <a:gd name="csX4" fmla="*/ 19 w 456560"/>
              <a:gd name="csY4" fmla="*/ 590321 h 1318959"/>
              <a:gd name="csX0" fmla="*/ 17 w 468464"/>
              <a:gd name="csY0" fmla="*/ 604461 h 1318628"/>
              <a:gd name="csX1" fmla="*/ 250908 w 468464"/>
              <a:gd name="csY1" fmla="*/ 374 h 1318628"/>
              <a:gd name="csX2" fmla="*/ 468464 w 468464"/>
              <a:gd name="csY2" fmla="*/ 690187 h 1318628"/>
              <a:gd name="csX3" fmla="*/ 239003 w 468464"/>
              <a:gd name="csY3" fmla="*/ 1318088 h 1318628"/>
              <a:gd name="csX4" fmla="*/ 17 w 468464"/>
              <a:gd name="csY4" fmla="*/ 604461 h 1318628"/>
              <a:gd name="csX0" fmla="*/ 17 w 468464"/>
              <a:gd name="csY0" fmla="*/ 604385 h 1318429"/>
              <a:gd name="csX1" fmla="*/ 250908 w 468464"/>
              <a:gd name="csY1" fmla="*/ 298 h 1318429"/>
              <a:gd name="csX2" fmla="*/ 468464 w 468464"/>
              <a:gd name="csY2" fmla="*/ 680586 h 1318429"/>
              <a:gd name="csX3" fmla="*/ 239003 w 468464"/>
              <a:gd name="csY3" fmla="*/ 1318012 h 1318429"/>
              <a:gd name="csX4" fmla="*/ 17 w 468464"/>
              <a:gd name="csY4" fmla="*/ 604385 h 1318429"/>
              <a:gd name="csX0" fmla="*/ 17 w 468464"/>
              <a:gd name="csY0" fmla="*/ 604385 h 1318419"/>
              <a:gd name="csX1" fmla="*/ 250908 w 468464"/>
              <a:gd name="csY1" fmla="*/ 298 h 1318419"/>
              <a:gd name="csX2" fmla="*/ 468464 w 468464"/>
              <a:gd name="csY2" fmla="*/ 680586 h 1318419"/>
              <a:gd name="csX3" fmla="*/ 239003 w 468464"/>
              <a:gd name="csY3" fmla="*/ 1318012 h 1318419"/>
              <a:gd name="csX4" fmla="*/ 17 w 468464"/>
              <a:gd name="csY4" fmla="*/ 604385 h 1318419"/>
              <a:gd name="csX0" fmla="*/ 17 w 468464"/>
              <a:gd name="csY0" fmla="*/ 604385 h 1318419"/>
              <a:gd name="csX1" fmla="*/ 250908 w 468464"/>
              <a:gd name="csY1" fmla="*/ 298 h 1318419"/>
              <a:gd name="csX2" fmla="*/ 468464 w 468464"/>
              <a:gd name="csY2" fmla="*/ 680586 h 1318419"/>
              <a:gd name="csX3" fmla="*/ 239003 w 468464"/>
              <a:gd name="csY3" fmla="*/ 1318012 h 1318419"/>
              <a:gd name="csX4" fmla="*/ 17 w 468464"/>
              <a:gd name="csY4" fmla="*/ 604385 h 1318419"/>
              <a:gd name="csX0" fmla="*/ 17 w 468493"/>
              <a:gd name="csY0" fmla="*/ 604385 h 1318419"/>
              <a:gd name="csX1" fmla="*/ 250908 w 468493"/>
              <a:gd name="csY1" fmla="*/ 298 h 1318419"/>
              <a:gd name="csX2" fmla="*/ 468464 w 468493"/>
              <a:gd name="csY2" fmla="*/ 680586 h 1318419"/>
              <a:gd name="csX3" fmla="*/ 239003 w 468493"/>
              <a:gd name="csY3" fmla="*/ 1318012 h 1318419"/>
              <a:gd name="csX4" fmla="*/ 17 w 468493"/>
              <a:gd name="csY4" fmla="*/ 604385 h 1318419"/>
              <a:gd name="csX0" fmla="*/ 18 w 480398"/>
              <a:gd name="csY0" fmla="*/ 604206 h 1317982"/>
              <a:gd name="csX1" fmla="*/ 250909 w 480398"/>
              <a:gd name="csY1" fmla="*/ 119 h 1317982"/>
              <a:gd name="csX2" fmla="*/ 480371 w 480398"/>
              <a:gd name="csY2" fmla="*/ 651832 h 1317982"/>
              <a:gd name="csX3" fmla="*/ 239004 w 480398"/>
              <a:gd name="csY3" fmla="*/ 1317833 h 1317982"/>
              <a:gd name="csX4" fmla="*/ 18 w 480398"/>
              <a:gd name="csY4" fmla="*/ 604206 h 1317982"/>
              <a:gd name="csX0" fmla="*/ 18 w 480398"/>
              <a:gd name="csY0" fmla="*/ 604206 h 1317988"/>
              <a:gd name="csX1" fmla="*/ 250909 w 480398"/>
              <a:gd name="csY1" fmla="*/ 119 h 1317988"/>
              <a:gd name="csX2" fmla="*/ 480371 w 480398"/>
              <a:gd name="csY2" fmla="*/ 651832 h 1317988"/>
              <a:gd name="csX3" fmla="*/ 239004 w 480398"/>
              <a:gd name="csY3" fmla="*/ 1317833 h 1317988"/>
              <a:gd name="csX4" fmla="*/ 18 w 480398"/>
              <a:gd name="csY4" fmla="*/ 604206 h 1317988"/>
              <a:gd name="csX0" fmla="*/ 1363 w 481743"/>
              <a:gd name="csY0" fmla="*/ 604203 h 1317985"/>
              <a:gd name="csX1" fmla="*/ 252254 w 481743"/>
              <a:gd name="csY1" fmla="*/ 116 h 1317985"/>
              <a:gd name="csX2" fmla="*/ 481716 w 481743"/>
              <a:gd name="csY2" fmla="*/ 651829 h 1317985"/>
              <a:gd name="csX3" fmla="*/ 240349 w 481743"/>
              <a:gd name="csY3" fmla="*/ 1317830 h 1317985"/>
              <a:gd name="csX4" fmla="*/ 1363 w 481743"/>
              <a:gd name="csY4" fmla="*/ 604203 h 1317985"/>
              <a:gd name="csX0" fmla="*/ 393 w 480773"/>
              <a:gd name="csY0" fmla="*/ 604202 h 1317984"/>
              <a:gd name="csX1" fmla="*/ 251284 w 480773"/>
              <a:gd name="csY1" fmla="*/ 115 h 1317984"/>
              <a:gd name="csX2" fmla="*/ 480746 w 480773"/>
              <a:gd name="csY2" fmla="*/ 651828 h 1317984"/>
              <a:gd name="csX3" fmla="*/ 239379 w 480773"/>
              <a:gd name="csY3" fmla="*/ 1317829 h 1317984"/>
              <a:gd name="csX4" fmla="*/ 393 w 480773"/>
              <a:gd name="csY4" fmla="*/ 604202 h 1317984"/>
              <a:gd name="csX0" fmla="*/ 393 w 480773"/>
              <a:gd name="csY0" fmla="*/ 604092 h 1317721"/>
              <a:gd name="csX1" fmla="*/ 251284 w 480773"/>
              <a:gd name="csY1" fmla="*/ 5 h 1317721"/>
              <a:gd name="csX2" fmla="*/ 480746 w 480773"/>
              <a:gd name="csY2" fmla="*/ 596950 h 1317721"/>
              <a:gd name="csX3" fmla="*/ 239379 w 480773"/>
              <a:gd name="csY3" fmla="*/ 1317719 h 1317721"/>
              <a:gd name="csX4" fmla="*/ 393 w 480773"/>
              <a:gd name="csY4" fmla="*/ 604092 h 1317721"/>
              <a:gd name="csX0" fmla="*/ 393 w 480773"/>
              <a:gd name="csY0" fmla="*/ 604190 h 1317956"/>
              <a:gd name="csX1" fmla="*/ 251284 w 480773"/>
              <a:gd name="csY1" fmla="*/ 103 h 1317956"/>
              <a:gd name="csX2" fmla="*/ 480746 w 480773"/>
              <a:gd name="csY2" fmla="*/ 649435 h 1317956"/>
              <a:gd name="csX3" fmla="*/ 239379 w 480773"/>
              <a:gd name="csY3" fmla="*/ 1317817 h 1317956"/>
              <a:gd name="csX4" fmla="*/ 393 w 480773"/>
              <a:gd name="csY4" fmla="*/ 604190 h 1317956"/>
              <a:gd name="csX0" fmla="*/ 406 w 473642"/>
              <a:gd name="csY0" fmla="*/ 673184 h 1317781"/>
              <a:gd name="csX1" fmla="*/ 244153 w 473642"/>
              <a:gd name="csY1" fmla="*/ 41 h 1317781"/>
              <a:gd name="csX2" fmla="*/ 473615 w 473642"/>
              <a:gd name="csY2" fmla="*/ 649373 h 1317781"/>
              <a:gd name="csX3" fmla="*/ 232248 w 473642"/>
              <a:gd name="csY3" fmla="*/ 1317755 h 1317781"/>
              <a:gd name="csX4" fmla="*/ 406 w 473642"/>
              <a:gd name="csY4" fmla="*/ 673184 h 1317781"/>
              <a:gd name="csX0" fmla="*/ 35 w 473271"/>
              <a:gd name="csY0" fmla="*/ 673184 h 1317792"/>
              <a:gd name="csX1" fmla="*/ 243782 w 473271"/>
              <a:gd name="csY1" fmla="*/ 41 h 1317792"/>
              <a:gd name="csX2" fmla="*/ 473244 w 473271"/>
              <a:gd name="csY2" fmla="*/ 649373 h 1317792"/>
              <a:gd name="csX3" fmla="*/ 231877 w 473271"/>
              <a:gd name="csY3" fmla="*/ 1317755 h 1317792"/>
              <a:gd name="csX4" fmla="*/ 35 w 473271"/>
              <a:gd name="csY4" fmla="*/ 673184 h 1317792"/>
              <a:gd name="csX0" fmla="*/ 35 w 473271"/>
              <a:gd name="csY0" fmla="*/ 673184 h 1317792"/>
              <a:gd name="csX1" fmla="*/ 243782 w 473271"/>
              <a:gd name="csY1" fmla="*/ 41 h 1317792"/>
              <a:gd name="csX2" fmla="*/ 473244 w 473271"/>
              <a:gd name="csY2" fmla="*/ 649373 h 1317792"/>
              <a:gd name="csX3" fmla="*/ 231877 w 473271"/>
              <a:gd name="csY3" fmla="*/ 1317755 h 1317792"/>
              <a:gd name="csX4" fmla="*/ 35 w 473271"/>
              <a:gd name="csY4" fmla="*/ 673184 h 1317792"/>
              <a:gd name="csX0" fmla="*/ 35 w 475076"/>
              <a:gd name="csY0" fmla="*/ 673176 h 1317784"/>
              <a:gd name="csX1" fmla="*/ 243782 w 475076"/>
              <a:gd name="csY1" fmla="*/ 33 h 1317784"/>
              <a:gd name="csX2" fmla="*/ 473244 w 475076"/>
              <a:gd name="csY2" fmla="*/ 649365 h 1317784"/>
              <a:gd name="csX3" fmla="*/ 231877 w 475076"/>
              <a:gd name="csY3" fmla="*/ 1317747 h 1317784"/>
              <a:gd name="csX4" fmla="*/ 35 w 475076"/>
              <a:gd name="csY4" fmla="*/ 673176 h 1317784"/>
            </a:gdLst>
            <a:ahLst/>
            <a:cxnLst>
              <a:cxn ang="0">
                <a:pos x="csX0" y="csY0"/>
              </a:cxn>
              <a:cxn ang="0">
                <a:pos x="csX1" y="csY1"/>
              </a:cxn>
              <a:cxn ang="0">
                <a:pos x="csX2" y="csY2"/>
              </a:cxn>
              <a:cxn ang="0">
                <a:pos x="csX3" y="csY3"/>
              </a:cxn>
              <a:cxn ang="0">
                <a:pos x="csX4" y="csY4"/>
              </a:cxn>
            </a:cxnLst>
            <a:rect l="l" t="t" r="r" b="b"/>
            <a:pathLst>
              <a:path w="475076" h="1317784">
                <a:moveTo>
                  <a:pt x="35" y="673176"/>
                </a:moveTo>
                <a:cubicBezTo>
                  <a:pt x="-2744" y="339258"/>
                  <a:pt x="164914" y="4001"/>
                  <a:pt x="243782" y="33"/>
                </a:cubicBezTo>
                <a:cubicBezTo>
                  <a:pt x="322650" y="-3935"/>
                  <a:pt x="494675" y="360940"/>
                  <a:pt x="473244" y="649365"/>
                </a:cubicBezTo>
                <a:cubicBezTo>
                  <a:pt x="470862" y="847301"/>
                  <a:pt x="310745" y="1313779"/>
                  <a:pt x="231877" y="1317747"/>
                </a:cubicBezTo>
                <a:cubicBezTo>
                  <a:pt x="153009" y="1321715"/>
                  <a:pt x="2814" y="1007094"/>
                  <a:pt x="35" y="673176"/>
                </a:cubicBezTo>
                <a:close/>
              </a:path>
            </a:pathLst>
          </a:custGeom>
          <a:solidFill>
            <a:schemeClr val="accent1">
              <a:lumMod val="50000"/>
            </a:schemeClr>
          </a:solidFill>
          <a:ln>
            <a:solidFill>
              <a:schemeClr val="accent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endParaRPr lang="en-MY" i="1"/>
          </a:p>
        </p:txBody>
      </p:sp>
      <p:sp>
        <p:nvSpPr>
          <p:cNvPr id="49" name="Rectangle 48">
            <a:extLst>
              <a:ext uri="{FF2B5EF4-FFF2-40B4-BE49-F238E27FC236}">
                <a16:creationId xmlns:a16="http://schemas.microsoft.com/office/drawing/2014/main" id="{E1F9D3C2-7C63-87FA-2E62-D539AC396712}"/>
              </a:ext>
            </a:extLst>
          </p:cNvPr>
          <p:cNvSpPr/>
          <p:nvPr/>
        </p:nvSpPr>
        <p:spPr>
          <a:xfrm>
            <a:off x="3958758" y="4970079"/>
            <a:ext cx="3174487" cy="730444"/>
          </a:xfrm>
          <a:prstGeom prst="rect">
            <a:avLst/>
          </a:prstGeom>
          <a:solidFill>
            <a:schemeClr val="tx1">
              <a:lumMod val="65000"/>
              <a:lumOff val="3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b="1"/>
              <a:t>Potential Conflict</a:t>
            </a:r>
          </a:p>
          <a:p>
            <a:pPr algn="ctr"/>
            <a:r>
              <a:rPr lang="en-MY" sz="1100" i="1"/>
              <a:t>Lower External Residential Opportunity as associated with OSK Property (</a:t>
            </a:r>
            <a:r>
              <a:rPr lang="en-MY" sz="1100" i="1" err="1"/>
              <a:t>PropDev</a:t>
            </a:r>
            <a:r>
              <a:rPr lang="en-MY" sz="1100" i="1"/>
              <a:t>)</a:t>
            </a:r>
          </a:p>
        </p:txBody>
      </p:sp>
      <p:pic>
        <p:nvPicPr>
          <p:cNvPr id="51" name="Picture 50">
            <a:extLst>
              <a:ext uri="{FF2B5EF4-FFF2-40B4-BE49-F238E27FC236}">
                <a16:creationId xmlns:a16="http://schemas.microsoft.com/office/drawing/2014/main" id="{2F746377-F18D-3A27-75A7-DB3B4FF771C4}"/>
              </a:ext>
            </a:extLst>
          </p:cNvPr>
          <p:cNvPicPr>
            <a:picLocks noChangeAspect="1"/>
          </p:cNvPicPr>
          <p:nvPr/>
        </p:nvPicPr>
        <p:blipFill>
          <a:blip r:embed="rId3"/>
          <a:stretch>
            <a:fillRect/>
          </a:stretch>
        </p:blipFill>
        <p:spPr>
          <a:xfrm>
            <a:off x="1676993" y="2870557"/>
            <a:ext cx="568944" cy="568944"/>
          </a:xfrm>
          <a:prstGeom prst="rect">
            <a:avLst/>
          </a:prstGeom>
        </p:spPr>
      </p:pic>
      <p:pic>
        <p:nvPicPr>
          <p:cNvPr id="52" name="Picture 51">
            <a:extLst>
              <a:ext uri="{FF2B5EF4-FFF2-40B4-BE49-F238E27FC236}">
                <a16:creationId xmlns:a16="http://schemas.microsoft.com/office/drawing/2014/main" id="{263C1D7E-319B-A51E-8051-8FE5353103F1}"/>
              </a:ext>
            </a:extLst>
          </p:cNvPr>
          <p:cNvPicPr>
            <a:picLocks noChangeAspect="1"/>
          </p:cNvPicPr>
          <p:nvPr/>
        </p:nvPicPr>
        <p:blipFill>
          <a:blip r:embed="rId4"/>
          <a:stretch>
            <a:fillRect/>
          </a:stretch>
        </p:blipFill>
        <p:spPr>
          <a:xfrm>
            <a:off x="1544927" y="4478318"/>
            <a:ext cx="823649" cy="823649"/>
          </a:xfrm>
          <a:prstGeom prst="rect">
            <a:avLst/>
          </a:prstGeom>
        </p:spPr>
      </p:pic>
      <p:sp>
        <p:nvSpPr>
          <p:cNvPr id="68" name="TextBox 67">
            <a:extLst>
              <a:ext uri="{FF2B5EF4-FFF2-40B4-BE49-F238E27FC236}">
                <a16:creationId xmlns:a16="http://schemas.microsoft.com/office/drawing/2014/main" id="{887AC804-4829-3E79-5C08-7B7712292A23}"/>
              </a:ext>
            </a:extLst>
          </p:cNvPr>
          <p:cNvSpPr txBox="1"/>
          <p:nvPr/>
        </p:nvSpPr>
        <p:spPr>
          <a:xfrm>
            <a:off x="4604634" y="2352930"/>
            <a:ext cx="3750267" cy="369332"/>
          </a:xfrm>
          <a:prstGeom prst="rect">
            <a:avLst/>
          </a:prstGeom>
          <a:noFill/>
        </p:spPr>
        <p:txBody>
          <a:bodyPr wrap="square">
            <a:spAutoFit/>
          </a:bodyPr>
          <a:lstStyle/>
          <a:p>
            <a:r>
              <a:rPr lang="en-US" sz="1800" b="1" u="sng">
                <a:solidFill>
                  <a:srgbClr val="000000"/>
                </a:solidFill>
              </a:rPr>
              <a:t>Long-Term</a:t>
            </a:r>
          </a:p>
        </p:txBody>
      </p:sp>
      <p:sp>
        <p:nvSpPr>
          <p:cNvPr id="74" name="Rectangle 73">
            <a:extLst>
              <a:ext uri="{FF2B5EF4-FFF2-40B4-BE49-F238E27FC236}">
                <a16:creationId xmlns:a16="http://schemas.microsoft.com/office/drawing/2014/main" id="{D94B28CC-9421-C419-7AD7-3CB5A921B7E4}"/>
              </a:ext>
            </a:extLst>
          </p:cNvPr>
          <p:cNvSpPr/>
          <p:nvPr/>
        </p:nvSpPr>
        <p:spPr>
          <a:xfrm>
            <a:off x="7887317" y="3136953"/>
            <a:ext cx="3959052" cy="55781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b="1"/>
              <a:t>              Non-Residential Focus</a:t>
            </a:r>
          </a:p>
        </p:txBody>
      </p:sp>
      <p:sp>
        <p:nvSpPr>
          <p:cNvPr id="75" name="Rectangle 74">
            <a:extLst>
              <a:ext uri="{FF2B5EF4-FFF2-40B4-BE49-F238E27FC236}">
                <a16:creationId xmlns:a16="http://schemas.microsoft.com/office/drawing/2014/main" id="{CBE1A168-A564-7921-19D6-7419D93ED213}"/>
              </a:ext>
            </a:extLst>
          </p:cNvPr>
          <p:cNvSpPr/>
          <p:nvPr/>
        </p:nvSpPr>
        <p:spPr>
          <a:xfrm>
            <a:off x="7681288" y="4740375"/>
            <a:ext cx="1625623" cy="49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b="1">
                <a:solidFill>
                  <a:schemeClr val="tx1"/>
                </a:solidFill>
              </a:rPr>
              <a:t>Commercial</a:t>
            </a:r>
          </a:p>
        </p:txBody>
      </p:sp>
      <p:sp>
        <p:nvSpPr>
          <p:cNvPr id="76" name="Rectangle 75">
            <a:extLst>
              <a:ext uri="{FF2B5EF4-FFF2-40B4-BE49-F238E27FC236}">
                <a16:creationId xmlns:a16="http://schemas.microsoft.com/office/drawing/2014/main" id="{028C8C66-29D5-8172-E061-99BB136F14AC}"/>
              </a:ext>
            </a:extLst>
          </p:cNvPr>
          <p:cNvSpPr/>
          <p:nvPr/>
        </p:nvSpPr>
        <p:spPr>
          <a:xfrm>
            <a:off x="8981077" y="4747854"/>
            <a:ext cx="1625623" cy="49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b="1">
                <a:solidFill>
                  <a:schemeClr val="tx1"/>
                </a:solidFill>
              </a:rPr>
              <a:t>Industrial</a:t>
            </a:r>
          </a:p>
        </p:txBody>
      </p:sp>
      <p:sp>
        <p:nvSpPr>
          <p:cNvPr id="77" name="Rectangle 76">
            <a:extLst>
              <a:ext uri="{FF2B5EF4-FFF2-40B4-BE49-F238E27FC236}">
                <a16:creationId xmlns:a16="http://schemas.microsoft.com/office/drawing/2014/main" id="{563800ED-E30B-9D5D-74FF-CAE93F15E868}"/>
              </a:ext>
            </a:extLst>
          </p:cNvPr>
          <p:cNvSpPr/>
          <p:nvPr/>
        </p:nvSpPr>
        <p:spPr>
          <a:xfrm>
            <a:off x="10297026" y="4741094"/>
            <a:ext cx="1625623" cy="49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400" b="1">
                <a:solidFill>
                  <a:schemeClr val="tx1"/>
                </a:solidFill>
              </a:rPr>
              <a:t>Infrastructure</a:t>
            </a:r>
          </a:p>
        </p:txBody>
      </p:sp>
      <p:pic>
        <p:nvPicPr>
          <p:cNvPr id="78" name="Picture 77">
            <a:extLst>
              <a:ext uri="{FF2B5EF4-FFF2-40B4-BE49-F238E27FC236}">
                <a16:creationId xmlns:a16="http://schemas.microsoft.com/office/drawing/2014/main" id="{3737C492-DB7C-98A0-B9EA-28A0E50BE8E6}"/>
              </a:ext>
            </a:extLst>
          </p:cNvPr>
          <p:cNvPicPr>
            <a:picLocks noChangeAspect="1"/>
          </p:cNvPicPr>
          <p:nvPr/>
        </p:nvPicPr>
        <p:blipFill>
          <a:blip r:embed="rId5">
            <a:extLst>
              <a:ext uri="{28A0092B-C50C-407E-A947-70E740481C1C}">
                <a14:useLocalDpi xmlns:a14="http://schemas.microsoft.com/office/drawing/2010/main" val="0"/>
              </a:ext>
            </a:extLst>
          </a:blip>
          <a:srcRect l="3612" t="28158" r="66876" b="33457"/>
          <a:stretch>
            <a:fillRect/>
          </a:stretch>
        </p:blipFill>
        <p:spPr>
          <a:xfrm>
            <a:off x="7887317" y="3861915"/>
            <a:ext cx="1277915" cy="906634"/>
          </a:xfrm>
          <a:prstGeom prst="rect">
            <a:avLst/>
          </a:prstGeom>
        </p:spPr>
      </p:pic>
      <p:pic>
        <p:nvPicPr>
          <p:cNvPr id="79" name="Picture 78">
            <a:extLst>
              <a:ext uri="{FF2B5EF4-FFF2-40B4-BE49-F238E27FC236}">
                <a16:creationId xmlns:a16="http://schemas.microsoft.com/office/drawing/2014/main" id="{85B11465-02EA-CAEB-39AD-3D3E94911A98}"/>
              </a:ext>
            </a:extLst>
          </p:cNvPr>
          <p:cNvPicPr>
            <a:picLocks noChangeAspect="1"/>
          </p:cNvPicPr>
          <p:nvPr/>
        </p:nvPicPr>
        <p:blipFill>
          <a:blip r:embed="rId5">
            <a:extLst>
              <a:ext uri="{28A0092B-C50C-407E-A947-70E740481C1C}">
                <a14:useLocalDpi xmlns:a14="http://schemas.microsoft.com/office/drawing/2010/main" val="0"/>
              </a:ext>
            </a:extLst>
          </a:blip>
          <a:srcRect l="31846" t="28416" r="38642" b="33199"/>
          <a:stretch>
            <a:fillRect/>
          </a:stretch>
        </p:blipFill>
        <p:spPr>
          <a:xfrm>
            <a:off x="9168089" y="3861915"/>
            <a:ext cx="1277915" cy="906634"/>
          </a:xfrm>
          <a:prstGeom prst="rect">
            <a:avLst/>
          </a:prstGeom>
        </p:spPr>
      </p:pic>
      <p:pic>
        <p:nvPicPr>
          <p:cNvPr id="80" name="Picture 79">
            <a:extLst>
              <a:ext uri="{FF2B5EF4-FFF2-40B4-BE49-F238E27FC236}">
                <a16:creationId xmlns:a16="http://schemas.microsoft.com/office/drawing/2014/main" id="{AEC223DB-E770-E150-5FF5-405E97AFFFDA}"/>
              </a:ext>
            </a:extLst>
          </p:cNvPr>
          <p:cNvPicPr>
            <a:picLocks noChangeAspect="1"/>
          </p:cNvPicPr>
          <p:nvPr/>
        </p:nvPicPr>
        <p:blipFill>
          <a:blip r:embed="rId5">
            <a:extLst>
              <a:ext uri="{28A0092B-C50C-407E-A947-70E740481C1C}">
                <a14:useLocalDpi xmlns:a14="http://schemas.microsoft.com/office/drawing/2010/main" val="0"/>
              </a:ext>
            </a:extLst>
          </a:blip>
          <a:srcRect l="65781" t="29247" r="4707" b="32368"/>
          <a:stretch>
            <a:fillRect/>
          </a:stretch>
        </p:blipFill>
        <p:spPr>
          <a:xfrm>
            <a:off x="10465021" y="3862960"/>
            <a:ext cx="1277915" cy="906634"/>
          </a:xfrm>
          <a:prstGeom prst="rect">
            <a:avLst/>
          </a:prstGeom>
        </p:spPr>
      </p:pic>
      <p:sp>
        <p:nvSpPr>
          <p:cNvPr id="81" name="TextBox 80">
            <a:extLst>
              <a:ext uri="{FF2B5EF4-FFF2-40B4-BE49-F238E27FC236}">
                <a16:creationId xmlns:a16="http://schemas.microsoft.com/office/drawing/2014/main" id="{32865E85-6A7D-D340-2966-DE818A199B41}"/>
              </a:ext>
            </a:extLst>
          </p:cNvPr>
          <p:cNvSpPr txBox="1"/>
          <p:nvPr/>
        </p:nvSpPr>
        <p:spPr>
          <a:xfrm>
            <a:off x="7932184" y="2667245"/>
            <a:ext cx="3449555" cy="369332"/>
          </a:xfrm>
          <a:prstGeom prst="rect">
            <a:avLst/>
          </a:prstGeom>
          <a:noFill/>
        </p:spPr>
        <p:txBody>
          <a:bodyPr wrap="square">
            <a:spAutoFit/>
          </a:bodyPr>
          <a:lstStyle/>
          <a:p>
            <a:r>
              <a:rPr lang="en-US" sz="1800" b="1" u="sng">
                <a:solidFill>
                  <a:srgbClr val="000000"/>
                </a:solidFill>
              </a:rPr>
              <a:t>Better M&amp;A Alternatives</a:t>
            </a:r>
            <a:endParaRPr lang="en-MY" u="sng"/>
          </a:p>
        </p:txBody>
      </p:sp>
      <p:pic>
        <p:nvPicPr>
          <p:cNvPr id="86" name="Picture 85">
            <a:extLst>
              <a:ext uri="{FF2B5EF4-FFF2-40B4-BE49-F238E27FC236}">
                <a16:creationId xmlns:a16="http://schemas.microsoft.com/office/drawing/2014/main" id="{4B228543-EEF8-93C8-2ADF-180CBAFF017E}"/>
              </a:ext>
            </a:extLst>
          </p:cNvPr>
          <p:cNvPicPr>
            <a:picLocks noChangeAspect="1"/>
          </p:cNvPicPr>
          <p:nvPr/>
        </p:nvPicPr>
        <p:blipFill>
          <a:blip r:embed="rId6"/>
          <a:stretch>
            <a:fillRect/>
          </a:stretch>
        </p:blipFill>
        <p:spPr>
          <a:xfrm>
            <a:off x="8697388" y="3180115"/>
            <a:ext cx="401337" cy="401337"/>
          </a:xfrm>
          <a:prstGeom prst="rect">
            <a:avLst/>
          </a:prstGeom>
        </p:spPr>
      </p:pic>
      <p:sp>
        <p:nvSpPr>
          <p:cNvPr id="99" name="TextBox 98">
            <a:extLst>
              <a:ext uri="{FF2B5EF4-FFF2-40B4-BE49-F238E27FC236}">
                <a16:creationId xmlns:a16="http://schemas.microsoft.com/office/drawing/2014/main" id="{71E60043-F5F8-2F43-9377-DFCD6D34416B}"/>
              </a:ext>
            </a:extLst>
          </p:cNvPr>
          <p:cNvSpPr txBox="1"/>
          <p:nvPr/>
        </p:nvSpPr>
        <p:spPr>
          <a:xfrm>
            <a:off x="6410991" y="873794"/>
            <a:ext cx="5571626" cy="1477328"/>
          </a:xfrm>
          <a:prstGeom prst="rect">
            <a:avLst/>
          </a:prstGeom>
          <a:noFill/>
          <a:ln>
            <a:solidFill>
              <a:schemeClr val="tx1"/>
            </a:solidFill>
            <a:prstDash val="lgDash"/>
          </a:ln>
        </p:spPr>
        <p:txBody>
          <a:bodyPr wrap="square">
            <a:spAutoFit/>
          </a:bodyPr>
          <a:lstStyle/>
          <a:p>
            <a:r>
              <a:rPr lang="en-US" b="1">
                <a:solidFill>
                  <a:srgbClr val="000000"/>
                </a:solidFill>
              </a:rPr>
              <a:t>In our view, integrating </a:t>
            </a:r>
            <a:r>
              <a:rPr lang="en-US" b="1" err="1">
                <a:solidFill>
                  <a:srgbClr val="000000"/>
                </a:solidFill>
              </a:rPr>
              <a:t>Inta</a:t>
            </a:r>
            <a:r>
              <a:rPr lang="en-US" b="1">
                <a:solidFill>
                  <a:srgbClr val="000000"/>
                </a:solidFill>
              </a:rPr>
              <a:t> Bina may limit external residential wins due to OSK’s property developer profile. </a:t>
            </a:r>
            <a:r>
              <a:rPr lang="en-US" b="1">
                <a:solidFill>
                  <a:srgbClr val="FF0000"/>
                </a:solidFill>
              </a:rPr>
              <a:t>The optimal strategy is to maintain an in-house residential construction arm while building non-residential capabilities</a:t>
            </a:r>
            <a:r>
              <a:rPr lang="en-US" b="1">
                <a:solidFill>
                  <a:srgbClr val="000000"/>
                </a:solidFill>
              </a:rPr>
              <a:t>.</a:t>
            </a:r>
          </a:p>
        </p:txBody>
      </p:sp>
      <p:pic>
        <p:nvPicPr>
          <p:cNvPr id="13" name="Picture 12">
            <a:extLst>
              <a:ext uri="{FF2B5EF4-FFF2-40B4-BE49-F238E27FC236}">
                <a16:creationId xmlns:a16="http://schemas.microsoft.com/office/drawing/2014/main" id="{87727C8B-7032-8849-622A-FAB063D4988F}"/>
              </a:ext>
            </a:extLst>
          </p:cNvPr>
          <p:cNvPicPr>
            <a:picLocks noChangeAspect="1"/>
          </p:cNvPicPr>
          <p:nvPr/>
        </p:nvPicPr>
        <p:blipFill>
          <a:blip r:embed="rId6"/>
          <a:stretch>
            <a:fillRect/>
          </a:stretch>
        </p:blipFill>
        <p:spPr>
          <a:xfrm>
            <a:off x="5215820" y="3644156"/>
            <a:ext cx="401337" cy="401337"/>
          </a:xfrm>
          <a:prstGeom prst="rect">
            <a:avLst/>
          </a:prstGeom>
        </p:spPr>
      </p:pic>
      <p:pic>
        <p:nvPicPr>
          <p:cNvPr id="1026" name="Picture 2" descr="Cross ">
            <a:extLst>
              <a:ext uri="{FF2B5EF4-FFF2-40B4-BE49-F238E27FC236}">
                <a16:creationId xmlns:a16="http://schemas.microsoft.com/office/drawing/2014/main" id="{A1BBC3A4-A395-4AE3-0896-4C78E77303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5020" y="5770211"/>
            <a:ext cx="981961" cy="9819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eck mark ">
            <a:extLst>
              <a:ext uri="{FF2B5EF4-FFF2-40B4-BE49-F238E27FC236}">
                <a16:creationId xmlns:a16="http://schemas.microsoft.com/office/drawing/2014/main" id="{5497DDF0-7896-3A3C-ECDB-1DE89300F3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06911" y="5426104"/>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111633"/>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7F6B62-0AAA-4D86-B827-DA08706FC99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062" b="14492"/>
          <a:stretch/>
        </p:blipFill>
        <p:spPr>
          <a:xfrm>
            <a:off x="0" y="1"/>
            <a:ext cx="5943600" cy="6858000"/>
          </a:xfrm>
          <a:prstGeom prst="rect">
            <a:avLst/>
          </a:prstGeom>
        </p:spPr>
      </p:pic>
      <p:sp>
        <p:nvSpPr>
          <p:cNvPr id="8" name="Rectangle 7">
            <a:extLst>
              <a:ext uri="{FF2B5EF4-FFF2-40B4-BE49-F238E27FC236}">
                <a16:creationId xmlns:a16="http://schemas.microsoft.com/office/drawing/2014/main" id="{9FF4D4FF-BFA8-44A5-8FB8-52BBF55DCDAD}"/>
              </a:ext>
            </a:extLst>
          </p:cNvPr>
          <p:cNvSpPr/>
          <p:nvPr/>
        </p:nvSpPr>
        <p:spPr>
          <a:xfrm>
            <a:off x="6825656" y="698500"/>
            <a:ext cx="4373096" cy="5727699"/>
          </a:xfrm>
          <a:prstGeom prst="rect">
            <a:avLst/>
          </a:prstGeom>
          <a:solidFill>
            <a:schemeClr val="bg2">
              <a:alpha val="90000"/>
            </a:schemeClr>
          </a:solidFill>
          <a:ln>
            <a:solidFill>
              <a:srgbClr val="B0844C"/>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bg1"/>
              </a:solidFill>
            </a:endParaRPr>
          </a:p>
        </p:txBody>
      </p:sp>
      <p:sp>
        <p:nvSpPr>
          <p:cNvPr id="4" name="Title 3">
            <a:extLst>
              <a:ext uri="{FF2B5EF4-FFF2-40B4-BE49-F238E27FC236}">
                <a16:creationId xmlns:a16="http://schemas.microsoft.com/office/drawing/2014/main" id="{C3C01A4B-3ED9-43A1-9F15-8914942BA269}"/>
              </a:ext>
            </a:extLst>
          </p:cNvPr>
          <p:cNvSpPr>
            <a:spLocks noGrp="1"/>
          </p:cNvSpPr>
          <p:nvPr>
            <p:ph type="title"/>
          </p:nvPr>
        </p:nvSpPr>
        <p:spPr>
          <a:xfrm>
            <a:off x="469900" y="4354394"/>
            <a:ext cx="2971796" cy="1638300"/>
          </a:xfrm>
        </p:spPr>
        <p:txBody>
          <a:bodyPr anchor="b">
            <a:normAutofit/>
          </a:bodyPr>
          <a:lstStyle/>
          <a:p>
            <a:r>
              <a:rPr lang="en-US" sz="3200" b="1">
                <a:solidFill>
                  <a:srgbClr val="10253F"/>
                </a:solidFill>
                <a:latin typeface="Arial" panose="020B0604020202020204" pitchFamily="34" charset="0"/>
                <a:cs typeface="Arial" panose="020B0604020202020204" pitchFamily="34" charset="0"/>
              </a:rPr>
              <a:t>Thank You</a:t>
            </a:r>
          </a:p>
        </p:txBody>
      </p:sp>
      <p:sp>
        <p:nvSpPr>
          <p:cNvPr id="9" name="Title 1">
            <a:extLst>
              <a:ext uri="{FF2B5EF4-FFF2-40B4-BE49-F238E27FC236}">
                <a16:creationId xmlns:a16="http://schemas.microsoft.com/office/drawing/2014/main" id="{517461D9-57C2-4DE2-A39D-6A73724FA3EF}"/>
              </a:ext>
            </a:extLst>
          </p:cNvPr>
          <p:cNvSpPr txBox="1">
            <a:spLocks/>
          </p:cNvSpPr>
          <p:nvPr/>
        </p:nvSpPr>
        <p:spPr>
          <a:xfrm>
            <a:off x="7175500" y="1008063"/>
            <a:ext cx="5016500" cy="4237037"/>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lnSpc>
                <a:spcPct val="100000"/>
              </a:lnSpc>
            </a:pPr>
            <a:r>
              <a:rPr lang="en-US" sz="1600" b="1">
                <a:solidFill>
                  <a:srgbClr val="10253F"/>
                </a:solidFill>
                <a:latin typeface="Arial" panose="020B0604020202020204" pitchFamily="34" charset="0"/>
                <a:ea typeface="Open Sans" panose="020B0606030504020204" pitchFamily="34" charset="0"/>
                <a:cs typeface="Arial" panose="020B0604020202020204" pitchFamily="34" charset="0"/>
              </a:rPr>
              <a:t>OSK Holdings Berhad</a:t>
            </a:r>
          </a:p>
          <a:p>
            <a:pPr algn="just">
              <a:lnSpc>
                <a:spcPct val="100000"/>
              </a:lnSpc>
            </a:pPr>
            <a:endParaRPr lang="en-US" sz="1400" b="1">
              <a:solidFill>
                <a:srgbClr val="10253F"/>
              </a:solidFill>
              <a:latin typeface="Arial" panose="020B0604020202020204" pitchFamily="34" charset="0"/>
              <a:ea typeface="Open Sans" panose="020B0606030504020204" pitchFamily="34" charset="0"/>
              <a:cs typeface="Arial" panose="020B0604020202020204" pitchFamily="34" charset="0"/>
            </a:endParaRPr>
          </a:p>
          <a:p>
            <a:pPr algn="just">
              <a:lnSpc>
                <a:spcPct val="100000"/>
              </a:lnSpc>
            </a:pPr>
            <a:r>
              <a:rPr lang="sv-SE" sz="1400" b="1">
                <a:solidFill>
                  <a:srgbClr val="10253F"/>
                </a:solidFill>
                <a:latin typeface="Arial" panose="020B0604020202020204" pitchFamily="34" charset="0"/>
                <a:ea typeface="Open Sans" panose="020B0606030504020204" pitchFamily="34" charset="0"/>
                <a:cs typeface="Arial" panose="020B0604020202020204" pitchFamily="34" charset="0"/>
              </a:rPr>
              <a:t>      Level 21, Plaza OSK, Jalan Ampang,</a:t>
            </a:r>
          </a:p>
          <a:p>
            <a:pPr algn="just">
              <a:lnSpc>
                <a:spcPct val="100000"/>
              </a:lnSpc>
            </a:pPr>
            <a:r>
              <a:rPr lang="sv-SE" sz="1400" b="1">
                <a:solidFill>
                  <a:srgbClr val="10253F"/>
                </a:solidFill>
                <a:latin typeface="Arial" panose="020B0604020202020204" pitchFamily="34" charset="0"/>
                <a:ea typeface="Open Sans" panose="020B0606030504020204" pitchFamily="34" charset="0"/>
                <a:cs typeface="Arial" panose="020B0604020202020204" pitchFamily="34" charset="0"/>
              </a:rPr>
              <a:t>      50450 Kuala Lumpur, Malaysia.</a:t>
            </a:r>
          </a:p>
          <a:p>
            <a:pPr algn="just">
              <a:lnSpc>
                <a:spcPct val="100000"/>
              </a:lnSpc>
            </a:pPr>
            <a:endParaRPr lang="sv-SE" sz="1400" b="1">
              <a:solidFill>
                <a:srgbClr val="10253F"/>
              </a:solidFill>
              <a:latin typeface="Arial" panose="020B0604020202020204" pitchFamily="34" charset="0"/>
              <a:ea typeface="Open Sans" panose="020B0606030504020204" pitchFamily="34" charset="0"/>
              <a:cs typeface="Arial" panose="020B0604020202020204" pitchFamily="34" charset="0"/>
            </a:endParaRPr>
          </a:p>
          <a:p>
            <a:pPr algn="just">
              <a:lnSpc>
                <a:spcPct val="150000"/>
              </a:lnSpc>
            </a:pPr>
            <a:r>
              <a:rPr lang="en-US" sz="1400" b="1">
                <a:solidFill>
                  <a:srgbClr val="10253F"/>
                </a:solidFill>
                <a:latin typeface="Arial" panose="020B0604020202020204" pitchFamily="34" charset="0"/>
                <a:ea typeface="Open Sans" panose="020B0606030504020204" pitchFamily="34" charset="0"/>
                <a:cs typeface="Arial" panose="020B0604020202020204" pitchFamily="34" charset="0"/>
              </a:rPr>
              <a:t>      (603) 2166 6225</a:t>
            </a:r>
          </a:p>
          <a:p>
            <a:pPr algn="just">
              <a:lnSpc>
                <a:spcPct val="150000"/>
              </a:lnSpc>
            </a:pPr>
            <a:r>
              <a:rPr lang="en-US" sz="1400" b="1">
                <a:solidFill>
                  <a:srgbClr val="10253F"/>
                </a:solidFill>
                <a:latin typeface="Arial" panose="020B0604020202020204" pitchFamily="34" charset="0"/>
                <a:ea typeface="Open Sans" panose="020B0606030504020204" pitchFamily="34" charset="0"/>
                <a:cs typeface="Arial" panose="020B0604020202020204" pitchFamily="34" charset="0"/>
              </a:rPr>
              <a:t>      (603) 2026 6331</a:t>
            </a:r>
          </a:p>
          <a:p>
            <a:pPr algn="just">
              <a:lnSpc>
                <a:spcPct val="150000"/>
              </a:lnSpc>
            </a:pPr>
            <a:r>
              <a:rPr lang="en-US" sz="1400" b="1">
                <a:solidFill>
                  <a:srgbClr val="10253F"/>
                </a:solidFill>
                <a:latin typeface="Arial" panose="020B0604020202020204" pitchFamily="34" charset="0"/>
                <a:ea typeface="Open Sans" panose="020B0606030504020204" pitchFamily="34" charset="0"/>
                <a:cs typeface="Arial" panose="020B0604020202020204" pitchFamily="34" charset="0"/>
              </a:rPr>
              <a:t>      info@oskgroup.com</a:t>
            </a:r>
          </a:p>
          <a:p>
            <a:pPr algn="just">
              <a:lnSpc>
                <a:spcPct val="150000"/>
              </a:lnSpc>
            </a:pPr>
            <a:r>
              <a:rPr lang="en-US" sz="1400" b="1">
                <a:solidFill>
                  <a:srgbClr val="10253F"/>
                </a:solidFill>
                <a:latin typeface="Arial" panose="020B0604020202020204" pitchFamily="34" charset="0"/>
                <a:ea typeface="Open Sans" panose="020B0606030504020204" pitchFamily="34" charset="0"/>
                <a:cs typeface="Arial" panose="020B0604020202020204" pitchFamily="34" charset="0"/>
              </a:rPr>
              <a:t>      www.oskgroup.com</a:t>
            </a:r>
          </a:p>
        </p:txBody>
      </p:sp>
      <p:pic>
        <p:nvPicPr>
          <p:cNvPr id="10" name="Graphic 9">
            <a:extLst>
              <a:ext uri="{FF2B5EF4-FFF2-40B4-BE49-F238E27FC236}">
                <a16:creationId xmlns:a16="http://schemas.microsoft.com/office/drawing/2014/main" id="{B67D5765-EF41-438C-8F49-60676DF0AC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7100" y="1550988"/>
            <a:ext cx="200025" cy="314325"/>
          </a:xfrm>
          <a:prstGeom prst="rect">
            <a:avLst/>
          </a:prstGeom>
        </p:spPr>
      </p:pic>
      <p:pic>
        <p:nvPicPr>
          <p:cNvPr id="11" name="Graphic 10">
            <a:extLst>
              <a:ext uri="{FF2B5EF4-FFF2-40B4-BE49-F238E27FC236}">
                <a16:creationId xmlns:a16="http://schemas.microsoft.com/office/drawing/2014/main" id="{2741C4E2-CBEE-4F3D-94EC-31C17B4BF7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7099" y="2255839"/>
            <a:ext cx="185737" cy="171450"/>
          </a:xfrm>
          <a:prstGeom prst="rect">
            <a:avLst/>
          </a:prstGeom>
        </p:spPr>
      </p:pic>
      <p:pic>
        <p:nvPicPr>
          <p:cNvPr id="12" name="Graphic 11">
            <a:extLst>
              <a:ext uri="{FF2B5EF4-FFF2-40B4-BE49-F238E27FC236}">
                <a16:creationId xmlns:a16="http://schemas.microsoft.com/office/drawing/2014/main" id="{A96523FD-CAAE-4731-99AA-E9167796B9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69957" y="2566592"/>
            <a:ext cx="207168" cy="192881"/>
          </a:xfrm>
          <a:prstGeom prst="rect">
            <a:avLst/>
          </a:prstGeom>
        </p:spPr>
      </p:pic>
      <p:pic>
        <p:nvPicPr>
          <p:cNvPr id="15" name="Graphic 14">
            <a:extLst>
              <a:ext uri="{FF2B5EF4-FFF2-40B4-BE49-F238E27FC236}">
                <a16:creationId xmlns:a16="http://schemas.microsoft.com/office/drawing/2014/main" id="{7712B392-7824-4DB1-8E75-6DF56266321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78654" y="2866629"/>
            <a:ext cx="198472" cy="169069"/>
          </a:xfrm>
          <a:prstGeom prst="rect">
            <a:avLst/>
          </a:prstGeom>
        </p:spPr>
      </p:pic>
      <p:pic>
        <p:nvPicPr>
          <p:cNvPr id="5" name="Graphic 4">
            <a:extLst>
              <a:ext uri="{FF2B5EF4-FFF2-40B4-BE49-F238E27FC236}">
                <a16:creationId xmlns:a16="http://schemas.microsoft.com/office/drawing/2014/main" id="{36BD5870-CD51-4E7B-B584-D268E06A6C9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65928" y="3166665"/>
            <a:ext cx="231578" cy="231578"/>
          </a:xfrm>
          <a:prstGeom prst="rect">
            <a:avLst/>
          </a:prstGeom>
        </p:spPr>
      </p:pic>
      <p:sp>
        <p:nvSpPr>
          <p:cNvPr id="13" name="Rectangle 12"/>
          <p:cNvSpPr/>
          <p:nvPr/>
        </p:nvSpPr>
        <p:spPr>
          <a:xfrm>
            <a:off x="6825655" y="5384403"/>
            <a:ext cx="4373097" cy="954107"/>
          </a:xfrm>
          <a:prstGeom prst="rect">
            <a:avLst/>
          </a:prstGeom>
        </p:spPr>
        <p:txBody>
          <a:bodyPr wrap="square">
            <a:spAutoFit/>
          </a:bodyPr>
          <a:lstStyle/>
          <a:p>
            <a:pPr algn="just"/>
            <a:r>
              <a:rPr lang="en-MY" sz="800">
                <a:solidFill>
                  <a:srgbClr val="595959"/>
                </a:solidFill>
              </a:rPr>
              <a:t>Disclaimer: This material is proprietary and is prepared specifically for the recipient’s reference. The information contained herein is not to be distributed without the consent of OSK Holdings Berhad. Any recommendation or views contained in this document do not have regard to specific investment objectives, financial situation and the particular needs of any specific audience. The content furthermore is believed to be correct at the time of the issue of this document, and is not and should not be construed as an offer or a solicitation of any offer to buy or sell any securities. Nor does this document purport to contain all the information a prospective investor may require.</a:t>
            </a:r>
          </a:p>
        </p:txBody>
      </p:sp>
    </p:spTree>
    <p:extLst>
      <p:ext uri="{BB962C8B-B14F-4D97-AF65-F5344CB8AC3E}">
        <p14:creationId xmlns:p14="http://schemas.microsoft.com/office/powerpoint/2010/main" val="1648311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F8AED-F7F8-0553-19F0-72894DE09E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0F1972-23F8-A41B-361F-FECE14E79A81}"/>
              </a:ext>
            </a:extLst>
          </p:cNvPr>
          <p:cNvSpPr>
            <a:spLocks noGrp="1"/>
          </p:cNvSpPr>
          <p:nvPr>
            <p:ph type="title"/>
          </p:nvPr>
        </p:nvSpPr>
        <p:spPr>
          <a:xfrm>
            <a:off x="3259860" y="2766218"/>
            <a:ext cx="8148782" cy="1325563"/>
          </a:xfrm>
        </p:spPr>
        <p:txBody>
          <a:bodyPr>
            <a:normAutofit/>
          </a:bodyPr>
          <a:lstStyle/>
          <a:p>
            <a:r>
              <a:rPr kumimoji="0" lang="en-MY" sz="4400" i="0" u="none" strike="noStrike" kern="1200" cap="none" spc="0" normalizeH="0" baseline="0" noProof="0">
                <a:ln>
                  <a:noFill/>
                </a:ln>
                <a:effectLst/>
                <a:uLnTx/>
                <a:uFillTx/>
                <a:latin typeface="Aptos"/>
                <a:ea typeface="+mn-ea"/>
                <a:cs typeface="+mn-cs"/>
              </a:rPr>
              <a:t>Appendix 1 :</a:t>
            </a:r>
            <a:br>
              <a:rPr kumimoji="0" lang="en-MY" sz="4400" i="0" u="none" strike="noStrike" kern="1200" cap="none" spc="0" normalizeH="0" baseline="0" noProof="0">
                <a:ln>
                  <a:noFill/>
                </a:ln>
                <a:effectLst/>
                <a:uLnTx/>
                <a:uFillTx/>
                <a:latin typeface="Aptos"/>
                <a:ea typeface="+mn-ea"/>
                <a:cs typeface="+mn-cs"/>
              </a:rPr>
            </a:br>
            <a:r>
              <a:rPr kumimoji="0" lang="en-MY" sz="4400" i="0" u="none" strike="noStrike" kern="1200" cap="none" spc="0" normalizeH="0" baseline="0" noProof="0">
                <a:ln>
                  <a:noFill/>
                </a:ln>
                <a:effectLst/>
                <a:uLnTx/>
                <a:uFillTx/>
                <a:latin typeface="Aptos"/>
                <a:ea typeface="+mn-ea"/>
                <a:cs typeface="+mn-cs"/>
              </a:rPr>
              <a:t>Industry Peers</a:t>
            </a:r>
            <a:endParaRPr lang="en-US" sz="3200" b="0"/>
          </a:p>
        </p:txBody>
      </p:sp>
      <p:sp>
        <p:nvSpPr>
          <p:cNvPr id="6" name="Text Placeholder 5">
            <a:extLst>
              <a:ext uri="{FF2B5EF4-FFF2-40B4-BE49-F238E27FC236}">
                <a16:creationId xmlns:a16="http://schemas.microsoft.com/office/drawing/2014/main" id="{819D203C-0E28-3CE8-016D-A323ADF34A7A}"/>
              </a:ext>
            </a:extLst>
          </p:cNvPr>
          <p:cNvSpPr>
            <a:spLocks noGrp="1"/>
          </p:cNvSpPr>
          <p:nvPr>
            <p:ph type="body" sz="quarter" idx="10"/>
          </p:nvPr>
        </p:nvSpPr>
        <p:spPr>
          <a:xfrm>
            <a:off x="1422632" y="2907668"/>
            <a:ext cx="1168167" cy="1042662"/>
          </a:xfrm>
        </p:spPr>
        <p:txBody>
          <a:bodyPr/>
          <a:lstStyle/>
          <a:p>
            <a:pPr algn="ctr"/>
            <a:r>
              <a:rPr lang="en-US" sz="3600"/>
              <a:t>01</a:t>
            </a:r>
          </a:p>
        </p:txBody>
      </p:sp>
    </p:spTree>
    <p:extLst>
      <p:ext uri="{BB962C8B-B14F-4D97-AF65-F5344CB8AC3E}">
        <p14:creationId xmlns:p14="http://schemas.microsoft.com/office/powerpoint/2010/main" val="374277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0CEB5-3C2C-C83C-4C8E-96CC95EC6C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484BEA-8A57-EA86-81CC-4E8FEF8C82F0}"/>
              </a:ext>
            </a:extLst>
          </p:cNvPr>
          <p:cNvSpPr txBox="1"/>
          <p:nvPr/>
        </p:nvSpPr>
        <p:spPr>
          <a:xfrm>
            <a:off x="292608" y="228033"/>
            <a:ext cx="11289791" cy="707886"/>
          </a:xfrm>
          <a:prstGeom prst="rect">
            <a:avLst/>
          </a:prstGeom>
          <a:noFill/>
        </p:spPr>
        <p:txBody>
          <a:bodyPr wrap="square" rtlCol="0">
            <a:spAutoFit/>
          </a:bodyPr>
          <a:lstStyle/>
          <a:p>
            <a:r>
              <a:rPr lang="en-US" sz="2000" b="1"/>
              <a:t>Appendix 1.0: The six (6) selected companies, which report both Property Development and Construction segments in their Annual Reports</a:t>
            </a:r>
            <a:endParaRPr lang="en-MY" sz="2000" b="1"/>
          </a:p>
        </p:txBody>
      </p:sp>
      <p:graphicFrame>
        <p:nvGraphicFramePr>
          <p:cNvPr id="3" name="Chart 2">
            <a:extLst>
              <a:ext uri="{FF2B5EF4-FFF2-40B4-BE49-F238E27FC236}">
                <a16:creationId xmlns:a16="http://schemas.microsoft.com/office/drawing/2014/main" id="{22D7511D-A938-8B79-BD90-BD03A4C1BC7A}"/>
              </a:ext>
            </a:extLst>
          </p:cNvPr>
          <p:cNvGraphicFramePr>
            <a:graphicFrameLocks/>
          </p:cNvGraphicFramePr>
          <p:nvPr/>
        </p:nvGraphicFramePr>
        <p:xfrm>
          <a:off x="292608" y="991076"/>
          <a:ext cx="3851704" cy="276707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7F9DB17F-39FC-1989-786F-4167662C0ADF}"/>
              </a:ext>
            </a:extLst>
          </p:cNvPr>
          <p:cNvGraphicFramePr>
            <a:graphicFrameLocks/>
          </p:cNvGraphicFramePr>
          <p:nvPr/>
        </p:nvGraphicFramePr>
        <p:xfrm>
          <a:off x="8047690" y="1019228"/>
          <a:ext cx="3851704" cy="27647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4">
            <a:extLst>
              <a:ext uri="{FF2B5EF4-FFF2-40B4-BE49-F238E27FC236}">
                <a16:creationId xmlns:a16="http://schemas.microsoft.com/office/drawing/2014/main" id="{8F081894-D70A-F129-0B9A-E08E9C4C6CF9}"/>
              </a:ext>
            </a:extLst>
          </p:cNvPr>
          <p:cNvGraphicFramePr>
            <a:graphicFrameLocks/>
          </p:cNvGraphicFramePr>
          <p:nvPr/>
        </p:nvGraphicFramePr>
        <p:xfrm>
          <a:off x="4195986" y="3871950"/>
          <a:ext cx="3851704" cy="275801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 name="Chart 5">
            <a:extLst>
              <a:ext uri="{FF2B5EF4-FFF2-40B4-BE49-F238E27FC236}">
                <a16:creationId xmlns:a16="http://schemas.microsoft.com/office/drawing/2014/main" id="{A4BEDCE8-7C22-7844-5520-0A6EA9A41919}"/>
              </a:ext>
            </a:extLst>
          </p:cNvPr>
          <p:cNvGraphicFramePr>
            <a:graphicFrameLocks/>
          </p:cNvGraphicFramePr>
          <p:nvPr/>
        </p:nvGraphicFramePr>
        <p:xfrm>
          <a:off x="8099364" y="3823457"/>
          <a:ext cx="3851704" cy="275413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BFEC712F-5224-C958-56D4-472B3ED89263}"/>
              </a:ext>
            </a:extLst>
          </p:cNvPr>
          <p:cNvGraphicFramePr>
            <a:graphicFrameLocks/>
          </p:cNvGraphicFramePr>
          <p:nvPr>
            <p:extLst>
              <p:ext uri="{D42A27DB-BD31-4B8C-83A1-F6EECF244321}">
                <p14:modId xmlns:p14="http://schemas.microsoft.com/office/powerpoint/2010/main" val="3703298301"/>
              </p:ext>
            </p:extLst>
          </p:nvPr>
        </p:nvGraphicFramePr>
        <p:xfrm>
          <a:off x="292608" y="3823457"/>
          <a:ext cx="3851704" cy="2764484"/>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9" name="Chart 8">
            <a:extLst>
              <a:ext uri="{FF2B5EF4-FFF2-40B4-BE49-F238E27FC236}">
                <a16:creationId xmlns:a16="http://schemas.microsoft.com/office/drawing/2014/main" id="{9553A97E-4E80-A649-620D-1C1FF0CA804A}"/>
              </a:ext>
            </a:extLst>
          </p:cNvPr>
          <p:cNvGraphicFramePr>
            <a:graphicFrameLocks/>
          </p:cNvGraphicFramePr>
          <p:nvPr/>
        </p:nvGraphicFramePr>
        <p:xfrm>
          <a:off x="4195986" y="1006177"/>
          <a:ext cx="3851704" cy="2750903"/>
        </p:xfrm>
        <a:graphic>
          <a:graphicData uri="http://schemas.openxmlformats.org/drawingml/2006/chart">
            <c:chart xmlns:c="http://schemas.openxmlformats.org/drawingml/2006/chart" xmlns:r="http://schemas.openxmlformats.org/officeDocument/2006/relationships" r:id="rId9"/>
          </a:graphicData>
        </a:graphic>
      </p:graphicFrame>
      <p:sp>
        <p:nvSpPr>
          <p:cNvPr id="10" name="TextBox 9">
            <a:extLst>
              <a:ext uri="{FF2B5EF4-FFF2-40B4-BE49-F238E27FC236}">
                <a16:creationId xmlns:a16="http://schemas.microsoft.com/office/drawing/2014/main" id="{23981433-A712-0F40-C425-097F96EF135C}"/>
              </a:ext>
            </a:extLst>
          </p:cNvPr>
          <p:cNvSpPr txBox="1"/>
          <p:nvPr/>
        </p:nvSpPr>
        <p:spPr>
          <a:xfrm>
            <a:off x="211010" y="892270"/>
            <a:ext cx="1726548" cy="369332"/>
          </a:xfrm>
          <a:prstGeom prst="rect">
            <a:avLst/>
          </a:prstGeom>
          <a:noFill/>
        </p:spPr>
        <p:txBody>
          <a:bodyPr wrap="square" rtlCol="0">
            <a:spAutoFit/>
          </a:bodyPr>
          <a:lstStyle/>
          <a:p>
            <a:r>
              <a:rPr lang="en-US" sz="900" i="1"/>
              <a:t>Bursa Classification: Construction</a:t>
            </a:r>
            <a:endParaRPr lang="en-MY" sz="900" i="1"/>
          </a:p>
        </p:txBody>
      </p:sp>
      <p:sp>
        <p:nvSpPr>
          <p:cNvPr id="12" name="TextBox 11">
            <a:extLst>
              <a:ext uri="{FF2B5EF4-FFF2-40B4-BE49-F238E27FC236}">
                <a16:creationId xmlns:a16="http://schemas.microsoft.com/office/drawing/2014/main" id="{81D6D6AB-43E2-007C-706B-E1ABF9EAC87F}"/>
              </a:ext>
            </a:extLst>
          </p:cNvPr>
          <p:cNvSpPr txBox="1"/>
          <p:nvPr/>
        </p:nvSpPr>
        <p:spPr>
          <a:xfrm>
            <a:off x="4114388" y="903812"/>
            <a:ext cx="1674874" cy="369332"/>
          </a:xfrm>
          <a:prstGeom prst="rect">
            <a:avLst/>
          </a:prstGeom>
          <a:noFill/>
        </p:spPr>
        <p:txBody>
          <a:bodyPr wrap="square" rtlCol="0">
            <a:spAutoFit/>
          </a:bodyPr>
          <a:lstStyle/>
          <a:p>
            <a:r>
              <a:rPr lang="en-US" sz="900" i="1"/>
              <a:t>Bursa Classification: Construction</a:t>
            </a:r>
            <a:endParaRPr lang="en-MY" sz="900" i="1"/>
          </a:p>
        </p:txBody>
      </p:sp>
      <p:sp>
        <p:nvSpPr>
          <p:cNvPr id="13" name="TextBox 12">
            <a:extLst>
              <a:ext uri="{FF2B5EF4-FFF2-40B4-BE49-F238E27FC236}">
                <a16:creationId xmlns:a16="http://schemas.microsoft.com/office/drawing/2014/main" id="{FB428AD2-5F0F-7C05-56EC-1FF3A1CC75FD}"/>
              </a:ext>
            </a:extLst>
          </p:cNvPr>
          <p:cNvSpPr txBox="1"/>
          <p:nvPr/>
        </p:nvSpPr>
        <p:spPr>
          <a:xfrm>
            <a:off x="8047690" y="903812"/>
            <a:ext cx="1593276" cy="369332"/>
          </a:xfrm>
          <a:prstGeom prst="rect">
            <a:avLst/>
          </a:prstGeom>
          <a:noFill/>
        </p:spPr>
        <p:txBody>
          <a:bodyPr wrap="square" rtlCol="0">
            <a:spAutoFit/>
          </a:bodyPr>
          <a:lstStyle/>
          <a:p>
            <a:r>
              <a:rPr lang="en-US" sz="900" i="1"/>
              <a:t>Bursa Classification: Construction</a:t>
            </a:r>
            <a:endParaRPr lang="en-MY" sz="900" i="1"/>
          </a:p>
        </p:txBody>
      </p:sp>
      <p:sp>
        <p:nvSpPr>
          <p:cNvPr id="14" name="TextBox 13">
            <a:extLst>
              <a:ext uri="{FF2B5EF4-FFF2-40B4-BE49-F238E27FC236}">
                <a16:creationId xmlns:a16="http://schemas.microsoft.com/office/drawing/2014/main" id="{CD7B3E93-DE49-AFC0-ACD5-5B4C1174F1D1}"/>
              </a:ext>
            </a:extLst>
          </p:cNvPr>
          <p:cNvSpPr txBox="1"/>
          <p:nvPr/>
        </p:nvSpPr>
        <p:spPr>
          <a:xfrm>
            <a:off x="4195986" y="3756534"/>
            <a:ext cx="1593276" cy="369332"/>
          </a:xfrm>
          <a:prstGeom prst="rect">
            <a:avLst/>
          </a:prstGeom>
          <a:noFill/>
        </p:spPr>
        <p:txBody>
          <a:bodyPr wrap="square" rtlCol="0">
            <a:spAutoFit/>
          </a:bodyPr>
          <a:lstStyle/>
          <a:p>
            <a:r>
              <a:rPr lang="en-US" sz="900" i="1"/>
              <a:t>Bursa Classification: Property</a:t>
            </a:r>
            <a:endParaRPr lang="en-MY" sz="900" i="1"/>
          </a:p>
        </p:txBody>
      </p:sp>
      <p:sp>
        <p:nvSpPr>
          <p:cNvPr id="15" name="TextBox 14">
            <a:extLst>
              <a:ext uri="{FF2B5EF4-FFF2-40B4-BE49-F238E27FC236}">
                <a16:creationId xmlns:a16="http://schemas.microsoft.com/office/drawing/2014/main" id="{EF5B1F66-BEC3-62CD-001A-5AB98946C281}"/>
              </a:ext>
            </a:extLst>
          </p:cNvPr>
          <p:cNvSpPr txBox="1"/>
          <p:nvPr/>
        </p:nvSpPr>
        <p:spPr>
          <a:xfrm>
            <a:off x="344282" y="3729996"/>
            <a:ext cx="1593276" cy="369332"/>
          </a:xfrm>
          <a:prstGeom prst="rect">
            <a:avLst/>
          </a:prstGeom>
          <a:noFill/>
        </p:spPr>
        <p:txBody>
          <a:bodyPr wrap="square" rtlCol="0">
            <a:spAutoFit/>
          </a:bodyPr>
          <a:lstStyle/>
          <a:p>
            <a:r>
              <a:rPr lang="en-US" sz="900" i="1"/>
              <a:t>Bursa Classification: Property</a:t>
            </a:r>
            <a:endParaRPr lang="en-MY" sz="900" i="1"/>
          </a:p>
        </p:txBody>
      </p:sp>
      <p:sp>
        <p:nvSpPr>
          <p:cNvPr id="16" name="TextBox 15">
            <a:extLst>
              <a:ext uri="{FF2B5EF4-FFF2-40B4-BE49-F238E27FC236}">
                <a16:creationId xmlns:a16="http://schemas.microsoft.com/office/drawing/2014/main" id="{AD2BFBD0-168B-49C5-F45A-E99B8384FF47}"/>
              </a:ext>
            </a:extLst>
          </p:cNvPr>
          <p:cNvSpPr txBox="1"/>
          <p:nvPr/>
        </p:nvSpPr>
        <p:spPr>
          <a:xfrm>
            <a:off x="8099364" y="3756534"/>
            <a:ext cx="1593276" cy="369332"/>
          </a:xfrm>
          <a:prstGeom prst="rect">
            <a:avLst/>
          </a:prstGeom>
          <a:noFill/>
        </p:spPr>
        <p:txBody>
          <a:bodyPr wrap="square" rtlCol="0">
            <a:spAutoFit/>
          </a:bodyPr>
          <a:lstStyle/>
          <a:p>
            <a:r>
              <a:rPr lang="en-US" sz="900" i="1"/>
              <a:t>Bursa Classification: Construction</a:t>
            </a:r>
            <a:endParaRPr lang="en-MY" sz="900" i="1"/>
          </a:p>
        </p:txBody>
      </p:sp>
      <p:sp>
        <p:nvSpPr>
          <p:cNvPr id="18" name="TextBox 17">
            <a:extLst>
              <a:ext uri="{FF2B5EF4-FFF2-40B4-BE49-F238E27FC236}">
                <a16:creationId xmlns:a16="http://schemas.microsoft.com/office/drawing/2014/main" id="{9FFD2901-8371-5739-1469-3EE3E2644E98}"/>
              </a:ext>
            </a:extLst>
          </p:cNvPr>
          <p:cNvSpPr txBox="1"/>
          <p:nvPr/>
        </p:nvSpPr>
        <p:spPr>
          <a:xfrm>
            <a:off x="8295783" y="6460690"/>
            <a:ext cx="3655285" cy="338554"/>
          </a:xfrm>
          <a:prstGeom prst="rect">
            <a:avLst/>
          </a:prstGeom>
          <a:noFill/>
        </p:spPr>
        <p:txBody>
          <a:bodyPr wrap="square" rtlCol="0">
            <a:spAutoFit/>
          </a:bodyPr>
          <a:lstStyle/>
          <a:p>
            <a:r>
              <a:rPr lang="en-US" sz="800" i="1"/>
              <a:t>Note: MGB Construction’s contribution is included under LBS Bina Group’s construction segment.</a:t>
            </a:r>
            <a:endParaRPr lang="en-MY" sz="800" i="1"/>
          </a:p>
        </p:txBody>
      </p:sp>
    </p:spTree>
    <p:extLst>
      <p:ext uri="{BB962C8B-B14F-4D97-AF65-F5344CB8AC3E}">
        <p14:creationId xmlns:p14="http://schemas.microsoft.com/office/powerpoint/2010/main" val="883037780"/>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15137-C9FF-EAF8-5958-BDC9EBF09E1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EAD35E-C6F7-765B-FEC4-1CAFD08D7D49}"/>
              </a:ext>
            </a:extLst>
          </p:cNvPr>
          <p:cNvSpPr txBox="1"/>
          <p:nvPr/>
        </p:nvSpPr>
        <p:spPr>
          <a:xfrm>
            <a:off x="292608" y="224473"/>
            <a:ext cx="11289791" cy="707886"/>
          </a:xfrm>
          <a:prstGeom prst="rect">
            <a:avLst/>
          </a:prstGeom>
          <a:noFill/>
        </p:spPr>
        <p:txBody>
          <a:bodyPr wrap="square" rtlCol="0">
            <a:spAutoFit/>
          </a:bodyPr>
          <a:lstStyle/>
          <a:p>
            <a:r>
              <a:rPr lang="en-US" sz="2000" b="1"/>
              <a:t>Appendix 1.1: A company can be large in both property development and construction, with </a:t>
            </a:r>
            <a:r>
              <a:rPr lang="en-US" sz="2000" b="1">
                <a:solidFill>
                  <a:srgbClr val="FF0000"/>
                </a:solidFill>
              </a:rPr>
              <a:t>construction focused on external and non-residential works</a:t>
            </a:r>
            <a:r>
              <a:rPr lang="en-US" sz="2000" b="1"/>
              <a:t>.</a:t>
            </a:r>
            <a:endParaRPr lang="en-MY" sz="2000" b="1"/>
          </a:p>
        </p:txBody>
      </p:sp>
      <p:sp>
        <p:nvSpPr>
          <p:cNvPr id="7" name="TextBox 6">
            <a:extLst>
              <a:ext uri="{FF2B5EF4-FFF2-40B4-BE49-F238E27FC236}">
                <a16:creationId xmlns:a16="http://schemas.microsoft.com/office/drawing/2014/main" id="{3F7952A4-167B-6A70-2324-3523E26BEEBB}"/>
              </a:ext>
            </a:extLst>
          </p:cNvPr>
          <p:cNvSpPr txBox="1"/>
          <p:nvPr/>
        </p:nvSpPr>
        <p:spPr>
          <a:xfrm>
            <a:off x="292608" y="3685595"/>
            <a:ext cx="11517000" cy="646331"/>
          </a:xfrm>
          <a:prstGeom prst="rect">
            <a:avLst/>
          </a:prstGeom>
          <a:noFill/>
        </p:spPr>
        <p:txBody>
          <a:bodyPr wrap="square" rtlCol="0">
            <a:spAutoFit/>
          </a:bodyPr>
          <a:lstStyle/>
          <a:p>
            <a:r>
              <a:rPr lang="en-US" b="1"/>
              <a:t>These companies have sustained both PD and construction segments, with construction mainly focused on external work.</a:t>
            </a:r>
            <a:endParaRPr lang="en-MY" b="1"/>
          </a:p>
        </p:txBody>
      </p:sp>
      <p:graphicFrame>
        <p:nvGraphicFramePr>
          <p:cNvPr id="8" name="Chart 7">
            <a:extLst>
              <a:ext uri="{FF2B5EF4-FFF2-40B4-BE49-F238E27FC236}">
                <a16:creationId xmlns:a16="http://schemas.microsoft.com/office/drawing/2014/main" id="{D6B737CA-49AE-3D68-E442-F523ACE88A23}"/>
              </a:ext>
            </a:extLst>
          </p:cNvPr>
          <p:cNvGraphicFramePr>
            <a:graphicFrameLocks/>
          </p:cNvGraphicFramePr>
          <p:nvPr/>
        </p:nvGraphicFramePr>
        <p:xfrm>
          <a:off x="292608" y="1026191"/>
          <a:ext cx="3919001" cy="27103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70BA9F1D-3349-9526-ED14-2EEDB793C25D}"/>
              </a:ext>
            </a:extLst>
          </p:cNvPr>
          <p:cNvGraphicFramePr>
            <a:graphicFrameLocks/>
          </p:cNvGraphicFramePr>
          <p:nvPr/>
        </p:nvGraphicFramePr>
        <p:xfrm>
          <a:off x="4150749" y="1028095"/>
          <a:ext cx="3977197" cy="270846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6011B759-651D-34FD-B544-106272268683}"/>
              </a:ext>
            </a:extLst>
          </p:cNvPr>
          <p:cNvGraphicFramePr>
            <a:graphicFrameLocks/>
          </p:cNvGraphicFramePr>
          <p:nvPr/>
        </p:nvGraphicFramePr>
        <p:xfrm>
          <a:off x="8179438" y="1029539"/>
          <a:ext cx="3897054" cy="270701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A8FFCDA3-9F88-47CF-8553-DB2897502334}"/>
              </a:ext>
            </a:extLst>
          </p:cNvPr>
          <p:cNvGraphicFramePr>
            <a:graphicFrameLocks/>
          </p:cNvGraphicFramePr>
          <p:nvPr/>
        </p:nvGraphicFramePr>
        <p:xfrm>
          <a:off x="167000" y="4286132"/>
          <a:ext cx="3881896" cy="234739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5" name="Chart 14">
            <a:extLst>
              <a:ext uri="{FF2B5EF4-FFF2-40B4-BE49-F238E27FC236}">
                <a16:creationId xmlns:a16="http://schemas.microsoft.com/office/drawing/2014/main" id="{BE350641-DF9A-4263-BAB8-4DF4282A2EDE}"/>
              </a:ext>
            </a:extLst>
          </p:cNvPr>
          <p:cNvGraphicFramePr>
            <a:graphicFrameLocks/>
          </p:cNvGraphicFramePr>
          <p:nvPr/>
        </p:nvGraphicFramePr>
        <p:xfrm>
          <a:off x="8127946" y="4286132"/>
          <a:ext cx="3897054" cy="2344113"/>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6" name="Chart 15">
            <a:extLst>
              <a:ext uri="{FF2B5EF4-FFF2-40B4-BE49-F238E27FC236}">
                <a16:creationId xmlns:a16="http://schemas.microsoft.com/office/drawing/2014/main" id="{22FA4F95-7C70-4020-8F5F-8BB87638A674}"/>
              </a:ext>
            </a:extLst>
          </p:cNvPr>
          <p:cNvGraphicFramePr>
            <a:graphicFrameLocks/>
          </p:cNvGraphicFramePr>
          <p:nvPr/>
        </p:nvGraphicFramePr>
        <p:xfrm>
          <a:off x="4150749" y="4287406"/>
          <a:ext cx="3890501" cy="2345750"/>
        </p:xfrm>
        <a:graphic>
          <a:graphicData uri="http://schemas.openxmlformats.org/drawingml/2006/chart">
            <c:chart xmlns:c="http://schemas.openxmlformats.org/drawingml/2006/chart" xmlns:r="http://schemas.openxmlformats.org/officeDocument/2006/relationships" r:id="rId8"/>
          </a:graphicData>
        </a:graphic>
      </p:graphicFrame>
      <p:sp>
        <p:nvSpPr>
          <p:cNvPr id="17" name="TextBox 16">
            <a:extLst>
              <a:ext uri="{FF2B5EF4-FFF2-40B4-BE49-F238E27FC236}">
                <a16:creationId xmlns:a16="http://schemas.microsoft.com/office/drawing/2014/main" id="{131E9C09-C079-BCA5-E0F9-523ED3AF0AA9}"/>
              </a:ext>
            </a:extLst>
          </p:cNvPr>
          <p:cNvSpPr txBox="1"/>
          <p:nvPr/>
        </p:nvSpPr>
        <p:spPr>
          <a:xfrm>
            <a:off x="292608" y="1268578"/>
            <a:ext cx="1593276" cy="230832"/>
          </a:xfrm>
          <a:prstGeom prst="rect">
            <a:avLst/>
          </a:prstGeom>
          <a:noFill/>
        </p:spPr>
        <p:txBody>
          <a:bodyPr wrap="square" rtlCol="0">
            <a:spAutoFit/>
          </a:bodyPr>
          <a:lstStyle/>
          <a:p>
            <a:r>
              <a:rPr lang="en-US" sz="900" err="1"/>
              <a:t>RM’mil</a:t>
            </a:r>
            <a:endParaRPr lang="en-MY" sz="900"/>
          </a:p>
        </p:txBody>
      </p:sp>
      <p:sp>
        <p:nvSpPr>
          <p:cNvPr id="18" name="TextBox 17">
            <a:extLst>
              <a:ext uri="{FF2B5EF4-FFF2-40B4-BE49-F238E27FC236}">
                <a16:creationId xmlns:a16="http://schemas.microsoft.com/office/drawing/2014/main" id="{282AD67A-1C8B-E70D-8630-B660D9E2290D}"/>
              </a:ext>
            </a:extLst>
          </p:cNvPr>
          <p:cNvSpPr txBox="1"/>
          <p:nvPr/>
        </p:nvSpPr>
        <p:spPr>
          <a:xfrm>
            <a:off x="4150749" y="1295244"/>
            <a:ext cx="1593276" cy="230832"/>
          </a:xfrm>
          <a:prstGeom prst="rect">
            <a:avLst/>
          </a:prstGeom>
          <a:noFill/>
        </p:spPr>
        <p:txBody>
          <a:bodyPr wrap="square" rtlCol="0">
            <a:spAutoFit/>
          </a:bodyPr>
          <a:lstStyle/>
          <a:p>
            <a:r>
              <a:rPr lang="en-US" sz="900" err="1"/>
              <a:t>RM’mil</a:t>
            </a:r>
            <a:endParaRPr lang="en-MY" sz="900"/>
          </a:p>
        </p:txBody>
      </p:sp>
      <p:sp>
        <p:nvSpPr>
          <p:cNvPr id="19" name="TextBox 18">
            <a:extLst>
              <a:ext uri="{FF2B5EF4-FFF2-40B4-BE49-F238E27FC236}">
                <a16:creationId xmlns:a16="http://schemas.microsoft.com/office/drawing/2014/main" id="{D68B06ED-64B7-601B-884B-3D4CDDB81E48}"/>
              </a:ext>
            </a:extLst>
          </p:cNvPr>
          <p:cNvSpPr txBox="1"/>
          <p:nvPr/>
        </p:nvSpPr>
        <p:spPr>
          <a:xfrm>
            <a:off x="8179438" y="1293970"/>
            <a:ext cx="1593276" cy="230832"/>
          </a:xfrm>
          <a:prstGeom prst="rect">
            <a:avLst/>
          </a:prstGeom>
          <a:noFill/>
        </p:spPr>
        <p:txBody>
          <a:bodyPr wrap="square" rtlCol="0">
            <a:spAutoFit/>
          </a:bodyPr>
          <a:lstStyle/>
          <a:p>
            <a:r>
              <a:rPr lang="en-US" sz="900" err="1"/>
              <a:t>RM’mil</a:t>
            </a:r>
            <a:endParaRPr lang="en-MY" sz="900"/>
          </a:p>
        </p:txBody>
      </p:sp>
    </p:spTree>
    <p:extLst>
      <p:ext uri="{BB962C8B-B14F-4D97-AF65-F5344CB8AC3E}">
        <p14:creationId xmlns:p14="http://schemas.microsoft.com/office/powerpoint/2010/main" val="2195408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0621A-D30F-A751-7754-8395BFB74D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BE3A25-2599-BD95-3FB8-C4F742445910}"/>
              </a:ext>
            </a:extLst>
          </p:cNvPr>
          <p:cNvSpPr txBox="1"/>
          <p:nvPr/>
        </p:nvSpPr>
        <p:spPr>
          <a:xfrm>
            <a:off x="304800" y="218633"/>
            <a:ext cx="11410950" cy="1015663"/>
          </a:xfrm>
          <a:prstGeom prst="rect">
            <a:avLst/>
          </a:prstGeom>
          <a:noFill/>
        </p:spPr>
        <p:txBody>
          <a:bodyPr wrap="square" rtlCol="0">
            <a:spAutoFit/>
          </a:bodyPr>
          <a:lstStyle/>
          <a:p>
            <a:r>
              <a:rPr lang="en-US" sz="2000" b="1"/>
              <a:t>Appendix 1.1a: Sunway Group holds a 54.55% equity stake in Sunway Construction Group Berhad. </a:t>
            </a:r>
            <a:r>
              <a:rPr lang="en-US" sz="2000" b="1" err="1"/>
              <a:t>SunCon</a:t>
            </a:r>
            <a:r>
              <a:rPr lang="en-US" sz="2000" b="1"/>
              <a:t> primarily </a:t>
            </a:r>
            <a:r>
              <a:rPr lang="en-US" sz="2000" b="1">
                <a:solidFill>
                  <a:srgbClr val="FF0000"/>
                </a:solidFill>
              </a:rPr>
              <a:t>focuses on external industrial and mixed-development projects</a:t>
            </a:r>
            <a:r>
              <a:rPr lang="en-US" sz="2000" b="1"/>
              <a:t>, while residential construction is largely undertaken only for Sunway’s in-house developments.  </a:t>
            </a:r>
            <a:endParaRPr lang="en-MY" sz="2000" b="1"/>
          </a:p>
        </p:txBody>
      </p:sp>
      <p:pic>
        <p:nvPicPr>
          <p:cNvPr id="7" name="Picture 6">
            <a:extLst>
              <a:ext uri="{FF2B5EF4-FFF2-40B4-BE49-F238E27FC236}">
                <a16:creationId xmlns:a16="http://schemas.microsoft.com/office/drawing/2014/main" id="{94F83ADA-3CEA-5379-D9A8-B5498DB9E8DD}"/>
              </a:ext>
            </a:extLst>
          </p:cNvPr>
          <p:cNvPicPr>
            <a:picLocks noChangeAspect="1"/>
          </p:cNvPicPr>
          <p:nvPr/>
        </p:nvPicPr>
        <p:blipFill>
          <a:blip r:embed="rId2"/>
          <a:stretch>
            <a:fillRect/>
          </a:stretch>
        </p:blipFill>
        <p:spPr>
          <a:xfrm>
            <a:off x="303119" y="4409393"/>
            <a:ext cx="2466975" cy="2032201"/>
          </a:xfrm>
          <a:prstGeom prst="rect">
            <a:avLst/>
          </a:prstGeom>
        </p:spPr>
      </p:pic>
      <p:sp>
        <p:nvSpPr>
          <p:cNvPr id="11" name="TextBox 10">
            <a:extLst>
              <a:ext uri="{FF2B5EF4-FFF2-40B4-BE49-F238E27FC236}">
                <a16:creationId xmlns:a16="http://schemas.microsoft.com/office/drawing/2014/main" id="{306CC45C-AFE0-D9EB-21F3-B528751D6735}"/>
              </a:ext>
            </a:extLst>
          </p:cNvPr>
          <p:cNvSpPr txBox="1"/>
          <p:nvPr/>
        </p:nvSpPr>
        <p:spPr>
          <a:xfrm>
            <a:off x="5592862" y="4362985"/>
            <a:ext cx="4419600" cy="2123658"/>
          </a:xfrm>
          <a:prstGeom prst="rect">
            <a:avLst/>
          </a:prstGeom>
          <a:noFill/>
        </p:spPr>
        <p:txBody>
          <a:bodyPr wrap="square">
            <a:spAutoFit/>
          </a:bodyPr>
          <a:lstStyle/>
          <a:p>
            <a:r>
              <a:rPr lang="en-US" sz="1200" b="1"/>
              <a:t>In house Commercial Projects in FY2024:</a:t>
            </a:r>
          </a:p>
          <a:p>
            <a:pPr marL="285750" indent="-285750">
              <a:buFont typeface="Arial" panose="020B0604020202020204" pitchFamily="34" charset="0"/>
              <a:buChar char="•"/>
            </a:pPr>
            <a:r>
              <a:rPr lang="en-US" sz="1200"/>
              <a:t>Sunway Medical Centre Damansara </a:t>
            </a:r>
          </a:p>
          <a:p>
            <a:pPr marL="285750" indent="-285750">
              <a:buFont typeface="Arial" panose="020B0604020202020204" pitchFamily="34" charset="0"/>
              <a:buChar char="•"/>
            </a:pPr>
            <a:r>
              <a:rPr lang="en-MY" sz="1200"/>
              <a:t>Sunway Medical Centre Ipoh</a:t>
            </a:r>
          </a:p>
          <a:p>
            <a:endParaRPr lang="en-MY" sz="1200"/>
          </a:p>
          <a:p>
            <a:r>
              <a:rPr lang="en-MY" sz="1200" b="1"/>
              <a:t>In house mixed development project:</a:t>
            </a:r>
          </a:p>
          <a:p>
            <a:pPr marL="285750" indent="-285750">
              <a:buFont typeface="Arial" panose="020B0604020202020204" pitchFamily="34" charset="0"/>
              <a:buChar char="•"/>
            </a:pPr>
            <a:r>
              <a:rPr lang="en-MY" sz="1200"/>
              <a:t>Sunway Square</a:t>
            </a:r>
          </a:p>
          <a:p>
            <a:pPr marL="285750" indent="-285750">
              <a:buFont typeface="Arial" panose="020B0604020202020204" pitchFamily="34" charset="0"/>
              <a:buChar char="•"/>
            </a:pPr>
            <a:r>
              <a:rPr lang="en-MY" sz="1200"/>
              <a:t>Daiso Global Distribution Centre (GDC) warehouse</a:t>
            </a:r>
          </a:p>
          <a:p>
            <a:pPr marL="285750" indent="-285750">
              <a:buFont typeface="Arial" panose="020B0604020202020204" pitchFamily="34" charset="0"/>
              <a:buChar char="•"/>
            </a:pPr>
            <a:endParaRPr lang="en-MY" sz="1200"/>
          </a:p>
          <a:p>
            <a:r>
              <a:rPr lang="en-MY" sz="1200" b="1"/>
              <a:t>In house residential projects:</a:t>
            </a:r>
          </a:p>
          <a:p>
            <a:pPr marL="285750" indent="-285750">
              <a:buFont typeface="Arial" panose="020B0604020202020204" pitchFamily="34" charset="0"/>
              <a:buChar char="•"/>
            </a:pPr>
            <a:r>
              <a:rPr lang="en-US" sz="1200"/>
              <a:t>Sunway Velocity 2 (Plot B) </a:t>
            </a:r>
          </a:p>
          <a:p>
            <a:pPr marL="285750" indent="-285750">
              <a:buFont typeface="Arial" panose="020B0604020202020204" pitchFamily="34" charset="0"/>
              <a:buChar char="•"/>
            </a:pPr>
            <a:r>
              <a:rPr lang="en-US" sz="1200"/>
              <a:t>Sunway Belfield</a:t>
            </a:r>
          </a:p>
        </p:txBody>
      </p:sp>
      <p:pic>
        <p:nvPicPr>
          <p:cNvPr id="14" name="Picture 13">
            <a:extLst>
              <a:ext uri="{FF2B5EF4-FFF2-40B4-BE49-F238E27FC236}">
                <a16:creationId xmlns:a16="http://schemas.microsoft.com/office/drawing/2014/main" id="{C561EDB7-06FE-6B5D-EF2E-8022F2247BAB}"/>
              </a:ext>
            </a:extLst>
          </p:cNvPr>
          <p:cNvPicPr>
            <a:picLocks noChangeAspect="1"/>
          </p:cNvPicPr>
          <p:nvPr/>
        </p:nvPicPr>
        <p:blipFill>
          <a:blip r:embed="rId3"/>
          <a:stretch>
            <a:fillRect/>
          </a:stretch>
        </p:blipFill>
        <p:spPr>
          <a:xfrm>
            <a:off x="5119212" y="1549053"/>
            <a:ext cx="6596538" cy="2452953"/>
          </a:xfrm>
          <a:prstGeom prst="rect">
            <a:avLst/>
          </a:prstGeom>
        </p:spPr>
      </p:pic>
      <p:pic>
        <p:nvPicPr>
          <p:cNvPr id="16" name="Picture 15">
            <a:extLst>
              <a:ext uri="{FF2B5EF4-FFF2-40B4-BE49-F238E27FC236}">
                <a16:creationId xmlns:a16="http://schemas.microsoft.com/office/drawing/2014/main" id="{9EA318CB-44D1-A18B-24C3-A7ECDE10A848}"/>
              </a:ext>
            </a:extLst>
          </p:cNvPr>
          <p:cNvPicPr>
            <a:picLocks noChangeAspect="1"/>
          </p:cNvPicPr>
          <p:nvPr/>
        </p:nvPicPr>
        <p:blipFill>
          <a:blip r:embed="rId4"/>
          <a:stretch>
            <a:fillRect/>
          </a:stretch>
        </p:blipFill>
        <p:spPr>
          <a:xfrm>
            <a:off x="2776497" y="4409394"/>
            <a:ext cx="2695897" cy="2032201"/>
          </a:xfrm>
          <a:prstGeom prst="rect">
            <a:avLst/>
          </a:prstGeom>
        </p:spPr>
      </p:pic>
      <p:graphicFrame>
        <p:nvGraphicFramePr>
          <p:cNvPr id="2" name="Chart 1">
            <a:extLst>
              <a:ext uri="{FF2B5EF4-FFF2-40B4-BE49-F238E27FC236}">
                <a16:creationId xmlns:a16="http://schemas.microsoft.com/office/drawing/2014/main" id="{5B697003-F46D-0DCB-CD15-BB428362E3FA}"/>
              </a:ext>
            </a:extLst>
          </p:cNvPr>
          <p:cNvGraphicFramePr>
            <a:graphicFrameLocks/>
          </p:cNvGraphicFramePr>
          <p:nvPr/>
        </p:nvGraphicFramePr>
        <p:xfrm>
          <a:off x="304800" y="1432505"/>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136519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9B70-2A7B-0691-D861-D2D8C70CCFD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96765E1-B81E-B455-B05A-EBAF8A5E56DC}"/>
              </a:ext>
            </a:extLst>
          </p:cNvPr>
          <p:cNvSpPr txBox="1"/>
          <p:nvPr/>
        </p:nvSpPr>
        <p:spPr>
          <a:xfrm>
            <a:off x="400050" y="3479648"/>
            <a:ext cx="11534775" cy="584775"/>
          </a:xfrm>
          <a:prstGeom prst="rect">
            <a:avLst/>
          </a:prstGeom>
          <a:noFill/>
        </p:spPr>
        <p:txBody>
          <a:bodyPr wrap="square">
            <a:spAutoFit/>
          </a:bodyPr>
          <a:lstStyle/>
          <a:p>
            <a:r>
              <a:rPr lang="en-US" sz="1600" b="1"/>
              <a:t>Gamuda secured a total of RM25 billion in new order for FY2025, comprising projects across the </a:t>
            </a:r>
            <a:r>
              <a:rPr lang="en-US" sz="1600" b="1">
                <a:solidFill>
                  <a:srgbClr val="FF0000"/>
                </a:solidFill>
              </a:rPr>
              <a:t>Renewable Energy (RM6.3 billion), Transport and Infra (RM15.0 billion), and Data Centre (RM3.6 billion)</a:t>
            </a:r>
            <a:r>
              <a:rPr lang="en-US" sz="1600" b="1"/>
              <a:t>.</a:t>
            </a:r>
            <a:endParaRPr lang="en-MY" sz="1600" b="1"/>
          </a:p>
        </p:txBody>
      </p:sp>
      <p:graphicFrame>
        <p:nvGraphicFramePr>
          <p:cNvPr id="3" name="Chart 2">
            <a:extLst>
              <a:ext uri="{FF2B5EF4-FFF2-40B4-BE49-F238E27FC236}">
                <a16:creationId xmlns:a16="http://schemas.microsoft.com/office/drawing/2014/main" id="{FA8DDE9A-E8CE-CB03-9AC5-127CBE660C7C}"/>
              </a:ext>
            </a:extLst>
          </p:cNvPr>
          <p:cNvGraphicFramePr>
            <a:graphicFrameLocks/>
          </p:cNvGraphicFramePr>
          <p:nvPr/>
        </p:nvGraphicFramePr>
        <p:xfrm>
          <a:off x="3081337" y="4064423"/>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70BA9F1D-3349-9526-ED14-2EEDB793C25D}"/>
              </a:ext>
            </a:extLst>
          </p:cNvPr>
          <p:cNvGraphicFramePr>
            <a:graphicFrameLocks/>
          </p:cNvGraphicFramePr>
          <p:nvPr/>
        </p:nvGraphicFramePr>
        <p:xfrm>
          <a:off x="400050" y="819174"/>
          <a:ext cx="5362575" cy="2789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82DEEB1C-EB54-4188-80D2-5D0B69D86DDA}"/>
              </a:ext>
            </a:extLst>
          </p:cNvPr>
          <p:cNvGraphicFramePr>
            <a:graphicFrameLocks/>
          </p:cNvGraphicFramePr>
          <p:nvPr/>
        </p:nvGraphicFramePr>
        <p:xfrm>
          <a:off x="6167437" y="1051463"/>
          <a:ext cx="5129213" cy="2557671"/>
        </p:xfrm>
        <a:graphic>
          <a:graphicData uri="http://schemas.openxmlformats.org/drawingml/2006/chart">
            <c:chart xmlns:c="http://schemas.openxmlformats.org/drawingml/2006/chart" xmlns:r="http://schemas.openxmlformats.org/officeDocument/2006/relationships" r:id="rId4"/>
          </a:graphicData>
        </a:graphic>
      </p:graphicFrame>
      <p:pic>
        <p:nvPicPr>
          <p:cNvPr id="14" name="Picture 13">
            <a:extLst>
              <a:ext uri="{FF2B5EF4-FFF2-40B4-BE49-F238E27FC236}">
                <a16:creationId xmlns:a16="http://schemas.microsoft.com/office/drawing/2014/main" id="{2FBF466E-B89A-C57A-198A-F00C2F0AA731}"/>
              </a:ext>
            </a:extLst>
          </p:cNvPr>
          <p:cNvPicPr>
            <a:picLocks noChangeAspect="1"/>
          </p:cNvPicPr>
          <p:nvPr/>
        </p:nvPicPr>
        <p:blipFill>
          <a:blip r:embed="rId5"/>
          <a:stretch>
            <a:fillRect/>
          </a:stretch>
        </p:blipFill>
        <p:spPr>
          <a:xfrm>
            <a:off x="400050" y="4177877"/>
            <a:ext cx="2820301" cy="2513097"/>
          </a:xfrm>
          <a:prstGeom prst="rect">
            <a:avLst/>
          </a:prstGeom>
        </p:spPr>
      </p:pic>
      <p:sp>
        <p:nvSpPr>
          <p:cNvPr id="4" name="TextBox 3">
            <a:extLst>
              <a:ext uri="{FF2B5EF4-FFF2-40B4-BE49-F238E27FC236}">
                <a16:creationId xmlns:a16="http://schemas.microsoft.com/office/drawing/2014/main" id="{33937D6C-7C91-FA4D-31D1-673D7D41E00D}"/>
              </a:ext>
            </a:extLst>
          </p:cNvPr>
          <p:cNvSpPr txBox="1"/>
          <p:nvPr/>
        </p:nvSpPr>
        <p:spPr>
          <a:xfrm>
            <a:off x="400050" y="288483"/>
            <a:ext cx="11534775" cy="707886"/>
          </a:xfrm>
          <a:prstGeom prst="rect">
            <a:avLst/>
          </a:prstGeom>
          <a:noFill/>
        </p:spPr>
        <p:txBody>
          <a:bodyPr wrap="square">
            <a:spAutoFit/>
          </a:bodyPr>
          <a:lstStyle/>
          <a:p>
            <a:r>
              <a:rPr lang="en-US" sz="2000" b="1"/>
              <a:t>Appendix 1.1b: Gamuda’s </a:t>
            </a:r>
            <a:r>
              <a:rPr lang="en-US" sz="2000" b="1">
                <a:solidFill>
                  <a:srgbClr val="FF0000"/>
                </a:solidFill>
              </a:rPr>
              <a:t>order book is driven by non-residential projects</a:t>
            </a:r>
            <a:r>
              <a:rPr lang="en-US" sz="2000" b="1"/>
              <a:t>, allowing the Group to scale its Construction segment without  exposure to the inherent COI risks with PD work.</a:t>
            </a:r>
            <a:endParaRPr lang="en-MY" sz="2000" b="1"/>
          </a:p>
        </p:txBody>
      </p:sp>
    </p:spTree>
    <p:extLst>
      <p:ext uri="{BB962C8B-B14F-4D97-AF65-F5344CB8AC3E}">
        <p14:creationId xmlns:p14="http://schemas.microsoft.com/office/powerpoint/2010/main" val="287729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D587-9ACD-85AF-5F12-0C1675783B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9A64F6-6A28-D2D3-2704-F1AD9A342716}"/>
              </a:ext>
            </a:extLst>
          </p:cNvPr>
          <p:cNvSpPr txBox="1"/>
          <p:nvPr/>
        </p:nvSpPr>
        <p:spPr>
          <a:xfrm>
            <a:off x="378333" y="290026"/>
            <a:ext cx="11219688" cy="707886"/>
          </a:xfrm>
          <a:prstGeom prst="rect">
            <a:avLst/>
          </a:prstGeom>
          <a:noFill/>
        </p:spPr>
        <p:txBody>
          <a:bodyPr wrap="square" rtlCol="0">
            <a:spAutoFit/>
          </a:bodyPr>
          <a:lstStyle/>
          <a:p>
            <a:r>
              <a:rPr lang="en-US" sz="2000" b="1"/>
              <a:t>Appendix 1.1c: I</a:t>
            </a:r>
            <a:r>
              <a:rPr lang="en-MY" sz="2000" b="1"/>
              <a:t>JM Corp </a:t>
            </a:r>
            <a:r>
              <a:rPr lang="en-US" sz="2000" b="1"/>
              <a:t>Secured RM3.6 billion new order book, 67% from </a:t>
            </a:r>
            <a:r>
              <a:rPr lang="en-US" sz="2000" b="1">
                <a:solidFill>
                  <a:srgbClr val="FF0000"/>
                </a:solidFill>
              </a:rPr>
              <a:t>industrial segments</a:t>
            </a:r>
            <a:r>
              <a:rPr lang="en-US" sz="2000" b="1"/>
              <a:t>, including 3 major data </a:t>
            </a:r>
            <a:r>
              <a:rPr lang="en-US" sz="2000" b="1" err="1"/>
              <a:t>centre</a:t>
            </a:r>
            <a:r>
              <a:rPr lang="en-US" sz="2000" b="1"/>
              <a:t> projects worth RM845.20 million in FY2025</a:t>
            </a:r>
            <a:endParaRPr lang="en-MY" sz="2000" b="1"/>
          </a:p>
        </p:txBody>
      </p:sp>
      <p:pic>
        <p:nvPicPr>
          <p:cNvPr id="10" name="Picture 9">
            <a:extLst>
              <a:ext uri="{FF2B5EF4-FFF2-40B4-BE49-F238E27FC236}">
                <a16:creationId xmlns:a16="http://schemas.microsoft.com/office/drawing/2014/main" id="{5444B5AD-A223-1E21-4163-9ED4B15F388B}"/>
              </a:ext>
            </a:extLst>
          </p:cNvPr>
          <p:cNvPicPr>
            <a:picLocks noChangeAspect="1"/>
          </p:cNvPicPr>
          <p:nvPr/>
        </p:nvPicPr>
        <p:blipFill>
          <a:blip r:embed="rId2"/>
          <a:stretch>
            <a:fillRect/>
          </a:stretch>
        </p:blipFill>
        <p:spPr>
          <a:xfrm>
            <a:off x="378333" y="4271665"/>
            <a:ext cx="5898642" cy="2091758"/>
          </a:xfrm>
          <a:prstGeom prst="rect">
            <a:avLst/>
          </a:prstGeom>
        </p:spPr>
      </p:pic>
      <p:graphicFrame>
        <p:nvGraphicFramePr>
          <p:cNvPr id="4" name="Chart 3">
            <a:extLst>
              <a:ext uri="{FF2B5EF4-FFF2-40B4-BE49-F238E27FC236}">
                <a16:creationId xmlns:a16="http://schemas.microsoft.com/office/drawing/2014/main" id="{6011B759-651D-34FD-B544-106272268683}"/>
              </a:ext>
            </a:extLst>
          </p:cNvPr>
          <p:cNvGraphicFramePr>
            <a:graphicFrameLocks/>
          </p:cNvGraphicFramePr>
          <p:nvPr/>
        </p:nvGraphicFramePr>
        <p:xfrm>
          <a:off x="711199" y="1086468"/>
          <a:ext cx="5059028" cy="27520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D27A3FAD-BACE-E1B5-9593-524563664FDB}"/>
              </a:ext>
            </a:extLst>
          </p:cNvPr>
          <p:cNvGraphicFramePr>
            <a:graphicFrameLocks/>
          </p:cNvGraphicFramePr>
          <p:nvPr/>
        </p:nvGraphicFramePr>
        <p:xfrm>
          <a:off x="6454140" y="1152914"/>
          <a:ext cx="4571365" cy="261919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80283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D6AC-347D-1AA8-8266-671E1DB304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E6B80E-8C99-D7ED-9742-AA18AB322A7C}"/>
              </a:ext>
            </a:extLst>
          </p:cNvPr>
          <p:cNvSpPr txBox="1"/>
          <p:nvPr/>
        </p:nvSpPr>
        <p:spPr>
          <a:xfrm>
            <a:off x="375031" y="279175"/>
            <a:ext cx="11219688" cy="1015663"/>
          </a:xfrm>
          <a:prstGeom prst="rect">
            <a:avLst/>
          </a:prstGeom>
          <a:noFill/>
        </p:spPr>
        <p:txBody>
          <a:bodyPr wrap="square" rtlCol="0">
            <a:spAutoFit/>
          </a:bodyPr>
          <a:lstStyle/>
          <a:p>
            <a:r>
              <a:rPr lang="en-US" sz="2000" b="1"/>
              <a:t>Appendix 1.1d: LBS holds a 57.83% equity stake in MGB Berhad. MGB </a:t>
            </a:r>
            <a:r>
              <a:rPr lang="en-US" sz="2000" b="1">
                <a:solidFill>
                  <a:srgbClr val="FF0000"/>
                </a:solidFill>
              </a:rPr>
              <a:t>predominantly undertakes internal construction works for the LBS Group</a:t>
            </a:r>
            <a:r>
              <a:rPr lang="en-US" sz="2000" b="1"/>
              <a:t>, with its external revenue broadly equivalent to LBS’s total construction revenue.</a:t>
            </a:r>
            <a:endParaRPr lang="en-MY" sz="2000" b="1"/>
          </a:p>
        </p:txBody>
      </p:sp>
      <p:graphicFrame>
        <p:nvGraphicFramePr>
          <p:cNvPr id="5" name="Chart 4">
            <a:extLst>
              <a:ext uri="{FF2B5EF4-FFF2-40B4-BE49-F238E27FC236}">
                <a16:creationId xmlns:a16="http://schemas.microsoft.com/office/drawing/2014/main" id="{27C698E1-E729-33FF-F183-B9CC89A9843A}"/>
              </a:ext>
            </a:extLst>
          </p:cNvPr>
          <p:cNvGraphicFramePr>
            <a:graphicFrameLocks/>
          </p:cNvGraphicFramePr>
          <p:nvPr/>
        </p:nvGraphicFramePr>
        <p:xfrm>
          <a:off x="409575" y="1190625"/>
          <a:ext cx="5600700" cy="293043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53836579-64EB-533A-9836-B3AF2BCBA604}"/>
              </a:ext>
            </a:extLst>
          </p:cNvPr>
          <p:cNvGraphicFramePr>
            <a:graphicFrameLocks/>
          </p:cNvGraphicFramePr>
          <p:nvPr/>
        </p:nvGraphicFramePr>
        <p:xfrm>
          <a:off x="6329523" y="1265192"/>
          <a:ext cx="4386894" cy="27813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8CDC891B-7A00-8CC7-034A-8065A02F92EB}"/>
              </a:ext>
            </a:extLst>
          </p:cNvPr>
          <p:cNvSpPr txBox="1"/>
          <p:nvPr/>
        </p:nvSpPr>
        <p:spPr>
          <a:xfrm>
            <a:off x="400431" y="4195634"/>
            <a:ext cx="11219688" cy="646331"/>
          </a:xfrm>
          <a:prstGeom prst="rect">
            <a:avLst/>
          </a:prstGeom>
          <a:noFill/>
        </p:spPr>
        <p:txBody>
          <a:bodyPr wrap="square" rtlCol="0">
            <a:spAutoFit/>
          </a:bodyPr>
          <a:lstStyle/>
          <a:p>
            <a:r>
              <a:rPr lang="en-US" b="1"/>
              <a:t>MGB complement by lowering LBS's cost of building affordable homes, with margin mainly comes from IBS efficiency.</a:t>
            </a:r>
            <a:endParaRPr lang="en-MY" b="1"/>
          </a:p>
        </p:txBody>
      </p:sp>
      <p:sp>
        <p:nvSpPr>
          <p:cNvPr id="6" name="TextBox 5">
            <a:extLst>
              <a:ext uri="{FF2B5EF4-FFF2-40B4-BE49-F238E27FC236}">
                <a16:creationId xmlns:a16="http://schemas.microsoft.com/office/drawing/2014/main" id="{DB7F2F89-BF73-BF0C-8606-ABB7AE0460AC}"/>
              </a:ext>
            </a:extLst>
          </p:cNvPr>
          <p:cNvSpPr txBox="1"/>
          <p:nvPr/>
        </p:nvSpPr>
        <p:spPr>
          <a:xfrm>
            <a:off x="486156" y="4991107"/>
            <a:ext cx="10600944" cy="523220"/>
          </a:xfrm>
          <a:prstGeom prst="rect">
            <a:avLst/>
          </a:prstGeom>
          <a:noFill/>
        </p:spPr>
        <p:txBody>
          <a:bodyPr wrap="square">
            <a:spAutoFit/>
          </a:bodyPr>
          <a:lstStyle/>
          <a:p>
            <a:pPr marL="285750" indent="-285750">
              <a:buFont typeface="Arial" panose="020B0604020202020204" pitchFamily="34" charset="0"/>
              <a:buChar char="•"/>
            </a:pPr>
            <a:r>
              <a:rPr lang="en-US" sz="1400"/>
              <a:t>Collaborate with </a:t>
            </a:r>
            <a:r>
              <a:rPr lang="en-US" sz="1400" err="1"/>
              <a:t>Permodalan</a:t>
            </a:r>
            <a:r>
              <a:rPr lang="en-US" sz="1400"/>
              <a:t> Negeri Selangor Berhad to provide affordable housing</a:t>
            </a:r>
          </a:p>
          <a:p>
            <a:pPr marL="285750" indent="-285750">
              <a:buFont typeface="Arial" panose="020B0604020202020204" pitchFamily="34" charset="0"/>
              <a:buChar char="•"/>
            </a:pPr>
            <a:r>
              <a:rPr lang="en-US" sz="1400"/>
              <a:t>IBS panels led a 33% reduction in construction time and a 31% decrease in reliance on manual </a:t>
            </a:r>
            <a:r>
              <a:rPr lang="en-US" sz="1400" err="1"/>
              <a:t>labour</a:t>
            </a:r>
            <a:endParaRPr lang="en-MY" sz="1400"/>
          </a:p>
        </p:txBody>
      </p:sp>
    </p:spTree>
    <p:extLst>
      <p:ext uri="{BB962C8B-B14F-4D97-AF65-F5344CB8AC3E}">
        <p14:creationId xmlns:p14="http://schemas.microsoft.com/office/powerpoint/2010/main" val="1154190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F44F6-F69E-B7BC-B65B-9EF0CF0B4D0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3FA6EF-64BE-5A18-45D0-B9CF5275D3BA}"/>
              </a:ext>
            </a:extLst>
          </p:cNvPr>
          <p:cNvSpPr>
            <a:spLocks noGrp="1"/>
          </p:cNvSpPr>
          <p:nvPr>
            <p:ph type="title"/>
          </p:nvPr>
        </p:nvSpPr>
        <p:spPr>
          <a:xfrm>
            <a:off x="3259860" y="2766218"/>
            <a:ext cx="8148782" cy="1325563"/>
          </a:xfrm>
        </p:spPr>
        <p:txBody>
          <a:bodyPr>
            <a:normAutofit/>
          </a:bodyPr>
          <a:lstStyle/>
          <a:p>
            <a:r>
              <a:rPr kumimoji="0" lang="en-MY" sz="4400" i="0" u="none" strike="noStrike" kern="1200" cap="none" spc="0" normalizeH="0" baseline="0" noProof="0">
                <a:ln>
                  <a:noFill/>
                </a:ln>
                <a:effectLst/>
                <a:uLnTx/>
                <a:uFillTx/>
                <a:latin typeface="Aptos"/>
                <a:ea typeface="+mn-ea"/>
                <a:cs typeface="+mn-cs"/>
              </a:rPr>
              <a:t>Appendix 2 :</a:t>
            </a:r>
            <a:br>
              <a:rPr kumimoji="0" lang="en-MY" sz="4400" i="0" u="none" strike="noStrike" kern="1200" cap="none" spc="0" normalizeH="0" baseline="0" noProof="0">
                <a:ln>
                  <a:noFill/>
                </a:ln>
                <a:effectLst/>
                <a:uLnTx/>
                <a:uFillTx/>
                <a:latin typeface="Aptos"/>
                <a:ea typeface="+mn-ea"/>
                <a:cs typeface="+mn-cs"/>
              </a:rPr>
            </a:br>
            <a:r>
              <a:rPr kumimoji="0" lang="en-MY" sz="4400" i="0" u="none" strike="noStrike" kern="1200" cap="none" spc="0" normalizeH="0" baseline="0" noProof="0">
                <a:ln>
                  <a:noFill/>
                </a:ln>
                <a:effectLst/>
                <a:uLnTx/>
                <a:uFillTx/>
                <a:latin typeface="Aptos"/>
                <a:ea typeface="+mn-ea"/>
                <a:cs typeface="+mn-cs"/>
              </a:rPr>
              <a:t>About </a:t>
            </a:r>
            <a:r>
              <a:rPr kumimoji="0" lang="en-MY" sz="4400" i="0" u="none" strike="noStrike" kern="1200" cap="none" spc="0" normalizeH="0" baseline="0" noProof="0" err="1">
                <a:ln>
                  <a:noFill/>
                </a:ln>
                <a:effectLst/>
                <a:uLnTx/>
                <a:uFillTx/>
                <a:latin typeface="Aptos"/>
                <a:ea typeface="+mn-ea"/>
                <a:cs typeface="+mn-cs"/>
              </a:rPr>
              <a:t>Binastra</a:t>
            </a:r>
            <a:r>
              <a:rPr kumimoji="0" lang="en-MY" sz="4400" i="0" u="none" strike="noStrike" kern="1200" cap="none" spc="0" normalizeH="0" baseline="0" noProof="0">
                <a:ln>
                  <a:noFill/>
                </a:ln>
                <a:effectLst/>
                <a:uLnTx/>
                <a:uFillTx/>
                <a:latin typeface="Aptos"/>
                <a:ea typeface="+mn-ea"/>
                <a:cs typeface="+mn-cs"/>
              </a:rPr>
              <a:t> &amp; </a:t>
            </a:r>
            <a:r>
              <a:rPr kumimoji="0" lang="en-MY" sz="4400" i="0" u="none" strike="noStrike" kern="1200" cap="none" spc="0" normalizeH="0" baseline="0" noProof="0" err="1">
                <a:ln>
                  <a:noFill/>
                </a:ln>
                <a:effectLst/>
                <a:uLnTx/>
                <a:uFillTx/>
                <a:latin typeface="Aptos"/>
                <a:ea typeface="+mn-ea"/>
                <a:cs typeface="+mn-cs"/>
              </a:rPr>
              <a:t>Nestcon</a:t>
            </a:r>
            <a:endParaRPr lang="en-US" sz="3200" b="0"/>
          </a:p>
        </p:txBody>
      </p:sp>
      <p:sp>
        <p:nvSpPr>
          <p:cNvPr id="6" name="Text Placeholder 5">
            <a:extLst>
              <a:ext uri="{FF2B5EF4-FFF2-40B4-BE49-F238E27FC236}">
                <a16:creationId xmlns:a16="http://schemas.microsoft.com/office/drawing/2014/main" id="{D813A7D2-F56A-CB10-CEBD-A6F5DB951411}"/>
              </a:ext>
            </a:extLst>
          </p:cNvPr>
          <p:cNvSpPr>
            <a:spLocks noGrp="1"/>
          </p:cNvSpPr>
          <p:nvPr>
            <p:ph type="body" sz="quarter" idx="10"/>
          </p:nvPr>
        </p:nvSpPr>
        <p:spPr>
          <a:xfrm>
            <a:off x="1422632" y="2907668"/>
            <a:ext cx="1168167" cy="1042662"/>
          </a:xfrm>
        </p:spPr>
        <p:txBody>
          <a:bodyPr/>
          <a:lstStyle/>
          <a:p>
            <a:pPr algn="ctr"/>
            <a:r>
              <a:rPr lang="en-US" sz="3600"/>
              <a:t>02</a:t>
            </a:r>
          </a:p>
        </p:txBody>
      </p:sp>
    </p:spTree>
    <p:extLst>
      <p:ext uri="{BB962C8B-B14F-4D97-AF65-F5344CB8AC3E}">
        <p14:creationId xmlns:p14="http://schemas.microsoft.com/office/powerpoint/2010/main" val="31628235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C33B-519C-B2A6-5FFD-0D9093135C38}"/>
            </a:ext>
          </a:extLst>
        </p:cNvPr>
        <p:cNvGrpSpPr/>
        <p:nvPr/>
      </p:nvGrpSpPr>
      <p:grpSpPr>
        <a:xfrm>
          <a:off x="0" y="0"/>
          <a:ext cx="0" cy="0"/>
          <a:chOff x="0" y="0"/>
          <a:chExt cx="0" cy="0"/>
        </a:xfrm>
      </p:grpSpPr>
      <p:cxnSp>
        <p:nvCxnSpPr>
          <p:cNvPr id="41" name="Straight Connector 40">
            <a:extLst>
              <a:ext uri="{FF2B5EF4-FFF2-40B4-BE49-F238E27FC236}">
                <a16:creationId xmlns:a16="http://schemas.microsoft.com/office/drawing/2014/main" id="{F0BA5F6F-DD56-F5F1-4169-CB878E4DC522}"/>
              </a:ext>
            </a:extLst>
          </p:cNvPr>
          <p:cNvCxnSpPr>
            <a:endCxn id="39" idx="0"/>
          </p:cNvCxnSpPr>
          <p:nvPr/>
        </p:nvCxnSpPr>
        <p:spPr>
          <a:xfrm flipH="1">
            <a:off x="8328311" y="2520950"/>
            <a:ext cx="594698" cy="1153531"/>
          </a:xfrm>
          <a:prstGeom prst="line">
            <a:avLst/>
          </a:prstGeom>
          <a:ln>
            <a:solidFill>
              <a:srgbClr val="196B24"/>
            </a:solidFill>
          </a:ln>
        </p:spPr>
        <p:style>
          <a:lnRef idx="3">
            <a:schemeClr val="dk1"/>
          </a:lnRef>
          <a:fillRef idx="0">
            <a:schemeClr val="dk1"/>
          </a:fillRef>
          <a:effectRef idx="2">
            <a:schemeClr val="dk1"/>
          </a:effectRef>
          <a:fontRef idx="minor">
            <a:schemeClr val="tx1"/>
          </a:fontRef>
        </p:style>
      </p:cxnSp>
      <p:pic>
        <p:nvPicPr>
          <p:cNvPr id="12" name="Picture 11">
            <a:extLst>
              <a:ext uri="{FF2B5EF4-FFF2-40B4-BE49-F238E27FC236}">
                <a16:creationId xmlns:a16="http://schemas.microsoft.com/office/drawing/2014/main" id="{796BD779-97CF-DF2E-1B6C-8777271D0CC3}"/>
              </a:ext>
            </a:extLst>
          </p:cNvPr>
          <p:cNvPicPr>
            <a:picLocks noChangeAspect="1"/>
          </p:cNvPicPr>
          <p:nvPr/>
        </p:nvPicPr>
        <p:blipFill>
          <a:blip r:embed="rId2"/>
          <a:stretch>
            <a:fillRect/>
          </a:stretch>
        </p:blipFill>
        <p:spPr>
          <a:xfrm>
            <a:off x="4274697" y="1216784"/>
            <a:ext cx="3196004" cy="3886214"/>
          </a:xfrm>
          <a:prstGeom prst="rect">
            <a:avLst/>
          </a:prstGeom>
        </p:spPr>
      </p:pic>
      <p:graphicFrame>
        <p:nvGraphicFramePr>
          <p:cNvPr id="3" name="Chart 2">
            <a:extLst>
              <a:ext uri="{FF2B5EF4-FFF2-40B4-BE49-F238E27FC236}">
                <a16:creationId xmlns:a16="http://schemas.microsoft.com/office/drawing/2014/main" id="{D0115B9C-B44F-F6AD-8408-9EB2B3D64E6B}"/>
              </a:ext>
            </a:extLst>
          </p:cNvPr>
          <p:cNvGraphicFramePr>
            <a:graphicFrameLocks/>
          </p:cNvGraphicFramePr>
          <p:nvPr/>
        </p:nvGraphicFramePr>
        <p:xfrm>
          <a:off x="7444930" y="1342925"/>
          <a:ext cx="4420073" cy="26914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7A933FB3-F06F-B3BD-BBFB-7DB702623E95}"/>
              </a:ext>
            </a:extLst>
          </p:cNvPr>
          <p:cNvGraphicFramePr>
            <a:graphicFrameLocks noGrp="1"/>
          </p:cNvGraphicFramePr>
          <p:nvPr/>
        </p:nvGraphicFramePr>
        <p:xfrm>
          <a:off x="274319" y="1258372"/>
          <a:ext cx="3750926" cy="1067015"/>
        </p:xfrm>
        <a:graphic>
          <a:graphicData uri="http://schemas.openxmlformats.org/drawingml/2006/table">
            <a:tbl>
              <a:tblPr firstCol="1">
                <a:tableStyleId>{8EC20E35-A176-4012-BC5E-935CFFF8708E}</a:tableStyleId>
              </a:tblPr>
              <a:tblGrid>
                <a:gridCol w="2722192">
                  <a:extLst>
                    <a:ext uri="{9D8B030D-6E8A-4147-A177-3AD203B41FA5}">
                      <a16:colId xmlns:a16="http://schemas.microsoft.com/office/drawing/2014/main" val="828631061"/>
                    </a:ext>
                  </a:extLst>
                </a:gridCol>
                <a:gridCol w="1028734">
                  <a:extLst>
                    <a:ext uri="{9D8B030D-6E8A-4147-A177-3AD203B41FA5}">
                      <a16:colId xmlns:a16="http://schemas.microsoft.com/office/drawing/2014/main" val="3079189166"/>
                    </a:ext>
                  </a:extLst>
                </a:gridCol>
              </a:tblGrid>
              <a:tr h="213403">
                <a:tc>
                  <a:txBody>
                    <a:bodyPr/>
                    <a:lstStyle/>
                    <a:p>
                      <a:pPr algn="l" fontAlgn="t">
                        <a:buNone/>
                      </a:pPr>
                      <a:r>
                        <a:rPr lang="en-MY" sz="1100" u="none" strike="noStrike">
                          <a:effectLst/>
                        </a:rPr>
                        <a:t>Market Cap</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2060"/>
                    </a:solidFill>
                  </a:tcPr>
                </a:tc>
                <a:tc>
                  <a:txBody>
                    <a:bodyPr/>
                    <a:lstStyle/>
                    <a:p>
                      <a:pPr algn="r" fontAlgn="b">
                        <a:buNone/>
                      </a:pPr>
                      <a:r>
                        <a:rPr lang="en-MY" sz="1100" u="none" strike="noStrike">
                          <a:effectLst/>
                        </a:rPr>
                        <a:t>2,346.39</a:t>
                      </a:r>
                      <a:endParaRPr lang="en-MY" sz="1100" b="0" i="0" u="none" strike="noStrike">
                        <a:solidFill>
                          <a:srgbClr val="000000"/>
                        </a:solidFill>
                        <a:effectLst/>
                        <a:latin typeface="Calibri" panose="020F0502020204030204" pitchFamily="34" charset="0"/>
                      </a:endParaRPr>
                    </a:p>
                  </a:txBody>
                  <a:tcPr marL="72000" marR="72000" marT="635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00299562"/>
                  </a:ext>
                </a:extLst>
              </a:tr>
              <a:tr h="213403">
                <a:tc>
                  <a:txBody>
                    <a:bodyPr/>
                    <a:lstStyle/>
                    <a:p>
                      <a:pPr algn="l" fontAlgn="t">
                        <a:buNone/>
                      </a:pPr>
                      <a:r>
                        <a:rPr lang="en-MY" sz="1100" u="none" strike="noStrike">
                          <a:effectLst/>
                        </a:rPr>
                        <a:t>Enterprise Value/EBITDA</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solidFill>
                      <a:srgbClr val="002060"/>
                    </a:solidFill>
                  </a:tcPr>
                </a:tc>
                <a:tc>
                  <a:txBody>
                    <a:bodyPr/>
                    <a:lstStyle/>
                    <a:p>
                      <a:pPr algn="r" fontAlgn="b">
                        <a:buNone/>
                      </a:pPr>
                      <a:r>
                        <a:rPr lang="en-MY" sz="1100" u="none" strike="noStrike">
                          <a:effectLst/>
                        </a:rPr>
                        <a:t>13.84</a:t>
                      </a:r>
                      <a:endParaRPr lang="en-MY" sz="1100" b="0" i="0" u="none" strike="noStrike">
                        <a:solidFill>
                          <a:srgbClr val="000000"/>
                        </a:solidFill>
                        <a:effectLst/>
                        <a:latin typeface="Calibri" panose="020F0502020204030204" pitchFamily="34" charset="0"/>
                      </a:endParaRPr>
                    </a:p>
                  </a:txBody>
                  <a:tcPr marL="72000" marR="72000" marT="635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2851695"/>
                  </a:ext>
                </a:extLst>
              </a:tr>
              <a:tr h="213403">
                <a:tc>
                  <a:txBody>
                    <a:bodyPr/>
                    <a:lstStyle/>
                    <a:p>
                      <a:pPr algn="l" fontAlgn="t">
                        <a:buNone/>
                      </a:pPr>
                      <a:r>
                        <a:rPr lang="en-MY" sz="1100" u="none" strike="noStrike">
                          <a:effectLst/>
                        </a:rPr>
                        <a:t>Trailing P/E</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solidFill>
                      <a:srgbClr val="002060"/>
                    </a:solidFill>
                  </a:tcPr>
                </a:tc>
                <a:tc>
                  <a:txBody>
                    <a:bodyPr/>
                    <a:lstStyle/>
                    <a:p>
                      <a:pPr algn="r" fontAlgn="b">
                        <a:buNone/>
                      </a:pPr>
                      <a:r>
                        <a:rPr lang="en-MY" sz="1100" u="none" strike="noStrike">
                          <a:effectLst/>
                        </a:rPr>
                        <a:t>16.54</a:t>
                      </a:r>
                      <a:endParaRPr lang="en-MY" sz="1100" b="0" i="0" u="none" strike="noStrike">
                        <a:solidFill>
                          <a:srgbClr val="000000"/>
                        </a:solidFill>
                        <a:effectLst/>
                        <a:latin typeface="Calibri" panose="020F0502020204030204" pitchFamily="34" charset="0"/>
                      </a:endParaRPr>
                    </a:p>
                  </a:txBody>
                  <a:tcPr marL="72000" marR="72000" marT="635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30288728"/>
                  </a:ext>
                </a:extLst>
              </a:tr>
              <a:tr h="213403">
                <a:tc>
                  <a:txBody>
                    <a:bodyPr/>
                    <a:lstStyle/>
                    <a:p>
                      <a:pPr algn="l" fontAlgn="t">
                        <a:buNone/>
                      </a:pPr>
                      <a:r>
                        <a:rPr lang="en-MY" sz="1100" u="none" strike="noStrike">
                          <a:effectLst/>
                        </a:rPr>
                        <a:t>Forward P/E</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solidFill>
                      <a:srgbClr val="002060"/>
                    </a:solidFill>
                  </a:tcPr>
                </a:tc>
                <a:tc>
                  <a:txBody>
                    <a:bodyPr/>
                    <a:lstStyle/>
                    <a:p>
                      <a:pPr algn="r" fontAlgn="b">
                        <a:buNone/>
                      </a:pPr>
                      <a:r>
                        <a:rPr lang="en-MY" sz="1100" u="none" strike="noStrike">
                          <a:effectLst/>
                        </a:rPr>
                        <a:t>13.52</a:t>
                      </a:r>
                      <a:endParaRPr lang="en-MY" sz="1100" b="0" i="0" u="none" strike="noStrike">
                        <a:solidFill>
                          <a:srgbClr val="000000"/>
                        </a:solidFill>
                        <a:effectLst/>
                        <a:latin typeface="Calibri" panose="020F0502020204030204" pitchFamily="34" charset="0"/>
                      </a:endParaRPr>
                    </a:p>
                  </a:txBody>
                  <a:tcPr marL="72000" marR="72000" marT="635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72076533"/>
                  </a:ext>
                </a:extLst>
              </a:tr>
              <a:tr h="213403">
                <a:tc>
                  <a:txBody>
                    <a:bodyPr/>
                    <a:lstStyle/>
                    <a:p>
                      <a:pPr algn="l" fontAlgn="t">
                        <a:buNone/>
                      </a:pPr>
                      <a:r>
                        <a:rPr lang="en-MY" sz="1100" u="none" strike="noStrike">
                          <a:effectLst/>
                        </a:rPr>
                        <a:t>Price/Book</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002060"/>
                    </a:solidFill>
                  </a:tcPr>
                </a:tc>
                <a:tc>
                  <a:txBody>
                    <a:bodyPr/>
                    <a:lstStyle/>
                    <a:p>
                      <a:pPr algn="r" fontAlgn="b">
                        <a:buNone/>
                      </a:pPr>
                      <a:r>
                        <a:rPr lang="en-MY" sz="1100" u="none" strike="noStrike">
                          <a:effectLst/>
                        </a:rPr>
                        <a:t>7.71</a:t>
                      </a:r>
                      <a:endParaRPr lang="en-MY" sz="1100" b="0" i="0" u="none" strike="noStrike">
                        <a:solidFill>
                          <a:srgbClr val="000000"/>
                        </a:solidFill>
                        <a:effectLst/>
                        <a:latin typeface="Calibri" panose="020F0502020204030204" pitchFamily="34" charset="0"/>
                      </a:endParaRPr>
                    </a:p>
                  </a:txBody>
                  <a:tcPr marL="72000" marR="72000" marT="635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0518481"/>
                  </a:ext>
                </a:extLst>
              </a:tr>
            </a:tbl>
          </a:graphicData>
        </a:graphic>
      </p:graphicFrame>
      <p:sp>
        <p:nvSpPr>
          <p:cNvPr id="13" name="TextBox 12">
            <a:extLst>
              <a:ext uri="{FF2B5EF4-FFF2-40B4-BE49-F238E27FC236}">
                <a16:creationId xmlns:a16="http://schemas.microsoft.com/office/drawing/2014/main" id="{E8AE90D9-C11A-32CE-6E30-23E15EB78EB9}"/>
              </a:ext>
            </a:extLst>
          </p:cNvPr>
          <p:cNvSpPr txBox="1"/>
          <p:nvPr/>
        </p:nvSpPr>
        <p:spPr>
          <a:xfrm>
            <a:off x="200832" y="180999"/>
            <a:ext cx="11790336" cy="1015663"/>
          </a:xfrm>
          <a:prstGeom prst="rect">
            <a:avLst/>
          </a:prstGeom>
          <a:noFill/>
        </p:spPr>
        <p:txBody>
          <a:bodyPr wrap="square">
            <a:spAutoFit/>
          </a:bodyPr>
          <a:lstStyle/>
          <a:p>
            <a:pPr algn="just"/>
            <a:r>
              <a:rPr lang="en-US" sz="2400" b="1"/>
              <a:t>Binastra Corporation Berhad </a:t>
            </a:r>
            <a:r>
              <a:rPr lang="en-US" sz="1200"/>
              <a:t>(Incorp: 2003 HQ in KL), formerly known as </a:t>
            </a:r>
            <a:r>
              <a:rPr lang="en-US" sz="1200" err="1"/>
              <a:t>Comintel</a:t>
            </a:r>
            <a:r>
              <a:rPr lang="en-US" sz="1200"/>
              <a:t> Corporation Bhd, is involved in general contracting and property development, </a:t>
            </a:r>
            <a:r>
              <a:rPr lang="en-US" sz="1200" err="1"/>
              <a:t>specialising</a:t>
            </a:r>
            <a:r>
              <a:rPr lang="en-US" sz="1200"/>
              <a:t> in building and civil engineering turnkey projects across residential, commercial, and industrial segments in Malaysia. In FY2025, its subsidiary Binastra Builders Sdn Bhd (BBSB) expanded its principal activities to include property development, building and civil engineering works (turnkey and design‑and‑build), and EPCC services.</a:t>
            </a:r>
            <a:endParaRPr lang="en-MY" sz="1200"/>
          </a:p>
        </p:txBody>
      </p:sp>
      <p:graphicFrame>
        <p:nvGraphicFramePr>
          <p:cNvPr id="15" name="Table 14">
            <a:extLst>
              <a:ext uri="{FF2B5EF4-FFF2-40B4-BE49-F238E27FC236}">
                <a16:creationId xmlns:a16="http://schemas.microsoft.com/office/drawing/2014/main" id="{87993B59-AD50-5FEF-23B8-F8CF8B6297C0}"/>
              </a:ext>
            </a:extLst>
          </p:cNvPr>
          <p:cNvGraphicFramePr>
            <a:graphicFrameLocks noGrp="1"/>
          </p:cNvGraphicFramePr>
          <p:nvPr/>
        </p:nvGraphicFramePr>
        <p:xfrm>
          <a:off x="274318" y="3979352"/>
          <a:ext cx="3750927" cy="1371600"/>
        </p:xfrm>
        <a:graphic>
          <a:graphicData uri="http://schemas.openxmlformats.org/drawingml/2006/table">
            <a:tbl>
              <a:tblPr firstRow="1">
                <a:tableStyleId>{7E9639D4-E3E2-4D34-9284-5A2195B3D0D7}</a:tableStyleId>
              </a:tblPr>
              <a:tblGrid>
                <a:gridCol w="1273710">
                  <a:extLst>
                    <a:ext uri="{9D8B030D-6E8A-4147-A177-3AD203B41FA5}">
                      <a16:colId xmlns:a16="http://schemas.microsoft.com/office/drawing/2014/main" val="651079085"/>
                    </a:ext>
                  </a:extLst>
                </a:gridCol>
                <a:gridCol w="1233803">
                  <a:extLst>
                    <a:ext uri="{9D8B030D-6E8A-4147-A177-3AD203B41FA5}">
                      <a16:colId xmlns:a16="http://schemas.microsoft.com/office/drawing/2014/main" val="1248662836"/>
                    </a:ext>
                  </a:extLst>
                </a:gridCol>
                <a:gridCol w="1243414">
                  <a:extLst>
                    <a:ext uri="{9D8B030D-6E8A-4147-A177-3AD203B41FA5}">
                      <a16:colId xmlns:a16="http://schemas.microsoft.com/office/drawing/2014/main" val="802704148"/>
                    </a:ext>
                  </a:extLst>
                </a:gridCol>
              </a:tblGrid>
              <a:tr h="158344">
                <a:tc>
                  <a:txBody>
                    <a:bodyPr/>
                    <a:lstStyle/>
                    <a:p>
                      <a:pPr algn="ctr">
                        <a:buNone/>
                      </a:pPr>
                      <a:r>
                        <a:rPr lang="en-MY" sz="1100">
                          <a:effectLst/>
                        </a:rPr>
                        <a:t>Business Segment</a:t>
                      </a:r>
                    </a:p>
                  </a:txBody>
                  <a:tcPr anchor="ctr">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100">
                          <a:effectLst/>
                        </a:rPr>
                        <a:t>Revenue (RM)</a:t>
                      </a:r>
                    </a:p>
                  </a:txBody>
                  <a:tcPr anchor="ctr">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100">
                          <a:effectLst/>
                        </a:rPr>
                        <a:t>Revenue (%)</a:t>
                      </a:r>
                    </a:p>
                  </a:txBody>
                  <a:tcPr anchor="ctr">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3553030434"/>
                  </a:ext>
                </a:extLst>
              </a:tr>
              <a:tr h="158344">
                <a:tc>
                  <a:txBody>
                    <a:bodyPr/>
                    <a:lstStyle/>
                    <a:p>
                      <a:pPr>
                        <a:buNone/>
                      </a:pPr>
                      <a:r>
                        <a:rPr lang="en-MY" sz="1100">
                          <a:effectLst/>
                        </a:rPr>
                        <a:t>Construction</a:t>
                      </a: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MY" sz="1100">
                          <a:effectLst/>
                        </a:rPr>
                        <a:t>946,044,000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MY" sz="1100">
                          <a:effectLst/>
                        </a:rPr>
                        <a:t>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6748021"/>
                  </a:ext>
                </a:extLst>
              </a:tr>
              <a:tr h="158344">
                <a:tc>
                  <a:txBody>
                    <a:bodyPr/>
                    <a:lstStyle/>
                    <a:p>
                      <a:pPr>
                        <a:buNone/>
                      </a:pPr>
                      <a:r>
                        <a:rPr lang="en-MY" sz="1100">
                          <a:effectLst/>
                        </a:rPr>
                        <a:t>Investment Holding</a:t>
                      </a: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MY" sz="1100">
                          <a:effectLst/>
                        </a:rPr>
                        <a:t>552,000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MY" sz="1100">
                          <a:effectLst/>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7191109"/>
                  </a:ext>
                </a:extLst>
              </a:tr>
              <a:tr h="158344">
                <a:tc>
                  <a:txBody>
                    <a:bodyPr/>
                    <a:lstStyle/>
                    <a:p>
                      <a:pPr>
                        <a:buNone/>
                      </a:pPr>
                      <a:r>
                        <a:rPr lang="en-MY" sz="1100" b="1">
                          <a:effectLst/>
                        </a:rPr>
                        <a:t>Total</a:t>
                      </a:r>
                      <a:endParaRPr lang="en-MY" sz="1100">
                        <a:effectLst/>
                      </a:endParaRPr>
                    </a:p>
                  </a:txBody>
                  <a:tcPr marL="72000" marR="72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MY" sz="1100" b="1">
                          <a:effectLst/>
                        </a:rPr>
                        <a:t>946,596,000</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MY" sz="1100" b="1">
                          <a:effectLst/>
                        </a:rPr>
                        <a:t>100%</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7953433"/>
                  </a:ext>
                </a:extLst>
              </a:tr>
            </a:tbl>
          </a:graphicData>
        </a:graphic>
      </p:graphicFrame>
      <p:sp>
        <p:nvSpPr>
          <p:cNvPr id="24" name="TextBox 23">
            <a:extLst>
              <a:ext uri="{FF2B5EF4-FFF2-40B4-BE49-F238E27FC236}">
                <a16:creationId xmlns:a16="http://schemas.microsoft.com/office/drawing/2014/main" id="{00345478-BF07-191F-797D-B270FAB621CE}"/>
              </a:ext>
            </a:extLst>
          </p:cNvPr>
          <p:cNvSpPr txBox="1"/>
          <p:nvPr/>
        </p:nvSpPr>
        <p:spPr>
          <a:xfrm>
            <a:off x="200832" y="5460664"/>
            <a:ext cx="1415772" cy="261610"/>
          </a:xfrm>
          <a:prstGeom prst="rect">
            <a:avLst/>
          </a:prstGeom>
          <a:noFill/>
        </p:spPr>
        <p:txBody>
          <a:bodyPr wrap="none" rtlCol="0">
            <a:spAutoFit/>
          </a:bodyPr>
          <a:lstStyle/>
          <a:p>
            <a:pPr>
              <a:spcBef>
                <a:spcPts val="300"/>
              </a:spcBef>
              <a:spcAft>
                <a:spcPts val="300"/>
              </a:spcAft>
              <a:buSzPct val="100000"/>
            </a:pPr>
            <a:r>
              <a:rPr lang="en-US" sz="1100" b="1"/>
              <a:t>Top 3 Shareholders</a:t>
            </a:r>
            <a:endParaRPr lang="en-US" sz="1100"/>
          </a:p>
        </p:txBody>
      </p:sp>
      <p:graphicFrame>
        <p:nvGraphicFramePr>
          <p:cNvPr id="25" name="Table 24">
            <a:extLst>
              <a:ext uri="{FF2B5EF4-FFF2-40B4-BE49-F238E27FC236}">
                <a16:creationId xmlns:a16="http://schemas.microsoft.com/office/drawing/2014/main" id="{AE1768E1-B62A-B8C9-9E96-B6436C5FA872}"/>
              </a:ext>
            </a:extLst>
          </p:cNvPr>
          <p:cNvGraphicFramePr>
            <a:graphicFrameLocks noGrp="1"/>
          </p:cNvGraphicFramePr>
          <p:nvPr/>
        </p:nvGraphicFramePr>
        <p:xfrm>
          <a:off x="248547" y="5758932"/>
          <a:ext cx="5237853" cy="518160"/>
        </p:xfrm>
        <a:graphic>
          <a:graphicData uri="http://schemas.openxmlformats.org/drawingml/2006/table">
            <a:tbl>
              <a:tblPr firstRow="1" bandRow="1">
                <a:tableStyleId>{5C22544A-7EE6-4342-B048-85BDC9FD1C3A}</a:tableStyleId>
              </a:tblPr>
              <a:tblGrid>
                <a:gridCol w="1745951">
                  <a:extLst>
                    <a:ext uri="{9D8B030D-6E8A-4147-A177-3AD203B41FA5}">
                      <a16:colId xmlns:a16="http://schemas.microsoft.com/office/drawing/2014/main" val="1259669850"/>
                    </a:ext>
                  </a:extLst>
                </a:gridCol>
                <a:gridCol w="1745951">
                  <a:extLst>
                    <a:ext uri="{9D8B030D-6E8A-4147-A177-3AD203B41FA5}">
                      <a16:colId xmlns:a16="http://schemas.microsoft.com/office/drawing/2014/main" val="3551774269"/>
                    </a:ext>
                  </a:extLst>
                </a:gridCol>
                <a:gridCol w="1745951">
                  <a:extLst>
                    <a:ext uri="{9D8B030D-6E8A-4147-A177-3AD203B41FA5}">
                      <a16:colId xmlns:a16="http://schemas.microsoft.com/office/drawing/2014/main" val="3661148664"/>
                    </a:ext>
                  </a:extLst>
                </a:gridCol>
              </a:tblGrid>
              <a:tr h="250237">
                <a:tc>
                  <a:txBody>
                    <a:bodyPr/>
                    <a:lstStyle/>
                    <a:p>
                      <a:pPr algn="ctr"/>
                      <a:r>
                        <a:rPr lang="en-US" sz="1100">
                          <a:solidFill>
                            <a:schemeClr val="tx1"/>
                          </a:solidFill>
                        </a:rPr>
                        <a:t>41.21%</a:t>
                      </a:r>
                    </a:p>
                  </a:txBody>
                  <a:tcPr>
                    <a:solidFill>
                      <a:schemeClr val="accent4">
                        <a:lumMod val="20000"/>
                        <a:lumOff val="80000"/>
                      </a:schemeClr>
                    </a:solidFill>
                  </a:tcPr>
                </a:tc>
                <a:tc>
                  <a:txBody>
                    <a:bodyPr/>
                    <a:lstStyle/>
                    <a:p>
                      <a:pPr algn="ctr"/>
                      <a:r>
                        <a:rPr lang="en-US" sz="1100">
                          <a:solidFill>
                            <a:schemeClr val="bg1"/>
                          </a:solidFill>
                        </a:rPr>
                        <a:t>12.93%</a:t>
                      </a:r>
                    </a:p>
                  </a:txBody>
                  <a:tcPr>
                    <a:solidFill>
                      <a:schemeClr val="accent1">
                        <a:lumMod val="75000"/>
                      </a:schemeClr>
                    </a:solidFill>
                  </a:tcPr>
                </a:tc>
                <a:tc>
                  <a:txBody>
                    <a:bodyPr/>
                    <a:lstStyle/>
                    <a:p>
                      <a:pPr algn="ctr"/>
                      <a:r>
                        <a:rPr lang="en-US" sz="1100">
                          <a:solidFill>
                            <a:schemeClr val="bg1"/>
                          </a:solidFill>
                        </a:rPr>
                        <a:t>11.09%</a:t>
                      </a:r>
                    </a:p>
                  </a:txBody>
                  <a:tcPr>
                    <a:solidFill>
                      <a:schemeClr val="accent1">
                        <a:lumMod val="75000"/>
                      </a:schemeClr>
                    </a:solidFill>
                  </a:tcPr>
                </a:tc>
                <a:extLst>
                  <a:ext uri="{0D108BD9-81ED-4DB2-BD59-A6C34878D82A}">
                    <a16:rowId xmlns:a16="http://schemas.microsoft.com/office/drawing/2014/main" val="527975463"/>
                  </a:ext>
                </a:extLst>
              </a:tr>
              <a:tr h="158092">
                <a:tc>
                  <a:txBody>
                    <a:bodyPr/>
                    <a:lstStyle/>
                    <a:p>
                      <a:pPr algn="ctr"/>
                      <a:r>
                        <a:rPr lang="en-US" sz="1100">
                          <a:solidFill>
                            <a:schemeClr val="tx1"/>
                          </a:solidFill>
                        </a:rPr>
                        <a:t>JL Conglomerate </a:t>
                      </a:r>
                      <a:r>
                        <a:rPr lang="en-US" sz="1100" err="1">
                          <a:solidFill>
                            <a:schemeClr val="tx1"/>
                          </a:solidFill>
                        </a:rPr>
                        <a:t>Sdn</a:t>
                      </a:r>
                      <a:r>
                        <a:rPr lang="en-US" sz="1100">
                          <a:solidFill>
                            <a:schemeClr val="tx1"/>
                          </a:solidFill>
                        </a:rPr>
                        <a:t> </a:t>
                      </a:r>
                      <a:r>
                        <a:rPr lang="en-US" sz="1100" err="1">
                          <a:solidFill>
                            <a:schemeClr val="tx1"/>
                          </a:solidFill>
                        </a:rPr>
                        <a:t>Bhd</a:t>
                      </a:r>
                      <a:endParaRPr lang="en-US" sz="1100">
                        <a:solidFill>
                          <a:schemeClr val="tx1"/>
                        </a:solidFill>
                      </a:endParaRPr>
                    </a:p>
                  </a:txBody>
                  <a:tcPr>
                    <a:noFill/>
                  </a:tcPr>
                </a:tc>
                <a:tc>
                  <a:txBody>
                    <a:bodyPr/>
                    <a:lstStyle/>
                    <a:p>
                      <a:pPr algn="ctr"/>
                      <a:r>
                        <a:rPr lang="en-US" sz="1100">
                          <a:solidFill>
                            <a:schemeClr val="tx1"/>
                          </a:solidFill>
                        </a:rPr>
                        <a:t>Lee Yong Seng</a:t>
                      </a:r>
                    </a:p>
                  </a:txBody>
                  <a:tcPr>
                    <a:noFill/>
                  </a:tcPr>
                </a:tc>
                <a:tc>
                  <a:txBody>
                    <a:bodyPr/>
                    <a:lstStyle/>
                    <a:p>
                      <a:pPr algn="ctr"/>
                      <a:r>
                        <a:rPr lang="en-US" sz="1100">
                          <a:solidFill>
                            <a:schemeClr val="tx1"/>
                          </a:solidFill>
                        </a:rPr>
                        <a:t>Datuk Tan Kak Seng</a:t>
                      </a:r>
                    </a:p>
                  </a:txBody>
                  <a:tcPr>
                    <a:noFill/>
                  </a:tcPr>
                </a:tc>
                <a:extLst>
                  <a:ext uri="{0D108BD9-81ED-4DB2-BD59-A6C34878D82A}">
                    <a16:rowId xmlns:a16="http://schemas.microsoft.com/office/drawing/2014/main" val="2379042514"/>
                  </a:ext>
                </a:extLst>
              </a:tr>
            </a:tbl>
          </a:graphicData>
        </a:graphic>
      </p:graphicFrame>
      <p:graphicFrame>
        <p:nvGraphicFramePr>
          <p:cNvPr id="26" name="Table 25">
            <a:extLst>
              <a:ext uri="{FF2B5EF4-FFF2-40B4-BE49-F238E27FC236}">
                <a16:creationId xmlns:a16="http://schemas.microsoft.com/office/drawing/2014/main" id="{F281D6D3-367C-163D-DDFC-A767F311777F}"/>
              </a:ext>
            </a:extLst>
          </p:cNvPr>
          <p:cNvGraphicFramePr>
            <a:graphicFrameLocks noGrp="1"/>
          </p:cNvGraphicFramePr>
          <p:nvPr/>
        </p:nvGraphicFramePr>
        <p:xfrm>
          <a:off x="326997" y="2470288"/>
          <a:ext cx="3749040" cy="1175655"/>
        </p:xfrm>
        <a:graphic>
          <a:graphicData uri="http://schemas.openxmlformats.org/drawingml/2006/table">
            <a:tbl>
              <a:tblPr firstRow="1" bandRow="1">
                <a:tableStyleId>{5C22544A-7EE6-4342-B048-85BDC9FD1C3A}</a:tableStyleId>
              </a:tblPr>
              <a:tblGrid>
                <a:gridCol w="2273328">
                  <a:extLst>
                    <a:ext uri="{9D8B030D-6E8A-4147-A177-3AD203B41FA5}">
                      <a16:colId xmlns:a16="http://schemas.microsoft.com/office/drawing/2014/main" val="1183630813"/>
                    </a:ext>
                  </a:extLst>
                </a:gridCol>
                <a:gridCol w="1475712">
                  <a:extLst>
                    <a:ext uri="{9D8B030D-6E8A-4147-A177-3AD203B41FA5}">
                      <a16:colId xmlns:a16="http://schemas.microsoft.com/office/drawing/2014/main" val="473684578"/>
                    </a:ext>
                  </a:extLst>
                </a:gridCol>
              </a:tblGrid>
              <a:tr h="235131">
                <a:tc>
                  <a:txBody>
                    <a:bodyPr/>
                    <a:lstStyle/>
                    <a:p>
                      <a:endParaRPr lang="en-US" sz="1100" b="1">
                        <a:solidFill>
                          <a:schemeClr val="bg1"/>
                        </a:solidFill>
                        <a:latin typeface="Aptos" panose="020B0004020202020204" pitchFamily="34" charset="0"/>
                      </a:endParaRP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100" b="1">
                          <a:solidFill>
                            <a:schemeClr val="bg1"/>
                          </a:solidFill>
                          <a:latin typeface="Aptos" panose="020B0004020202020204" pitchFamily="34" charset="0"/>
                        </a:rPr>
                        <a:t>Length of relationship</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116168194"/>
                  </a:ext>
                </a:extLst>
              </a:tr>
              <a:tr h="235131">
                <a:tc>
                  <a:txBody>
                    <a:bodyPr/>
                    <a:lstStyle/>
                    <a:p>
                      <a:r>
                        <a:rPr lang="en-US" sz="1100" b="1">
                          <a:solidFill>
                            <a:schemeClr val="bg1"/>
                          </a:solidFill>
                          <a:latin typeface="Aptos" panose="020B0004020202020204" pitchFamily="34" charset="0"/>
                        </a:rPr>
                        <a:t>Customers</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lang="en-US" sz="1100" b="1">
                          <a:solidFill>
                            <a:schemeClr val="bg1"/>
                          </a:solidFill>
                          <a:latin typeface="Aptos" panose="020B0004020202020204" pitchFamily="34" charset="0"/>
                        </a:rPr>
                        <a:t>years</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644778460"/>
                  </a:ext>
                </a:extLst>
              </a:tr>
              <a:tr h="235131">
                <a:tc>
                  <a:txBody>
                    <a:bodyPr/>
                    <a:lstStyle/>
                    <a:p>
                      <a:r>
                        <a:rPr lang="en-US" sz="1100" err="1">
                          <a:solidFill>
                            <a:schemeClr val="tx1"/>
                          </a:solidFill>
                          <a:latin typeface="Aptos" panose="020B0004020202020204" pitchFamily="34" charset="0"/>
                        </a:rPr>
                        <a:t>Platinium</a:t>
                      </a:r>
                      <a:r>
                        <a:rPr lang="en-US" sz="1100">
                          <a:solidFill>
                            <a:schemeClr val="tx1"/>
                          </a:solidFill>
                          <a:latin typeface="Aptos" panose="020B0004020202020204" pitchFamily="34" charset="0"/>
                        </a:rPr>
                        <a:t> Victory </a:t>
                      </a:r>
                      <a:r>
                        <a:rPr lang="en-US" sz="1100" err="1">
                          <a:solidFill>
                            <a:schemeClr val="tx1"/>
                          </a:solidFill>
                          <a:latin typeface="Aptos" panose="020B0004020202020204" pitchFamily="34" charset="0"/>
                        </a:rPr>
                        <a:t>Sdn</a:t>
                      </a:r>
                      <a:r>
                        <a:rPr lang="en-US" sz="1100">
                          <a:solidFill>
                            <a:schemeClr val="tx1"/>
                          </a:solidFill>
                          <a:latin typeface="Aptos" panose="020B0004020202020204" pitchFamily="34" charset="0"/>
                        </a:rPr>
                        <a:t> </a:t>
                      </a:r>
                      <a:r>
                        <a:rPr lang="en-US" sz="1100" err="1">
                          <a:solidFill>
                            <a:schemeClr val="tx1"/>
                          </a:solidFill>
                          <a:latin typeface="Aptos" panose="020B0004020202020204" pitchFamily="34" charset="0"/>
                        </a:rPr>
                        <a:t>Bhd</a:t>
                      </a:r>
                      <a:endParaRPr lang="en-US" sz="1100">
                        <a:solidFill>
                          <a:schemeClr val="tx1"/>
                        </a:solidFill>
                        <a:latin typeface="Aptos" panose="020B0004020202020204" pitchFamily="34" charset="0"/>
                      </a:endParaRP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tx1"/>
                          </a:solidFill>
                          <a:latin typeface="Aptos" panose="020B0004020202020204" pitchFamily="34" charset="0"/>
                        </a:rPr>
                        <a:t>20</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36863"/>
                  </a:ext>
                </a:extLst>
              </a:tr>
              <a:tr h="235131">
                <a:tc>
                  <a:txBody>
                    <a:bodyPr/>
                    <a:lstStyle/>
                    <a:p>
                      <a:r>
                        <a:rPr lang="en-US" sz="1100">
                          <a:solidFill>
                            <a:schemeClr val="tx1"/>
                          </a:solidFill>
                          <a:latin typeface="Aptos" panose="020B0004020202020204" pitchFamily="34" charset="0"/>
                        </a:rPr>
                        <a:t>EXSIM Development </a:t>
                      </a:r>
                      <a:r>
                        <a:rPr lang="en-US" sz="1100" err="1">
                          <a:solidFill>
                            <a:schemeClr val="tx1"/>
                          </a:solidFill>
                          <a:latin typeface="Aptos" panose="020B0004020202020204" pitchFamily="34" charset="0"/>
                        </a:rPr>
                        <a:t>Sdn</a:t>
                      </a:r>
                      <a:r>
                        <a:rPr lang="en-US" sz="1100">
                          <a:solidFill>
                            <a:schemeClr val="tx1"/>
                          </a:solidFill>
                          <a:latin typeface="Aptos" panose="020B0004020202020204" pitchFamily="34" charset="0"/>
                        </a:rPr>
                        <a:t> </a:t>
                      </a:r>
                      <a:r>
                        <a:rPr lang="en-US" sz="1100" err="1">
                          <a:solidFill>
                            <a:schemeClr val="tx1"/>
                          </a:solidFill>
                          <a:latin typeface="Aptos" panose="020B0004020202020204" pitchFamily="34" charset="0"/>
                        </a:rPr>
                        <a:t>Bhd</a:t>
                      </a:r>
                      <a:endParaRPr lang="en-US" sz="1100">
                        <a:solidFill>
                          <a:schemeClr val="tx1"/>
                        </a:solidFill>
                        <a:latin typeface="Aptos" panose="020B0004020202020204" pitchFamily="34" charset="0"/>
                      </a:endParaRP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tx1"/>
                          </a:solidFill>
                          <a:latin typeface="Aptos" panose="020B0004020202020204" pitchFamily="34" charset="0"/>
                        </a:rPr>
                        <a:t>13</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974935"/>
                  </a:ext>
                </a:extLst>
              </a:tr>
              <a:tr h="235131">
                <a:tc>
                  <a:txBody>
                    <a:bodyPr/>
                    <a:lstStyle/>
                    <a:p>
                      <a:r>
                        <a:rPr lang="en-US" sz="1100">
                          <a:solidFill>
                            <a:schemeClr val="tx1"/>
                          </a:solidFill>
                          <a:latin typeface="Aptos" panose="020B0004020202020204" pitchFamily="34" charset="0"/>
                        </a:rPr>
                        <a:t>Maxim Global Berhad</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tx1"/>
                          </a:solidFill>
                          <a:latin typeface="Aptos" panose="020B0004020202020204" pitchFamily="34" charset="0"/>
                        </a:rPr>
                        <a:t>6</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8149793"/>
                  </a:ext>
                </a:extLst>
              </a:tr>
            </a:tbl>
          </a:graphicData>
        </a:graphic>
      </p:graphicFrame>
      <p:sp>
        <p:nvSpPr>
          <p:cNvPr id="28" name="TextBox 27">
            <a:extLst>
              <a:ext uri="{FF2B5EF4-FFF2-40B4-BE49-F238E27FC236}">
                <a16:creationId xmlns:a16="http://schemas.microsoft.com/office/drawing/2014/main" id="{4183A408-A3F5-B64C-E4FA-929B496EE598}"/>
              </a:ext>
            </a:extLst>
          </p:cNvPr>
          <p:cNvSpPr txBox="1"/>
          <p:nvPr/>
        </p:nvSpPr>
        <p:spPr>
          <a:xfrm>
            <a:off x="274318" y="3590789"/>
            <a:ext cx="2164082" cy="215444"/>
          </a:xfrm>
          <a:prstGeom prst="rect">
            <a:avLst/>
          </a:prstGeom>
          <a:noFill/>
        </p:spPr>
        <p:txBody>
          <a:bodyPr wrap="square">
            <a:spAutoFit/>
          </a:bodyPr>
          <a:lstStyle/>
          <a:p>
            <a:r>
              <a:rPr lang="en-MY" sz="800" i="1"/>
              <a:t>Source: </a:t>
            </a:r>
            <a:r>
              <a:rPr lang="en-MY" sz="800" i="1">
                <a:hlinkClick r:id="rId4"/>
              </a:rPr>
              <a:t>Mercury Securities</a:t>
            </a:r>
            <a:endParaRPr lang="en-MY" sz="800" i="1"/>
          </a:p>
        </p:txBody>
      </p:sp>
      <p:sp>
        <p:nvSpPr>
          <p:cNvPr id="29" name="TextBox 28">
            <a:extLst>
              <a:ext uri="{FF2B5EF4-FFF2-40B4-BE49-F238E27FC236}">
                <a16:creationId xmlns:a16="http://schemas.microsoft.com/office/drawing/2014/main" id="{8D0CAE46-EBD9-D3ED-408F-EC38D49BDD9C}"/>
              </a:ext>
            </a:extLst>
          </p:cNvPr>
          <p:cNvSpPr txBox="1"/>
          <p:nvPr/>
        </p:nvSpPr>
        <p:spPr>
          <a:xfrm>
            <a:off x="248547" y="6313750"/>
            <a:ext cx="2164082" cy="215444"/>
          </a:xfrm>
          <a:prstGeom prst="rect">
            <a:avLst/>
          </a:prstGeom>
          <a:noFill/>
        </p:spPr>
        <p:txBody>
          <a:bodyPr wrap="square">
            <a:spAutoFit/>
          </a:bodyPr>
          <a:lstStyle/>
          <a:p>
            <a:r>
              <a:rPr lang="en-MY" sz="800" i="1"/>
              <a:t>Source: </a:t>
            </a:r>
            <a:r>
              <a:rPr lang="en-MY" sz="800" i="1">
                <a:hlinkClick r:id="rId5"/>
              </a:rPr>
              <a:t>Mercury Securities</a:t>
            </a:r>
            <a:endParaRPr lang="en-MY" sz="800" i="1"/>
          </a:p>
        </p:txBody>
      </p:sp>
      <p:grpSp>
        <p:nvGrpSpPr>
          <p:cNvPr id="36" name="Group 35">
            <a:extLst>
              <a:ext uri="{FF2B5EF4-FFF2-40B4-BE49-F238E27FC236}">
                <a16:creationId xmlns:a16="http://schemas.microsoft.com/office/drawing/2014/main" id="{394CAADD-B73A-31C0-9B92-3BDC97628BDC}"/>
              </a:ext>
            </a:extLst>
          </p:cNvPr>
          <p:cNvGrpSpPr/>
          <p:nvPr/>
        </p:nvGrpSpPr>
        <p:grpSpPr>
          <a:xfrm>
            <a:off x="7444930" y="4089064"/>
            <a:ext cx="4498523" cy="2743200"/>
            <a:chOff x="7444930" y="4089064"/>
            <a:chExt cx="4572000" cy="2743200"/>
          </a:xfrm>
        </p:grpSpPr>
        <p:graphicFrame>
          <p:nvGraphicFramePr>
            <p:cNvPr id="35" name="Chart 34">
              <a:extLst>
                <a:ext uri="{FF2B5EF4-FFF2-40B4-BE49-F238E27FC236}">
                  <a16:creationId xmlns:a16="http://schemas.microsoft.com/office/drawing/2014/main" id="{DFDEB9E6-7DE1-6D48-AD18-8EF438091264}"/>
                </a:ext>
              </a:extLst>
            </p:cNvPr>
            <p:cNvGraphicFramePr>
              <a:graphicFrameLocks/>
            </p:cNvGraphicFramePr>
            <p:nvPr/>
          </p:nvGraphicFramePr>
          <p:xfrm>
            <a:off x="7444930" y="4089064"/>
            <a:ext cx="4572000" cy="2743200"/>
          </p:xfrm>
          <a:graphic>
            <a:graphicData uri="http://schemas.openxmlformats.org/drawingml/2006/chart">
              <c:chart xmlns:c="http://schemas.openxmlformats.org/drawingml/2006/chart" xmlns:r="http://schemas.openxmlformats.org/officeDocument/2006/relationships" r:id="rId6"/>
            </a:graphicData>
          </a:graphic>
        </p:graphicFrame>
        <p:sp>
          <p:nvSpPr>
            <p:cNvPr id="31" name="Rectangle 30">
              <a:extLst>
                <a:ext uri="{FF2B5EF4-FFF2-40B4-BE49-F238E27FC236}">
                  <a16:creationId xmlns:a16="http://schemas.microsoft.com/office/drawing/2014/main" id="{905F8927-37B0-9852-F25B-FC8B91B92FA1}"/>
                </a:ext>
              </a:extLst>
            </p:cNvPr>
            <p:cNvSpPr/>
            <p:nvPr/>
          </p:nvSpPr>
          <p:spPr>
            <a:xfrm>
              <a:off x="11360943" y="5479257"/>
              <a:ext cx="230981" cy="676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MY" kern="1200"/>
            </a:p>
          </p:txBody>
        </p:sp>
        <p:sp>
          <p:nvSpPr>
            <p:cNvPr id="32" name="Rectangle 31">
              <a:extLst>
                <a:ext uri="{FF2B5EF4-FFF2-40B4-BE49-F238E27FC236}">
                  <a16:creationId xmlns:a16="http://schemas.microsoft.com/office/drawing/2014/main" id="{BE1F4EDC-79A3-8C9F-4F31-A737077FB26B}"/>
                </a:ext>
              </a:extLst>
            </p:cNvPr>
            <p:cNvSpPr/>
            <p:nvPr/>
          </p:nvSpPr>
          <p:spPr>
            <a:xfrm>
              <a:off x="10554493" y="5963840"/>
              <a:ext cx="230981" cy="1916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MY" kern="1200"/>
            </a:p>
          </p:txBody>
        </p:sp>
        <p:sp>
          <p:nvSpPr>
            <p:cNvPr id="33" name="Rectangle 32">
              <a:extLst>
                <a:ext uri="{FF2B5EF4-FFF2-40B4-BE49-F238E27FC236}">
                  <a16:creationId xmlns:a16="http://schemas.microsoft.com/office/drawing/2014/main" id="{6C4ABB0A-57CF-B4E3-6235-DD9479A75972}"/>
                </a:ext>
              </a:extLst>
            </p:cNvPr>
            <p:cNvSpPr/>
            <p:nvPr/>
          </p:nvSpPr>
          <p:spPr>
            <a:xfrm>
              <a:off x="9748043" y="6059686"/>
              <a:ext cx="230981" cy="958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MY" kern="1200"/>
            </a:p>
          </p:txBody>
        </p:sp>
        <p:sp>
          <p:nvSpPr>
            <p:cNvPr id="34" name="Rectangle 33">
              <a:extLst>
                <a:ext uri="{FF2B5EF4-FFF2-40B4-BE49-F238E27FC236}">
                  <a16:creationId xmlns:a16="http://schemas.microsoft.com/office/drawing/2014/main" id="{9839667B-DC2A-B00A-68A8-326FF487CCE4}"/>
                </a:ext>
              </a:extLst>
            </p:cNvPr>
            <p:cNvSpPr/>
            <p:nvPr/>
          </p:nvSpPr>
          <p:spPr>
            <a:xfrm>
              <a:off x="8947151" y="6132671"/>
              <a:ext cx="2309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MY" kern="1200"/>
            </a:p>
          </p:txBody>
        </p:sp>
      </p:grpSp>
      <p:sp>
        <p:nvSpPr>
          <p:cNvPr id="37" name="TextBox 36">
            <a:extLst>
              <a:ext uri="{FF2B5EF4-FFF2-40B4-BE49-F238E27FC236}">
                <a16:creationId xmlns:a16="http://schemas.microsoft.com/office/drawing/2014/main" id="{2CCCEDC7-9695-88D5-5C16-CA70451C171C}"/>
              </a:ext>
            </a:extLst>
          </p:cNvPr>
          <p:cNvSpPr txBox="1"/>
          <p:nvPr/>
        </p:nvSpPr>
        <p:spPr>
          <a:xfrm>
            <a:off x="7444930" y="1154267"/>
            <a:ext cx="2164082" cy="246221"/>
          </a:xfrm>
          <a:prstGeom prst="rect">
            <a:avLst/>
          </a:prstGeom>
          <a:noFill/>
        </p:spPr>
        <p:txBody>
          <a:bodyPr wrap="square">
            <a:spAutoFit/>
          </a:bodyPr>
          <a:lstStyle/>
          <a:p>
            <a:r>
              <a:rPr lang="en-MY" sz="1000" err="1"/>
              <a:t>RM’Mil</a:t>
            </a:r>
            <a:endParaRPr lang="en-MY" sz="1000"/>
          </a:p>
        </p:txBody>
      </p:sp>
      <p:sp>
        <p:nvSpPr>
          <p:cNvPr id="38" name="TextBox 37">
            <a:extLst>
              <a:ext uri="{FF2B5EF4-FFF2-40B4-BE49-F238E27FC236}">
                <a16:creationId xmlns:a16="http://schemas.microsoft.com/office/drawing/2014/main" id="{725B2B22-8E1C-9EA0-65A5-7961D2D2D606}"/>
              </a:ext>
            </a:extLst>
          </p:cNvPr>
          <p:cNvSpPr txBox="1"/>
          <p:nvPr/>
        </p:nvSpPr>
        <p:spPr>
          <a:xfrm>
            <a:off x="7444930" y="3878307"/>
            <a:ext cx="2164082" cy="246221"/>
          </a:xfrm>
          <a:prstGeom prst="rect">
            <a:avLst/>
          </a:prstGeom>
          <a:noFill/>
        </p:spPr>
        <p:txBody>
          <a:bodyPr wrap="square">
            <a:spAutoFit/>
          </a:bodyPr>
          <a:lstStyle/>
          <a:p>
            <a:r>
              <a:rPr lang="en-MY" sz="1000" err="1"/>
              <a:t>RM’Mil</a:t>
            </a:r>
            <a:endParaRPr lang="en-MY" sz="1000"/>
          </a:p>
        </p:txBody>
      </p:sp>
      <p:sp>
        <p:nvSpPr>
          <p:cNvPr id="39" name="TextBox 38">
            <a:extLst>
              <a:ext uri="{FF2B5EF4-FFF2-40B4-BE49-F238E27FC236}">
                <a16:creationId xmlns:a16="http://schemas.microsoft.com/office/drawing/2014/main" id="{0C38FFE4-DD6C-0AF3-839F-3FF6B9118533}"/>
              </a:ext>
            </a:extLst>
          </p:cNvPr>
          <p:cNvSpPr txBox="1"/>
          <p:nvPr/>
        </p:nvSpPr>
        <p:spPr>
          <a:xfrm>
            <a:off x="8129651" y="3674481"/>
            <a:ext cx="397320" cy="230832"/>
          </a:xfrm>
          <a:prstGeom prst="rect">
            <a:avLst/>
          </a:prstGeom>
          <a:noFill/>
          <a:ln>
            <a:solidFill>
              <a:schemeClr val="tx1"/>
            </a:solidFill>
          </a:ln>
        </p:spPr>
        <p:txBody>
          <a:bodyPr wrap="square" lIns="54000" rIns="0">
            <a:spAutoFit/>
          </a:bodyPr>
          <a:lstStyle/>
          <a:p>
            <a:r>
              <a:rPr lang="en-MY" sz="900"/>
              <a:t>-224%</a:t>
            </a:r>
          </a:p>
        </p:txBody>
      </p:sp>
      <p:sp>
        <p:nvSpPr>
          <p:cNvPr id="2" name="Slide Number Placeholder 2">
            <a:extLst>
              <a:ext uri="{FF2B5EF4-FFF2-40B4-BE49-F238E27FC236}">
                <a16:creationId xmlns:a16="http://schemas.microsoft.com/office/drawing/2014/main" id="{C7D37925-4439-581B-DA7E-932332417C5A}"/>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20</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3345412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0FC64-3013-081B-6E83-75605D6E865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E682C98-4D5E-175F-A10C-6F4A35578D5C}"/>
              </a:ext>
            </a:extLst>
          </p:cNvPr>
          <p:cNvSpPr txBox="1"/>
          <p:nvPr/>
        </p:nvSpPr>
        <p:spPr>
          <a:xfrm>
            <a:off x="170688" y="322951"/>
            <a:ext cx="10735056" cy="584775"/>
          </a:xfrm>
          <a:prstGeom prst="rect">
            <a:avLst/>
          </a:prstGeom>
          <a:noFill/>
        </p:spPr>
        <p:txBody>
          <a:bodyPr wrap="square" rtlCol="0">
            <a:spAutoFit/>
          </a:bodyPr>
          <a:lstStyle/>
          <a:p>
            <a:r>
              <a:rPr lang="en-MY" sz="3200" b="1" err="1"/>
              <a:t>Binastra</a:t>
            </a:r>
            <a:r>
              <a:rPr lang="en-MY" sz="3200" b="1"/>
              <a:t> Ongoing Projects</a:t>
            </a:r>
          </a:p>
        </p:txBody>
      </p:sp>
      <p:pic>
        <p:nvPicPr>
          <p:cNvPr id="6" name="Picture 5">
            <a:extLst>
              <a:ext uri="{FF2B5EF4-FFF2-40B4-BE49-F238E27FC236}">
                <a16:creationId xmlns:a16="http://schemas.microsoft.com/office/drawing/2014/main" id="{43419287-04A0-1518-C3F3-578EA1E5A5A5}"/>
              </a:ext>
            </a:extLst>
          </p:cNvPr>
          <p:cNvPicPr>
            <a:picLocks noChangeAspect="1"/>
          </p:cNvPicPr>
          <p:nvPr/>
        </p:nvPicPr>
        <p:blipFill>
          <a:blip r:embed="rId2"/>
          <a:stretch>
            <a:fillRect/>
          </a:stretch>
        </p:blipFill>
        <p:spPr>
          <a:xfrm>
            <a:off x="341828" y="907726"/>
            <a:ext cx="5714978" cy="2875119"/>
          </a:xfrm>
          <a:prstGeom prst="rect">
            <a:avLst/>
          </a:prstGeom>
        </p:spPr>
      </p:pic>
      <p:pic>
        <p:nvPicPr>
          <p:cNvPr id="10" name="Picture 9">
            <a:extLst>
              <a:ext uri="{FF2B5EF4-FFF2-40B4-BE49-F238E27FC236}">
                <a16:creationId xmlns:a16="http://schemas.microsoft.com/office/drawing/2014/main" id="{684AF8A3-DEC3-31C1-2004-23DAECF2A397}"/>
              </a:ext>
            </a:extLst>
          </p:cNvPr>
          <p:cNvPicPr>
            <a:picLocks noChangeAspect="1"/>
          </p:cNvPicPr>
          <p:nvPr/>
        </p:nvPicPr>
        <p:blipFill>
          <a:blip r:embed="rId3"/>
          <a:stretch>
            <a:fillRect/>
          </a:stretch>
        </p:blipFill>
        <p:spPr>
          <a:xfrm>
            <a:off x="6153962" y="946120"/>
            <a:ext cx="5696210" cy="2836725"/>
          </a:xfrm>
          <a:prstGeom prst="rect">
            <a:avLst/>
          </a:prstGeom>
        </p:spPr>
      </p:pic>
      <p:graphicFrame>
        <p:nvGraphicFramePr>
          <p:cNvPr id="12" name="Table 11">
            <a:extLst>
              <a:ext uri="{FF2B5EF4-FFF2-40B4-BE49-F238E27FC236}">
                <a16:creationId xmlns:a16="http://schemas.microsoft.com/office/drawing/2014/main" id="{253945E3-2F38-6575-5DB9-69989695F693}"/>
              </a:ext>
            </a:extLst>
          </p:cNvPr>
          <p:cNvGraphicFramePr>
            <a:graphicFrameLocks noGrp="1"/>
          </p:cNvGraphicFramePr>
          <p:nvPr>
            <p:extLst>
              <p:ext uri="{D42A27DB-BD31-4B8C-83A1-F6EECF244321}">
                <p14:modId xmlns:p14="http://schemas.microsoft.com/office/powerpoint/2010/main" val="3552742412"/>
              </p:ext>
            </p:extLst>
          </p:nvPr>
        </p:nvGraphicFramePr>
        <p:xfrm>
          <a:off x="341900" y="4041009"/>
          <a:ext cx="11429812" cy="2164080"/>
        </p:xfrm>
        <a:graphic>
          <a:graphicData uri="http://schemas.openxmlformats.org/drawingml/2006/table">
            <a:tbl>
              <a:tblPr firstRow="1">
                <a:tableStyleId>{7E9639D4-E3E2-4D34-9284-5A2195B3D0D7}</a:tableStyleId>
              </a:tblPr>
              <a:tblGrid>
                <a:gridCol w="2857453">
                  <a:extLst>
                    <a:ext uri="{9D8B030D-6E8A-4147-A177-3AD203B41FA5}">
                      <a16:colId xmlns:a16="http://schemas.microsoft.com/office/drawing/2014/main" val="3485507036"/>
                    </a:ext>
                  </a:extLst>
                </a:gridCol>
                <a:gridCol w="2712117">
                  <a:extLst>
                    <a:ext uri="{9D8B030D-6E8A-4147-A177-3AD203B41FA5}">
                      <a16:colId xmlns:a16="http://schemas.microsoft.com/office/drawing/2014/main" val="2072323265"/>
                    </a:ext>
                  </a:extLst>
                </a:gridCol>
                <a:gridCol w="3002789">
                  <a:extLst>
                    <a:ext uri="{9D8B030D-6E8A-4147-A177-3AD203B41FA5}">
                      <a16:colId xmlns:a16="http://schemas.microsoft.com/office/drawing/2014/main" val="2234334519"/>
                    </a:ext>
                  </a:extLst>
                </a:gridCol>
                <a:gridCol w="2857453">
                  <a:extLst>
                    <a:ext uri="{9D8B030D-6E8A-4147-A177-3AD203B41FA5}">
                      <a16:colId xmlns:a16="http://schemas.microsoft.com/office/drawing/2014/main" val="1611306451"/>
                    </a:ext>
                  </a:extLst>
                </a:gridCol>
              </a:tblGrid>
              <a:tr h="214699">
                <a:tc>
                  <a:txBody>
                    <a:bodyPr/>
                    <a:lstStyle/>
                    <a:p>
                      <a:pPr>
                        <a:buNone/>
                      </a:pPr>
                      <a:r>
                        <a:rPr lang="en-MY" sz="1400" b="1">
                          <a:effectLst/>
                        </a:rPr>
                        <a:t>Project Description</a:t>
                      </a:r>
                    </a:p>
                  </a:txBody>
                  <a:tcPr anchor="ctr"/>
                </a:tc>
                <a:tc>
                  <a:txBody>
                    <a:bodyPr/>
                    <a:lstStyle/>
                    <a:p>
                      <a:pPr>
                        <a:buNone/>
                      </a:pPr>
                      <a:r>
                        <a:rPr lang="en-MY" sz="1400" b="1">
                          <a:effectLst/>
                        </a:rPr>
                        <a:t>Segment/Type</a:t>
                      </a:r>
                    </a:p>
                  </a:txBody>
                  <a:tcPr anchor="ctr"/>
                </a:tc>
                <a:tc>
                  <a:txBody>
                    <a:bodyPr/>
                    <a:lstStyle/>
                    <a:p>
                      <a:pPr>
                        <a:buNone/>
                      </a:pPr>
                      <a:r>
                        <a:rPr lang="en-MY" sz="1400" b="1">
                          <a:effectLst/>
                        </a:rPr>
                        <a:t>Contract Value (RM)</a:t>
                      </a:r>
                    </a:p>
                  </a:txBody>
                  <a:tcPr anchor="ctr"/>
                </a:tc>
                <a:tc>
                  <a:txBody>
                    <a:bodyPr/>
                    <a:lstStyle/>
                    <a:p>
                      <a:pPr>
                        <a:buNone/>
                      </a:pPr>
                      <a:r>
                        <a:rPr lang="en-MY" sz="1400" b="1">
                          <a:effectLst/>
                        </a:rPr>
                        <a:t>Status/Note</a:t>
                      </a:r>
                    </a:p>
                  </a:txBody>
                  <a:tcPr anchor="ctr"/>
                </a:tc>
                <a:extLst>
                  <a:ext uri="{0D108BD9-81ED-4DB2-BD59-A6C34878D82A}">
                    <a16:rowId xmlns:a16="http://schemas.microsoft.com/office/drawing/2014/main" val="1837755825"/>
                  </a:ext>
                </a:extLst>
              </a:tr>
              <a:tr h="214699">
                <a:tc>
                  <a:txBody>
                    <a:bodyPr/>
                    <a:lstStyle/>
                    <a:p>
                      <a:pPr>
                        <a:buNone/>
                      </a:pPr>
                      <a:r>
                        <a:rPr lang="en-MY" sz="1400" b="0">
                          <a:effectLst/>
                        </a:rPr>
                        <a:t>High-Capacity Data Centre</a:t>
                      </a:r>
                    </a:p>
                  </a:txBody>
                  <a:tcPr anchor="ctr">
                    <a:noFill/>
                  </a:tcPr>
                </a:tc>
                <a:tc>
                  <a:txBody>
                    <a:bodyPr/>
                    <a:lstStyle/>
                    <a:p>
                      <a:pPr>
                        <a:buNone/>
                      </a:pPr>
                      <a:r>
                        <a:rPr lang="en-MY" sz="1400" b="0">
                          <a:effectLst/>
                        </a:rPr>
                        <a:t>Data Centre</a:t>
                      </a:r>
                    </a:p>
                  </a:txBody>
                  <a:tcPr anchor="ctr">
                    <a:noFill/>
                  </a:tcPr>
                </a:tc>
                <a:tc>
                  <a:txBody>
                    <a:bodyPr/>
                    <a:lstStyle/>
                    <a:p>
                      <a:pPr>
                        <a:buNone/>
                      </a:pPr>
                      <a:r>
                        <a:rPr lang="en-MY" sz="1400" b="0">
                          <a:effectLst/>
                        </a:rPr>
                        <a:t>574.4 million</a:t>
                      </a:r>
                    </a:p>
                  </a:txBody>
                  <a:tcPr anchor="ctr">
                    <a:noFill/>
                  </a:tcPr>
                </a:tc>
                <a:tc>
                  <a:txBody>
                    <a:bodyPr/>
                    <a:lstStyle/>
                    <a:p>
                      <a:pPr>
                        <a:buNone/>
                      </a:pPr>
                      <a:r>
                        <a:rPr lang="en-MY" sz="1400" b="0">
                          <a:effectLst/>
                        </a:rPr>
                        <a:t>Turnkey project.</a:t>
                      </a:r>
                    </a:p>
                  </a:txBody>
                  <a:tcPr anchor="ctr">
                    <a:noFill/>
                  </a:tcPr>
                </a:tc>
                <a:extLst>
                  <a:ext uri="{0D108BD9-81ED-4DB2-BD59-A6C34878D82A}">
                    <a16:rowId xmlns:a16="http://schemas.microsoft.com/office/drawing/2014/main" val="1809190806"/>
                  </a:ext>
                </a:extLst>
              </a:tr>
              <a:tr h="362084">
                <a:tc>
                  <a:txBody>
                    <a:bodyPr/>
                    <a:lstStyle/>
                    <a:p>
                      <a:pPr>
                        <a:buNone/>
                      </a:pPr>
                      <a:r>
                        <a:rPr lang="en-MY" sz="1400" b="0">
                          <a:effectLst/>
                        </a:rPr>
                        <a:t>Data Centre M&amp;E Works</a:t>
                      </a:r>
                    </a:p>
                  </a:txBody>
                  <a:tcPr anchor="ctr">
                    <a:noFill/>
                  </a:tcPr>
                </a:tc>
                <a:tc>
                  <a:txBody>
                    <a:bodyPr/>
                    <a:lstStyle/>
                    <a:p>
                      <a:pPr>
                        <a:buNone/>
                      </a:pPr>
                      <a:r>
                        <a:rPr lang="en-MY" sz="1400" b="0">
                          <a:effectLst/>
                        </a:rPr>
                        <a:t>Data Centre</a:t>
                      </a:r>
                    </a:p>
                  </a:txBody>
                  <a:tcPr anchor="ctr">
                    <a:noFill/>
                  </a:tcPr>
                </a:tc>
                <a:tc>
                  <a:txBody>
                    <a:bodyPr/>
                    <a:lstStyle/>
                    <a:p>
                      <a:pPr>
                        <a:buNone/>
                      </a:pPr>
                      <a:r>
                        <a:rPr lang="en-MY" sz="1400" b="0">
                          <a:effectLst/>
                        </a:rPr>
                        <a:t>256.5 million</a:t>
                      </a:r>
                    </a:p>
                  </a:txBody>
                  <a:tcPr anchor="ctr">
                    <a:noFill/>
                  </a:tcPr>
                </a:tc>
                <a:tc>
                  <a:txBody>
                    <a:bodyPr/>
                    <a:lstStyle/>
                    <a:p>
                      <a:pPr>
                        <a:buNone/>
                      </a:pPr>
                      <a:r>
                        <a:rPr lang="en-US" sz="1400" b="0">
                          <a:effectLst/>
                        </a:rPr>
                        <a:t>Mechanical and electrical fit-out works in Kuala Lumpur.</a:t>
                      </a:r>
                    </a:p>
                  </a:txBody>
                  <a:tcPr anchor="ctr">
                    <a:noFill/>
                  </a:tcPr>
                </a:tc>
                <a:extLst>
                  <a:ext uri="{0D108BD9-81ED-4DB2-BD59-A6C34878D82A}">
                    <a16:rowId xmlns:a16="http://schemas.microsoft.com/office/drawing/2014/main" val="3188767940"/>
                  </a:ext>
                </a:extLst>
              </a:tr>
              <a:tr h="362084">
                <a:tc>
                  <a:txBody>
                    <a:bodyPr/>
                    <a:lstStyle/>
                    <a:p>
                      <a:pPr>
                        <a:buNone/>
                      </a:pPr>
                      <a:r>
                        <a:rPr lang="en-MY" sz="1400" b="0">
                          <a:effectLst/>
                        </a:rPr>
                        <a:t>Residential Development (Kota Kinabalu)</a:t>
                      </a:r>
                    </a:p>
                  </a:txBody>
                  <a:tcPr anchor="ctr">
                    <a:noFill/>
                  </a:tcPr>
                </a:tc>
                <a:tc>
                  <a:txBody>
                    <a:bodyPr/>
                    <a:lstStyle/>
                    <a:p>
                      <a:pPr>
                        <a:buNone/>
                      </a:pPr>
                      <a:r>
                        <a:rPr lang="en-MY" sz="1400" b="0">
                          <a:effectLst/>
                        </a:rPr>
                        <a:t>Building Construction</a:t>
                      </a:r>
                    </a:p>
                  </a:txBody>
                  <a:tcPr anchor="ctr">
                    <a:noFill/>
                  </a:tcPr>
                </a:tc>
                <a:tc>
                  <a:txBody>
                    <a:bodyPr/>
                    <a:lstStyle/>
                    <a:p>
                      <a:pPr>
                        <a:buNone/>
                      </a:pPr>
                      <a:r>
                        <a:rPr lang="en-MY" sz="1400" b="0">
                          <a:effectLst/>
                        </a:rPr>
                        <a:t>313.7 million</a:t>
                      </a:r>
                    </a:p>
                  </a:txBody>
                  <a:tcPr anchor="ctr">
                    <a:noFill/>
                  </a:tcPr>
                </a:tc>
                <a:tc>
                  <a:txBody>
                    <a:bodyPr/>
                    <a:lstStyle/>
                    <a:p>
                      <a:pPr>
                        <a:buNone/>
                      </a:pPr>
                      <a:r>
                        <a:rPr lang="en-US" sz="1400" b="0">
                          <a:effectLst/>
                        </a:rPr>
                        <a:t>First project in Sabah (East Malaysia).</a:t>
                      </a:r>
                    </a:p>
                  </a:txBody>
                  <a:tcPr anchor="ctr">
                    <a:noFill/>
                  </a:tcPr>
                </a:tc>
                <a:extLst>
                  <a:ext uri="{0D108BD9-81ED-4DB2-BD59-A6C34878D82A}">
                    <a16:rowId xmlns:a16="http://schemas.microsoft.com/office/drawing/2014/main" val="1670815152"/>
                  </a:ext>
                </a:extLst>
              </a:tr>
              <a:tr h="353802">
                <a:tc>
                  <a:txBody>
                    <a:bodyPr/>
                    <a:lstStyle/>
                    <a:p>
                      <a:pPr>
                        <a:buNone/>
                      </a:pPr>
                      <a:r>
                        <a:rPr lang="en-MY" sz="1400" b="0">
                          <a:effectLst/>
                        </a:rPr>
                        <a:t>Sewage Treatment Plant</a:t>
                      </a:r>
                    </a:p>
                  </a:txBody>
                  <a:tcPr anchor="ctr"/>
                </a:tc>
                <a:tc>
                  <a:txBody>
                    <a:bodyPr/>
                    <a:lstStyle/>
                    <a:p>
                      <a:pPr>
                        <a:buNone/>
                      </a:pPr>
                      <a:r>
                        <a:rPr lang="en-MY" sz="1400" b="0">
                          <a:effectLst/>
                        </a:rPr>
                        <a:t>Infrastructure</a:t>
                      </a:r>
                    </a:p>
                  </a:txBody>
                  <a:tcPr anchor="ctr"/>
                </a:tc>
                <a:tc>
                  <a:txBody>
                    <a:bodyPr/>
                    <a:lstStyle/>
                    <a:p>
                      <a:pPr>
                        <a:buNone/>
                      </a:pPr>
                      <a:r>
                        <a:rPr lang="en-MY" sz="1400" b="0">
                          <a:effectLst/>
                        </a:rPr>
                        <a:t>155.0 million</a:t>
                      </a:r>
                    </a:p>
                  </a:txBody>
                  <a:tcPr anchor="ctr"/>
                </a:tc>
                <a:tc>
                  <a:txBody>
                    <a:bodyPr/>
                    <a:lstStyle/>
                    <a:p>
                      <a:pPr>
                        <a:buNone/>
                      </a:pPr>
                      <a:r>
                        <a:rPr lang="en-US" sz="1400" b="0">
                          <a:effectLst/>
                        </a:rPr>
                        <a:t>Design and build of a membrane bioreactor.</a:t>
                      </a:r>
                    </a:p>
                  </a:txBody>
                  <a:tcPr anchor="ctr"/>
                </a:tc>
                <a:extLst>
                  <a:ext uri="{0D108BD9-81ED-4DB2-BD59-A6C34878D82A}">
                    <a16:rowId xmlns:a16="http://schemas.microsoft.com/office/drawing/2014/main" val="506338816"/>
                  </a:ext>
                </a:extLst>
              </a:tr>
            </a:tbl>
          </a:graphicData>
        </a:graphic>
      </p:graphicFrame>
      <p:sp>
        <p:nvSpPr>
          <p:cNvPr id="13" name="TextBox 12">
            <a:extLst>
              <a:ext uri="{FF2B5EF4-FFF2-40B4-BE49-F238E27FC236}">
                <a16:creationId xmlns:a16="http://schemas.microsoft.com/office/drawing/2014/main" id="{85AB80D7-5FC4-5758-AB76-71B193CCDDDE}"/>
              </a:ext>
            </a:extLst>
          </p:cNvPr>
          <p:cNvSpPr txBox="1"/>
          <p:nvPr/>
        </p:nvSpPr>
        <p:spPr>
          <a:xfrm>
            <a:off x="247838" y="6205089"/>
            <a:ext cx="6206150" cy="246221"/>
          </a:xfrm>
          <a:prstGeom prst="rect">
            <a:avLst/>
          </a:prstGeom>
          <a:noFill/>
        </p:spPr>
        <p:txBody>
          <a:bodyPr wrap="square">
            <a:spAutoFit/>
          </a:bodyPr>
          <a:lstStyle/>
          <a:p>
            <a:r>
              <a:rPr lang="en-MY" sz="1000" b="0" i="1">
                <a:solidFill>
                  <a:srgbClr val="303030"/>
                </a:solidFill>
                <a:effectLst/>
                <a:latin typeface="+mj-lt"/>
              </a:rPr>
              <a:t>Source: AR2025 (FYE of</a:t>
            </a:r>
            <a:r>
              <a:rPr lang="en-US" sz="1000" b="0" i="1">
                <a:solidFill>
                  <a:srgbClr val="303030"/>
                </a:solidFill>
                <a:effectLst/>
                <a:latin typeface="+mj-lt"/>
              </a:rPr>
              <a:t> 31 January 2025)</a:t>
            </a:r>
            <a:endParaRPr lang="en-MY" sz="1000" i="1">
              <a:latin typeface="+mj-lt"/>
            </a:endParaRPr>
          </a:p>
        </p:txBody>
      </p:sp>
      <p:sp>
        <p:nvSpPr>
          <p:cNvPr id="2" name="Slide Number Placeholder 2">
            <a:extLst>
              <a:ext uri="{FF2B5EF4-FFF2-40B4-BE49-F238E27FC236}">
                <a16:creationId xmlns:a16="http://schemas.microsoft.com/office/drawing/2014/main" id="{F6E578D9-629F-5FA2-61AA-C85C1E8ACD42}"/>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21</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2859850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CC635-C6AB-F0C7-0BD4-87E9B2FE02DD}"/>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7D96405-3A5B-BAA4-8BB6-B9F5099B19F0}"/>
              </a:ext>
            </a:extLst>
          </p:cNvPr>
          <p:cNvPicPr>
            <a:picLocks noChangeAspect="1"/>
          </p:cNvPicPr>
          <p:nvPr/>
        </p:nvPicPr>
        <p:blipFill>
          <a:blip r:embed="rId2"/>
          <a:stretch>
            <a:fillRect/>
          </a:stretch>
        </p:blipFill>
        <p:spPr>
          <a:xfrm>
            <a:off x="4283543" y="1171347"/>
            <a:ext cx="2992427" cy="4515306"/>
          </a:xfrm>
          <a:prstGeom prst="rect">
            <a:avLst/>
          </a:prstGeom>
        </p:spPr>
      </p:pic>
      <p:graphicFrame>
        <p:nvGraphicFramePr>
          <p:cNvPr id="3" name="Chart 2">
            <a:extLst>
              <a:ext uri="{FF2B5EF4-FFF2-40B4-BE49-F238E27FC236}">
                <a16:creationId xmlns:a16="http://schemas.microsoft.com/office/drawing/2014/main" id="{E7B9E3C3-153A-6F19-1F80-37F0D7692842}"/>
              </a:ext>
            </a:extLst>
          </p:cNvPr>
          <p:cNvGraphicFramePr>
            <a:graphicFrameLocks/>
          </p:cNvGraphicFramePr>
          <p:nvPr/>
        </p:nvGraphicFramePr>
        <p:xfrm>
          <a:off x="7275970" y="1108985"/>
          <a:ext cx="4552924" cy="29764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C6CB7531-A454-9898-B424-1A1C07FC926D}"/>
              </a:ext>
            </a:extLst>
          </p:cNvPr>
          <p:cNvGraphicFramePr>
            <a:graphicFrameLocks noGrp="1"/>
          </p:cNvGraphicFramePr>
          <p:nvPr/>
        </p:nvGraphicFramePr>
        <p:xfrm>
          <a:off x="303920" y="1126444"/>
          <a:ext cx="3818367" cy="1005850"/>
        </p:xfrm>
        <a:graphic>
          <a:graphicData uri="http://schemas.openxmlformats.org/drawingml/2006/table">
            <a:tbl>
              <a:tblPr firstCol="1">
                <a:tableStyleId>{8EC20E35-A176-4012-BC5E-935CFFF8708E}</a:tableStyleId>
              </a:tblPr>
              <a:tblGrid>
                <a:gridCol w="2771136">
                  <a:extLst>
                    <a:ext uri="{9D8B030D-6E8A-4147-A177-3AD203B41FA5}">
                      <a16:colId xmlns:a16="http://schemas.microsoft.com/office/drawing/2014/main" val="3578907304"/>
                    </a:ext>
                  </a:extLst>
                </a:gridCol>
                <a:gridCol w="1047231">
                  <a:extLst>
                    <a:ext uri="{9D8B030D-6E8A-4147-A177-3AD203B41FA5}">
                      <a16:colId xmlns:a16="http://schemas.microsoft.com/office/drawing/2014/main" val="20302828"/>
                    </a:ext>
                  </a:extLst>
                </a:gridCol>
              </a:tblGrid>
              <a:tr h="201170">
                <a:tc>
                  <a:txBody>
                    <a:bodyPr/>
                    <a:lstStyle/>
                    <a:p>
                      <a:pPr algn="l" fontAlgn="t">
                        <a:buNone/>
                      </a:pPr>
                      <a:r>
                        <a:rPr lang="en-MY" sz="1100" u="none" strike="noStrike">
                          <a:effectLst/>
                        </a:rPr>
                        <a:t>Market Cap (Intraday)</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002060"/>
                    </a:solidFill>
                  </a:tcPr>
                </a:tc>
                <a:tc>
                  <a:txBody>
                    <a:bodyPr/>
                    <a:lstStyle/>
                    <a:p>
                      <a:pPr algn="r" fontAlgn="b">
                        <a:buNone/>
                      </a:pPr>
                      <a:r>
                        <a:rPr lang="en-MY" sz="1100" u="none" strike="noStrike">
                          <a:effectLst/>
                        </a:rPr>
                        <a:t>230.64</a:t>
                      </a:r>
                      <a:endParaRPr lang="en-MY" sz="1100" b="0" i="0" u="none" strike="noStrike">
                        <a:solidFill>
                          <a:srgbClr val="000000"/>
                        </a:solidFill>
                        <a:effectLst/>
                        <a:latin typeface="Calibri" panose="020F0502020204030204" pitchFamily="34" charset="0"/>
                      </a:endParaRPr>
                    </a:p>
                  </a:txBody>
                  <a:tcPr marL="72000" marR="72000" marT="635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24842295"/>
                  </a:ext>
                </a:extLst>
              </a:tr>
              <a:tr h="201170">
                <a:tc>
                  <a:txBody>
                    <a:bodyPr/>
                    <a:lstStyle/>
                    <a:p>
                      <a:pPr algn="l" fontAlgn="t">
                        <a:buNone/>
                      </a:pPr>
                      <a:r>
                        <a:rPr lang="en-MY" sz="1100" u="none" strike="noStrike">
                          <a:effectLst/>
                        </a:rPr>
                        <a:t>EV/EBITDA</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solidFill>
                      <a:srgbClr val="002060"/>
                    </a:solidFill>
                  </a:tcPr>
                </a:tc>
                <a:tc>
                  <a:txBody>
                    <a:bodyPr/>
                    <a:lstStyle/>
                    <a:p>
                      <a:pPr algn="r" fontAlgn="b">
                        <a:buNone/>
                      </a:pPr>
                      <a:r>
                        <a:rPr lang="en-MY" sz="1100" u="none" strike="noStrike">
                          <a:effectLst/>
                        </a:rPr>
                        <a:t>8.81</a:t>
                      </a:r>
                      <a:endParaRPr lang="en-MY" sz="1100" b="0" i="0" u="none" strike="noStrike">
                        <a:solidFill>
                          <a:srgbClr val="000000"/>
                        </a:solidFill>
                        <a:effectLst/>
                        <a:latin typeface="Calibri" panose="020F0502020204030204" pitchFamily="34" charset="0"/>
                      </a:endParaRPr>
                    </a:p>
                  </a:txBody>
                  <a:tcPr marL="72000" marR="72000" marT="635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95202605"/>
                  </a:ext>
                </a:extLst>
              </a:tr>
              <a:tr h="201170">
                <a:tc>
                  <a:txBody>
                    <a:bodyPr/>
                    <a:lstStyle/>
                    <a:p>
                      <a:pPr algn="l" fontAlgn="t">
                        <a:buNone/>
                      </a:pPr>
                      <a:r>
                        <a:rPr lang="en-MY" sz="1100" u="none" strike="noStrike">
                          <a:effectLst/>
                        </a:rPr>
                        <a:t>Trailing P/E</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solidFill>
                      <a:srgbClr val="002060"/>
                    </a:solidFill>
                  </a:tcPr>
                </a:tc>
                <a:tc>
                  <a:txBody>
                    <a:bodyPr/>
                    <a:lstStyle/>
                    <a:p>
                      <a:pPr algn="r" fontAlgn="b">
                        <a:buNone/>
                      </a:pPr>
                      <a:r>
                        <a:rPr lang="en-MY" sz="1100" u="none" strike="noStrike">
                          <a:effectLst/>
                        </a:rPr>
                        <a:t>30.50</a:t>
                      </a:r>
                      <a:endParaRPr lang="en-MY" sz="1100" b="0" i="0" u="none" strike="noStrike">
                        <a:solidFill>
                          <a:srgbClr val="000000"/>
                        </a:solidFill>
                        <a:effectLst/>
                        <a:latin typeface="Calibri" panose="020F0502020204030204" pitchFamily="34" charset="0"/>
                      </a:endParaRPr>
                    </a:p>
                  </a:txBody>
                  <a:tcPr marL="72000" marR="72000" marT="635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76515"/>
                  </a:ext>
                </a:extLst>
              </a:tr>
              <a:tr h="201170">
                <a:tc>
                  <a:txBody>
                    <a:bodyPr/>
                    <a:lstStyle/>
                    <a:p>
                      <a:pPr algn="l" fontAlgn="t">
                        <a:buNone/>
                      </a:pPr>
                      <a:r>
                        <a:rPr lang="en-MY" sz="1100" u="none" strike="noStrike">
                          <a:effectLst/>
                        </a:rPr>
                        <a:t>Forward P/E</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solidFill>
                      <a:srgbClr val="002060"/>
                    </a:solidFill>
                  </a:tcPr>
                </a:tc>
                <a:tc>
                  <a:txBody>
                    <a:bodyPr/>
                    <a:lstStyle/>
                    <a:p>
                      <a:pPr algn="r" fontAlgn="b">
                        <a:buNone/>
                      </a:pPr>
                      <a:r>
                        <a:rPr lang="en-MY" sz="1100" u="none" strike="noStrike">
                          <a:effectLst/>
                        </a:rPr>
                        <a:t>N/A</a:t>
                      </a:r>
                      <a:endParaRPr lang="en-MY" sz="1100" b="0" i="0" u="none" strike="noStrike">
                        <a:solidFill>
                          <a:srgbClr val="000000"/>
                        </a:solidFill>
                        <a:effectLst/>
                        <a:latin typeface="Calibri" panose="020F0502020204030204" pitchFamily="34" charset="0"/>
                      </a:endParaRPr>
                    </a:p>
                  </a:txBody>
                  <a:tcPr marL="72000" marR="72000" marT="6350" marB="0" anchor="b">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35325243"/>
                  </a:ext>
                </a:extLst>
              </a:tr>
              <a:tr h="201170">
                <a:tc>
                  <a:txBody>
                    <a:bodyPr/>
                    <a:lstStyle/>
                    <a:p>
                      <a:pPr algn="l" fontAlgn="t">
                        <a:buNone/>
                      </a:pPr>
                      <a:r>
                        <a:rPr lang="en-MY" sz="1100" u="none" strike="noStrike">
                          <a:effectLst/>
                        </a:rPr>
                        <a:t>Price/Book </a:t>
                      </a:r>
                      <a:endParaRPr lang="en-MY" sz="1100" b="0" i="0" u="none" strike="noStrike">
                        <a:solidFill>
                          <a:srgbClr val="000000"/>
                        </a:solidFill>
                        <a:effectLst/>
                        <a:latin typeface="Calibri" panose="020F0502020204030204" pitchFamily="34" charset="0"/>
                      </a:endParaRPr>
                    </a:p>
                  </a:txBody>
                  <a:tcPr marL="72000" marR="72000" marT="635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002060"/>
                    </a:solidFill>
                  </a:tcPr>
                </a:tc>
                <a:tc>
                  <a:txBody>
                    <a:bodyPr/>
                    <a:lstStyle/>
                    <a:p>
                      <a:pPr algn="r" fontAlgn="b">
                        <a:buNone/>
                      </a:pPr>
                      <a:r>
                        <a:rPr lang="en-MY" sz="1100" u="none" strike="noStrike">
                          <a:effectLst/>
                        </a:rPr>
                        <a:t>1.38</a:t>
                      </a:r>
                      <a:endParaRPr lang="en-MY" sz="1100" b="0" i="0" u="none" strike="noStrike">
                        <a:solidFill>
                          <a:srgbClr val="000000"/>
                        </a:solidFill>
                        <a:effectLst/>
                        <a:latin typeface="Calibri" panose="020F0502020204030204" pitchFamily="34" charset="0"/>
                      </a:endParaRPr>
                    </a:p>
                  </a:txBody>
                  <a:tcPr marL="72000" marR="72000" marT="635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4007286"/>
                  </a:ext>
                </a:extLst>
              </a:tr>
            </a:tbl>
          </a:graphicData>
        </a:graphic>
      </p:graphicFrame>
      <p:sp>
        <p:nvSpPr>
          <p:cNvPr id="18" name="TextBox 17">
            <a:extLst>
              <a:ext uri="{FF2B5EF4-FFF2-40B4-BE49-F238E27FC236}">
                <a16:creationId xmlns:a16="http://schemas.microsoft.com/office/drawing/2014/main" id="{6BC04881-0095-832D-7134-0FBB20470EAB}"/>
              </a:ext>
            </a:extLst>
          </p:cNvPr>
          <p:cNvSpPr txBox="1"/>
          <p:nvPr/>
        </p:nvSpPr>
        <p:spPr>
          <a:xfrm>
            <a:off x="256320" y="93322"/>
            <a:ext cx="11869005" cy="1015663"/>
          </a:xfrm>
          <a:prstGeom prst="rect">
            <a:avLst/>
          </a:prstGeom>
          <a:noFill/>
        </p:spPr>
        <p:txBody>
          <a:bodyPr wrap="square">
            <a:spAutoFit/>
          </a:bodyPr>
          <a:lstStyle/>
          <a:p>
            <a:pPr algn="just"/>
            <a:r>
              <a:rPr lang="en-US" sz="2400" b="1"/>
              <a:t>Nestcon Berhad </a:t>
            </a:r>
            <a:r>
              <a:rPr lang="en-US" sz="1200"/>
              <a:t>(Incorp: 2001 HQ in Puchong), undertakes civil engineering and infrastructure works including earthworks, land reclamation, roadworks, and railway and bridge construction as well as building construction across residential, commercial, and industrial properties. Its subsidiaries, Nestcon Infra, Nestcon Builders and Nestcon Solar, are registered G7 CIDB contractors. In May 2024, the Group diversified into renewable energy, offering EPCC services for solar PV systems for residential, commercial, and industrial customers.</a:t>
            </a:r>
            <a:endParaRPr lang="en-MY" sz="1200"/>
          </a:p>
        </p:txBody>
      </p:sp>
      <p:graphicFrame>
        <p:nvGraphicFramePr>
          <p:cNvPr id="20" name="Table 19">
            <a:extLst>
              <a:ext uri="{FF2B5EF4-FFF2-40B4-BE49-F238E27FC236}">
                <a16:creationId xmlns:a16="http://schemas.microsoft.com/office/drawing/2014/main" id="{7D2B3940-AF75-F161-8264-81FBD92E9470}"/>
              </a:ext>
            </a:extLst>
          </p:cNvPr>
          <p:cNvGraphicFramePr>
            <a:graphicFrameLocks noGrp="1"/>
          </p:cNvGraphicFramePr>
          <p:nvPr/>
        </p:nvGraphicFramePr>
        <p:xfrm>
          <a:off x="303919" y="4472746"/>
          <a:ext cx="3818368" cy="1417320"/>
        </p:xfrm>
        <a:graphic>
          <a:graphicData uri="http://schemas.openxmlformats.org/drawingml/2006/table">
            <a:tbl>
              <a:tblPr firstRow="1">
                <a:tableStyleId>{793D81CF-94F2-401A-BA57-92F5A7B2D0C5}</a:tableStyleId>
              </a:tblPr>
              <a:tblGrid>
                <a:gridCol w="1493738">
                  <a:extLst>
                    <a:ext uri="{9D8B030D-6E8A-4147-A177-3AD203B41FA5}">
                      <a16:colId xmlns:a16="http://schemas.microsoft.com/office/drawing/2014/main" val="617542257"/>
                    </a:ext>
                  </a:extLst>
                </a:gridCol>
                <a:gridCol w="1120303">
                  <a:extLst>
                    <a:ext uri="{9D8B030D-6E8A-4147-A177-3AD203B41FA5}">
                      <a16:colId xmlns:a16="http://schemas.microsoft.com/office/drawing/2014/main" val="1054072413"/>
                    </a:ext>
                  </a:extLst>
                </a:gridCol>
                <a:gridCol w="1204327">
                  <a:extLst>
                    <a:ext uri="{9D8B030D-6E8A-4147-A177-3AD203B41FA5}">
                      <a16:colId xmlns:a16="http://schemas.microsoft.com/office/drawing/2014/main" val="1065622571"/>
                    </a:ext>
                  </a:extLst>
                </a:gridCol>
              </a:tblGrid>
              <a:tr h="0">
                <a:tc>
                  <a:txBody>
                    <a:bodyPr/>
                    <a:lstStyle/>
                    <a:p>
                      <a:pPr algn="ctr">
                        <a:buNone/>
                      </a:pPr>
                      <a:r>
                        <a:rPr lang="en-MY" sz="1050">
                          <a:effectLst/>
                        </a:rPr>
                        <a:t>Business Segment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050">
                          <a:effectLst/>
                        </a:rPr>
                        <a:t>Revenue (RM)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050">
                          <a:effectLst/>
                        </a:rPr>
                        <a:t>% Contribution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415708295"/>
                  </a:ext>
                </a:extLst>
              </a:tr>
              <a:tr h="145258">
                <a:tc>
                  <a:txBody>
                    <a:bodyPr/>
                    <a:lstStyle/>
                    <a:p>
                      <a:pPr>
                        <a:buNone/>
                      </a:pPr>
                      <a:r>
                        <a:rPr lang="en-MY" sz="1050">
                          <a:effectLst/>
                        </a:rPr>
                        <a:t>Building Construction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a:effectLst/>
                        </a:rPr>
                        <a:t>632,320,000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a:effectLst/>
                        </a:rPr>
                        <a:t>75.4%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9521559"/>
                  </a:ext>
                </a:extLst>
              </a:tr>
              <a:tr h="145258">
                <a:tc>
                  <a:txBody>
                    <a:bodyPr/>
                    <a:lstStyle/>
                    <a:p>
                      <a:pPr>
                        <a:buNone/>
                      </a:pPr>
                      <a:r>
                        <a:rPr lang="en-MY" sz="1050">
                          <a:effectLst/>
                        </a:rPr>
                        <a:t>Civil Engineering &amp; Infrastructure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a:effectLst/>
                        </a:rPr>
                        <a:t>188,540,000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a:effectLst/>
                        </a:rPr>
                        <a:t>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9524073"/>
                  </a:ext>
                </a:extLst>
              </a:tr>
              <a:tr h="0">
                <a:tc>
                  <a:txBody>
                    <a:bodyPr/>
                    <a:lstStyle/>
                    <a:p>
                      <a:pPr>
                        <a:buNone/>
                      </a:pPr>
                      <a:r>
                        <a:rPr lang="en-MY" sz="1050">
                          <a:effectLst/>
                        </a:rPr>
                        <a:t>Renewable Energy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a:effectLst/>
                        </a:rPr>
                        <a:t>17,270,000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a:effectLst/>
                        </a:rPr>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3652486"/>
                  </a:ext>
                </a:extLst>
              </a:tr>
              <a:tr h="0">
                <a:tc>
                  <a:txBody>
                    <a:bodyPr/>
                    <a:lstStyle/>
                    <a:p>
                      <a:pPr>
                        <a:buNone/>
                      </a:pPr>
                      <a:r>
                        <a:rPr lang="en-MY" sz="1050" b="1">
                          <a:effectLst/>
                        </a:rPr>
                        <a:t>Total</a:t>
                      </a:r>
                      <a:endParaRPr lang="en-MY" sz="105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b="1">
                          <a:effectLst/>
                        </a:rPr>
                        <a:t>838,130,000</a:t>
                      </a:r>
                      <a:endParaRPr lang="en-MY" sz="105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MY" sz="1050" b="1">
                          <a:effectLst/>
                        </a:rPr>
                        <a:t>100%</a:t>
                      </a:r>
                      <a:endParaRPr lang="en-MY" sz="105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1910574"/>
                  </a:ext>
                </a:extLst>
              </a:tr>
            </a:tbl>
          </a:graphicData>
        </a:graphic>
      </p:graphicFrame>
      <p:sp>
        <p:nvSpPr>
          <p:cNvPr id="23" name="TextBox 22">
            <a:extLst>
              <a:ext uri="{FF2B5EF4-FFF2-40B4-BE49-F238E27FC236}">
                <a16:creationId xmlns:a16="http://schemas.microsoft.com/office/drawing/2014/main" id="{C0580B49-0D5F-47FF-FCAB-A7300B20617B}"/>
              </a:ext>
            </a:extLst>
          </p:cNvPr>
          <p:cNvSpPr txBox="1"/>
          <p:nvPr/>
        </p:nvSpPr>
        <p:spPr>
          <a:xfrm>
            <a:off x="227316" y="5916870"/>
            <a:ext cx="1943955" cy="261610"/>
          </a:xfrm>
          <a:prstGeom prst="rect">
            <a:avLst/>
          </a:prstGeom>
          <a:noFill/>
        </p:spPr>
        <p:txBody>
          <a:bodyPr wrap="square" rtlCol="0">
            <a:spAutoFit/>
          </a:bodyPr>
          <a:lstStyle/>
          <a:p>
            <a:pPr>
              <a:spcBef>
                <a:spcPts val="300"/>
              </a:spcBef>
              <a:spcAft>
                <a:spcPts val="300"/>
              </a:spcAft>
              <a:buSzPct val="100000"/>
            </a:pPr>
            <a:r>
              <a:rPr lang="en-US" sz="1100" b="1"/>
              <a:t>Shareholding structure</a:t>
            </a:r>
            <a:endParaRPr lang="en-US" sz="1100"/>
          </a:p>
        </p:txBody>
      </p:sp>
      <p:graphicFrame>
        <p:nvGraphicFramePr>
          <p:cNvPr id="24" name="Table 23">
            <a:extLst>
              <a:ext uri="{FF2B5EF4-FFF2-40B4-BE49-F238E27FC236}">
                <a16:creationId xmlns:a16="http://schemas.microsoft.com/office/drawing/2014/main" id="{2D489AC9-8D65-EF52-BAC9-7144A0280448}"/>
              </a:ext>
            </a:extLst>
          </p:cNvPr>
          <p:cNvGraphicFramePr>
            <a:graphicFrameLocks noGrp="1"/>
          </p:cNvGraphicFramePr>
          <p:nvPr/>
        </p:nvGraphicFramePr>
        <p:xfrm>
          <a:off x="227314" y="6172200"/>
          <a:ext cx="5563884" cy="518160"/>
        </p:xfrm>
        <a:graphic>
          <a:graphicData uri="http://schemas.openxmlformats.org/drawingml/2006/table">
            <a:tbl>
              <a:tblPr firstRow="1" bandRow="1">
                <a:tableStyleId>{5C22544A-7EE6-4342-B048-85BDC9FD1C3A}</a:tableStyleId>
              </a:tblPr>
              <a:tblGrid>
                <a:gridCol w="1642227">
                  <a:extLst>
                    <a:ext uri="{9D8B030D-6E8A-4147-A177-3AD203B41FA5}">
                      <a16:colId xmlns:a16="http://schemas.microsoft.com/office/drawing/2014/main" val="1259669850"/>
                    </a:ext>
                  </a:extLst>
                </a:gridCol>
                <a:gridCol w="1307219">
                  <a:extLst>
                    <a:ext uri="{9D8B030D-6E8A-4147-A177-3AD203B41FA5}">
                      <a16:colId xmlns:a16="http://schemas.microsoft.com/office/drawing/2014/main" val="3551774269"/>
                    </a:ext>
                  </a:extLst>
                </a:gridCol>
                <a:gridCol w="1307219">
                  <a:extLst>
                    <a:ext uri="{9D8B030D-6E8A-4147-A177-3AD203B41FA5}">
                      <a16:colId xmlns:a16="http://schemas.microsoft.com/office/drawing/2014/main" val="3661148664"/>
                    </a:ext>
                  </a:extLst>
                </a:gridCol>
                <a:gridCol w="1307219">
                  <a:extLst>
                    <a:ext uri="{9D8B030D-6E8A-4147-A177-3AD203B41FA5}">
                      <a16:colId xmlns:a16="http://schemas.microsoft.com/office/drawing/2014/main" val="3068912754"/>
                    </a:ext>
                  </a:extLst>
                </a:gridCol>
              </a:tblGrid>
              <a:tr h="139238">
                <a:tc>
                  <a:txBody>
                    <a:bodyPr/>
                    <a:lstStyle/>
                    <a:p>
                      <a:pPr algn="ctr"/>
                      <a:r>
                        <a:rPr lang="en-US" sz="1100">
                          <a:solidFill>
                            <a:schemeClr val="tx1"/>
                          </a:solidFill>
                        </a:rPr>
                        <a:t>50.82%</a:t>
                      </a:r>
                    </a:p>
                  </a:txBody>
                  <a:tcPr>
                    <a:solidFill>
                      <a:schemeClr val="accent4">
                        <a:lumMod val="20000"/>
                        <a:lumOff val="80000"/>
                      </a:schemeClr>
                    </a:solidFill>
                  </a:tcPr>
                </a:tc>
                <a:tc>
                  <a:txBody>
                    <a:bodyPr/>
                    <a:lstStyle/>
                    <a:p>
                      <a:pPr algn="ctr"/>
                      <a:r>
                        <a:rPr lang="en-US" sz="1100">
                          <a:solidFill>
                            <a:schemeClr val="bg1"/>
                          </a:solidFill>
                        </a:rPr>
                        <a:t>9.05%</a:t>
                      </a:r>
                    </a:p>
                  </a:txBody>
                  <a:tcPr>
                    <a:solidFill>
                      <a:schemeClr val="accent1">
                        <a:lumMod val="75000"/>
                      </a:schemeClr>
                    </a:solidFill>
                  </a:tcPr>
                </a:tc>
                <a:tc>
                  <a:txBody>
                    <a:bodyPr/>
                    <a:lstStyle/>
                    <a:p>
                      <a:pPr algn="ctr"/>
                      <a:r>
                        <a:rPr lang="en-US" sz="1100">
                          <a:solidFill>
                            <a:schemeClr val="bg1"/>
                          </a:solidFill>
                        </a:rPr>
                        <a:t>0.35%</a:t>
                      </a:r>
                    </a:p>
                  </a:txBody>
                  <a:tcPr>
                    <a:solidFill>
                      <a:schemeClr val="accent1">
                        <a:lumMod val="75000"/>
                      </a:schemeClr>
                    </a:solidFill>
                  </a:tcPr>
                </a:tc>
                <a:tc>
                  <a:txBody>
                    <a:bodyPr/>
                    <a:lstStyle/>
                    <a:p>
                      <a:pPr algn="ctr"/>
                      <a:r>
                        <a:rPr lang="en-US" sz="1100">
                          <a:solidFill>
                            <a:schemeClr val="bg1"/>
                          </a:solidFill>
                        </a:rPr>
                        <a:t>0.28%</a:t>
                      </a:r>
                    </a:p>
                  </a:txBody>
                  <a:tcPr>
                    <a:solidFill>
                      <a:schemeClr val="accent1">
                        <a:lumMod val="75000"/>
                      </a:schemeClr>
                    </a:solidFill>
                  </a:tcPr>
                </a:tc>
                <a:extLst>
                  <a:ext uri="{0D108BD9-81ED-4DB2-BD59-A6C34878D82A}">
                    <a16:rowId xmlns:a16="http://schemas.microsoft.com/office/drawing/2014/main" val="527975463"/>
                  </a:ext>
                </a:extLst>
              </a:tr>
              <a:tr h="216783">
                <a:tc>
                  <a:txBody>
                    <a:bodyPr/>
                    <a:lstStyle/>
                    <a:p>
                      <a:pPr algn="ctr"/>
                      <a:r>
                        <a:rPr lang="en-US" sz="1100">
                          <a:solidFill>
                            <a:schemeClr val="tx1"/>
                          </a:solidFill>
                        </a:rPr>
                        <a:t>Datuk Ir. Dr. Lim Jee Gin</a:t>
                      </a:r>
                    </a:p>
                  </a:txBody>
                  <a:tcPr>
                    <a:noFill/>
                  </a:tcPr>
                </a:tc>
                <a:tc>
                  <a:txBody>
                    <a:bodyPr/>
                    <a:lstStyle/>
                    <a:p>
                      <a:pPr algn="ctr"/>
                      <a:r>
                        <a:rPr lang="en-US" sz="1100">
                          <a:solidFill>
                            <a:schemeClr val="tx1"/>
                          </a:solidFill>
                        </a:rPr>
                        <a:t>Ong Yong Chuan</a:t>
                      </a:r>
                    </a:p>
                  </a:txBody>
                  <a:tcPr>
                    <a:noFill/>
                  </a:tcPr>
                </a:tc>
                <a:tc>
                  <a:txBody>
                    <a:bodyPr/>
                    <a:lstStyle/>
                    <a:p>
                      <a:pPr algn="ctr"/>
                      <a:r>
                        <a:rPr lang="fi-FI" sz="1100">
                          <a:solidFill>
                            <a:schemeClr val="tx1"/>
                          </a:solidFill>
                        </a:rPr>
                        <a:t>Yeoh Sheong Lee</a:t>
                      </a:r>
                    </a:p>
                  </a:txBody>
                  <a:tcPr>
                    <a:noFill/>
                  </a:tcPr>
                </a:tc>
                <a:tc>
                  <a:txBody>
                    <a:bodyPr/>
                    <a:lstStyle/>
                    <a:p>
                      <a:pPr algn="ctr"/>
                      <a:r>
                        <a:rPr lang="fi-FI" sz="1100">
                          <a:solidFill>
                            <a:schemeClr val="tx1"/>
                          </a:solidFill>
                        </a:rPr>
                        <a:t>Lim Joo Seng</a:t>
                      </a:r>
                      <a:endParaRPr lang="en-US" sz="1100">
                        <a:solidFill>
                          <a:schemeClr val="tx1"/>
                        </a:solidFill>
                      </a:endParaRPr>
                    </a:p>
                  </a:txBody>
                  <a:tcPr>
                    <a:noFill/>
                  </a:tcPr>
                </a:tc>
                <a:extLst>
                  <a:ext uri="{0D108BD9-81ED-4DB2-BD59-A6C34878D82A}">
                    <a16:rowId xmlns:a16="http://schemas.microsoft.com/office/drawing/2014/main" val="2379042514"/>
                  </a:ext>
                </a:extLst>
              </a:tr>
            </a:tbl>
          </a:graphicData>
        </a:graphic>
      </p:graphicFrame>
      <p:graphicFrame>
        <p:nvGraphicFramePr>
          <p:cNvPr id="25" name="Table 24">
            <a:extLst>
              <a:ext uri="{FF2B5EF4-FFF2-40B4-BE49-F238E27FC236}">
                <a16:creationId xmlns:a16="http://schemas.microsoft.com/office/drawing/2014/main" id="{6BD8724A-73C3-D0B1-582F-D07D5416EB66}"/>
              </a:ext>
            </a:extLst>
          </p:cNvPr>
          <p:cNvGraphicFramePr>
            <a:graphicFrameLocks noGrp="1"/>
          </p:cNvGraphicFramePr>
          <p:nvPr/>
        </p:nvGraphicFramePr>
        <p:xfrm>
          <a:off x="303920" y="2196213"/>
          <a:ext cx="3818367" cy="2208187"/>
        </p:xfrm>
        <a:graphic>
          <a:graphicData uri="http://schemas.openxmlformats.org/drawingml/2006/table">
            <a:tbl>
              <a:tblPr firstRow="1">
                <a:tableStyleId>{7E9639D4-E3E2-4D34-9284-5A2195B3D0D7}</a:tableStyleId>
              </a:tblPr>
              <a:tblGrid>
                <a:gridCol w="1528184">
                  <a:extLst>
                    <a:ext uri="{9D8B030D-6E8A-4147-A177-3AD203B41FA5}">
                      <a16:colId xmlns:a16="http://schemas.microsoft.com/office/drawing/2014/main" val="2203462282"/>
                    </a:ext>
                  </a:extLst>
                </a:gridCol>
                <a:gridCol w="2290183">
                  <a:extLst>
                    <a:ext uri="{9D8B030D-6E8A-4147-A177-3AD203B41FA5}">
                      <a16:colId xmlns:a16="http://schemas.microsoft.com/office/drawing/2014/main" val="4052543411"/>
                    </a:ext>
                  </a:extLst>
                </a:gridCol>
              </a:tblGrid>
              <a:tr h="150313">
                <a:tc>
                  <a:txBody>
                    <a:bodyPr/>
                    <a:lstStyle/>
                    <a:p>
                      <a:pPr algn="ctr">
                        <a:lnSpc>
                          <a:spcPct val="115000"/>
                        </a:lnSpc>
                        <a:spcAft>
                          <a:spcPts val="100"/>
                        </a:spcAft>
                        <a:buNone/>
                      </a:pPr>
                      <a:r>
                        <a:rPr lang="en-MY" sz="1100" kern="0">
                          <a:effectLst/>
                        </a:rPr>
                        <a:t>Name</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solidFill>
                      <a:srgbClr val="002060"/>
                    </a:solidFill>
                  </a:tcPr>
                </a:tc>
                <a:tc>
                  <a:txBody>
                    <a:bodyPr/>
                    <a:lstStyle/>
                    <a:p>
                      <a:pPr algn="ctr">
                        <a:lnSpc>
                          <a:spcPct val="115000"/>
                        </a:lnSpc>
                        <a:spcAft>
                          <a:spcPts val="100"/>
                        </a:spcAft>
                        <a:buNone/>
                      </a:pPr>
                      <a:r>
                        <a:rPr lang="en-MY" sz="1100" kern="0">
                          <a:effectLst/>
                        </a:rPr>
                        <a:t>Title</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solidFill>
                      <a:srgbClr val="002060"/>
                    </a:solidFill>
                  </a:tcPr>
                </a:tc>
                <a:extLst>
                  <a:ext uri="{0D108BD9-81ED-4DB2-BD59-A6C34878D82A}">
                    <a16:rowId xmlns:a16="http://schemas.microsoft.com/office/drawing/2014/main" val="451162932"/>
                  </a:ext>
                </a:extLst>
              </a:tr>
              <a:tr h="197586">
                <a:tc>
                  <a:txBody>
                    <a:bodyPr/>
                    <a:lstStyle/>
                    <a:p>
                      <a:pPr>
                        <a:lnSpc>
                          <a:spcPct val="115000"/>
                        </a:lnSpc>
                        <a:spcAft>
                          <a:spcPts val="800"/>
                        </a:spcAft>
                        <a:buNone/>
                      </a:pPr>
                      <a:r>
                        <a:rPr lang="en-MY" sz="1100" kern="0">
                          <a:effectLst/>
                        </a:rPr>
                        <a:t>Mohd Noor Bin </a:t>
                      </a:r>
                      <a:r>
                        <a:rPr lang="en-MY" sz="1100" kern="0" err="1">
                          <a:effectLst/>
                        </a:rPr>
                        <a:t>Setapa</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Independent Non-Executive Chairman</a:t>
                      </a:r>
                    </a:p>
                  </a:txBody>
                  <a:tcPr marL="45720" marR="0" marT="36830" marB="0" anchor="ctr"/>
                </a:tc>
                <a:extLst>
                  <a:ext uri="{0D108BD9-81ED-4DB2-BD59-A6C34878D82A}">
                    <a16:rowId xmlns:a16="http://schemas.microsoft.com/office/drawing/2014/main" val="2938116629"/>
                  </a:ext>
                </a:extLst>
              </a:tr>
              <a:tr h="281978">
                <a:tc>
                  <a:txBody>
                    <a:bodyPr/>
                    <a:lstStyle/>
                    <a:p>
                      <a:pPr>
                        <a:lnSpc>
                          <a:spcPct val="115000"/>
                        </a:lnSpc>
                        <a:spcAft>
                          <a:spcPts val="800"/>
                        </a:spcAft>
                        <a:buNone/>
                      </a:pPr>
                      <a:r>
                        <a:rPr lang="en-MY" sz="1100" kern="0">
                          <a:effectLst/>
                        </a:rPr>
                        <a:t>Datuk Ir. Dr. Lim Jee Gin</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Group MD &amp; Director</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0" marT="36830" marB="0" anchor="ctr"/>
                </a:tc>
                <a:extLst>
                  <a:ext uri="{0D108BD9-81ED-4DB2-BD59-A6C34878D82A}">
                    <a16:rowId xmlns:a16="http://schemas.microsoft.com/office/drawing/2014/main" val="682130681"/>
                  </a:ext>
                </a:extLst>
              </a:tr>
              <a:tr h="150313">
                <a:tc>
                  <a:txBody>
                    <a:bodyPr/>
                    <a:lstStyle/>
                    <a:p>
                      <a:pPr>
                        <a:lnSpc>
                          <a:spcPct val="115000"/>
                        </a:lnSpc>
                        <a:spcAft>
                          <a:spcPts val="800"/>
                        </a:spcAft>
                        <a:buNone/>
                      </a:pPr>
                      <a:r>
                        <a:rPr lang="en-MY" sz="1100" kern="0">
                          <a:effectLst/>
                        </a:rPr>
                        <a:t>Lim Joo Seng </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Finance Director &amp; Executive Director</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0" marT="36830" marB="0" anchor="ctr"/>
                </a:tc>
                <a:extLst>
                  <a:ext uri="{0D108BD9-81ED-4DB2-BD59-A6C34878D82A}">
                    <a16:rowId xmlns:a16="http://schemas.microsoft.com/office/drawing/2014/main" val="1281451266"/>
                  </a:ext>
                </a:extLst>
              </a:tr>
              <a:tr h="150313">
                <a:tc>
                  <a:txBody>
                    <a:bodyPr/>
                    <a:lstStyle/>
                    <a:p>
                      <a:pPr>
                        <a:lnSpc>
                          <a:spcPct val="115000"/>
                        </a:lnSpc>
                        <a:spcAft>
                          <a:spcPts val="800"/>
                        </a:spcAft>
                        <a:buNone/>
                      </a:pPr>
                      <a:r>
                        <a:rPr lang="en-MY" sz="1100" kern="0">
                          <a:effectLst/>
                        </a:rPr>
                        <a:t>Ong Yong Chuan </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Executive Director</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0" marT="36830" marB="0" anchor="ctr"/>
                </a:tc>
                <a:extLst>
                  <a:ext uri="{0D108BD9-81ED-4DB2-BD59-A6C34878D82A}">
                    <a16:rowId xmlns:a16="http://schemas.microsoft.com/office/drawing/2014/main" val="1449084675"/>
                  </a:ext>
                </a:extLst>
              </a:tr>
              <a:tr h="281978">
                <a:tc>
                  <a:txBody>
                    <a:bodyPr/>
                    <a:lstStyle/>
                    <a:p>
                      <a:pPr>
                        <a:lnSpc>
                          <a:spcPct val="115000"/>
                        </a:lnSpc>
                        <a:spcAft>
                          <a:spcPts val="800"/>
                        </a:spcAft>
                        <a:buNone/>
                      </a:pPr>
                      <a:r>
                        <a:rPr lang="en-MY" sz="1100" kern="0">
                          <a:effectLst/>
                        </a:rPr>
                        <a:t>Nor Azzam Bin Abdul Jalil</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Independent Non-Executive Director</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0" marT="36830" marB="0" anchor="ctr"/>
                </a:tc>
                <a:extLst>
                  <a:ext uri="{0D108BD9-81ED-4DB2-BD59-A6C34878D82A}">
                    <a16:rowId xmlns:a16="http://schemas.microsoft.com/office/drawing/2014/main" val="2705263893"/>
                  </a:ext>
                </a:extLst>
              </a:tr>
              <a:tr h="150313">
                <a:tc>
                  <a:txBody>
                    <a:bodyPr/>
                    <a:lstStyle/>
                    <a:p>
                      <a:pPr>
                        <a:lnSpc>
                          <a:spcPct val="115000"/>
                        </a:lnSpc>
                        <a:spcAft>
                          <a:spcPts val="800"/>
                        </a:spcAft>
                        <a:buNone/>
                      </a:pPr>
                      <a:r>
                        <a:rPr lang="en-MY" sz="1100" kern="0">
                          <a:effectLst/>
                        </a:rPr>
                        <a:t>Yeoh </a:t>
                      </a:r>
                      <a:r>
                        <a:rPr lang="en-MY" sz="1100" kern="0" err="1">
                          <a:effectLst/>
                        </a:rPr>
                        <a:t>Sheong</a:t>
                      </a:r>
                      <a:r>
                        <a:rPr lang="en-MY" sz="1100" kern="0">
                          <a:effectLst/>
                        </a:rPr>
                        <a:t> Lee</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Independent Non-Executive Director</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0" marT="36830" marB="0" anchor="ctr"/>
                </a:tc>
                <a:extLst>
                  <a:ext uri="{0D108BD9-81ED-4DB2-BD59-A6C34878D82A}">
                    <a16:rowId xmlns:a16="http://schemas.microsoft.com/office/drawing/2014/main" val="92476021"/>
                  </a:ext>
                </a:extLst>
              </a:tr>
              <a:tr h="150313">
                <a:tc>
                  <a:txBody>
                    <a:bodyPr/>
                    <a:lstStyle/>
                    <a:p>
                      <a:pPr>
                        <a:lnSpc>
                          <a:spcPct val="115000"/>
                        </a:lnSpc>
                        <a:spcAft>
                          <a:spcPts val="800"/>
                        </a:spcAft>
                        <a:buNone/>
                      </a:pPr>
                      <a:r>
                        <a:rPr lang="en-MY" sz="1100" kern="0" err="1">
                          <a:effectLst/>
                        </a:rPr>
                        <a:t>Roslinda</a:t>
                      </a:r>
                      <a:r>
                        <a:rPr lang="en-MY" sz="1100" kern="0">
                          <a:effectLst/>
                        </a:rPr>
                        <a:t> Binti Awang</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45720" marT="36830" marB="0" anchor="ctr"/>
                </a:tc>
                <a:tc>
                  <a:txBody>
                    <a:bodyPr/>
                    <a:lstStyle/>
                    <a:p>
                      <a:pPr>
                        <a:lnSpc>
                          <a:spcPct val="115000"/>
                        </a:lnSpc>
                        <a:spcAft>
                          <a:spcPts val="800"/>
                        </a:spcAft>
                        <a:buNone/>
                      </a:pPr>
                      <a:r>
                        <a:rPr lang="en-MY" sz="1100" kern="0">
                          <a:effectLst/>
                        </a:rPr>
                        <a:t>Independent Non Executive Director</a:t>
                      </a:r>
                      <a:endParaRPr lang="en-MY" sz="1100" kern="100">
                        <a:effectLst/>
                        <a:latin typeface="Aptos" panose="020B0004020202020204" pitchFamily="34" charset="0"/>
                        <a:ea typeface="DengXian" panose="02010600030101010101" pitchFamily="2" charset="-122"/>
                        <a:cs typeface="Times New Roman" panose="02020603050405020304" pitchFamily="18" charset="0"/>
                      </a:endParaRPr>
                    </a:p>
                  </a:txBody>
                  <a:tcPr marL="45720" marR="0" marT="36830" marB="0" anchor="ctr"/>
                </a:tc>
                <a:extLst>
                  <a:ext uri="{0D108BD9-81ED-4DB2-BD59-A6C34878D82A}">
                    <a16:rowId xmlns:a16="http://schemas.microsoft.com/office/drawing/2014/main" val="174027980"/>
                  </a:ext>
                </a:extLst>
              </a:tr>
            </a:tbl>
          </a:graphicData>
        </a:graphic>
      </p:graphicFrame>
      <p:sp>
        <p:nvSpPr>
          <p:cNvPr id="26" name="TextBox 25">
            <a:extLst>
              <a:ext uri="{FF2B5EF4-FFF2-40B4-BE49-F238E27FC236}">
                <a16:creationId xmlns:a16="http://schemas.microsoft.com/office/drawing/2014/main" id="{B311DF4D-FF0A-19DF-17AA-614E3985C106}"/>
              </a:ext>
            </a:extLst>
          </p:cNvPr>
          <p:cNvSpPr txBox="1"/>
          <p:nvPr/>
        </p:nvSpPr>
        <p:spPr>
          <a:xfrm>
            <a:off x="7297030" y="3914692"/>
            <a:ext cx="2164082" cy="246221"/>
          </a:xfrm>
          <a:prstGeom prst="rect">
            <a:avLst/>
          </a:prstGeom>
          <a:noFill/>
        </p:spPr>
        <p:txBody>
          <a:bodyPr wrap="square">
            <a:spAutoFit/>
          </a:bodyPr>
          <a:lstStyle/>
          <a:p>
            <a:r>
              <a:rPr lang="en-MY" sz="1000" err="1"/>
              <a:t>RM’Mil</a:t>
            </a:r>
            <a:endParaRPr lang="en-MY" sz="1000"/>
          </a:p>
        </p:txBody>
      </p:sp>
      <p:sp>
        <p:nvSpPr>
          <p:cNvPr id="27" name="TextBox 26">
            <a:extLst>
              <a:ext uri="{FF2B5EF4-FFF2-40B4-BE49-F238E27FC236}">
                <a16:creationId xmlns:a16="http://schemas.microsoft.com/office/drawing/2014/main" id="{33BA63B5-8C77-B68B-D4CF-DA1C64F39C2B}"/>
              </a:ext>
            </a:extLst>
          </p:cNvPr>
          <p:cNvSpPr txBox="1"/>
          <p:nvPr/>
        </p:nvSpPr>
        <p:spPr>
          <a:xfrm>
            <a:off x="7316080" y="925126"/>
            <a:ext cx="2164082" cy="246221"/>
          </a:xfrm>
          <a:prstGeom prst="rect">
            <a:avLst/>
          </a:prstGeom>
          <a:noFill/>
        </p:spPr>
        <p:txBody>
          <a:bodyPr wrap="square">
            <a:spAutoFit/>
          </a:bodyPr>
          <a:lstStyle/>
          <a:p>
            <a:r>
              <a:rPr lang="en-MY" sz="1000" err="1"/>
              <a:t>RM’Mil</a:t>
            </a:r>
            <a:endParaRPr lang="en-MY" sz="1000"/>
          </a:p>
        </p:txBody>
      </p:sp>
      <p:graphicFrame>
        <p:nvGraphicFramePr>
          <p:cNvPr id="28" name="Chart 27">
            <a:extLst>
              <a:ext uri="{FF2B5EF4-FFF2-40B4-BE49-F238E27FC236}">
                <a16:creationId xmlns:a16="http://schemas.microsoft.com/office/drawing/2014/main" id="{B332E8F3-BD4B-801C-4510-49551EBEE556}"/>
              </a:ext>
            </a:extLst>
          </p:cNvPr>
          <p:cNvGraphicFramePr>
            <a:graphicFrameLocks/>
          </p:cNvGraphicFramePr>
          <p:nvPr/>
        </p:nvGraphicFramePr>
        <p:xfrm>
          <a:off x="7437226" y="4223420"/>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30" name="TextBox 29">
            <a:extLst>
              <a:ext uri="{FF2B5EF4-FFF2-40B4-BE49-F238E27FC236}">
                <a16:creationId xmlns:a16="http://schemas.microsoft.com/office/drawing/2014/main" id="{9B5349DD-2A1A-AAF7-CF1F-26654E4702C9}"/>
              </a:ext>
            </a:extLst>
          </p:cNvPr>
          <p:cNvSpPr txBox="1"/>
          <p:nvPr/>
        </p:nvSpPr>
        <p:spPr>
          <a:xfrm>
            <a:off x="182774" y="6656956"/>
            <a:ext cx="2164082" cy="215444"/>
          </a:xfrm>
          <a:prstGeom prst="rect">
            <a:avLst/>
          </a:prstGeom>
          <a:noFill/>
        </p:spPr>
        <p:txBody>
          <a:bodyPr wrap="square">
            <a:spAutoFit/>
          </a:bodyPr>
          <a:lstStyle/>
          <a:p>
            <a:r>
              <a:rPr lang="en-MY" sz="800" i="1"/>
              <a:t>Source: AR2024</a:t>
            </a:r>
          </a:p>
        </p:txBody>
      </p:sp>
      <p:sp>
        <p:nvSpPr>
          <p:cNvPr id="2" name="Slide Number Placeholder 2">
            <a:extLst>
              <a:ext uri="{FF2B5EF4-FFF2-40B4-BE49-F238E27FC236}">
                <a16:creationId xmlns:a16="http://schemas.microsoft.com/office/drawing/2014/main" id="{D6D2AEF7-6B1D-3377-4BB9-893F74A346F8}"/>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22</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2394709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100C-8FF0-AA6F-E3EC-FA805B93A4F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D363A57-3401-BBC9-7A63-B24030D4AC42}"/>
              </a:ext>
            </a:extLst>
          </p:cNvPr>
          <p:cNvGraphicFramePr>
            <a:graphicFrameLocks noGrp="1"/>
          </p:cNvGraphicFramePr>
          <p:nvPr>
            <p:extLst>
              <p:ext uri="{D42A27DB-BD31-4B8C-83A1-F6EECF244321}">
                <p14:modId xmlns:p14="http://schemas.microsoft.com/office/powerpoint/2010/main" val="832898656"/>
              </p:ext>
            </p:extLst>
          </p:nvPr>
        </p:nvGraphicFramePr>
        <p:xfrm>
          <a:off x="373112" y="1404082"/>
          <a:ext cx="11239123" cy="2625881"/>
        </p:xfrm>
        <a:graphic>
          <a:graphicData uri="http://schemas.openxmlformats.org/drawingml/2006/table">
            <a:tbl>
              <a:tblPr firstRow="1">
                <a:tableStyleId>{7E9639D4-E3E2-4D34-9284-5A2195B3D0D7}</a:tableStyleId>
              </a:tblPr>
              <a:tblGrid>
                <a:gridCol w="3746374">
                  <a:extLst>
                    <a:ext uri="{9D8B030D-6E8A-4147-A177-3AD203B41FA5}">
                      <a16:colId xmlns:a16="http://schemas.microsoft.com/office/drawing/2014/main" val="3666787933"/>
                    </a:ext>
                  </a:extLst>
                </a:gridCol>
                <a:gridCol w="1900117">
                  <a:extLst>
                    <a:ext uri="{9D8B030D-6E8A-4147-A177-3AD203B41FA5}">
                      <a16:colId xmlns:a16="http://schemas.microsoft.com/office/drawing/2014/main" val="2122202095"/>
                    </a:ext>
                  </a:extLst>
                </a:gridCol>
                <a:gridCol w="5592632">
                  <a:extLst>
                    <a:ext uri="{9D8B030D-6E8A-4147-A177-3AD203B41FA5}">
                      <a16:colId xmlns:a16="http://schemas.microsoft.com/office/drawing/2014/main" val="1978370771"/>
                    </a:ext>
                  </a:extLst>
                </a:gridCol>
              </a:tblGrid>
              <a:tr h="169583">
                <a:tc>
                  <a:txBody>
                    <a:bodyPr/>
                    <a:lstStyle/>
                    <a:p>
                      <a:pPr>
                        <a:buNone/>
                      </a:pPr>
                      <a:r>
                        <a:rPr lang="en-MY" sz="1400">
                          <a:effectLst/>
                        </a:rPr>
                        <a:t>Project Name</a:t>
                      </a:r>
                    </a:p>
                  </a:txBody>
                  <a:tcPr marL="69069" marR="69069" marT="34534" marB="34534" anchor="ctr"/>
                </a:tc>
                <a:tc>
                  <a:txBody>
                    <a:bodyPr/>
                    <a:lstStyle/>
                    <a:p>
                      <a:pPr>
                        <a:buNone/>
                      </a:pPr>
                      <a:r>
                        <a:rPr lang="en-MY" sz="1400">
                          <a:effectLst/>
                        </a:rPr>
                        <a:t>Segment</a:t>
                      </a:r>
                    </a:p>
                  </a:txBody>
                  <a:tcPr marL="69069" marR="69069" marT="34534" marB="34534" anchor="ctr"/>
                </a:tc>
                <a:tc>
                  <a:txBody>
                    <a:bodyPr/>
                    <a:lstStyle/>
                    <a:p>
                      <a:pPr>
                        <a:buNone/>
                      </a:pPr>
                      <a:r>
                        <a:rPr lang="en-MY" sz="1400">
                          <a:effectLst/>
                        </a:rPr>
                        <a:t>Key Details</a:t>
                      </a:r>
                    </a:p>
                  </a:txBody>
                  <a:tcPr marL="69069" marR="69069" marT="34534" marB="34534" anchor="ctr"/>
                </a:tc>
                <a:extLst>
                  <a:ext uri="{0D108BD9-81ED-4DB2-BD59-A6C34878D82A}">
                    <a16:rowId xmlns:a16="http://schemas.microsoft.com/office/drawing/2014/main" val="4099143947"/>
                  </a:ext>
                </a:extLst>
              </a:tr>
              <a:tr h="263049">
                <a:tc>
                  <a:txBody>
                    <a:bodyPr/>
                    <a:lstStyle/>
                    <a:p>
                      <a:pPr>
                        <a:buNone/>
                      </a:pPr>
                      <a:r>
                        <a:rPr lang="en-MY" sz="1400" b="0">
                          <a:effectLst/>
                        </a:rPr>
                        <a:t>Arte Solaris Residence</a:t>
                      </a:r>
                    </a:p>
                  </a:txBody>
                  <a:tcPr marL="69069" marR="69069" marT="34534" marB="34534" anchor="ctr"/>
                </a:tc>
                <a:tc>
                  <a:txBody>
                    <a:bodyPr/>
                    <a:lstStyle/>
                    <a:p>
                      <a:pPr>
                        <a:buNone/>
                      </a:pPr>
                      <a:r>
                        <a:rPr lang="en-MY" sz="1400" b="0">
                          <a:effectLst/>
                        </a:rPr>
                        <a:t>Building</a:t>
                      </a:r>
                    </a:p>
                  </a:txBody>
                  <a:tcPr marL="69069" marR="69069" marT="34534" marB="34534" anchor="ctr"/>
                </a:tc>
                <a:tc>
                  <a:txBody>
                    <a:bodyPr/>
                    <a:lstStyle/>
                    <a:p>
                      <a:pPr>
                        <a:buNone/>
                      </a:pPr>
                      <a:r>
                        <a:rPr lang="en-US" sz="1400" b="0">
                          <a:effectLst/>
                        </a:rPr>
                        <a:t>52-storey mixed development in Mukim Batu, KL.</a:t>
                      </a:r>
                    </a:p>
                  </a:txBody>
                  <a:tcPr marL="69069" marR="69069" marT="34534" marB="34534" anchor="ctr"/>
                </a:tc>
                <a:extLst>
                  <a:ext uri="{0D108BD9-81ED-4DB2-BD59-A6C34878D82A}">
                    <a16:rowId xmlns:a16="http://schemas.microsoft.com/office/drawing/2014/main" val="412168982"/>
                  </a:ext>
                </a:extLst>
              </a:tr>
              <a:tr h="263049">
                <a:tc>
                  <a:txBody>
                    <a:bodyPr/>
                    <a:lstStyle/>
                    <a:p>
                      <a:pPr>
                        <a:buNone/>
                      </a:pPr>
                      <a:r>
                        <a:rPr lang="en-MY" sz="1400" b="0">
                          <a:effectLst/>
                        </a:rPr>
                        <a:t>Hugoz Suites</a:t>
                      </a:r>
                    </a:p>
                  </a:txBody>
                  <a:tcPr marL="69069" marR="69069" marT="34534" marB="34534" anchor="ctr"/>
                </a:tc>
                <a:tc>
                  <a:txBody>
                    <a:bodyPr/>
                    <a:lstStyle/>
                    <a:p>
                      <a:pPr>
                        <a:buNone/>
                      </a:pPr>
                      <a:r>
                        <a:rPr lang="en-MY" sz="1400" b="0">
                          <a:effectLst/>
                        </a:rPr>
                        <a:t>Building</a:t>
                      </a:r>
                    </a:p>
                  </a:txBody>
                  <a:tcPr marL="69069" marR="69069" marT="34534" marB="34534" anchor="ctr"/>
                </a:tc>
                <a:tc>
                  <a:txBody>
                    <a:bodyPr/>
                    <a:lstStyle/>
                    <a:p>
                      <a:pPr>
                        <a:buNone/>
                      </a:pPr>
                      <a:r>
                        <a:rPr lang="en-US" sz="1400" b="0">
                          <a:effectLst/>
                        </a:rPr>
                        <a:t>46-storey mixed development (apartments/offices) in KL.</a:t>
                      </a:r>
                    </a:p>
                  </a:txBody>
                  <a:tcPr marL="69069" marR="69069" marT="34534" marB="34534" anchor="ctr"/>
                </a:tc>
                <a:extLst>
                  <a:ext uri="{0D108BD9-81ED-4DB2-BD59-A6C34878D82A}">
                    <a16:rowId xmlns:a16="http://schemas.microsoft.com/office/drawing/2014/main" val="395192295"/>
                  </a:ext>
                </a:extLst>
              </a:tr>
              <a:tr h="366457">
                <a:tc>
                  <a:txBody>
                    <a:bodyPr/>
                    <a:lstStyle/>
                    <a:p>
                      <a:pPr>
                        <a:buNone/>
                      </a:pPr>
                      <a:r>
                        <a:rPr lang="en-US" sz="1400" b="0">
                          <a:effectLst/>
                        </a:rPr>
                        <a:t>Kuchai Sentral Residence (Phase 2)</a:t>
                      </a:r>
                    </a:p>
                  </a:txBody>
                  <a:tcPr marL="69069" marR="69069" marT="34534" marB="34534" anchor="ctr"/>
                </a:tc>
                <a:tc>
                  <a:txBody>
                    <a:bodyPr/>
                    <a:lstStyle/>
                    <a:p>
                      <a:pPr>
                        <a:buNone/>
                      </a:pPr>
                      <a:r>
                        <a:rPr lang="en-MY" sz="1400" b="0">
                          <a:effectLst/>
                        </a:rPr>
                        <a:t>Building</a:t>
                      </a:r>
                    </a:p>
                  </a:txBody>
                  <a:tcPr marL="69069" marR="69069" marT="34534" marB="34534" anchor="ctr"/>
                </a:tc>
                <a:tc>
                  <a:txBody>
                    <a:bodyPr/>
                    <a:lstStyle/>
                    <a:p>
                      <a:pPr>
                        <a:buNone/>
                      </a:pPr>
                      <a:r>
                        <a:rPr lang="en-US" sz="1400" b="0">
                          <a:effectLst/>
                        </a:rPr>
                        <a:t>30 and 34-storey serviced apartments in Mukim Petaling, KL.</a:t>
                      </a:r>
                    </a:p>
                  </a:txBody>
                  <a:tcPr marL="69069" marR="69069" marT="34534" marB="34534" anchor="ctr"/>
                </a:tc>
                <a:extLst>
                  <a:ext uri="{0D108BD9-81ED-4DB2-BD59-A6C34878D82A}">
                    <a16:rowId xmlns:a16="http://schemas.microsoft.com/office/drawing/2014/main" val="4151285393"/>
                  </a:ext>
                </a:extLst>
              </a:tr>
              <a:tr h="263049">
                <a:tc>
                  <a:txBody>
                    <a:bodyPr/>
                    <a:lstStyle/>
                    <a:p>
                      <a:pPr>
                        <a:buNone/>
                      </a:pPr>
                      <a:r>
                        <a:rPr lang="en-MY" sz="1400" b="0">
                          <a:effectLst/>
                        </a:rPr>
                        <a:t>Wawari Phase 1 Township</a:t>
                      </a:r>
                    </a:p>
                  </a:txBody>
                  <a:tcPr marL="69069" marR="69069" marT="34534" marB="34534" anchor="ctr"/>
                </a:tc>
                <a:tc>
                  <a:txBody>
                    <a:bodyPr/>
                    <a:lstStyle/>
                    <a:p>
                      <a:pPr>
                        <a:buNone/>
                      </a:pPr>
                      <a:r>
                        <a:rPr lang="en-MY" sz="1400" b="0">
                          <a:effectLst/>
                        </a:rPr>
                        <a:t>Infrastructure</a:t>
                      </a:r>
                    </a:p>
                  </a:txBody>
                  <a:tcPr marL="69069" marR="69069" marT="34534" marB="34534" anchor="ctr"/>
                </a:tc>
                <a:tc>
                  <a:txBody>
                    <a:bodyPr/>
                    <a:lstStyle/>
                    <a:p>
                      <a:pPr>
                        <a:buNone/>
                      </a:pPr>
                      <a:r>
                        <a:rPr lang="en-US" sz="1400" b="0">
                          <a:effectLst/>
                        </a:rPr>
                        <a:t>Earthworks and main infrastructure in Johor Bahru.</a:t>
                      </a:r>
                    </a:p>
                  </a:txBody>
                  <a:tcPr marL="69069" marR="69069" marT="34534" marB="34534" anchor="ctr"/>
                </a:tc>
                <a:extLst>
                  <a:ext uri="{0D108BD9-81ED-4DB2-BD59-A6C34878D82A}">
                    <a16:rowId xmlns:a16="http://schemas.microsoft.com/office/drawing/2014/main" val="3532151440"/>
                  </a:ext>
                </a:extLst>
              </a:tr>
              <a:tr h="263049">
                <a:tc>
                  <a:txBody>
                    <a:bodyPr/>
                    <a:lstStyle/>
                    <a:p>
                      <a:pPr>
                        <a:buNone/>
                      </a:pPr>
                      <a:r>
                        <a:rPr lang="en-MY" sz="1400" b="0" err="1">
                          <a:effectLst/>
                        </a:rPr>
                        <a:t>Nenggiri</a:t>
                      </a:r>
                      <a:r>
                        <a:rPr lang="en-MY" sz="1400" b="0">
                          <a:effectLst/>
                        </a:rPr>
                        <a:t> Hydroelectric Project</a:t>
                      </a:r>
                    </a:p>
                  </a:txBody>
                  <a:tcPr marL="69069" marR="69069" marT="34534" marB="34534" anchor="ctr"/>
                </a:tc>
                <a:tc>
                  <a:txBody>
                    <a:bodyPr/>
                    <a:lstStyle/>
                    <a:p>
                      <a:pPr>
                        <a:buNone/>
                      </a:pPr>
                      <a:r>
                        <a:rPr lang="en-MY" sz="1400" b="0">
                          <a:effectLst/>
                        </a:rPr>
                        <a:t>Infrastructure</a:t>
                      </a:r>
                    </a:p>
                  </a:txBody>
                  <a:tcPr marL="69069" marR="69069" marT="34534" marB="34534" anchor="ctr"/>
                </a:tc>
                <a:tc>
                  <a:txBody>
                    <a:bodyPr/>
                    <a:lstStyle/>
                    <a:p>
                      <a:pPr>
                        <a:buNone/>
                      </a:pPr>
                      <a:r>
                        <a:rPr lang="en-US" sz="1400" b="0">
                          <a:effectLst/>
                        </a:rPr>
                        <a:t>Civil and associated works in Gua Musang, Kelantan.</a:t>
                      </a:r>
                    </a:p>
                  </a:txBody>
                  <a:tcPr marL="69069" marR="69069" marT="34534" marB="34534" anchor="ctr"/>
                </a:tc>
                <a:extLst>
                  <a:ext uri="{0D108BD9-81ED-4DB2-BD59-A6C34878D82A}">
                    <a16:rowId xmlns:a16="http://schemas.microsoft.com/office/drawing/2014/main" val="388363603"/>
                  </a:ext>
                </a:extLst>
              </a:tr>
              <a:tr h="256520">
                <a:tc>
                  <a:txBody>
                    <a:bodyPr/>
                    <a:lstStyle/>
                    <a:p>
                      <a:pPr>
                        <a:buNone/>
                      </a:pPr>
                      <a:r>
                        <a:rPr lang="en-MY" sz="1400" b="0">
                          <a:effectLst/>
                        </a:rPr>
                        <a:t>Damansara Perdana Works</a:t>
                      </a:r>
                    </a:p>
                  </a:txBody>
                  <a:tcPr marL="69069" marR="69069" marT="34534" marB="34534" anchor="ctr"/>
                </a:tc>
                <a:tc>
                  <a:txBody>
                    <a:bodyPr/>
                    <a:lstStyle/>
                    <a:p>
                      <a:pPr>
                        <a:buNone/>
                      </a:pPr>
                      <a:r>
                        <a:rPr lang="en-MY" sz="1400" b="0">
                          <a:effectLst/>
                        </a:rPr>
                        <a:t>Infrastructure</a:t>
                      </a:r>
                    </a:p>
                  </a:txBody>
                  <a:tcPr marL="69069" marR="69069" marT="34534" marB="34534" anchor="ctr"/>
                </a:tc>
                <a:tc>
                  <a:txBody>
                    <a:bodyPr/>
                    <a:lstStyle/>
                    <a:p>
                      <a:pPr>
                        <a:buNone/>
                      </a:pPr>
                      <a:r>
                        <a:rPr lang="en-US" sz="1400" b="0">
                          <a:effectLst/>
                        </a:rPr>
                        <a:t>Rock blasting and general works in Selangor.</a:t>
                      </a:r>
                    </a:p>
                  </a:txBody>
                  <a:tcPr marL="69069" marR="69069" marT="34534" marB="34534" anchor="ctr"/>
                </a:tc>
                <a:extLst>
                  <a:ext uri="{0D108BD9-81ED-4DB2-BD59-A6C34878D82A}">
                    <a16:rowId xmlns:a16="http://schemas.microsoft.com/office/drawing/2014/main" val="3375714865"/>
                  </a:ext>
                </a:extLst>
              </a:tr>
              <a:tr h="256520">
                <a:tc>
                  <a:txBody>
                    <a:bodyPr/>
                    <a:lstStyle/>
                    <a:p>
                      <a:pPr>
                        <a:buNone/>
                      </a:pPr>
                      <a:r>
                        <a:rPr lang="en-MY" sz="1400" b="0">
                          <a:effectLst/>
                        </a:rPr>
                        <a:t>Selco Solar PV Plant</a:t>
                      </a:r>
                    </a:p>
                  </a:txBody>
                  <a:tcPr marL="69069" marR="69069" marT="34534" marB="34534" anchor="ctr"/>
                </a:tc>
                <a:tc>
                  <a:txBody>
                    <a:bodyPr/>
                    <a:lstStyle/>
                    <a:p>
                      <a:pPr>
                        <a:buNone/>
                      </a:pPr>
                      <a:r>
                        <a:rPr lang="en-MY" sz="1400" b="0">
                          <a:effectLst/>
                        </a:rPr>
                        <a:t>Renewable Energy</a:t>
                      </a:r>
                    </a:p>
                  </a:txBody>
                  <a:tcPr marL="69069" marR="69069" marT="34534" marB="34534" anchor="ctr"/>
                </a:tc>
                <a:tc>
                  <a:txBody>
                    <a:bodyPr/>
                    <a:lstStyle/>
                    <a:p>
                      <a:pPr>
                        <a:buNone/>
                      </a:pPr>
                      <a:r>
                        <a:rPr lang="en-US" sz="1400" b="0">
                          <a:effectLst/>
                        </a:rPr>
                        <a:t>Design and EPCC at Sungai Selangor.</a:t>
                      </a:r>
                    </a:p>
                  </a:txBody>
                  <a:tcPr marL="69069" marR="69069" marT="34534" marB="34534" anchor="ctr"/>
                </a:tc>
                <a:extLst>
                  <a:ext uri="{0D108BD9-81ED-4DB2-BD59-A6C34878D82A}">
                    <a16:rowId xmlns:a16="http://schemas.microsoft.com/office/drawing/2014/main" val="768459745"/>
                  </a:ext>
                </a:extLst>
              </a:tr>
              <a:tr h="256520">
                <a:tc>
                  <a:txBody>
                    <a:bodyPr/>
                    <a:lstStyle/>
                    <a:p>
                      <a:pPr>
                        <a:buNone/>
                      </a:pPr>
                      <a:r>
                        <a:rPr lang="en-MY" sz="1400" b="0">
                          <a:effectLst/>
                        </a:rPr>
                        <a:t>Tanjung Dua Belas Solar Plant</a:t>
                      </a:r>
                    </a:p>
                  </a:txBody>
                  <a:tcPr marL="69069" marR="69069" marT="34534" marB="34534" anchor="ctr"/>
                </a:tc>
                <a:tc>
                  <a:txBody>
                    <a:bodyPr/>
                    <a:lstStyle/>
                    <a:p>
                      <a:pPr>
                        <a:buNone/>
                      </a:pPr>
                      <a:r>
                        <a:rPr lang="en-MY" sz="1400" b="0">
                          <a:effectLst/>
                        </a:rPr>
                        <a:t>Renewable Energy</a:t>
                      </a:r>
                    </a:p>
                  </a:txBody>
                  <a:tcPr marL="69069" marR="69069" marT="34534" marB="34534" anchor="ctr"/>
                </a:tc>
                <a:tc>
                  <a:txBody>
                    <a:bodyPr/>
                    <a:lstStyle/>
                    <a:p>
                      <a:pPr>
                        <a:buNone/>
                      </a:pPr>
                      <a:r>
                        <a:rPr lang="en-MY" sz="1400" b="0">
                          <a:effectLst/>
                        </a:rPr>
                        <a:t>15MWp floating solar plant in Kuala Langat.</a:t>
                      </a:r>
                    </a:p>
                  </a:txBody>
                  <a:tcPr marL="69069" marR="69069" marT="34534" marB="34534" anchor="ctr"/>
                </a:tc>
                <a:extLst>
                  <a:ext uri="{0D108BD9-81ED-4DB2-BD59-A6C34878D82A}">
                    <a16:rowId xmlns:a16="http://schemas.microsoft.com/office/drawing/2014/main" val="2947173660"/>
                  </a:ext>
                </a:extLst>
              </a:tr>
            </a:tbl>
          </a:graphicData>
        </a:graphic>
      </p:graphicFrame>
      <p:sp>
        <p:nvSpPr>
          <p:cNvPr id="7" name="TextBox 6">
            <a:extLst>
              <a:ext uri="{FF2B5EF4-FFF2-40B4-BE49-F238E27FC236}">
                <a16:creationId xmlns:a16="http://schemas.microsoft.com/office/drawing/2014/main" id="{D29BF012-BC43-D6E1-512D-E62B0FB245FC}"/>
              </a:ext>
            </a:extLst>
          </p:cNvPr>
          <p:cNvSpPr txBox="1"/>
          <p:nvPr/>
        </p:nvSpPr>
        <p:spPr>
          <a:xfrm>
            <a:off x="170688" y="322951"/>
            <a:ext cx="10735056" cy="584775"/>
          </a:xfrm>
          <a:prstGeom prst="rect">
            <a:avLst/>
          </a:prstGeom>
          <a:noFill/>
        </p:spPr>
        <p:txBody>
          <a:bodyPr wrap="square" rtlCol="0">
            <a:spAutoFit/>
          </a:bodyPr>
          <a:lstStyle/>
          <a:p>
            <a:r>
              <a:rPr lang="en-MY" sz="3200" b="1" err="1"/>
              <a:t>Nestcon</a:t>
            </a:r>
            <a:r>
              <a:rPr lang="en-MY" sz="3200" b="1"/>
              <a:t> Ongoing Projects</a:t>
            </a:r>
          </a:p>
        </p:txBody>
      </p:sp>
      <p:sp>
        <p:nvSpPr>
          <p:cNvPr id="3" name="Slide Number Placeholder 2">
            <a:extLst>
              <a:ext uri="{FF2B5EF4-FFF2-40B4-BE49-F238E27FC236}">
                <a16:creationId xmlns:a16="http://schemas.microsoft.com/office/drawing/2014/main" id="{B9433478-F89F-3511-A7F5-77E374F5F054}"/>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23</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572355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66F4A-E42D-ADF3-7EB3-CF367F4040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CCE32C-5D29-833B-3843-85062DDA83F2}"/>
              </a:ext>
            </a:extLst>
          </p:cNvPr>
          <p:cNvSpPr>
            <a:spLocks noGrp="1"/>
          </p:cNvSpPr>
          <p:nvPr>
            <p:ph type="title"/>
          </p:nvPr>
        </p:nvSpPr>
        <p:spPr>
          <a:xfrm>
            <a:off x="3259860" y="2766218"/>
            <a:ext cx="8148782" cy="1325563"/>
          </a:xfrm>
        </p:spPr>
        <p:txBody>
          <a:bodyPr>
            <a:normAutofit/>
          </a:bodyPr>
          <a:lstStyle/>
          <a:p>
            <a:r>
              <a:rPr kumimoji="0" lang="en-MY" sz="4400" i="0" u="none" strike="noStrike" kern="1200" cap="none" spc="0" normalizeH="0" baseline="0" noProof="0">
                <a:ln>
                  <a:noFill/>
                </a:ln>
                <a:effectLst/>
                <a:uLnTx/>
                <a:uFillTx/>
                <a:latin typeface="Aptos"/>
                <a:ea typeface="+mn-ea"/>
                <a:cs typeface="+mn-cs"/>
              </a:rPr>
              <a:t>Part 1 : About </a:t>
            </a:r>
            <a:r>
              <a:rPr kumimoji="0" lang="en-MY" sz="4400" i="0" u="none" strike="noStrike" kern="1200" cap="none" spc="0" normalizeH="0" baseline="0" noProof="0" err="1">
                <a:ln>
                  <a:noFill/>
                </a:ln>
                <a:effectLst/>
                <a:uLnTx/>
                <a:uFillTx/>
                <a:latin typeface="Aptos"/>
                <a:ea typeface="+mn-ea"/>
                <a:cs typeface="+mn-cs"/>
              </a:rPr>
              <a:t>Inta</a:t>
            </a:r>
            <a:r>
              <a:rPr kumimoji="0" lang="en-MY" sz="4400" i="0" u="none" strike="noStrike" kern="1200" cap="none" spc="0" normalizeH="0" baseline="0" noProof="0">
                <a:ln>
                  <a:noFill/>
                </a:ln>
                <a:effectLst/>
                <a:uLnTx/>
                <a:uFillTx/>
                <a:latin typeface="Aptos"/>
                <a:ea typeface="+mn-ea"/>
                <a:cs typeface="+mn-cs"/>
              </a:rPr>
              <a:t> Bina</a:t>
            </a:r>
            <a:endParaRPr lang="en-US" sz="3200" b="0"/>
          </a:p>
        </p:txBody>
      </p:sp>
      <p:sp>
        <p:nvSpPr>
          <p:cNvPr id="6" name="Text Placeholder 5">
            <a:extLst>
              <a:ext uri="{FF2B5EF4-FFF2-40B4-BE49-F238E27FC236}">
                <a16:creationId xmlns:a16="http://schemas.microsoft.com/office/drawing/2014/main" id="{5BE769CB-E3EB-9643-3DAD-9D1D10CEAB88}"/>
              </a:ext>
            </a:extLst>
          </p:cNvPr>
          <p:cNvSpPr>
            <a:spLocks noGrp="1"/>
          </p:cNvSpPr>
          <p:nvPr>
            <p:ph type="body" sz="quarter" idx="10"/>
          </p:nvPr>
        </p:nvSpPr>
        <p:spPr>
          <a:xfrm>
            <a:off x="1422632" y="2907668"/>
            <a:ext cx="1168167" cy="1042662"/>
          </a:xfrm>
        </p:spPr>
        <p:txBody>
          <a:bodyPr/>
          <a:lstStyle/>
          <a:p>
            <a:pPr algn="ctr"/>
            <a:r>
              <a:rPr lang="en-US" sz="3600"/>
              <a:t>02</a:t>
            </a:r>
          </a:p>
        </p:txBody>
      </p:sp>
    </p:spTree>
    <p:extLst>
      <p:ext uri="{BB962C8B-B14F-4D97-AF65-F5344CB8AC3E}">
        <p14:creationId xmlns:p14="http://schemas.microsoft.com/office/powerpoint/2010/main" val="19009680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94FD9-BA29-2E63-1085-D44FAFDEF70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1245B4-4542-0BDF-F52B-7118D014573E}"/>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sp>
        <p:nvSpPr>
          <p:cNvPr id="3" name="TextBox 2">
            <a:extLst>
              <a:ext uri="{FF2B5EF4-FFF2-40B4-BE49-F238E27FC236}">
                <a16:creationId xmlns:a16="http://schemas.microsoft.com/office/drawing/2014/main" id="{DE83778A-ECB8-D893-919C-81BCD9E24BDB}"/>
              </a:ext>
            </a:extLst>
          </p:cNvPr>
          <p:cNvSpPr txBox="1"/>
          <p:nvPr/>
        </p:nvSpPr>
        <p:spPr>
          <a:xfrm>
            <a:off x="371475" y="951227"/>
            <a:ext cx="6256536" cy="3123932"/>
          </a:xfrm>
          <a:prstGeom prst="rect">
            <a:avLst/>
          </a:prstGeom>
          <a:noFill/>
        </p:spPr>
        <p:txBody>
          <a:bodyPr wrap="square">
            <a:spAutoFit/>
          </a:bodyPr>
          <a:lstStyle/>
          <a:p>
            <a:pPr marL="342900" indent="-342900">
              <a:spcBef>
                <a:spcPts val="300"/>
              </a:spcBef>
              <a:spcAft>
                <a:spcPts val="300"/>
              </a:spcAft>
              <a:buSzPct val="100000"/>
              <a:buFont typeface="+mj-lt"/>
              <a:buAutoNum type="arabicPeriod"/>
            </a:pPr>
            <a:r>
              <a:rPr lang="en-US" sz="1600" b="1"/>
              <a:t>About </a:t>
            </a:r>
            <a:r>
              <a:rPr lang="en-US" sz="1600" b="1" err="1"/>
              <a:t>Inta</a:t>
            </a:r>
            <a:r>
              <a:rPr lang="en-US" sz="1600" b="1"/>
              <a:t> Bina</a:t>
            </a:r>
          </a:p>
          <a:p>
            <a:pPr marL="285750" indent="-285750">
              <a:spcBef>
                <a:spcPts val="300"/>
              </a:spcBef>
              <a:spcAft>
                <a:spcPts val="300"/>
              </a:spcAft>
              <a:buSzPct val="60000"/>
              <a:buFont typeface="Wingdings" panose="05000000000000000000" pitchFamily="2" charset="2"/>
              <a:buChar char="q"/>
            </a:pPr>
            <a:r>
              <a:rPr lang="en-US" sz="1400"/>
              <a:t>Incorporated in 1987, the Group underwent a management buyout in 2000, was listed on the ACE Market in 2017, and subsequently transferred to the Main Market in 2018.</a:t>
            </a:r>
            <a:endParaRPr lang="en-US" sz="1400" b="0" i="0" u="none" strike="noStrike" baseline="0"/>
          </a:p>
          <a:p>
            <a:pPr marL="285750" indent="-285750" algn="l">
              <a:spcBef>
                <a:spcPts val="300"/>
              </a:spcBef>
              <a:spcAft>
                <a:spcPts val="300"/>
              </a:spcAft>
              <a:buSzPct val="60000"/>
              <a:buFont typeface="Wingdings" panose="05000000000000000000" pitchFamily="2" charset="2"/>
              <a:buChar char="q"/>
            </a:pPr>
            <a:r>
              <a:rPr lang="en-US" sz="1400" b="0" i="0" u="none" strike="noStrike" baseline="0" err="1"/>
              <a:t>Inta</a:t>
            </a:r>
            <a:r>
              <a:rPr lang="en-US" sz="1400" b="0" i="0" u="none" strike="noStrike" baseline="0"/>
              <a:t> Bina is a G7 building construction contractor with more than 30 years of operating history and projects are mainly in the Klang Valley and Johor. Its main focus lies in constructing various type of buildings, encompassing high-rise residential and commercial properties, industrial as well as leisure properties.</a:t>
            </a:r>
          </a:p>
          <a:p>
            <a:pPr marL="285750" indent="-285750" algn="l">
              <a:spcBef>
                <a:spcPts val="300"/>
              </a:spcBef>
              <a:spcAft>
                <a:spcPts val="300"/>
              </a:spcAft>
              <a:buSzPct val="60000"/>
              <a:buFont typeface="Wingdings" panose="05000000000000000000" pitchFamily="2" charset="2"/>
              <a:buChar char="q"/>
            </a:pPr>
            <a:r>
              <a:rPr lang="en-US" sz="1400"/>
              <a:t>Completed over 155 projects with a total contract value of c. RM5bil</a:t>
            </a:r>
          </a:p>
          <a:p>
            <a:pPr marL="285750" indent="-285750" algn="l">
              <a:spcBef>
                <a:spcPts val="300"/>
              </a:spcBef>
              <a:spcAft>
                <a:spcPts val="300"/>
              </a:spcAft>
              <a:buSzPct val="60000"/>
              <a:buFont typeface="Wingdings" panose="05000000000000000000" pitchFamily="2" charset="2"/>
              <a:buChar char="q"/>
            </a:pPr>
            <a:endParaRPr lang="en-US" sz="1400"/>
          </a:p>
          <a:p>
            <a:pPr algn="l">
              <a:spcBef>
                <a:spcPts val="300"/>
              </a:spcBef>
              <a:spcAft>
                <a:spcPts val="300"/>
              </a:spcAft>
              <a:buSzPct val="60000"/>
            </a:pPr>
            <a:endParaRPr lang="en-US" sz="1600"/>
          </a:p>
        </p:txBody>
      </p:sp>
      <p:sp>
        <p:nvSpPr>
          <p:cNvPr id="11" name="TextBox 10">
            <a:extLst>
              <a:ext uri="{FF2B5EF4-FFF2-40B4-BE49-F238E27FC236}">
                <a16:creationId xmlns:a16="http://schemas.microsoft.com/office/drawing/2014/main" id="{5FACF3D0-BCF0-5860-B2DA-5203D3B48452}"/>
              </a:ext>
            </a:extLst>
          </p:cNvPr>
          <p:cNvSpPr txBox="1"/>
          <p:nvPr/>
        </p:nvSpPr>
        <p:spPr>
          <a:xfrm>
            <a:off x="428475" y="4759847"/>
            <a:ext cx="2031518" cy="338554"/>
          </a:xfrm>
          <a:prstGeom prst="rect">
            <a:avLst/>
          </a:prstGeom>
          <a:noFill/>
        </p:spPr>
        <p:txBody>
          <a:bodyPr wrap="none" rtlCol="0">
            <a:spAutoFit/>
          </a:bodyPr>
          <a:lstStyle/>
          <a:p>
            <a:pPr marL="342900" indent="-342900">
              <a:spcBef>
                <a:spcPts val="300"/>
              </a:spcBef>
              <a:spcAft>
                <a:spcPts val="300"/>
              </a:spcAft>
              <a:buSzPct val="100000"/>
              <a:buFont typeface="+mj-lt"/>
              <a:buAutoNum type="arabicPeriod" startAt="3"/>
            </a:pPr>
            <a:r>
              <a:rPr lang="en-US" sz="1600" b="1"/>
              <a:t>Group Structure</a:t>
            </a:r>
          </a:p>
        </p:txBody>
      </p:sp>
      <p:graphicFrame>
        <p:nvGraphicFramePr>
          <p:cNvPr id="18" name="Table 17">
            <a:extLst>
              <a:ext uri="{FF2B5EF4-FFF2-40B4-BE49-F238E27FC236}">
                <a16:creationId xmlns:a16="http://schemas.microsoft.com/office/drawing/2014/main" id="{F54319B9-FF48-F22B-3945-F1C01AA0872F}"/>
              </a:ext>
            </a:extLst>
          </p:cNvPr>
          <p:cNvGraphicFramePr>
            <a:graphicFrameLocks noGrp="1"/>
          </p:cNvGraphicFramePr>
          <p:nvPr/>
        </p:nvGraphicFramePr>
        <p:xfrm>
          <a:off x="482223" y="5112173"/>
          <a:ext cx="6035040" cy="1213104"/>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543482795"/>
                    </a:ext>
                  </a:extLst>
                </a:gridCol>
                <a:gridCol w="1371600">
                  <a:extLst>
                    <a:ext uri="{9D8B030D-6E8A-4147-A177-3AD203B41FA5}">
                      <a16:colId xmlns:a16="http://schemas.microsoft.com/office/drawing/2014/main" val="1045445284"/>
                    </a:ext>
                  </a:extLst>
                </a:gridCol>
                <a:gridCol w="1188720">
                  <a:extLst>
                    <a:ext uri="{9D8B030D-6E8A-4147-A177-3AD203B41FA5}">
                      <a16:colId xmlns:a16="http://schemas.microsoft.com/office/drawing/2014/main" val="3206114077"/>
                    </a:ext>
                  </a:extLst>
                </a:gridCol>
                <a:gridCol w="1188720">
                  <a:extLst>
                    <a:ext uri="{9D8B030D-6E8A-4147-A177-3AD203B41FA5}">
                      <a16:colId xmlns:a16="http://schemas.microsoft.com/office/drawing/2014/main" val="1324349575"/>
                    </a:ext>
                  </a:extLst>
                </a:gridCol>
                <a:gridCol w="914400">
                  <a:extLst>
                    <a:ext uri="{9D8B030D-6E8A-4147-A177-3AD203B41FA5}">
                      <a16:colId xmlns:a16="http://schemas.microsoft.com/office/drawing/2014/main" val="3279432829"/>
                    </a:ext>
                  </a:extLst>
                </a:gridCol>
              </a:tblGrid>
              <a:tr h="0">
                <a:tc>
                  <a:txBody>
                    <a:bodyPr/>
                    <a:lstStyle/>
                    <a:p>
                      <a:pPr algn="ctr"/>
                      <a:r>
                        <a:rPr lang="en-US" sz="1400"/>
                        <a:t>Core</a:t>
                      </a:r>
                    </a:p>
                  </a:txBody>
                  <a:tcPr marT="18288" marB="18288"/>
                </a:tc>
                <a:tc gridSpan="3">
                  <a:txBody>
                    <a:bodyPr/>
                    <a:lstStyle/>
                    <a:p>
                      <a:pPr algn="ctr"/>
                      <a:endParaRPr lang="en-US" sz="1400"/>
                    </a:p>
                  </a:txBody>
                  <a:tcPr marT="18288" marB="18288">
                    <a:noFill/>
                  </a:tcPr>
                </a:tc>
                <a:tc hMerge="1">
                  <a:txBody>
                    <a:bodyPr/>
                    <a:lstStyle/>
                    <a:p>
                      <a:endParaRPr lang="en-US"/>
                    </a:p>
                  </a:txBody>
                  <a:tcPr/>
                </a:tc>
                <a:tc hMerge="1">
                  <a:txBody>
                    <a:bodyPr/>
                    <a:lstStyle/>
                    <a:p>
                      <a:endParaRPr lang="en-US"/>
                    </a:p>
                  </a:txBody>
                  <a:tcPr/>
                </a:tc>
                <a:tc>
                  <a:txBody>
                    <a:bodyPr/>
                    <a:lstStyle/>
                    <a:p>
                      <a:pPr algn="ctr"/>
                      <a:endParaRPr lang="en-US" sz="1400" baseline="30000"/>
                    </a:p>
                  </a:txBody>
                  <a:tcPr marT="18288" marB="18288">
                    <a:noFill/>
                  </a:tcPr>
                </a:tc>
                <a:extLst>
                  <a:ext uri="{0D108BD9-81ED-4DB2-BD59-A6C34878D82A}">
                    <a16:rowId xmlns:a16="http://schemas.microsoft.com/office/drawing/2014/main" val="2722105638"/>
                  </a:ext>
                </a:extLst>
              </a:tr>
              <a:tr h="0">
                <a:tc>
                  <a:txBody>
                    <a:bodyPr/>
                    <a:lstStyle/>
                    <a:p>
                      <a:pPr algn="ctr"/>
                      <a:r>
                        <a:rPr lang="en-US" sz="1400">
                          <a:solidFill>
                            <a:schemeClr val="tx1"/>
                          </a:solidFill>
                        </a:rPr>
                        <a:t>Construction</a:t>
                      </a:r>
                    </a:p>
                  </a:txBody>
                  <a:tcPr marT="18288" marB="18288">
                    <a:solidFill>
                      <a:schemeClr val="accent4">
                        <a:lumMod val="20000"/>
                        <a:lumOff val="80000"/>
                      </a:schemeClr>
                    </a:solidFill>
                  </a:tcPr>
                </a:tc>
                <a:tc gridSpan="3">
                  <a:txBody>
                    <a:bodyPr/>
                    <a:lstStyle/>
                    <a:p>
                      <a:pPr algn="ctr"/>
                      <a:r>
                        <a:rPr lang="en-US" sz="1400">
                          <a:solidFill>
                            <a:schemeClr val="bg1"/>
                          </a:solidFill>
                        </a:rPr>
                        <a:t>Property Development</a:t>
                      </a:r>
                    </a:p>
                  </a:txBody>
                  <a:tcPr marT="18288" marB="18288">
                    <a:solidFill>
                      <a:schemeClr val="accent1">
                        <a:lumMod val="75000"/>
                      </a:schemeClr>
                    </a:solidFill>
                  </a:tcPr>
                </a:tc>
                <a:tc hMerge="1">
                  <a:txBody>
                    <a:bodyPr/>
                    <a:lstStyle/>
                    <a:p>
                      <a:endParaRPr lang="en-US" sz="1600"/>
                    </a:p>
                  </a:txBody>
                  <a:tcPr/>
                </a:tc>
                <a:tc hMerge="1">
                  <a:txBody>
                    <a:bodyPr/>
                    <a:lstStyle/>
                    <a:p>
                      <a:endParaRPr lang="en-US" sz="1600"/>
                    </a:p>
                  </a:txBody>
                  <a:tcPr/>
                </a:tc>
                <a:tc>
                  <a:txBody>
                    <a:bodyPr/>
                    <a:lstStyle/>
                    <a:p>
                      <a:pPr algn="ctr"/>
                      <a:r>
                        <a:rPr lang="en-US" sz="1400">
                          <a:solidFill>
                            <a:schemeClr val="bg1"/>
                          </a:solidFill>
                        </a:rPr>
                        <a:t>Others </a:t>
                      </a:r>
                      <a:r>
                        <a:rPr lang="en-US" sz="1400" baseline="30000">
                          <a:solidFill>
                            <a:schemeClr val="bg1"/>
                          </a:solidFill>
                        </a:rPr>
                        <a:t>N1</a:t>
                      </a:r>
                    </a:p>
                  </a:txBody>
                  <a:tcPr marT="18288" marB="18288">
                    <a:solidFill>
                      <a:schemeClr val="accent1">
                        <a:lumMod val="50000"/>
                      </a:schemeClr>
                    </a:solidFill>
                  </a:tcPr>
                </a:tc>
                <a:extLst>
                  <a:ext uri="{0D108BD9-81ED-4DB2-BD59-A6C34878D82A}">
                    <a16:rowId xmlns:a16="http://schemas.microsoft.com/office/drawing/2014/main" val="3172486502"/>
                  </a:ext>
                </a:extLst>
              </a:tr>
              <a:tr h="0">
                <a:tc>
                  <a:txBody>
                    <a:bodyPr/>
                    <a:lstStyle/>
                    <a:p>
                      <a:pPr algn="ctr"/>
                      <a:r>
                        <a:rPr lang="en-US" sz="1400">
                          <a:solidFill>
                            <a:schemeClr val="tx1"/>
                          </a:solidFill>
                        </a:rPr>
                        <a:t>100%</a:t>
                      </a:r>
                    </a:p>
                  </a:txBody>
                  <a:tcPr marT="18288" marB="18288">
                    <a:solidFill>
                      <a:schemeClr val="accent4">
                        <a:lumMod val="20000"/>
                        <a:lumOff val="80000"/>
                      </a:schemeClr>
                    </a:solidFill>
                  </a:tcPr>
                </a:tc>
                <a:tc>
                  <a:txBody>
                    <a:bodyPr/>
                    <a:lstStyle/>
                    <a:p>
                      <a:pPr algn="ctr"/>
                      <a:r>
                        <a:rPr lang="en-US" sz="1400">
                          <a:solidFill>
                            <a:schemeClr val="bg1"/>
                          </a:solidFill>
                        </a:rPr>
                        <a:t>100%</a:t>
                      </a:r>
                    </a:p>
                  </a:txBody>
                  <a:tcPr marT="18288" marB="18288">
                    <a:solidFill>
                      <a:schemeClr val="accent1">
                        <a:lumMod val="75000"/>
                      </a:schemeClr>
                    </a:solidFill>
                  </a:tcPr>
                </a:tc>
                <a:tc>
                  <a:txBody>
                    <a:bodyPr/>
                    <a:lstStyle/>
                    <a:p>
                      <a:pPr algn="ctr"/>
                      <a:r>
                        <a:rPr lang="en-US" sz="1400">
                          <a:solidFill>
                            <a:schemeClr val="bg1"/>
                          </a:solidFill>
                        </a:rPr>
                        <a:t>100%</a:t>
                      </a:r>
                    </a:p>
                  </a:txBody>
                  <a:tcPr marT="18288" marB="18288">
                    <a:solidFill>
                      <a:schemeClr val="accent1">
                        <a:lumMod val="75000"/>
                      </a:schemeClr>
                    </a:solidFill>
                  </a:tcPr>
                </a:tc>
                <a:tc>
                  <a:txBody>
                    <a:bodyPr/>
                    <a:lstStyle/>
                    <a:p>
                      <a:pPr algn="ctr"/>
                      <a:r>
                        <a:rPr lang="en-US" sz="1400">
                          <a:solidFill>
                            <a:schemeClr val="bg1"/>
                          </a:solidFill>
                        </a:rPr>
                        <a:t>100%</a:t>
                      </a:r>
                    </a:p>
                  </a:txBody>
                  <a:tcPr marT="18288" marB="18288">
                    <a:solidFill>
                      <a:schemeClr val="accent1">
                        <a:lumMod val="75000"/>
                      </a:schemeClr>
                    </a:solidFill>
                  </a:tcPr>
                </a:tc>
                <a:tc>
                  <a:txBody>
                    <a:bodyPr/>
                    <a:lstStyle/>
                    <a:p>
                      <a:pPr algn="ctr"/>
                      <a:r>
                        <a:rPr lang="en-US" sz="1400">
                          <a:solidFill>
                            <a:schemeClr val="bg1"/>
                          </a:solidFill>
                        </a:rPr>
                        <a:t>55%</a:t>
                      </a:r>
                    </a:p>
                  </a:txBody>
                  <a:tcPr marT="18288" marB="18288">
                    <a:solidFill>
                      <a:schemeClr val="accent1">
                        <a:lumMod val="50000"/>
                      </a:schemeClr>
                    </a:solidFill>
                  </a:tcPr>
                </a:tc>
                <a:extLst>
                  <a:ext uri="{0D108BD9-81ED-4DB2-BD59-A6C34878D82A}">
                    <a16:rowId xmlns:a16="http://schemas.microsoft.com/office/drawing/2014/main" val="2799505936"/>
                  </a:ext>
                </a:extLst>
              </a:tr>
              <a:tr h="370840">
                <a:tc>
                  <a:txBody>
                    <a:bodyPr/>
                    <a:lstStyle/>
                    <a:p>
                      <a:pPr algn="ctr"/>
                      <a:r>
                        <a:rPr lang="en-US" sz="1400"/>
                        <a:t>Inta Bina </a:t>
                      </a:r>
                    </a:p>
                    <a:p>
                      <a:pPr algn="ctr"/>
                      <a:r>
                        <a:rPr lang="en-US" sz="1400"/>
                        <a:t>Sdn Bhd</a:t>
                      </a:r>
                    </a:p>
                  </a:txBody>
                  <a:tcPr marT="18288" marB="18288">
                    <a:noFill/>
                  </a:tcPr>
                </a:tc>
                <a:tc>
                  <a:txBody>
                    <a:bodyPr/>
                    <a:lstStyle/>
                    <a:p>
                      <a:pPr algn="ctr"/>
                      <a:r>
                        <a:rPr lang="en-US" sz="1400"/>
                        <a:t>Angkasa Senuri Sdn Bhd</a:t>
                      </a:r>
                    </a:p>
                  </a:txBody>
                  <a:tcPr marT="18288" marB="18288">
                    <a:noFill/>
                  </a:tcPr>
                </a:tc>
                <a:tc>
                  <a:txBody>
                    <a:bodyPr/>
                    <a:lstStyle/>
                    <a:p>
                      <a:pPr algn="ctr"/>
                      <a:r>
                        <a:rPr lang="en-US" sz="1400"/>
                        <a:t>Seiring Setia Sdn Bhd</a:t>
                      </a:r>
                    </a:p>
                  </a:txBody>
                  <a:tcPr marT="18288" marB="18288">
                    <a:noFill/>
                  </a:tcPr>
                </a:tc>
                <a:tc>
                  <a:txBody>
                    <a:bodyPr/>
                    <a:lstStyle/>
                    <a:p>
                      <a:pPr algn="ctr"/>
                      <a:r>
                        <a:rPr lang="en-US" sz="1400" err="1"/>
                        <a:t>Lagenda</a:t>
                      </a:r>
                      <a:r>
                        <a:rPr lang="en-US" sz="1400"/>
                        <a:t> Inta </a:t>
                      </a:r>
                    </a:p>
                    <a:p>
                      <a:pPr algn="ctr"/>
                      <a:r>
                        <a:rPr lang="en-US" sz="1400"/>
                        <a:t>Sdn Bhd</a:t>
                      </a:r>
                    </a:p>
                  </a:txBody>
                  <a:tcPr marT="18288" marB="18288">
                    <a:noFill/>
                  </a:tcPr>
                </a:tc>
                <a:tc>
                  <a:txBody>
                    <a:bodyPr/>
                    <a:lstStyle/>
                    <a:p>
                      <a:pPr algn="ctr"/>
                      <a:r>
                        <a:rPr lang="en-US" sz="1400"/>
                        <a:t>IBEE </a:t>
                      </a:r>
                    </a:p>
                    <a:p>
                      <a:pPr algn="ctr"/>
                      <a:r>
                        <a:rPr lang="en-US" sz="1400"/>
                        <a:t>Sdn Bhd</a:t>
                      </a:r>
                    </a:p>
                  </a:txBody>
                  <a:tcPr marT="18288" marB="18288">
                    <a:noFill/>
                  </a:tcPr>
                </a:tc>
                <a:extLst>
                  <a:ext uri="{0D108BD9-81ED-4DB2-BD59-A6C34878D82A}">
                    <a16:rowId xmlns:a16="http://schemas.microsoft.com/office/drawing/2014/main" val="3236900939"/>
                  </a:ext>
                </a:extLst>
              </a:tr>
            </a:tbl>
          </a:graphicData>
        </a:graphic>
      </p:graphicFrame>
      <p:sp>
        <p:nvSpPr>
          <p:cNvPr id="21" name="TextBox 20">
            <a:extLst>
              <a:ext uri="{FF2B5EF4-FFF2-40B4-BE49-F238E27FC236}">
                <a16:creationId xmlns:a16="http://schemas.microsoft.com/office/drawing/2014/main" id="{5C0E4124-606E-8822-F4E9-613664E3F785}"/>
              </a:ext>
            </a:extLst>
          </p:cNvPr>
          <p:cNvSpPr txBox="1"/>
          <p:nvPr/>
        </p:nvSpPr>
        <p:spPr>
          <a:xfrm>
            <a:off x="2848749" y="6325277"/>
            <a:ext cx="3752850" cy="276999"/>
          </a:xfrm>
          <a:prstGeom prst="rect">
            <a:avLst/>
          </a:prstGeom>
          <a:noFill/>
        </p:spPr>
        <p:txBody>
          <a:bodyPr wrap="square">
            <a:spAutoFit/>
          </a:bodyPr>
          <a:lstStyle/>
          <a:p>
            <a:pPr algn="r"/>
            <a:r>
              <a:rPr lang="en-US" sz="1200" i="1" baseline="30000"/>
              <a:t>N1 </a:t>
            </a:r>
            <a:r>
              <a:rPr lang="en-US" sz="1200" i="1" err="1"/>
              <a:t>Specialised</a:t>
            </a:r>
            <a:r>
              <a:rPr lang="en-US" sz="1200" i="1"/>
              <a:t> work : Lift subcontractor</a:t>
            </a:r>
          </a:p>
        </p:txBody>
      </p:sp>
      <p:sp>
        <p:nvSpPr>
          <p:cNvPr id="22" name="TextBox 21">
            <a:extLst>
              <a:ext uri="{FF2B5EF4-FFF2-40B4-BE49-F238E27FC236}">
                <a16:creationId xmlns:a16="http://schemas.microsoft.com/office/drawing/2014/main" id="{9236C77D-F861-0190-234E-D698FE2B06C3}"/>
              </a:ext>
            </a:extLst>
          </p:cNvPr>
          <p:cNvSpPr txBox="1"/>
          <p:nvPr/>
        </p:nvSpPr>
        <p:spPr>
          <a:xfrm>
            <a:off x="428475" y="3575135"/>
            <a:ext cx="2672591" cy="338554"/>
          </a:xfrm>
          <a:prstGeom prst="rect">
            <a:avLst/>
          </a:prstGeom>
          <a:noFill/>
        </p:spPr>
        <p:txBody>
          <a:bodyPr wrap="none" rtlCol="0">
            <a:spAutoFit/>
          </a:bodyPr>
          <a:lstStyle/>
          <a:p>
            <a:pPr marL="342900" indent="-342900">
              <a:spcBef>
                <a:spcPts val="300"/>
              </a:spcBef>
              <a:spcAft>
                <a:spcPts val="300"/>
              </a:spcAft>
              <a:buSzPct val="100000"/>
              <a:buFont typeface="+mj-lt"/>
              <a:buAutoNum type="arabicPeriod" startAt="2"/>
            </a:pPr>
            <a:r>
              <a:rPr lang="en-US" sz="1600" b="1"/>
              <a:t>Shareholding structure</a:t>
            </a:r>
            <a:endParaRPr lang="en-US" sz="1600"/>
          </a:p>
        </p:txBody>
      </p:sp>
      <p:pic>
        <p:nvPicPr>
          <p:cNvPr id="24" name="Picture 23">
            <a:extLst>
              <a:ext uri="{FF2B5EF4-FFF2-40B4-BE49-F238E27FC236}">
                <a16:creationId xmlns:a16="http://schemas.microsoft.com/office/drawing/2014/main" id="{32F49B8F-C0DA-9AE8-0D0F-6E80CCF27A85}"/>
              </a:ext>
            </a:extLst>
          </p:cNvPr>
          <p:cNvPicPr>
            <a:picLocks noChangeAspect="1"/>
          </p:cNvPicPr>
          <p:nvPr/>
        </p:nvPicPr>
        <p:blipFill>
          <a:blip r:embed="rId2"/>
          <a:stretch>
            <a:fillRect/>
          </a:stretch>
        </p:blipFill>
        <p:spPr>
          <a:xfrm>
            <a:off x="6875660" y="1302904"/>
            <a:ext cx="5097265" cy="2300667"/>
          </a:xfrm>
          <a:prstGeom prst="rect">
            <a:avLst/>
          </a:prstGeom>
        </p:spPr>
      </p:pic>
      <p:sp>
        <p:nvSpPr>
          <p:cNvPr id="25" name="TextBox 24">
            <a:extLst>
              <a:ext uri="{FF2B5EF4-FFF2-40B4-BE49-F238E27FC236}">
                <a16:creationId xmlns:a16="http://schemas.microsoft.com/office/drawing/2014/main" id="{2B852C33-32E8-0AFE-115D-9621500FD0FA}"/>
              </a:ext>
            </a:extLst>
          </p:cNvPr>
          <p:cNvSpPr txBox="1"/>
          <p:nvPr/>
        </p:nvSpPr>
        <p:spPr>
          <a:xfrm>
            <a:off x="6875660" y="964351"/>
            <a:ext cx="1668264" cy="338554"/>
          </a:xfrm>
          <a:prstGeom prst="rect">
            <a:avLst/>
          </a:prstGeom>
          <a:noFill/>
        </p:spPr>
        <p:txBody>
          <a:bodyPr wrap="square" rtlCol="0">
            <a:spAutoFit/>
          </a:bodyPr>
          <a:lstStyle/>
          <a:p>
            <a:pPr marL="342900" indent="-342900">
              <a:spcBef>
                <a:spcPts val="300"/>
              </a:spcBef>
              <a:spcAft>
                <a:spcPts val="300"/>
              </a:spcAft>
              <a:buSzPct val="100000"/>
              <a:buFont typeface="+mj-lt"/>
              <a:buAutoNum type="arabicPeriod" startAt="4"/>
            </a:pPr>
            <a:r>
              <a:rPr lang="en-US" sz="1600" b="1"/>
              <a:t>Clientele</a:t>
            </a:r>
          </a:p>
        </p:txBody>
      </p:sp>
      <p:sp>
        <p:nvSpPr>
          <p:cNvPr id="27" name="TextBox 26">
            <a:extLst>
              <a:ext uri="{FF2B5EF4-FFF2-40B4-BE49-F238E27FC236}">
                <a16:creationId xmlns:a16="http://schemas.microsoft.com/office/drawing/2014/main" id="{CC14E209-2E44-6372-19DA-009F10772D00}"/>
              </a:ext>
            </a:extLst>
          </p:cNvPr>
          <p:cNvSpPr txBox="1"/>
          <p:nvPr/>
        </p:nvSpPr>
        <p:spPr>
          <a:xfrm>
            <a:off x="6853435" y="3487338"/>
            <a:ext cx="4727317" cy="954107"/>
          </a:xfrm>
          <a:prstGeom prst="rect">
            <a:avLst/>
          </a:prstGeom>
          <a:noFill/>
        </p:spPr>
        <p:txBody>
          <a:bodyPr wrap="square">
            <a:spAutoFit/>
          </a:bodyPr>
          <a:lstStyle/>
          <a:p>
            <a:pPr algn="just"/>
            <a:r>
              <a:rPr lang="en-US" sz="1400" b="0" i="0" u="none" strike="noStrike" baseline="0">
                <a:latin typeface="Aptos" panose="020B0004020202020204" pitchFamily="34" charset="0"/>
              </a:rPr>
              <a:t>Forged long partnerships with its clientele. Among its clients, include major property developers such as UEM sunrise, Gamuda Land, Mah Sing, </a:t>
            </a:r>
            <a:r>
              <a:rPr lang="en-US" sz="1400" b="0" i="0" u="none" strike="noStrike" baseline="0" err="1">
                <a:latin typeface="Aptos" panose="020B0004020202020204" pitchFamily="34" charset="0"/>
              </a:rPr>
              <a:t>Mitraland</a:t>
            </a:r>
            <a:r>
              <a:rPr lang="en-US" sz="1400" b="0" i="0" u="none" strike="noStrike" baseline="0">
                <a:latin typeface="Aptos" panose="020B0004020202020204" pitchFamily="34" charset="0"/>
              </a:rPr>
              <a:t>, </a:t>
            </a:r>
            <a:r>
              <a:rPr lang="en-US" sz="1400" b="0" i="0" u="none" strike="noStrike" baseline="0" err="1">
                <a:latin typeface="Aptos" panose="020B0004020202020204" pitchFamily="34" charset="0"/>
              </a:rPr>
              <a:t>EcoWorld</a:t>
            </a:r>
            <a:r>
              <a:rPr lang="en-US" sz="1400" b="0" i="0" u="none" strike="noStrike" baseline="0">
                <a:latin typeface="Aptos" panose="020B0004020202020204" pitchFamily="34" charset="0"/>
              </a:rPr>
              <a:t>, Tropicana </a:t>
            </a:r>
            <a:r>
              <a:rPr lang="en-US" sz="1400" b="0" i="0" u="none" strike="noStrike" baseline="0" err="1">
                <a:latin typeface="Aptos" panose="020B0004020202020204" pitchFamily="34" charset="0"/>
              </a:rPr>
              <a:t>etc</a:t>
            </a:r>
            <a:endParaRPr lang="en-US" sz="1400">
              <a:latin typeface="Aptos" panose="020B0004020202020204" pitchFamily="34" charset="0"/>
            </a:endParaRPr>
          </a:p>
        </p:txBody>
      </p:sp>
      <p:graphicFrame>
        <p:nvGraphicFramePr>
          <p:cNvPr id="28" name="Table 27">
            <a:extLst>
              <a:ext uri="{FF2B5EF4-FFF2-40B4-BE49-F238E27FC236}">
                <a16:creationId xmlns:a16="http://schemas.microsoft.com/office/drawing/2014/main" id="{A046DE66-6E4A-DF4F-57D7-593DAB085B9F}"/>
              </a:ext>
            </a:extLst>
          </p:cNvPr>
          <p:cNvGraphicFramePr>
            <a:graphicFrameLocks noGrp="1"/>
          </p:cNvGraphicFramePr>
          <p:nvPr/>
        </p:nvGraphicFramePr>
        <p:xfrm>
          <a:off x="710823" y="3945821"/>
          <a:ext cx="5760720" cy="6756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1259669850"/>
                    </a:ext>
                  </a:extLst>
                </a:gridCol>
                <a:gridCol w="1371600">
                  <a:extLst>
                    <a:ext uri="{9D8B030D-6E8A-4147-A177-3AD203B41FA5}">
                      <a16:colId xmlns:a16="http://schemas.microsoft.com/office/drawing/2014/main" val="3551774269"/>
                    </a:ext>
                  </a:extLst>
                </a:gridCol>
                <a:gridCol w="1371600">
                  <a:extLst>
                    <a:ext uri="{9D8B030D-6E8A-4147-A177-3AD203B41FA5}">
                      <a16:colId xmlns:a16="http://schemas.microsoft.com/office/drawing/2014/main" val="3661148664"/>
                    </a:ext>
                  </a:extLst>
                </a:gridCol>
                <a:gridCol w="1645920">
                  <a:extLst>
                    <a:ext uri="{9D8B030D-6E8A-4147-A177-3AD203B41FA5}">
                      <a16:colId xmlns:a16="http://schemas.microsoft.com/office/drawing/2014/main" val="3068912754"/>
                    </a:ext>
                  </a:extLst>
                </a:gridCol>
              </a:tblGrid>
              <a:tr h="0">
                <a:tc>
                  <a:txBody>
                    <a:bodyPr/>
                    <a:lstStyle/>
                    <a:p>
                      <a:pPr algn="ctr"/>
                      <a:r>
                        <a:rPr lang="en-US" sz="1400">
                          <a:solidFill>
                            <a:schemeClr val="tx1"/>
                          </a:solidFill>
                        </a:rPr>
                        <a:t>27.8%</a:t>
                      </a:r>
                    </a:p>
                  </a:txBody>
                  <a:tcPr>
                    <a:solidFill>
                      <a:schemeClr val="accent4">
                        <a:lumMod val="20000"/>
                        <a:lumOff val="80000"/>
                      </a:schemeClr>
                    </a:solidFill>
                  </a:tcPr>
                </a:tc>
                <a:tc>
                  <a:txBody>
                    <a:bodyPr/>
                    <a:lstStyle/>
                    <a:p>
                      <a:pPr algn="ctr"/>
                      <a:r>
                        <a:rPr lang="en-US" sz="1400">
                          <a:solidFill>
                            <a:schemeClr val="bg1"/>
                          </a:solidFill>
                        </a:rPr>
                        <a:t>8.3%</a:t>
                      </a:r>
                    </a:p>
                  </a:txBody>
                  <a:tcPr>
                    <a:solidFill>
                      <a:schemeClr val="accent1">
                        <a:lumMod val="75000"/>
                      </a:schemeClr>
                    </a:solidFill>
                  </a:tcPr>
                </a:tc>
                <a:tc>
                  <a:txBody>
                    <a:bodyPr/>
                    <a:lstStyle/>
                    <a:p>
                      <a:pPr algn="ctr"/>
                      <a:r>
                        <a:rPr lang="en-US" sz="1400">
                          <a:solidFill>
                            <a:schemeClr val="bg1"/>
                          </a:solidFill>
                        </a:rPr>
                        <a:t>8.2%</a:t>
                      </a:r>
                    </a:p>
                  </a:txBody>
                  <a:tcPr>
                    <a:solidFill>
                      <a:schemeClr val="accent1">
                        <a:lumMod val="75000"/>
                      </a:schemeClr>
                    </a:solidFill>
                  </a:tcPr>
                </a:tc>
                <a:tc>
                  <a:txBody>
                    <a:bodyPr/>
                    <a:lstStyle/>
                    <a:p>
                      <a:pPr algn="ctr"/>
                      <a:r>
                        <a:rPr lang="en-US" sz="1400">
                          <a:solidFill>
                            <a:schemeClr val="bg1"/>
                          </a:solidFill>
                        </a:rPr>
                        <a:t>8%</a:t>
                      </a:r>
                    </a:p>
                  </a:txBody>
                  <a:tcPr>
                    <a:solidFill>
                      <a:schemeClr val="accent1">
                        <a:lumMod val="75000"/>
                      </a:schemeClr>
                    </a:solidFill>
                  </a:tcPr>
                </a:tc>
                <a:extLst>
                  <a:ext uri="{0D108BD9-81ED-4DB2-BD59-A6C34878D82A}">
                    <a16:rowId xmlns:a16="http://schemas.microsoft.com/office/drawing/2014/main" val="527975463"/>
                  </a:ext>
                </a:extLst>
              </a:tr>
              <a:tr h="370840">
                <a:tc>
                  <a:txBody>
                    <a:bodyPr/>
                    <a:lstStyle/>
                    <a:p>
                      <a:pPr algn="ctr"/>
                      <a:r>
                        <a:rPr lang="en-US" sz="1400">
                          <a:solidFill>
                            <a:schemeClr val="tx1"/>
                          </a:solidFill>
                        </a:rPr>
                        <a:t>Apex Industries</a:t>
                      </a:r>
                    </a:p>
                  </a:txBody>
                  <a:tcPr>
                    <a:noFill/>
                  </a:tcPr>
                </a:tc>
                <a:tc>
                  <a:txBody>
                    <a:bodyPr/>
                    <a:lstStyle/>
                    <a:p>
                      <a:pPr algn="ctr"/>
                      <a:r>
                        <a:rPr lang="en-US" sz="1400">
                          <a:solidFill>
                            <a:schemeClr val="tx1"/>
                          </a:solidFill>
                        </a:rPr>
                        <a:t>Lim Ooi Joo</a:t>
                      </a:r>
                    </a:p>
                  </a:txBody>
                  <a:tcPr>
                    <a:noFill/>
                  </a:tcPr>
                </a:tc>
                <a:tc>
                  <a:txBody>
                    <a:bodyPr/>
                    <a:lstStyle/>
                    <a:p>
                      <a:pPr algn="ctr"/>
                      <a:r>
                        <a:rPr lang="en-US" sz="1400">
                          <a:solidFill>
                            <a:schemeClr val="tx1"/>
                          </a:solidFill>
                        </a:rPr>
                        <a:t>Ahmad bin Awi</a:t>
                      </a:r>
                    </a:p>
                  </a:txBody>
                  <a:tcPr>
                    <a:noFill/>
                  </a:tcPr>
                </a:tc>
                <a:tc>
                  <a:txBody>
                    <a:bodyPr/>
                    <a:lstStyle/>
                    <a:p>
                      <a:pPr algn="ctr"/>
                      <a:r>
                        <a:rPr lang="en-US" sz="1400">
                          <a:solidFill>
                            <a:schemeClr val="tx1"/>
                          </a:solidFill>
                        </a:rPr>
                        <a:t>Teo Hock Choon </a:t>
                      </a:r>
                    </a:p>
                  </a:txBody>
                  <a:tcPr>
                    <a:noFill/>
                  </a:tcPr>
                </a:tc>
                <a:extLst>
                  <a:ext uri="{0D108BD9-81ED-4DB2-BD59-A6C34878D82A}">
                    <a16:rowId xmlns:a16="http://schemas.microsoft.com/office/drawing/2014/main" val="2379042514"/>
                  </a:ext>
                </a:extLst>
              </a:tr>
            </a:tbl>
          </a:graphicData>
        </a:graphic>
      </p:graphicFrame>
      <p:graphicFrame>
        <p:nvGraphicFramePr>
          <p:cNvPr id="29" name="Table 28">
            <a:extLst>
              <a:ext uri="{FF2B5EF4-FFF2-40B4-BE49-F238E27FC236}">
                <a16:creationId xmlns:a16="http://schemas.microsoft.com/office/drawing/2014/main" id="{C561219A-9D4B-B1FB-FF47-ECCFB7A1BDEA}"/>
              </a:ext>
            </a:extLst>
          </p:cNvPr>
          <p:cNvGraphicFramePr>
            <a:graphicFrameLocks noGrp="1"/>
          </p:cNvGraphicFramePr>
          <p:nvPr/>
        </p:nvGraphicFramePr>
        <p:xfrm>
          <a:off x="6917055" y="4492752"/>
          <a:ext cx="3749040" cy="1881048"/>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1183630813"/>
                    </a:ext>
                  </a:extLst>
                </a:gridCol>
                <a:gridCol w="1920240">
                  <a:extLst>
                    <a:ext uri="{9D8B030D-6E8A-4147-A177-3AD203B41FA5}">
                      <a16:colId xmlns:a16="http://schemas.microsoft.com/office/drawing/2014/main" val="473684578"/>
                    </a:ext>
                  </a:extLst>
                </a:gridCol>
              </a:tblGrid>
              <a:tr h="235131">
                <a:tc>
                  <a:txBody>
                    <a:bodyPr/>
                    <a:lstStyle/>
                    <a:p>
                      <a:endParaRPr lang="en-US" sz="1400" b="1">
                        <a:solidFill>
                          <a:schemeClr val="bg1"/>
                        </a:solidFill>
                        <a:latin typeface="Aptos" panose="020B0004020202020204" pitchFamily="34" charset="0"/>
                      </a:endParaRP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en-US" sz="1400" b="1">
                          <a:solidFill>
                            <a:schemeClr val="bg1"/>
                          </a:solidFill>
                          <a:latin typeface="Aptos" panose="020B0004020202020204" pitchFamily="34" charset="0"/>
                        </a:rPr>
                        <a:t>Length of relationship</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extLst>
                  <a:ext uri="{0D108BD9-81ED-4DB2-BD59-A6C34878D82A}">
                    <a16:rowId xmlns:a16="http://schemas.microsoft.com/office/drawing/2014/main" val="4116168194"/>
                  </a:ext>
                </a:extLst>
              </a:tr>
              <a:tr h="235131">
                <a:tc>
                  <a:txBody>
                    <a:bodyPr/>
                    <a:lstStyle/>
                    <a:p>
                      <a:r>
                        <a:rPr lang="en-US" sz="1400" b="1">
                          <a:solidFill>
                            <a:schemeClr val="bg1"/>
                          </a:solidFill>
                          <a:latin typeface="Aptos" panose="020B0004020202020204" pitchFamily="34" charset="0"/>
                        </a:rPr>
                        <a:t>Customers</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tc>
                  <a:txBody>
                    <a:bodyPr/>
                    <a:lstStyle/>
                    <a:p>
                      <a:pPr algn="ctr"/>
                      <a:r>
                        <a:rPr lang="en-US" sz="1400" b="1">
                          <a:solidFill>
                            <a:schemeClr val="bg1"/>
                          </a:solidFill>
                          <a:latin typeface="Aptos" panose="020B0004020202020204" pitchFamily="34" charset="0"/>
                        </a:rPr>
                        <a:t>years</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lumOff val="10000"/>
                      </a:schemeClr>
                    </a:solidFill>
                  </a:tcPr>
                </a:tc>
                <a:extLst>
                  <a:ext uri="{0D108BD9-81ED-4DB2-BD59-A6C34878D82A}">
                    <a16:rowId xmlns:a16="http://schemas.microsoft.com/office/drawing/2014/main" val="644778460"/>
                  </a:ext>
                </a:extLst>
              </a:tr>
              <a:tr h="235131">
                <a:tc>
                  <a:txBody>
                    <a:bodyPr/>
                    <a:lstStyle/>
                    <a:p>
                      <a:r>
                        <a:rPr lang="en-US" sz="1400">
                          <a:solidFill>
                            <a:schemeClr val="tx1"/>
                          </a:solidFill>
                          <a:latin typeface="Aptos" panose="020B0004020202020204" pitchFamily="34" charset="0"/>
                        </a:rPr>
                        <a:t>UEM Land</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a:solidFill>
                            <a:schemeClr val="tx1"/>
                          </a:solidFill>
                          <a:latin typeface="Aptos" panose="020B0004020202020204" pitchFamily="34" charset="0"/>
                        </a:rPr>
                        <a:t>25</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5936863"/>
                  </a:ext>
                </a:extLst>
              </a:tr>
              <a:tr h="235131">
                <a:tc>
                  <a:txBody>
                    <a:bodyPr/>
                    <a:lstStyle/>
                    <a:p>
                      <a:r>
                        <a:rPr lang="en-US" sz="1400">
                          <a:solidFill>
                            <a:schemeClr val="tx1"/>
                          </a:solidFill>
                          <a:latin typeface="Aptos" panose="020B0004020202020204" pitchFamily="34" charset="0"/>
                        </a:rPr>
                        <a:t>Gamuda Land</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a:solidFill>
                            <a:schemeClr val="tx1"/>
                          </a:solidFill>
                          <a:latin typeface="Aptos" panose="020B0004020202020204" pitchFamily="34" charset="0"/>
                        </a:rPr>
                        <a:t>25</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974935"/>
                  </a:ext>
                </a:extLst>
              </a:tr>
              <a:tr h="235131">
                <a:tc>
                  <a:txBody>
                    <a:bodyPr/>
                    <a:lstStyle/>
                    <a:p>
                      <a:r>
                        <a:rPr lang="en-US" sz="1400">
                          <a:solidFill>
                            <a:schemeClr val="tx1"/>
                          </a:solidFill>
                          <a:latin typeface="Aptos" panose="020B0004020202020204" pitchFamily="34" charset="0"/>
                        </a:rPr>
                        <a:t>Mah Sing</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a:solidFill>
                            <a:schemeClr val="tx1"/>
                          </a:solidFill>
                          <a:latin typeface="Aptos" panose="020B0004020202020204" pitchFamily="34" charset="0"/>
                        </a:rPr>
                        <a:t>17</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8149793"/>
                  </a:ext>
                </a:extLst>
              </a:tr>
              <a:tr h="235131">
                <a:tc>
                  <a:txBody>
                    <a:bodyPr/>
                    <a:lstStyle/>
                    <a:p>
                      <a:r>
                        <a:rPr lang="en-US" sz="1400" err="1">
                          <a:solidFill>
                            <a:schemeClr val="tx1"/>
                          </a:solidFill>
                          <a:latin typeface="Aptos" panose="020B0004020202020204" pitchFamily="34" charset="0"/>
                        </a:rPr>
                        <a:t>Mitraland</a:t>
                      </a:r>
                      <a:endParaRPr lang="en-US" sz="1400">
                        <a:solidFill>
                          <a:schemeClr val="tx1"/>
                        </a:solidFill>
                        <a:latin typeface="Aptos" panose="020B0004020202020204" pitchFamily="34" charset="0"/>
                      </a:endParaRP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a:solidFill>
                            <a:schemeClr val="tx1"/>
                          </a:solidFill>
                          <a:latin typeface="Aptos" panose="020B0004020202020204" pitchFamily="34" charset="0"/>
                        </a:rPr>
                        <a:t>13</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1941909"/>
                  </a:ext>
                </a:extLst>
              </a:tr>
              <a:tr h="235131">
                <a:tc>
                  <a:txBody>
                    <a:bodyPr/>
                    <a:lstStyle/>
                    <a:p>
                      <a:r>
                        <a:rPr lang="en-US" sz="1400" err="1">
                          <a:solidFill>
                            <a:schemeClr val="tx1"/>
                          </a:solidFill>
                          <a:latin typeface="Aptos" panose="020B0004020202020204" pitchFamily="34" charset="0"/>
                        </a:rPr>
                        <a:t>Ecoworld</a:t>
                      </a:r>
                      <a:endParaRPr lang="en-US" sz="1400">
                        <a:solidFill>
                          <a:schemeClr val="tx1"/>
                        </a:solidFill>
                        <a:latin typeface="Aptos" panose="020B0004020202020204" pitchFamily="34" charset="0"/>
                      </a:endParaRP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a:solidFill>
                            <a:schemeClr val="tx1"/>
                          </a:solidFill>
                          <a:latin typeface="Aptos" panose="020B0004020202020204" pitchFamily="34" charset="0"/>
                        </a:rPr>
                        <a:t>11</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692368"/>
                  </a:ext>
                </a:extLst>
              </a:tr>
              <a:tr h="235131">
                <a:tc>
                  <a:txBody>
                    <a:bodyPr/>
                    <a:lstStyle/>
                    <a:p>
                      <a:r>
                        <a:rPr lang="en-US" sz="1400">
                          <a:solidFill>
                            <a:schemeClr val="tx1"/>
                          </a:solidFill>
                          <a:latin typeface="Aptos" panose="020B0004020202020204" pitchFamily="34" charset="0"/>
                        </a:rPr>
                        <a:t>Tropicana</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a:solidFill>
                            <a:schemeClr val="tx1"/>
                          </a:solidFill>
                          <a:latin typeface="Aptos" panose="020B0004020202020204" pitchFamily="34" charset="0"/>
                        </a:rPr>
                        <a:t>11</a:t>
                      </a:r>
                    </a:p>
                  </a:txBody>
                  <a:tcPr marL="45720" marR="45720" marT="9144" marB="914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237805"/>
                  </a:ext>
                </a:extLst>
              </a:tr>
            </a:tbl>
          </a:graphicData>
        </a:graphic>
      </p:graphicFrame>
      <p:sp>
        <p:nvSpPr>
          <p:cNvPr id="30" name="TextBox 29">
            <a:extLst>
              <a:ext uri="{FF2B5EF4-FFF2-40B4-BE49-F238E27FC236}">
                <a16:creationId xmlns:a16="http://schemas.microsoft.com/office/drawing/2014/main" id="{5D7A3CA2-2EFE-8C57-99DC-FF8101AD1350}"/>
              </a:ext>
            </a:extLst>
          </p:cNvPr>
          <p:cNvSpPr txBox="1"/>
          <p:nvPr/>
        </p:nvSpPr>
        <p:spPr>
          <a:xfrm>
            <a:off x="8867775" y="2733675"/>
            <a:ext cx="2214734" cy="276999"/>
          </a:xfrm>
          <a:prstGeom prst="rect">
            <a:avLst/>
          </a:prstGeom>
          <a:solidFill>
            <a:schemeClr val="tx2">
              <a:lumMod val="90000"/>
              <a:lumOff val="10000"/>
            </a:schemeClr>
          </a:solidFill>
        </p:spPr>
        <p:txBody>
          <a:bodyPr wrap="square" rtlCol="0">
            <a:spAutoFit/>
          </a:bodyPr>
          <a:lstStyle/>
          <a:p>
            <a:pPr algn="ctr"/>
            <a:r>
              <a:rPr lang="en-US" sz="1200" b="1">
                <a:solidFill>
                  <a:schemeClr val="bg1"/>
                </a:solidFill>
                <a:latin typeface="Aptos" panose="020B0004020202020204" pitchFamily="34" charset="0"/>
              </a:rPr>
              <a:t>New client : Post 2024</a:t>
            </a:r>
          </a:p>
        </p:txBody>
      </p:sp>
      <p:cxnSp>
        <p:nvCxnSpPr>
          <p:cNvPr id="38" name="Straight Connector 37">
            <a:extLst>
              <a:ext uri="{FF2B5EF4-FFF2-40B4-BE49-F238E27FC236}">
                <a16:creationId xmlns:a16="http://schemas.microsoft.com/office/drawing/2014/main" id="{4D0499F6-4962-68BB-8A59-28A28896C5D4}"/>
              </a:ext>
            </a:extLst>
          </p:cNvPr>
          <p:cNvCxnSpPr/>
          <p:nvPr/>
        </p:nvCxnSpPr>
        <p:spPr>
          <a:xfrm>
            <a:off x="8543925" y="2838450"/>
            <a:ext cx="24765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97134C2D-9506-56E3-B43F-7FDA207D21F3}"/>
              </a:ext>
            </a:extLst>
          </p:cNvPr>
          <p:cNvCxnSpPr/>
          <p:nvPr/>
        </p:nvCxnSpPr>
        <p:spPr>
          <a:xfrm>
            <a:off x="11163300" y="2838450"/>
            <a:ext cx="24765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BDCCBDC6-279A-1734-7436-9263A56D3103}"/>
              </a:ext>
            </a:extLst>
          </p:cNvPr>
          <p:cNvCxnSpPr/>
          <p:nvPr/>
        </p:nvCxnSpPr>
        <p:spPr>
          <a:xfrm>
            <a:off x="8543925" y="2825750"/>
            <a:ext cx="0" cy="1722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1BEBF305-8841-5805-7B69-6175DC73A59C}"/>
              </a:ext>
            </a:extLst>
          </p:cNvPr>
          <p:cNvCxnSpPr/>
          <p:nvPr/>
        </p:nvCxnSpPr>
        <p:spPr>
          <a:xfrm>
            <a:off x="11404600" y="2832100"/>
            <a:ext cx="0" cy="1722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747BDB9E-8792-1021-B895-B0101C6703B9}"/>
              </a:ext>
            </a:extLst>
          </p:cNvPr>
          <p:cNvSpPr txBox="1"/>
          <p:nvPr/>
        </p:nvSpPr>
        <p:spPr>
          <a:xfrm>
            <a:off x="3348715" y="3543002"/>
            <a:ext cx="2893839" cy="430887"/>
          </a:xfrm>
          <a:prstGeom prst="rect">
            <a:avLst/>
          </a:prstGeom>
          <a:noFill/>
        </p:spPr>
        <p:txBody>
          <a:bodyPr wrap="square">
            <a:spAutoFit/>
          </a:bodyPr>
          <a:lstStyle/>
          <a:p>
            <a:pPr algn="r">
              <a:spcBef>
                <a:spcPts val="300"/>
              </a:spcBef>
              <a:spcAft>
                <a:spcPts val="300"/>
              </a:spcAft>
              <a:buSzPct val="100000"/>
            </a:pPr>
            <a:r>
              <a:rPr lang="en-US" sz="1050" i="1"/>
              <a:t>(Source : RHB analyst report : Steadily Building Stronger– 30 Oct 2025)</a:t>
            </a:r>
          </a:p>
        </p:txBody>
      </p:sp>
      <p:sp>
        <p:nvSpPr>
          <p:cNvPr id="2" name="Slide Number Placeholder 2">
            <a:extLst>
              <a:ext uri="{FF2B5EF4-FFF2-40B4-BE49-F238E27FC236}">
                <a16:creationId xmlns:a16="http://schemas.microsoft.com/office/drawing/2014/main" id="{5D019930-AE3D-40A1-0412-6D2A2F858F95}"/>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25</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3273656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E73FF-7F4D-4635-26B1-7B1F78A8A4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81FAC2-A1D1-B792-4592-E7141D97AF96}"/>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sp>
        <p:nvSpPr>
          <p:cNvPr id="3" name="TextBox 2">
            <a:extLst>
              <a:ext uri="{FF2B5EF4-FFF2-40B4-BE49-F238E27FC236}">
                <a16:creationId xmlns:a16="http://schemas.microsoft.com/office/drawing/2014/main" id="{91191A33-4BE6-FBDC-7358-ADEB38E72047}"/>
              </a:ext>
            </a:extLst>
          </p:cNvPr>
          <p:cNvSpPr txBox="1"/>
          <p:nvPr/>
        </p:nvSpPr>
        <p:spPr>
          <a:xfrm>
            <a:off x="371475" y="940429"/>
            <a:ext cx="4133850" cy="5170646"/>
          </a:xfrm>
          <a:prstGeom prst="rect">
            <a:avLst/>
          </a:prstGeom>
          <a:noFill/>
        </p:spPr>
        <p:txBody>
          <a:bodyPr wrap="square">
            <a:spAutoFit/>
          </a:bodyPr>
          <a:lstStyle/>
          <a:p>
            <a:pPr marL="342900" indent="-342900">
              <a:spcBef>
                <a:spcPts val="300"/>
              </a:spcBef>
              <a:spcAft>
                <a:spcPts val="300"/>
              </a:spcAft>
              <a:buFont typeface="+mj-lt"/>
              <a:buAutoNum type="arabicPeriod" startAt="5"/>
            </a:pPr>
            <a:r>
              <a:rPr lang="en-US" sz="1600" b="1"/>
              <a:t>Financial Performance &amp; Position</a:t>
            </a:r>
          </a:p>
          <a:p>
            <a:pPr marL="628650" indent="-285750" algn="just">
              <a:spcBef>
                <a:spcPts val="300"/>
              </a:spcBef>
              <a:spcAft>
                <a:spcPts val="300"/>
              </a:spcAft>
              <a:buSzPct val="60000"/>
              <a:buFont typeface="Wingdings" panose="05000000000000000000" pitchFamily="2" charset="2"/>
              <a:buChar char="q"/>
              <a:tabLst>
                <a:tab pos="628650" algn="l"/>
              </a:tabLst>
            </a:pPr>
            <a:r>
              <a:rPr lang="en-US" sz="1400" b="1"/>
              <a:t>Record Revenue &amp; Profits: </a:t>
            </a:r>
            <a:r>
              <a:rPr lang="en-US" sz="1400"/>
              <a:t>Based on the FY2024 result, majority of the revenue comes from </a:t>
            </a:r>
            <a:r>
              <a:rPr lang="en-US" sz="1400" b="1"/>
              <a:t>residential projects</a:t>
            </a:r>
            <a:r>
              <a:rPr lang="en-US" sz="1400"/>
              <a:t>, which account for 83.2% of the total, while non-residential projects contribute 9.4%. The remaining 7.4% is generated from other activities, including property-related services such as lift installation and maintenance.</a:t>
            </a:r>
            <a:endParaRPr lang="en-MY" sz="1400"/>
          </a:p>
          <a:p>
            <a:pPr marL="628650" indent="-285750" algn="just">
              <a:spcBef>
                <a:spcPts val="300"/>
              </a:spcBef>
              <a:spcAft>
                <a:spcPts val="300"/>
              </a:spcAft>
              <a:buSzPct val="60000"/>
              <a:buFont typeface="Wingdings" panose="05000000000000000000" pitchFamily="2" charset="2"/>
              <a:buChar char="q"/>
              <a:tabLst>
                <a:tab pos="628650" algn="l"/>
              </a:tabLst>
            </a:pPr>
            <a:r>
              <a:rPr lang="en-US" sz="1400"/>
              <a:t>The company reported an all-time high revenue of RM690.8 million in 2024. Profit before tax (PBT) also reached a record high of RM43.5 million since its listing.</a:t>
            </a:r>
            <a:endParaRPr lang="en-US" sz="1400" i="1">
              <a:solidFill>
                <a:srgbClr val="FF0000"/>
              </a:solidFill>
            </a:endParaRPr>
          </a:p>
          <a:p>
            <a:pPr marL="628650" indent="-285750" algn="just">
              <a:spcBef>
                <a:spcPts val="300"/>
              </a:spcBef>
              <a:spcAft>
                <a:spcPts val="300"/>
              </a:spcAft>
              <a:buSzPct val="60000"/>
              <a:buFont typeface="Wingdings" panose="05000000000000000000" pitchFamily="2" charset="2"/>
              <a:buChar char="q"/>
              <a:tabLst>
                <a:tab pos="628650" algn="l"/>
              </a:tabLst>
            </a:pPr>
            <a:r>
              <a:rPr lang="en-US" sz="1400" b="1"/>
              <a:t>Order Book Strength: </a:t>
            </a:r>
            <a:r>
              <a:rPr lang="en-US" sz="1400"/>
              <a:t>As of mid-September 2025, the unbilled order book stood at </a:t>
            </a:r>
            <a:r>
              <a:rPr lang="en-US" sz="1400" b="1"/>
              <a:t>RM1.8 billion, providing earnings visibility for the next 2 to 2.5 years </a:t>
            </a:r>
          </a:p>
          <a:p>
            <a:pPr marL="628650" indent="-285750" algn="just">
              <a:spcBef>
                <a:spcPts val="300"/>
              </a:spcBef>
              <a:spcAft>
                <a:spcPts val="300"/>
              </a:spcAft>
              <a:buSzPct val="60000"/>
              <a:buFont typeface="Wingdings" panose="05000000000000000000" pitchFamily="2" charset="2"/>
              <a:buChar char="q"/>
              <a:tabLst>
                <a:tab pos="628650" algn="l"/>
              </a:tabLst>
            </a:pPr>
            <a:r>
              <a:rPr lang="en-US" sz="1400" b="1"/>
              <a:t>Tender Pipeline: </a:t>
            </a:r>
            <a:r>
              <a:rPr lang="en-US" sz="1400"/>
              <a:t>The company has a robust outstanding tender book of </a:t>
            </a:r>
            <a:r>
              <a:rPr lang="en-US" sz="1400" b="1"/>
              <a:t>RM4.5 billion, with a historical success rate of 15% to 20%.</a:t>
            </a:r>
          </a:p>
        </p:txBody>
      </p:sp>
      <p:pic>
        <p:nvPicPr>
          <p:cNvPr id="11" name="Picture 10">
            <a:extLst>
              <a:ext uri="{FF2B5EF4-FFF2-40B4-BE49-F238E27FC236}">
                <a16:creationId xmlns:a16="http://schemas.microsoft.com/office/drawing/2014/main" id="{0CD6B7A7-1292-C9BE-57C3-FC3972DF1FED}"/>
              </a:ext>
            </a:extLst>
          </p:cNvPr>
          <p:cNvPicPr>
            <a:picLocks noChangeAspect="1"/>
          </p:cNvPicPr>
          <p:nvPr/>
        </p:nvPicPr>
        <p:blipFill>
          <a:blip r:embed="rId2"/>
          <a:stretch>
            <a:fillRect/>
          </a:stretch>
        </p:blipFill>
        <p:spPr>
          <a:xfrm>
            <a:off x="4886325" y="773454"/>
            <a:ext cx="6770499" cy="5544598"/>
          </a:xfrm>
          <a:prstGeom prst="rect">
            <a:avLst/>
          </a:prstGeom>
        </p:spPr>
      </p:pic>
      <p:sp>
        <p:nvSpPr>
          <p:cNvPr id="2" name="Slide Number Placeholder 2">
            <a:extLst>
              <a:ext uri="{FF2B5EF4-FFF2-40B4-BE49-F238E27FC236}">
                <a16:creationId xmlns:a16="http://schemas.microsoft.com/office/drawing/2014/main" id="{B6349B70-1740-8688-F256-24D333CA89BE}"/>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26</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392179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7BAE5E-C5FC-4F72-AF4C-121AF3082039}"/>
              </a:ext>
            </a:extLst>
          </p:cNvPr>
          <p:cNvSpPr txBox="1"/>
          <p:nvPr/>
        </p:nvSpPr>
        <p:spPr>
          <a:xfrm>
            <a:off x="5085020" y="1122193"/>
            <a:ext cx="2188420" cy="307777"/>
          </a:xfrm>
          <a:prstGeom prst="rect">
            <a:avLst/>
          </a:prstGeom>
          <a:noFill/>
        </p:spPr>
        <p:txBody>
          <a:bodyPr wrap="none" rtlCol="0">
            <a:spAutoFit/>
          </a:bodyPr>
          <a:lstStyle/>
          <a:p>
            <a:r>
              <a:rPr lang="en-US" sz="1400" b="1"/>
              <a:t>Quarterly Revenue &amp; PAT</a:t>
            </a:r>
            <a:endParaRPr lang="en-MY" sz="1400" b="1"/>
          </a:p>
        </p:txBody>
      </p:sp>
      <p:sp>
        <p:nvSpPr>
          <p:cNvPr id="7" name="TextBox 6">
            <a:extLst>
              <a:ext uri="{FF2B5EF4-FFF2-40B4-BE49-F238E27FC236}">
                <a16:creationId xmlns:a16="http://schemas.microsoft.com/office/drawing/2014/main" id="{C794CB04-1904-4421-F033-98BD67BC63B6}"/>
              </a:ext>
            </a:extLst>
          </p:cNvPr>
          <p:cNvSpPr txBox="1"/>
          <p:nvPr/>
        </p:nvSpPr>
        <p:spPr>
          <a:xfrm>
            <a:off x="3408370" y="4003511"/>
            <a:ext cx="2262927" cy="307777"/>
          </a:xfrm>
          <a:prstGeom prst="rect">
            <a:avLst/>
          </a:prstGeom>
          <a:noFill/>
        </p:spPr>
        <p:txBody>
          <a:bodyPr wrap="none" rtlCol="0">
            <a:spAutoFit/>
          </a:bodyPr>
          <a:lstStyle/>
          <a:p>
            <a:r>
              <a:rPr lang="en-US" sz="1400" b="1"/>
              <a:t>Total Equity &amp; Market Cap</a:t>
            </a:r>
            <a:endParaRPr lang="en-MY" sz="1400" b="1"/>
          </a:p>
        </p:txBody>
      </p:sp>
      <p:sp>
        <p:nvSpPr>
          <p:cNvPr id="8" name="TextBox 7">
            <a:extLst>
              <a:ext uri="{FF2B5EF4-FFF2-40B4-BE49-F238E27FC236}">
                <a16:creationId xmlns:a16="http://schemas.microsoft.com/office/drawing/2014/main" id="{6064069F-E4E6-AB9C-E8B1-1B4D2774F611}"/>
              </a:ext>
            </a:extLst>
          </p:cNvPr>
          <p:cNvSpPr txBox="1"/>
          <p:nvPr/>
        </p:nvSpPr>
        <p:spPr>
          <a:xfrm>
            <a:off x="9736072" y="3995519"/>
            <a:ext cx="1992148" cy="307777"/>
          </a:xfrm>
          <a:prstGeom prst="rect">
            <a:avLst/>
          </a:prstGeom>
          <a:noFill/>
        </p:spPr>
        <p:txBody>
          <a:bodyPr wrap="none" rtlCol="0">
            <a:spAutoFit/>
          </a:bodyPr>
          <a:lstStyle/>
          <a:p>
            <a:r>
              <a:rPr lang="en-US" sz="1400" b="1"/>
              <a:t>Annual Revenue &amp; PAT</a:t>
            </a:r>
            <a:endParaRPr lang="en-MY" sz="1400" b="1"/>
          </a:p>
        </p:txBody>
      </p:sp>
      <p:graphicFrame>
        <p:nvGraphicFramePr>
          <p:cNvPr id="10" name="Chart 9">
            <a:extLst>
              <a:ext uri="{FF2B5EF4-FFF2-40B4-BE49-F238E27FC236}">
                <a16:creationId xmlns:a16="http://schemas.microsoft.com/office/drawing/2014/main" id="{D17542BB-5E28-50FB-C2C6-F200539117BF}"/>
              </a:ext>
            </a:extLst>
          </p:cNvPr>
          <p:cNvGraphicFramePr>
            <a:graphicFrameLocks/>
          </p:cNvGraphicFramePr>
          <p:nvPr>
            <p:extLst>
              <p:ext uri="{D42A27DB-BD31-4B8C-83A1-F6EECF244321}">
                <p14:modId xmlns:p14="http://schemas.microsoft.com/office/powerpoint/2010/main" val="4125439905"/>
              </p:ext>
            </p:extLst>
          </p:nvPr>
        </p:nvGraphicFramePr>
        <p:xfrm>
          <a:off x="475143" y="1479351"/>
          <a:ext cx="11005947" cy="24317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DE71F569-8248-CBA0-9C05-77C56A96334A}"/>
              </a:ext>
            </a:extLst>
          </p:cNvPr>
          <p:cNvGraphicFramePr>
            <a:graphicFrameLocks/>
          </p:cNvGraphicFramePr>
          <p:nvPr>
            <p:extLst>
              <p:ext uri="{D42A27DB-BD31-4B8C-83A1-F6EECF244321}">
                <p14:modId xmlns:p14="http://schemas.microsoft.com/office/powerpoint/2010/main" val="162778570"/>
              </p:ext>
            </p:extLst>
          </p:nvPr>
        </p:nvGraphicFramePr>
        <p:xfrm>
          <a:off x="274320" y="4403674"/>
          <a:ext cx="5532120" cy="241652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3322FA09-2856-2666-5770-E485507DA6C6}"/>
              </a:ext>
            </a:extLst>
          </p:cNvPr>
          <p:cNvGraphicFramePr>
            <a:graphicFrameLocks/>
          </p:cNvGraphicFramePr>
          <p:nvPr>
            <p:extLst>
              <p:ext uri="{D42A27DB-BD31-4B8C-83A1-F6EECF244321}">
                <p14:modId xmlns:p14="http://schemas.microsoft.com/office/powerpoint/2010/main" val="1089363676"/>
              </p:ext>
            </p:extLst>
          </p:nvPr>
        </p:nvGraphicFramePr>
        <p:xfrm>
          <a:off x="6095999" y="4412830"/>
          <a:ext cx="5784575" cy="2482966"/>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DAD569B9-71AB-8C30-C881-A692DCCC5B77}"/>
              </a:ext>
            </a:extLst>
          </p:cNvPr>
          <p:cNvSpPr txBox="1"/>
          <p:nvPr/>
        </p:nvSpPr>
        <p:spPr>
          <a:xfrm>
            <a:off x="274320" y="783639"/>
            <a:ext cx="6094476" cy="338554"/>
          </a:xfrm>
          <a:prstGeom prst="rect">
            <a:avLst/>
          </a:prstGeom>
          <a:noFill/>
        </p:spPr>
        <p:txBody>
          <a:bodyPr wrap="square">
            <a:spAutoFit/>
          </a:bodyPr>
          <a:lstStyle/>
          <a:p>
            <a:pPr marL="342900" indent="-342900">
              <a:spcBef>
                <a:spcPts val="300"/>
              </a:spcBef>
              <a:spcAft>
                <a:spcPts val="300"/>
              </a:spcAft>
              <a:buFont typeface="+mj-lt"/>
              <a:buAutoNum type="arabicPeriod" startAt="5"/>
            </a:pPr>
            <a:r>
              <a:rPr lang="en-US" sz="1600" b="1"/>
              <a:t>Financial Performance &amp; Position</a:t>
            </a:r>
          </a:p>
        </p:txBody>
      </p:sp>
      <p:sp>
        <p:nvSpPr>
          <p:cNvPr id="5" name="TextBox 4">
            <a:extLst>
              <a:ext uri="{FF2B5EF4-FFF2-40B4-BE49-F238E27FC236}">
                <a16:creationId xmlns:a16="http://schemas.microsoft.com/office/drawing/2014/main" id="{5ADD0F06-3840-574D-581B-EA50F84568BB}"/>
              </a:ext>
            </a:extLst>
          </p:cNvPr>
          <p:cNvSpPr txBox="1"/>
          <p:nvPr/>
        </p:nvSpPr>
        <p:spPr>
          <a:xfrm>
            <a:off x="274320" y="1217741"/>
            <a:ext cx="603050" cy="261610"/>
          </a:xfrm>
          <a:prstGeom prst="rect">
            <a:avLst/>
          </a:prstGeom>
          <a:noFill/>
        </p:spPr>
        <p:txBody>
          <a:bodyPr wrap="none" rtlCol="0">
            <a:spAutoFit/>
          </a:bodyPr>
          <a:lstStyle/>
          <a:p>
            <a:r>
              <a:rPr lang="en-US" sz="1100" err="1"/>
              <a:t>RM’Mil</a:t>
            </a:r>
            <a:endParaRPr lang="en-MY" sz="1100"/>
          </a:p>
        </p:txBody>
      </p:sp>
      <p:sp>
        <p:nvSpPr>
          <p:cNvPr id="6" name="TextBox 5">
            <a:extLst>
              <a:ext uri="{FF2B5EF4-FFF2-40B4-BE49-F238E27FC236}">
                <a16:creationId xmlns:a16="http://schemas.microsoft.com/office/drawing/2014/main" id="{AACF6DCF-9D7C-3AA4-7961-EA4BB78E0CC3}"/>
              </a:ext>
            </a:extLst>
          </p:cNvPr>
          <p:cNvSpPr txBox="1"/>
          <p:nvPr/>
        </p:nvSpPr>
        <p:spPr>
          <a:xfrm>
            <a:off x="223683" y="4062958"/>
            <a:ext cx="603050" cy="261610"/>
          </a:xfrm>
          <a:prstGeom prst="rect">
            <a:avLst/>
          </a:prstGeom>
          <a:noFill/>
        </p:spPr>
        <p:txBody>
          <a:bodyPr wrap="none" rtlCol="0">
            <a:spAutoFit/>
          </a:bodyPr>
          <a:lstStyle/>
          <a:p>
            <a:r>
              <a:rPr lang="en-US" sz="1100" err="1"/>
              <a:t>RM’Mil</a:t>
            </a:r>
            <a:endParaRPr lang="en-MY" sz="1100"/>
          </a:p>
        </p:txBody>
      </p:sp>
      <p:sp>
        <p:nvSpPr>
          <p:cNvPr id="9" name="TextBox 8">
            <a:extLst>
              <a:ext uri="{FF2B5EF4-FFF2-40B4-BE49-F238E27FC236}">
                <a16:creationId xmlns:a16="http://schemas.microsoft.com/office/drawing/2014/main" id="{0A8121C5-6EB5-0EC6-4E2B-16F69C255582}"/>
              </a:ext>
            </a:extLst>
          </p:cNvPr>
          <p:cNvSpPr txBox="1"/>
          <p:nvPr/>
        </p:nvSpPr>
        <p:spPr>
          <a:xfrm>
            <a:off x="5929864" y="4193763"/>
            <a:ext cx="603050" cy="261610"/>
          </a:xfrm>
          <a:prstGeom prst="rect">
            <a:avLst/>
          </a:prstGeom>
          <a:noFill/>
        </p:spPr>
        <p:txBody>
          <a:bodyPr wrap="none" rtlCol="0">
            <a:spAutoFit/>
          </a:bodyPr>
          <a:lstStyle/>
          <a:p>
            <a:r>
              <a:rPr lang="en-US" sz="1100" err="1"/>
              <a:t>RM’Mil</a:t>
            </a:r>
            <a:endParaRPr lang="en-MY" sz="1100"/>
          </a:p>
        </p:txBody>
      </p:sp>
      <p:sp>
        <p:nvSpPr>
          <p:cNvPr id="11" name="TextBox 10">
            <a:extLst>
              <a:ext uri="{FF2B5EF4-FFF2-40B4-BE49-F238E27FC236}">
                <a16:creationId xmlns:a16="http://schemas.microsoft.com/office/drawing/2014/main" id="{61D2C39E-1A58-D505-D999-485895243509}"/>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sp>
        <p:nvSpPr>
          <p:cNvPr id="14" name="Slide Number Placeholder 2">
            <a:extLst>
              <a:ext uri="{FF2B5EF4-FFF2-40B4-BE49-F238E27FC236}">
                <a16:creationId xmlns:a16="http://schemas.microsoft.com/office/drawing/2014/main" id="{82CA70B9-F11E-B7E7-EACE-4B8A135760E7}"/>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27</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3899389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33BE7-214D-C13E-0B8F-CD4029D77E4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A55646-7EFE-64BE-E968-8D8DEA47DC93}"/>
              </a:ext>
            </a:extLst>
          </p:cNvPr>
          <p:cNvSpPr txBox="1"/>
          <p:nvPr/>
        </p:nvSpPr>
        <p:spPr>
          <a:xfrm>
            <a:off x="638050" y="1083974"/>
            <a:ext cx="11003485" cy="954107"/>
          </a:xfrm>
          <a:prstGeom prst="rect">
            <a:avLst/>
          </a:prstGeom>
          <a:noFill/>
        </p:spPr>
        <p:txBody>
          <a:bodyPr wrap="square" rtlCol="0">
            <a:spAutoFit/>
          </a:bodyPr>
          <a:lstStyle/>
          <a:p>
            <a:pPr marL="285750" indent="-285750" algn="just">
              <a:buSzPct val="60000"/>
              <a:buFont typeface="Wingdings" panose="05000000000000000000" pitchFamily="2" charset="2"/>
              <a:buChar char="q"/>
            </a:pPr>
            <a:r>
              <a:rPr lang="en-US" sz="1400"/>
              <a:t>The majority of the revenue comes from </a:t>
            </a:r>
            <a:r>
              <a:rPr lang="en-US" sz="1400" b="1"/>
              <a:t>high rise projects</a:t>
            </a:r>
            <a:r>
              <a:rPr lang="en-US" sz="1400"/>
              <a:t>, which account for 74% of the total for FY2024, while low rise projects contribute 19%. The remaining 7.4% is generated from other activities, including property-related services such as lift installation and maintenance. </a:t>
            </a:r>
            <a:r>
              <a:rPr lang="en-US" sz="1400" b="1"/>
              <a:t>Revenue is progressively skewing toward high-rise developments, as the bulk of current and upcoming work is concentrated in the Klang Valley.</a:t>
            </a:r>
            <a:endParaRPr lang="en-MY" sz="1400" b="1"/>
          </a:p>
        </p:txBody>
      </p:sp>
      <p:graphicFrame>
        <p:nvGraphicFramePr>
          <p:cNvPr id="9" name="Chart 8">
            <a:extLst>
              <a:ext uri="{FF2B5EF4-FFF2-40B4-BE49-F238E27FC236}">
                <a16:creationId xmlns:a16="http://schemas.microsoft.com/office/drawing/2014/main" id="{CC4AB8A2-3D29-F7BC-1453-A790EC286970}"/>
              </a:ext>
            </a:extLst>
          </p:cNvPr>
          <p:cNvGraphicFramePr>
            <a:graphicFrameLocks/>
          </p:cNvGraphicFramePr>
          <p:nvPr>
            <p:extLst>
              <p:ext uri="{D42A27DB-BD31-4B8C-83A1-F6EECF244321}">
                <p14:modId xmlns:p14="http://schemas.microsoft.com/office/powerpoint/2010/main" val="1517127879"/>
              </p:ext>
            </p:extLst>
          </p:nvPr>
        </p:nvGraphicFramePr>
        <p:xfrm>
          <a:off x="571947" y="2429436"/>
          <a:ext cx="5241778" cy="3644925"/>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588B375-5CC4-52A5-1151-A361E382690A}"/>
              </a:ext>
            </a:extLst>
          </p:cNvPr>
          <p:cNvSpPr txBox="1"/>
          <p:nvPr/>
        </p:nvSpPr>
        <p:spPr>
          <a:xfrm>
            <a:off x="6139792" y="4534013"/>
            <a:ext cx="5501743" cy="246221"/>
          </a:xfrm>
          <a:prstGeom prst="rect">
            <a:avLst/>
          </a:prstGeom>
          <a:noFill/>
        </p:spPr>
        <p:txBody>
          <a:bodyPr wrap="square">
            <a:spAutoFit/>
          </a:bodyPr>
          <a:lstStyle/>
          <a:p>
            <a:pPr algn="l" fontAlgn="b">
              <a:buNone/>
            </a:pPr>
            <a:r>
              <a:rPr lang="en-US" sz="1000" b="0" i="0" u="none" strike="noStrike">
                <a:solidFill>
                  <a:srgbClr val="000000"/>
                </a:solidFill>
                <a:effectLst/>
                <a:latin typeface="Aptos" panose="020B0004020202020204" pitchFamily="34" charset="0"/>
              </a:rPr>
              <a:t>*Others include property development, lift installation, and maintenance services </a:t>
            </a:r>
          </a:p>
        </p:txBody>
      </p:sp>
      <p:sp>
        <p:nvSpPr>
          <p:cNvPr id="3" name="TextBox 2">
            <a:extLst>
              <a:ext uri="{FF2B5EF4-FFF2-40B4-BE49-F238E27FC236}">
                <a16:creationId xmlns:a16="http://schemas.microsoft.com/office/drawing/2014/main" id="{3CD37AB3-AE83-49A8-B5C0-622D604C5837}"/>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graphicFrame>
        <p:nvGraphicFramePr>
          <p:cNvPr id="7" name="Table 6">
            <a:extLst>
              <a:ext uri="{FF2B5EF4-FFF2-40B4-BE49-F238E27FC236}">
                <a16:creationId xmlns:a16="http://schemas.microsoft.com/office/drawing/2014/main" id="{A82B5824-5AC9-86C6-EF40-B9153551B45A}"/>
              </a:ext>
            </a:extLst>
          </p:cNvPr>
          <p:cNvGraphicFramePr>
            <a:graphicFrameLocks noGrp="1"/>
          </p:cNvGraphicFramePr>
          <p:nvPr>
            <p:extLst>
              <p:ext uri="{D42A27DB-BD31-4B8C-83A1-F6EECF244321}">
                <p14:modId xmlns:p14="http://schemas.microsoft.com/office/powerpoint/2010/main" val="1894977582"/>
              </p:ext>
            </p:extLst>
          </p:nvPr>
        </p:nvGraphicFramePr>
        <p:xfrm>
          <a:off x="6183585" y="2038081"/>
          <a:ext cx="5457950" cy="2414011"/>
        </p:xfrm>
        <a:graphic>
          <a:graphicData uri="http://schemas.openxmlformats.org/drawingml/2006/table">
            <a:tbl>
              <a:tblPr/>
              <a:tblGrid>
                <a:gridCol w="1122195">
                  <a:extLst>
                    <a:ext uri="{9D8B030D-6E8A-4147-A177-3AD203B41FA5}">
                      <a16:colId xmlns:a16="http://schemas.microsoft.com/office/drawing/2014/main" val="1259664824"/>
                    </a:ext>
                  </a:extLst>
                </a:gridCol>
                <a:gridCol w="867151">
                  <a:extLst>
                    <a:ext uri="{9D8B030D-6E8A-4147-A177-3AD203B41FA5}">
                      <a16:colId xmlns:a16="http://schemas.microsoft.com/office/drawing/2014/main" val="544373670"/>
                    </a:ext>
                  </a:extLst>
                </a:gridCol>
                <a:gridCol w="867151">
                  <a:extLst>
                    <a:ext uri="{9D8B030D-6E8A-4147-A177-3AD203B41FA5}">
                      <a16:colId xmlns:a16="http://schemas.microsoft.com/office/drawing/2014/main" val="869240466"/>
                    </a:ext>
                  </a:extLst>
                </a:gridCol>
                <a:gridCol w="867151">
                  <a:extLst>
                    <a:ext uri="{9D8B030D-6E8A-4147-A177-3AD203B41FA5}">
                      <a16:colId xmlns:a16="http://schemas.microsoft.com/office/drawing/2014/main" val="2117351570"/>
                    </a:ext>
                  </a:extLst>
                </a:gridCol>
                <a:gridCol w="867151">
                  <a:extLst>
                    <a:ext uri="{9D8B030D-6E8A-4147-A177-3AD203B41FA5}">
                      <a16:colId xmlns:a16="http://schemas.microsoft.com/office/drawing/2014/main" val="2574438170"/>
                    </a:ext>
                  </a:extLst>
                </a:gridCol>
                <a:gridCol w="867151">
                  <a:extLst>
                    <a:ext uri="{9D8B030D-6E8A-4147-A177-3AD203B41FA5}">
                      <a16:colId xmlns:a16="http://schemas.microsoft.com/office/drawing/2014/main" val="3976898832"/>
                    </a:ext>
                  </a:extLst>
                </a:gridCol>
              </a:tblGrid>
              <a:tr h="412511">
                <a:tc gridSpan="6">
                  <a:txBody>
                    <a:bodyPr/>
                    <a:lstStyle/>
                    <a:p>
                      <a:pPr algn="l" fontAlgn="b">
                        <a:buNone/>
                      </a:pPr>
                      <a:r>
                        <a:rPr lang="en-MY" sz="1100" b="1" i="0" u="none" strike="noStrike">
                          <a:solidFill>
                            <a:srgbClr val="000000"/>
                          </a:solidFill>
                          <a:effectLst/>
                          <a:latin typeface="Aptos" panose="020B0004020202020204" pitchFamily="34" charset="0"/>
                        </a:rPr>
                        <a:t>Revenue Breakdown by Construction Segment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endParaRPr lang="en-MY"/>
                    </a:p>
                  </a:txBody>
                  <a:tcPr/>
                </a:tc>
                <a:tc hMerge="1">
                  <a:txBody>
                    <a:bodyPr/>
                    <a:lstStyle/>
                    <a:p>
                      <a:endParaRPr lang="en-MY"/>
                    </a:p>
                  </a:txBody>
                  <a:tcPr/>
                </a:tc>
                <a:tc hMerge="1">
                  <a:txBody>
                    <a:bodyPr/>
                    <a:lstStyle/>
                    <a:p>
                      <a:pPr algn="l" fontAlgn="b">
                        <a:buNone/>
                      </a:pPr>
                      <a:endParaRPr lang="en-MY" sz="1000" b="0" i="0" u="none" strike="noStrike">
                        <a:solidFill>
                          <a:srgbClr val="000000"/>
                        </a:solidFill>
                        <a:effectLst/>
                        <a:latin typeface="Aptos" panose="020B000402020202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pPr algn="l" fontAlgn="b">
                        <a:buNone/>
                      </a:pPr>
                      <a:endParaRPr lang="en-MY" sz="1000" b="0" i="0" u="none" strike="noStrike">
                        <a:solidFill>
                          <a:srgbClr val="000000"/>
                        </a:solidFill>
                        <a:effectLst/>
                        <a:latin typeface="Aptos" panose="020B000402020202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hMerge="1">
                  <a:txBody>
                    <a:bodyPr/>
                    <a:lstStyle/>
                    <a:p>
                      <a:pPr algn="l" fontAlgn="b">
                        <a:buNone/>
                      </a:pPr>
                      <a:endParaRPr lang="en-MY" sz="1000" b="0" i="0" u="none" strike="noStrike">
                        <a:solidFill>
                          <a:srgbClr val="000000"/>
                        </a:solidFill>
                        <a:effectLst/>
                        <a:latin typeface="Aptos" panose="020B000402020202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3169422"/>
                  </a:ext>
                </a:extLst>
              </a:tr>
              <a:tr h="4003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MY" sz="1100" b="1" i="0" u="none" strike="noStrike">
                          <a:solidFill>
                            <a:srgbClr val="000000"/>
                          </a:solidFill>
                          <a:effectLst/>
                          <a:latin typeface="Aptos" panose="020B0004020202020204" pitchFamily="34" charset="0"/>
                        </a:rPr>
                        <a:t> </a:t>
                      </a:r>
                      <a:r>
                        <a:rPr lang="en-MY" sz="1100" b="1" i="0" u="none" strike="noStrike" err="1">
                          <a:solidFill>
                            <a:schemeClr val="bg1"/>
                          </a:solidFill>
                          <a:effectLst/>
                          <a:latin typeface="+mn-lt"/>
                        </a:rPr>
                        <a:t>RM’Mil</a:t>
                      </a:r>
                      <a:endParaRPr lang="en-MY" sz="1100" b="1" i="0" u="none" strike="noStrike">
                        <a:solidFill>
                          <a:schemeClr val="bg1"/>
                        </a:solidFill>
                        <a:effectLst/>
                        <a:latin typeface="+mn-lt"/>
                      </a:endParaRP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b">
                        <a:buNone/>
                      </a:pPr>
                      <a:r>
                        <a:rPr lang="en-MY" sz="1100" b="1" i="0" u="none" strike="noStrike">
                          <a:solidFill>
                            <a:schemeClr val="bg1"/>
                          </a:solidFill>
                          <a:effectLst/>
                          <a:latin typeface="Aptos" panose="020B0004020202020204" pitchFamily="34" charset="0"/>
                        </a:rPr>
                        <a:t>FY2020</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b">
                        <a:buNone/>
                      </a:pPr>
                      <a:r>
                        <a:rPr lang="en-MY" sz="1100" b="1" i="0" u="none" strike="noStrike">
                          <a:solidFill>
                            <a:schemeClr val="bg1"/>
                          </a:solidFill>
                          <a:effectLst/>
                          <a:latin typeface="Aptos" panose="020B0004020202020204" pitchFamily="34" charset="0"/>
                        </a:rPr>
                        <a:t>FY2021</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b">
                        <a:buNone/>
                      </a:pPr>
                      <a:r>
                        <a:rPr lang="en-MY" sz="1100" b="1" i="0" u="none" strike="noStrike">
                          <a:solidFill>
                            <a:schemeClr val="bg1"/>
                          </a:solidFill>
                          <a:effectLst/>
                          <a:latin typeface="Aptos" panose="020B0004020202020204" pitchFamily="34" charset="0"/>
                        </a:rPr>
                        <a:t>FY2022</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rtl="0" fontAlgn="b">
                        <a:buNone/>
                      </a:pPr>
                      <a:r>
                        <a:rPr lang="en-MY" sz="1100" b="1" i="0" u="none" strike="noStrike">
                          <a:solidFill>
                            <a:schemeClr val="bg1"/>
                          </a:solidFill>
                          <a:effectLst/>
                          <a:latin typeface="Aptos" panose="020B0004020202020204" pitchFamily="34" charset="0"/>
                        </a:rPr>
                        <a:t>FY2023</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b">
                        <a:buNone/>
                      </a:pPr>
                      <a:r>
                        <a:rPr lang="en-MY" sz="1100" b="1" i="0" u="none" strike="noStrike">
                          <a:solidFill>
                            <a:schemeClr val="bg1"/>
                          </a:solidFill>
                          <a:effectLst/>
                          <a:latin typeface="Aptos" panose="020B0004020202020204" pitchFamily="34" charset="0"/>
                        </a:rPr>
                        <a:t>FY2024</a:t>
                      </a:r>
                      <a:endParaRPr lang="en-MY" sz="1100" b="0" i="0" u="none" strike="noStrike">
                        <a:solidFill>
                          <a:schemeClr val="bg1"/>
                        </a:solidFill>
                        <a:effectLst/>
                        <a:latin typeface="Aptos" panose="020B0004020202020204" pitchFamily="34" charset="0"/>
                      </a:endParaRP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789462857"/>
                  </a:ext>
                </a:extLst>
              </a:tr>
              <a:tr h="400300">
                <a:tc>
                  <a:txBody>
                    <a:bodyPr/>
                    <a:lstStyle/>
                    <a:p>
                      <a:pPr algn="l" fontAlgn="ctr">
                        <a:buNone/>
                      </a:pPr>
                      <a:r>
                        <a:rPr lang="en-MY" sz="1100" b="0" i="0" u="none" strike="noStrike">
                          <a:solidFill>
                            <a:srgbClr val="000000"/>
                          </a:solidFill>
                          <a:effectLst/>
                          <a:latin typeface="Aptos" panose="020B0004020202020204" pitchFamily="34" charset="0"/>
                        </a:rPr>
                        <a:t>High-Rise</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170.2</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221.8</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323.3</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507.9</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510.4</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7196879"/>
                  </a:ext>
                </a:extLst>
              </a:tr>
              <a:tr h="400300">
                <a:tc>
                  <a:txBody>
                    <a:bodyPr/>
                    <a:lstStyle/>
                    <a:p>
                      <a:pPr algn="l" fontAlgn="ctr">
                        <a:buNone/>
                      </a:pPr>
                      <a:r>
                        <a:rPr lang="en-MY" sz="1100" b="0" i="0" u="none" strike="noStrike">
                          <a:solidFill>
                            <a:srgbClr val="000000"/>
                          </a:solidFill>
                          <a:effectLst/>
                          <a:latin typeface="Aptos" panose="020B0004020202020204" pitchFamily="34" charset="0"/>
                        </a:rPr>
                        <a:t>Low-Rise</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110.1</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114.2</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142</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133</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129.4</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4253022"/>
                  </a:ext>
                </a:extLst>
              </a:tr>
              <a:tr h="400300">
                <a:tc>
                  <a:txBody>
                    <a:bodyPr/>
                    <a:lstStyle/>
                    <a:p>
                      <a:pPr algn="l" fontAlgn="ctr">
                        <a:buNone/>
                      </a:pPr>
                      <a:r>
                        <a:rPr lang="en-MY" sz="1100" b="0" i="0" u="none" strike="noStrike">
                          <a:solidFill>
                            <a:srgbClr val="000000"/>
                          </a:solidFill>
                          <a:effectLst/>
                          <a:latin typeface="Aptos" panose="020B0004020202020204" pitchFamily="34" charset="0"/>
                        </a:rPr>
                        <a:t>Others*</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1</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9.2</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Aptos" panose="020B0004020202020204" pitchFamily="34" charset="0"/>
                        </a:rPr>
                        <a:t>51</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2553013"/>
                  </a:ext>
                </a:extLst>
              </a:tr>
              <a:tr h="400300">
                <a:tc>
                  <a:txBody>
                    <a:bodyPr/>
                    <a:lstStyle/>
                    <a:p>
                      <a:pPr algn="l" fontAlgn="ctr">
                        <a:buNone/>
                      </a:pPr>
                      <a:r>
                        <a:rPr lang="en-MY" sz="1100" b="1" i="0" u="none" strike="noStrike">
                          <a:solidFill>
                            <a:srgbClr val="000000"/>
                          </a:solidFill>
                          <a:effectLst/>
                          <a:latin typeface="Aptos" panose="020B0004020202020204" pitchFamily="34" charset="0"/>
                        </a:rPr>
                        <a:t>Total</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MY" sz="1100" b="1" i="0" u="none" strike="noStrike">
                          <a:solidFill>
                            <a:srgbClr val="000000"/>
                          </a:solidFill>
                          <a:effectLst/>
                          <a:latin typeface="Aptos" panose="020B0004020202020204" pitchFamily="34" charset="0"/>
                        </a:rPr>
                        <a:t>280.3</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MY" sz="1100" b="1" i="0" u="none" strike="noStrike">
                          <a:solidFill>
                            <a:srgbClr val="000000"/>
                          </a:solidFill>
                          <a:effectLst/>
                          <a:latin typeface="Aptos" panose="020B0004020202020204" pitchFamily="34" charset="0"/>
                        </a:rPr>
                        <a:t>336.0</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MY" sz="1100" b="1" i="0" u="none" strike="noStrike">
                          <a:solidFill>
                            <a:srgbClr val="000000"/>
                          </a:solidFill>
                          <a:effectLst/>
                          <a:latin typeface="Aptos" panose="020B0004020202020204" pitchFamily="34" charset="0"/>
                        </a:rPr>
                        <a:t>466.3</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MY" sz="1100" b="1" i="0" u="none" strike="noStrike">
                          <a:solidFill>
                            <a:srgbClr val="000000"/>
                          </a:solidFill>
                          <a:effectLst/>
                          <a:latin typeface="Aptos" panose="020B0004020202020204" pitchFamily="34" charset="0"/>
                        </a:rPr>
                        <a:t>650.1</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MY" sz="1100" b="1" i="0" u="none" strike="noStrike">
                          <a:solidFill>
                            <a:srgbClr val="000000"/>
                          </a:solidFill>
                          <a:effectLst/>
                          <a:latin typeface="Aptos" panose="020B0004020202020204" pitchFamily="34" charset="0"/>
                        </a:rPr>
                        <a:t>690.8</a:t>
                      </a:r>
                    </a:p>
                  </a:txBody>
                  <a:tcPr marL="72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0477624"/>
                  </a:ext>
                </a:extLst>
              </a:tr>
            </a:tbl>
          </a:graphicData>
        </a:graphic>
      </p:graphicFrame>
      <p:sp>
        <p:nvSpPr>
          <p:cNvPr id="8" name="Slide Number Placeholder 2">
            <a:extLst>
              <a:ext uri="{FF2B5EF4-FFF2-40B4-BE49-F238E27FC236}">
                <a16:creationId xmlns:a16="http://schemas.microsoft.com/office/drawing/2014/main" id="{B60DE8D5-6F94-7DBB-EAF7-B9AC34B46618}"/>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28</a:t>
            </a:fld>
            <a:endParaRPr lang="en-US" sz="1200">
              <a:solidFill>
                <a:schemeClr val="tx2">
                  <a:lumMod val="95000"/>
                  <a:lumOff val="5000"/>
                </a:schemeClr>
              </a:solidFill>
              <a:latin typeface="Aptos" panose="020B0004020202020204" pitchFamily="34" charset="0"/>
            </a:endParaRPr>
          </a:p>
        </p:txBody>
      </p:sp>
      <p:sp>
        <p:nvSpPr>
          <p:cNvPr id="10" name="TextBox 9">
            <a:extLst>
              <a:ext uri="{FF2B5EF4-FFF2-40B4-BE49-F238E27FC236}">
                <a16:creationId xmlns:a16="http://schemas.microsoft.com/office/drawing/2014/main" id="{894D862C-7ADC-9E39-A7BD-7D8E1741F3A0}"/>
              </a:ext>
            </a:extLst>
          </p:cNvPr>
          <p:cNvSpPr txBox="1"/>
          <p:nvPr/>
        </p:nvSpPr>
        <p:spPr>
          <a:xfrm>
            <a:off x="274320" y="783639"/>
            <a:ext cx="6094476" cy="338554"/>
          </a:xfrm>
          <a:prstGeom prst="rect">
            <a:avLst/>
          </a:prstGeom>
          <a:noFill/>
        </p:spPr>
        <p:txBody>
          <a:bodyPr wrap="square">
            <a:spAutoFit/>
          </a:bodyPr>
          <a:lstStyle/>
          <a:p>
            <a:pPr marL="342900" indent="-342900">
              <a:spcBef>
                <a:spcPts val="300"/>
              </a:spcBef>
              <a:spcAft>
                <a:spcPts val="300"/>
              </a:spcAft>
              <a:buFont typeface="+mj-lt"/>
              <a:buAutoNum type="arabicPeriod" startAt="5"/>
            </a:pPr>
            <a:r>
              <a:rPr lang="en-US" sz="1600" b="1"/>
              <a:t>Financial Performance &amp; Position</a:t>
            </a:r>
          </a:p>
        </p:txBody>
      </p:sp>
      <p:graphicFrame>
        <p:nvGraphicFramePr>
          <p:cNvPr id="11" name="Table 10">
            <a:extLst>
              <a:ext uri="{FF2B5EF4-FFF2-40B4-BE49-F238E27FC236}">
                <a16:creationId xmlns:a16="http://schemas.microsoft.com/office/drawing/2014/main" id="{60B9A2AA-FA53-69C5-D7EE-1CC60DAAFEEE}"/>
              </a:ext>
            </a:extLst>
          </p:cNvPr>
          <p:cNvGraphicFramePr>
            <a:graphicFrameLocks noGrp="1"/>
          </p:cNvGraphicFramePr>
          <p:nvPr>
            <p:extLst>
              <p:ext uri="{D42A27DB-BD31-4B8C-83A1-F6EECF244321}">
                <p14:modId xmlns:p14="http://schemas.microsoft.com/office/powerpoint/2010/main" val="2174309796"/>
              </p:ext>
            </p:extLst>
          </p:nvPr>
        </p:nvGraphicFramePr>
        <p:xfrm>
          <a:off x="6183589" y="4908353"/>
          <a:ext cx="5457946" cy="701872"/>
        </p:xfrm>
        <a:graphic>
          <a:graphicData uri="http://schemas.openxmlformats.org/drawingml/2006/table">
            <a:tbl>
              <a:tblPr>
                <a:tableStyleId>{5C22544A-7EE6-4342-B048-85BDC9FD1C3A}</a:tableStyleId>
              </a:tblPr>
              <a:tblGrid>
                <a:gridCol w="1177336">
                  <a:extLst>
                    <a:ext uri="{9D8B030D-6E8A-4147-A177-3AD203B41FA5}">
                      <a16:colId xmlns:a16="http://schemas.microsoft.com/office/drawing/2014/main" val="780323652"/>
                    </a:ext>
                  </a:extLst>
                </a:gridCol>
                <a:gridCol w="856122">
                  <a:extLst>
                    <a:ext uri="{9D8B030D-6E8A-4147-A177-3AD203B41FA5}">
                      <a16:colId xmlns:a16="http://schemas.microsoft.com/office/drawing/2014/main" val="3180659066"/>
                    </a:ext>
                  </a:extLst>
                </a:gridCol>
                <a:gridCol w="856122">
                  <a:extLst>
                    <a:ext uri="{9D8B030D-6E8A-4147-A177-3AD203B41FA5}">
                      <a16:colId xmlns:a16="http://schemas.microsoft.com/office/drawing/2014/main" val="1782785921"/>
                    </a:ext>
                  </a:extLst>
                </a:gridCol>
                <a:gridCol w="856122">
                  <a:extLst>
                    <a:ext uri="{9D8B030D-6E8A-4147-A177-3AD203B41FA5}">
                      <a16:colId xmlns:a16="http://schemas.microsoft.com/office/drawing/2014/main" val="1709340076"/>
                    </a:ext>
                  </a:extLst>
                </a:gridCol>
                <a:gridCol w="856122">
                  <a:extLst>
                    <a:ext uri="{9D8B030D-6E8A-4147-A177-3AD203B41FA5}">
                      <a16:colId xmlns:a16="http://schemas.microsoft.com/office/drawing/2014/main" val="2808556164"/>
                    </a:ext>
                  </a:extLst>
                </a:gridCol>
                <a:gridCol w="856122">
                  <a:extLst>
                    <a:ext uri="{9D8B030D-6E8A-4147-A177-3AD203B41FA5}">
                      <a16:colId xmlns:a16="http://schemas.microsoft.com/office/drawing/2014/main" val="4029133645"/>
                    </a:ext>
                  </a:extLst>
                </a:gridCol>
              </a:tblGrid>
              <a:tr h="346311">
                <a:tc>
                  <a:txBody>
                    <a:bodyPr/>
                    <a:lstStyle/>
                    <a:p>
                      <a:pPr algn="ctr" fontAlgn="b">
                        <a:buNone/>
                      </a:pPr>
                      <a:r>
                        <a:rPr lang="en-MY" sz="1100" b="1" i="0" u="none" strike="noStrike" err="1">
                          <a:solidFill>
                            <a:schemeClr val="bg1"/>
                          </a:solidFill>
                          <a:effectLst/>
                          <a:latin typeface="+mn-lt"/>
                        </a:rPr>
                        <a:t>RM’Mil</a:t>
                      </a:r>
                      <a:endParaRPr lang="en-MY" sz="1100" b="1" i="0" u="none" strike="noStrike">
                        <a:solidFill>
                          <a:schemeClr val="bg1"/>
                        </a:solidFill>
                        <a:effectLst/>
                        <a:latin typeface="+mn-lt"/>
                      </a:endParaRPr>
                    </a:p>
                  </a:txBody>
                  <a:tcPr marL="6350" marR="6350" marT="6350" marB="0" anchor="ctr">
                    <a:solidFill>
                      <a:srgbClr val="002060"/>
                    </a:solidFill>
                  </a:tcPr>
                </a:tc>
                <a:tc>
                  <a:txBody>
                    <a:bodyPr/>
                    <a:lstStyle/>
                    <a:p>
                      <a:pPr algn="ctr" rtl="0" fontAlgn="b">
                        <a:buNone/>
                      </a:pPr>
                      <a:r>
                        <a:rPr lang="en-MY" sz="1100" b="1" u="none" strike="noStrike">
                          <a:solidFill>
                            <a:schemeClr val="bg1"/>
                          </a:solidFill>
                          <a:effectLst/>
                          <a:latin typeface="+mn-lt"/>
                        </a:rPr>
                        <a:t>FY2020</a:t>
                      </a:r>
                      <a:endParaRPr lang="en-MY" sz="1100" b="1" i="0" u="none" strike="noStrike">
                        <a:solidFill>
                          <a:schemeClr val="bg1"/>
                        </a:solidFill>
                        <a:effectLst/>
                        <a:latin typeface="+mn-lt"/>
                      </a:endParaRPr>
                    </a:p>
                  </a:txBody>
                  <a:tcPr marL="6350" marR="6350" marT="6350" marB="0" anchor="ctr">
                    <a:solidFill>
                      <a:srgbClr val="002060"/>
                    </a:solidFill>
                  </a:tcPr>
                </a:tc>
                <a:tc>
                  <a:txBody>
                    <a:bodyPr/>
                    <a:lstStyle/>
                    <a:p>
                      <a:pPr algn="ctr" rtl="0" fontAlgn="b">
                        <a:buNone/>
                      </a:pPr>
                      <a:r>
                        <a:rPr lang="en-MY" sz="1100" b="1" u="none" strike="noStrike">
                          <a:solidFill>
                            <a:schemeClr val="bg1"/>
                          </a:solidFill>
                          <a:effectLst/>
                          <a:latin typeface="+mn-lt"/>
                        </a:rPr>
                        <a:t>FY2021</a:t>
                      </a:r>
                      <a:endParaRPr lang="en-MY" sz="1100" b="1" i="0" u="none" strike="noStrike">
                        <a:solidFill>
                          <a:schemeClr val="bg1"/>
                        </a:solidFill>
                        <a:effectLst/>
                        <a:latin typeface="+mn-lt"/>
                      </a:endParaRPr>
                    </a:p>
                  </a:txBody>
                  <a:tcPr marL="6350" marR="6350" marT="6350" marB="0" anchor="ctr">
                    <a:solidFill>
                      <a:srgbClr val="002060"/>
                    </a:solidFill>
                  </a:tcPr>
                </a:tc>
                <a:tc>
                  <a:txBody>
                    <a:bodyPr/>
                    <a:lstStyle/>
                    <a:p>
                      <a:pPr algn="ctr" rtl="0" fontAlgn="b">
                        <a:buNone/>
                      </a:pPr>
                      <a:r>
                        <a:rPr lang="en-MY" sz="1100" b="1" u="none" strike="noStrike">
                          <a:solidFill>
                            <a:schemeClr val="bg1"/>
                          </a:solidFill>
                          <a:effectLst/>
                          <a:latin typeface="+mn-lt"/>
                        </a:rPr>
                        <a:t>FY2022</a:t>
                      </a:r>
                      <a:endParaRPr lang="en-MY" sz="1100" b="1" i="0" u="none" strike="noStrike">
                        <a:solidFill>
                          <a:schemeClr val="bg1"/>
                        </a:solidFill>
                        <a:effectLst/>
                        <a:latin typeface="+mn-lt"/>
                      </a:endParaRPr>
                    </a:p>
                  </a:txBody>
                  <a:tcPr marL="6350" marR="6350" marT="6350" marB="0" anchor="ctr">
                    <a:solidFill>
                      <a:srgbClr val="002060"/>
                    </a:solidFill>
                  </a:tcPr>
                </a:tc>
                <a:tc>
                  <a:txBody>
                    <a:bodyPr/>
                    <a:lstStyle/>
                    <a:p>
                      <a:pPr algn="ctr" rtl="0" fontAlgn="b">
                        <a:buNone/>
                      </a:pPr>
                      <a:r>
                        <a:rPr lang="en-MY" sz="1100" b="1" u="none" strike="noStrike">
                          <a:solidFill>
                            <a:schemeClr val="bg1"/>
                          </a:solidFill>
                          <a:effectLst/>
                          <a:latin typeface="+mn-lt"/>
                        </a:rPr>
                        <a:t>FY2023</a:t>
                      </a:r>
                      <a:endParaRPr lang="en-MY" sz="1100" b="1" i="0" u="none" strike="noStrike">
                        <a:solidFill>
                          <a:schemeClr val="bg1"/>
                        </a:solidFill>
                        <a:effectLst/>
                        <a:latin typeface="+mn-lt"/>
                      </a:endParaRPr>
                    </a:p>
                  </a:txBody>
                  <a:tcPr marL="6350" marR="6350" marT="6350" marB="0" anchor="ctr">
                    <a:solidFill>
                      <a:srgbClr val="002060"/>
                    </a:solidFill>
                  </a:tcPr>
                </a:tc>
                <a:tc>
                  <a:txBody>
                    <a:bodyPr/>
                    <a:lstStyle/>
                    <a:p>
                      <a:pPr algn="ctr" rtl="0" fontAlgn="b">
                        <a:buNone/>
                      </a:pPr>
                      <a:r>
                        <a:rPr lang="en-MY" sz="1100" b="1" u="none" strike="noStrike">
                          <a:solidFill>
                            <a:schemeClr val="bg1"/>
                          </a:solidFill>
                          <a:effectLst/>
                          <a:latin typeface="+mn-lt"/>
                        </a:rPr>
                        <a:t>FY2024</a:t>
                      </a:r>
                      <a:endParaRPr lang="en-MY" sz="1100" b="1" i="0" u="none" strike="noStrike">
                        <a:solidFill>
                          <a:schemeClr val="bg1"/>
                        </a:solidFill>
                        <a:effectLst/>
                        <a:latin typeface="+mn-lt"/>
                      </a:endParaRPr>
                    </a:p>
                  </a:txBody>
                  <a:tcPr marL="6350" marR="6350" marT="6350" marB="0" anchor="ctr">
                    <a:solidFill>
                      <a:srgbClr val="002060"/>
                    </a:solidFill>
                  </a:tcPr>
                </a:tc>
                <a:extLst>
                  <a:ext uri="{0D108BD9-81ED-4DB2-BD59-A6C34878D82A}">
                    <a16:rowId xmlns:a16="http://schemas.microsoft.com/office/drawing/2014/main" val="2047954743"/>
                  </a:ext>
                </a:extLst>
              </a:tr>
              <a:tr h="355561">
                <a:tc>
                  <a:txBody>
                    <a:bodyPr/>
                    <a:lstStyle/>
                    <a:p>
                      <a:pPr algn="ctr" fontAlgn="b">
                        <a:buNone/>
                      </a:pPr>
                      <a:r>
                        <a:rPr lang="en-MY" sz="1100" u="none" strike="noStrike">
                          <a:effectLst/>
                          <a:latin typeface="+mn-lt"/>
                        </a:rPr>
                        <a:t>OSK Construction</a:t>
                      </a:r>
                      <a:endParaRPr lang="en-MY" sz="1100" b="0" i="0" u="none" strike="noStrike">
                        <a:solidFill>
                          <a:srgbClr val="000000"/>
                        </a:solidFill>
                        <a:effectLst/>
                        <a:latin typeface="+mn-lt"/>
                      </a:endParaRPr>
                    </a:p>
                  </a:txBody>
                  <a:tcPr marL="6350" marR="6350" marT="6350" marB="0" anchor="ctr">
                    <a:solidFill>
                      <a:schemeClr val="bg1">
                        <a:lumMod val="95000"/>
                      </a:schemeClr>
                    </a:solidFill>
                  </a:tcPr>
                </a:tc>
                <a:tc>
                  <a:txBody>
                    <a:bodyPr/>
                    <a:lstStyle/>
                    <a:p>
                      <a:pPr algn="ctr" fontAlgn="b">
                        <a:buNone/>
                      </a:pPr>
                      <a:r>
                        <a:rPr lang="en-MY" sz="1100" b="0" i="0" u="none" strike="noStrike">
                          <a:solidFill>
                            <a:srgbClr val="000000"/>
                          </a:solidFill>
                          <a:effectLst/>
                          <a:latin typeface="Aptos" panose="020B0004020202020204" pitchFamily="34" charset="0"/>
                        </a:rPr>
                        <a:t>197.5</a:t>
                      </a:r>
                    </a:p>
                  </a:txBody>
                  <a:tcPr marL="6350" marR="6350" marT="6350" marB="0" anchor="ctr">
                    <a:solidFill>
                      <a:schemeClr val="bg1">
                        <a:lumMod val="95000"/>
                      </a:schemeClr>
                    </a:solidFill>
                  </a:tcPr>
                </a:tc>
                <a:tc>
                  <a:txBody>
                    <a:bodyPr/>
                    <a:lstStyle/>
                    <a:p>
                      <a:pPr algn="ctr" fontAlgn="b">
                        <a:buNone/>
                      </a:pPr>
                      <a:r>
                        <a:rPr lang="en-MY" sz="1100" b="0" i="0" u="none" strike="noStrike">
                          <a:solidFill>
                            <a:srgbClr val="000000"/>
                          </a:solidFill>
                          <a:effectLst/>
                          <a:latin typeface="Aptos" panose="020B0004020202020204" pitchFamily="34" charset="0"/>
                        </a:rPr>
                        <a:t>101.5</a:t>
                      </a:r>
                    </a:p>
                  </a:txBody>
                  <a:tcPr marL="6350" marR="6350" marT="6350" marB="0" anchor="ctr">
                    <a:solidFill>
                      <a:schemeClr val="bg1">
                        <a:lumMod val="95000"/>
                      </a:schemeClr>
                    </a:solidFill>
                  </a:tcPr>
                </a:tc>
                <a:tc>
                  <a:txBody>
                    <a:bodyPr/>
                    <a:lstStyle/>
                    <a:p>
                      <a:pPr algn="ctr" fontAlgn="b">
                        <a:buNone/>
                      </a:pPr>
                      <a:r>
                        <a:rPr lang="en-MY" sz="1100" b="0" i="0" u="none" strike="noStrike">
                          <a:solidFill>
                            <a:srgbClr val="000000"/>
                          </a:solidFill>
                          <a:effectLst/>
                          <a:latin typeface="Aptos" panose="020B0004020202020204" pitchFamily="34" charset="0"/>
                        </a:rPr>
                        <a:t>132.8</a:t>
                      </a:r>
                    </a:p>
                  </a:txBody>
                  <a:tcPr marL="6350" marR="6350" marT="6350" marB="0" anchor="ctr">
                    <a:solidFill>
                      <a:schemeClr val="bg1">
                        <a:lumMod val="95000"/>
                      </a:schemeClr>
                    </a:solidFill>
                  </a:tcPr>
                </a:tc>
                <a:tc>
                  <a:txBody>
                    <a:bodyPr/>
                    <a:lstStyle/>
                    <a:p>
                      <a:pPr algn="ctr" fontAlgn="b">
                        <a:buNone/>
                      </a:pPr>
                      <a:r>
                        <a:rPr lang="en-MY" sz="1100" b="0" i="0" u="none" strike="noStrike">
                          <a:solidFill>
                            <a:srgbClr val="000000"/>
                          </a:solidFill>
                          <a:effectLst/>
                          <a:latin typeface="Aptos" panose="020B0004020202020204" pitchFamily="34" charset="0"/>
                        </a:rPr>
                        <a:t>215.1</a:t>
                      </a:r>
                    </a:p>
                  </a:txBody>
                  <a:tcPr marL="6350" marR="6350" marT="6350" marB="0" anchor="ctr">
                    <a:solidFill>
                      <a:schemeClr val="bg1">
                        <a:lumMod val="95000"/>
                      </a:schemeClr>
                    </a:solidFill>
                  </a:tcPr>
                </a:tc>
                <a:tc>
                  <a:txBody>
                    <a:bodyPr/>
                    <a:lstStyle/>
                    <a:p>
                      <a:pPr algn="ctr" fontAlgn="b">
                        <a:buNone/>
                      </a:pPr>
                      <a:r>
                        <a:rPr lang="en-MY" sz="1100" b="0" i="0" u="none" strike="noStrike">
                          <a:solidFill>
                            <a:srgbClr val="000000"/>
                          </a:solidFill>
                          <a:effectLst/>
                          <a:latin typeface="Aptos" panose="020B0004020202020204" pitchFamily="34" charset="0"/>
                        </a:rPr>
                        <a:t>323.0</a:t>
                      </a:r>
                    </a:p>
                  </a:txBody>
                  <a:tcPr marL="6350" marR="6350" marT="6350" marB="0" anchor="ctr">
                    <a:solidFill>
                      <a:schemeClr val="bg1">
                        <a:lumMod val="95000"/>
                      </a:schemeClr>
                    </a:solidFill>
                  </a:tcPr>
                </a:tc>
                <a:extLst>
                  <a:ext uri="{0D108BD9-81ED-4DB2-BD59-A6C34878D82A}">
                    <a16:rowId xmlns:a16="http://schemas.microsoft.com/office/drawing/2014/main" val="3402102781"/>
                  </a:ext>
                </a:extLst>
              </a:tr>
            </a:tbl>
          </a:graphicData>
        </a:graphic>
      </p:graphicFrame>
    </p:spTree>
    <p:extLst>
      <p:ext uri="{BB962C8B-B14F-4D97-AF65-F5344CB8AC3E}">
        <p14:creationId xmlns:p14="http://schemas.microsoft.com/office/powerpoint/2010/main" val="1240587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0609-6BEB-3D96-C100-3C2694A6DC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F15650-6878-F391-A29F-6BF26BF6CE9C}"/>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sp>
        <p:nvSpPr>
          <p:cNvPr id="3" name="TextBox 2">
            <a:extLst>
              <a:ext uri="{FF2B5EF4-FFF2-40B4-BE49-F238E27FC236}">
                <a16:creationId xmlns:a16="http://schemas.microsoft.com/office/drawing/2014/main" id="{A53501B6-F002-6322-35F0-E334FB8AF7E5}"/>
              </a:ext>
            </a:extLst>
          </p:cNvPr>
          <p:cNvSpPr txBox="1"/>
          <p:nvPr/>
        </p:nvSpPr>
        <p:spPr>
          <a:xfrm>
            <a:off x="274320" y="1378599"/>
            <a:ext cx="2822176" cy="1826141"/>
          </a:xfrm>
          <a:prstGeom prst="rect">
            <a:avLst/>
          </a:prstGeom>
          <a:noFill/>
        </p:spPr>
        <p:txBody>
          <a:bodyPr wrap="square">
            <a:spAutoFit/>
          </a:bodyPr>
          <a:lstStyle/>
          <a:p>
            <a:pPr marL="520700" indent="-177800" algn="just">
              <a:spcBef>
                <a:spcPts val="300"/>
              </a:spcBef>
              <a:spcAft>
                <a:spcPts val="300"/>
              </a:spcAft>
              <a:buSzPct val="60000"/>
              <a:buFont typeface="Wingdings" panose="05000000000000000000" pitchFamily="2" charset="2"/>
              <a:buChar char="q"/>
              <a:tabLst>
                <a:tab pos="635000" algn="l"/>
              </a:tabLst>
            </a:pPr>
            <a:r>
              <a:rPr lang="en-US" sz="1400"/>
              <a:t>Borrowing increase in FY2024 and 2025 because of (i) higher working capital requirement to execute projects and (ii) acquisition of </a:t>
            </a:r>
            <a:r>
              <a:rPr lang="en-US" sz="1400" err="1"/>
              <a:t>Aliran</a:t>
            </a:r>
            <a:r>
              <a:rPr lang="en-US" sz="1400"/>
              <a:t> </a:t>
            </a:r>
            <a:r>
              <a:rPr lang="en-US" sz="1400" err="1"/>
              <a:t>Restu</a:t>
            </a:r>
            <a:r>
              <a:rPr lang="en-US" sz="1400"/>
              <a:t> </a:t>
            </a:r>
            <a:r>
              <a:rPr lang="en-US" sz="1400" baseline="30000"/>
              <a:t>N1</a:t>
            </a:r>
          </a:p>
          <a:p>
            <a:pPr marL="571500" indent="-285750" algn="just">
              <a:spcBef>
                <a:spcPts val="300"/>
              </a:spcBef>
              <a:spcAft>
                <a:spcPts val="300"/>
              </a:spcAft>
              <a:buSzPct val="60000"/>
              <a:buFont typeface="Wingdings" panose="05000000000000000000" pitchFamily="2" charset="2"/>
              <a:buChar char="q"/>
            </a:pPr>
            <a:endParaRPr lang="en-US" sz="1400" baseline="30000"/>
          </a:p>
          <a:p>
            <a:pPr marL="571500" indent="-285750" algn="just">
              <a:spcBef>
                <a:spcPts val="300"/>
              </a:spcBef>
              <a:spcAft>
                <a:spcPts val="300"/>
              </a:spcAft>
              <a:buSzPct val="60000"/>
              <a:buFont typeface="Wingdings" panose="05000000000000000000" pitchFamily="2" charset="2"/>
              <a:buChar char="q"/>
            </a:pPr>
            <a:endParaRPr lang="en-US" sz="1400" i="1" baseline="30000"/>
          </a:p>
        </p:txBody>
      </p:sp>
      <p:sp>
        <p:nvSpPr>
          <p:cNvPr id="7" name="TextBox 6">
            <a:extLst>
              <a:ext uri="{FF2B5EF4-FFF2-40B4-BE49-F238E27FC236}">
                <a16:creationId xmlns:a16="http://schemas.microsoft.com/office/drawing/2014/main" id="{C012C710-CA2E-796E-FACE-F08B12E5F89F}"/>
              </a:ext>
            </a:extLst>
          </p:cNvPr>
          <p:cNvSpPr txBox="1"/>
          <p:nvPr/>
        </p:nvSpPr>
        <p:spPr>
          <a:xfrm>
            <a:off x="500284" y="2960763"/>
            <a:ext cx="2572621" cy="1384995"/>
          </a:xfrm>
          <a:prstGeom prst="rect">
            <a:avLst/>
          </a:prstGeom>
          <a:solidFill>
            <a:schemeClr val="accent2">
              <a:lumMod val="20000"/>
              <a:lumOff val="80000"/>
            </a:schemeClr>
          </a:solidFill>
        </p:spPr>
        <p:txBody>
          <a:bodyPr wrap="square">
            <a:spAutoFit/>
          </a:bodyPr>
          <a:lstStyle/>
          <a:p>
            <a:pPr marL="285750" algn="just">
              <a:spcBef>
                <a:spcPts val="300"/>
              </a:spcBef>
              <a:spcAft>
                <a:spcPts val="300"/>
              </a:spcAft>
              <a:buSzPct val="60000"/>
            </a:pPr>
            <a:r>
              <a:rPr lang="en-US" sz="1400" i="1" baseline="30000"/>
              <a:t>N1</a:t>
            </a:r>
            <a:r>
              <a:rPr lang="en-US" sz="1400" i="1"/>
              <a:t>100% stake in </a:t>
            </a:r>
            <a:r>
              <a:rPr lang="en-US" sz="1400" b="1" i="1" err="1"/>
              <a:t>Aliran</a:t>
            </a:r>
            <a:r>
              <a:rPr lang="en-US" sz="1400" b="1" i="1"/>
              <a:t> </a:t>
            </a:r>
            <a:r>
              <a:rPr lang="en-US" sz="1400" b="1" i="1" err="1"/>
              <a:t>Restu</a:t>
            </a:r>
            <a:r>
              <a:rPr lang="en-US" sz="1400" b="1" i="1"/>
              <a:t> Sdn Bhd, which holds development rights to three parcels of land in Bandar </a:t>
            </a:r>
            <a:r>
              <a:rPr lang="en-US" sz="1400" b="1" i="1" err="1"/>
              <a:t>Glenmarie</a:t>
            </a:r>
            <a:r>
              <a:rPr lang="en-US" sz="1400" b="1" i="1"/>
              <a:t>, </a:t>
            </a:r>
            <a:r>
              <a:rPr lang="en-US" sz="1400" i="1"/>
              <a:t>for RM5 million.</a:t>
            </a:r>
            <a:endParaRPr lang="en-US" sz="1100" i="1"/>
          </a:p>
        </p:txBody>
      </p:sp>
      <p:sp>
        <p:nvSpPr>
          <p:cNvPr id="6" name="TextBox 5">
            <a:extLst>
              <a:ext uri="{FF2B5EF4-FFF2-40B4-BE49-F238E27FC236}">
                <a16:creationId xmlns:a16="http://schemas.microsoft.com/office/drawing/2014/main" id="{ED56DB8A-5C75-7A4B-A67A-A4CD2B5079EC}"/>
              </a:ext>
            </a:extLst>
          </p:cNvPr>
          <p:cNvSpPr txBox="1"/>
          <p:nvPr/>
        </p:nvSpPr>
        <p:spPr>
          <a:xfrm>
            <a:off x="3278413" y="5984856"/>
            <a:ext cx="8458201" cy="523220"/>
          </a:xfrm>
          <a:prstGeom prst="rect">
            <a:avLst/>
          </a:prstGeom>
          <a:solidFill>
            <a:schemeClr val="tx2">
              <a:lumMod val="10000"/>
              <a:lumOff val="90000"/>
            </a:schemeClr>
          </a:solidFill>
        </p:spPr>
        <p:txBody>
          <a:bodyPr wrap="square">
            <a:spAutoFit/>
          </a:bodyPr>
          <a:lstStyle/>
          <a:p>
            <a:r>
              <a:rPr lang="en-US" sz="1400" b="1" i="0">
                <a:solidFill>
                  <a:srgbClr val="000000"/>
                </a:solidFill>
                <a:effectLst/>
                <a:latin typeface="Aptos" panose="020B0004020202020204" pitchFamily="34" charset="0"/>
              </a:rPr>
              <a:t>Note :  </a:t>
            </a:r>
            <a:r>
              <a:rPr lang="en-US" sz="1400" b="0" i="0">
                <a:solidFill>
                  <a:srgbClr val="000000"/>
                </a:solidFill>
                <a:effectLst/>
                <a:latin typeface="Aptos" panose="020B0004020202020204" pitchFamily="34" charset="0"/>
              </a:rPr>
              <a:t>Gearing levels to improve as they complete their first major development project, </a:t>
            </a:r>
            <a:r>
              <a:rPr lang="en-US" sz="1400" b="1" i="0" err="1">
                <a:solidFill>
                  <a:srgbClr val="000000"/>
                </a:solidFill>
                <a:effectLst/>
                <a:latin typeface="Aptos" panose="020B0004020202020204" pitchFamily="34" charset="0"/>
              </a:rPr>
              <a:t>Senori</a:t>
            </a:r>
            <a:r>
              <a:rPr lang="en-US" sz="1400" b="1" i="0">
                <a:solidFill>
                  <a:srgbClr val="000000"/>
                </a:solidFill>
                <a:effectLst/>
                <a:latin typeface="Aptos" panose="020B0004020202020204" pitchFamily="34" charset="0"/>
              </a:rPr>
              <a:t> Residence</a:t>
            </a:r>
            <a:r>
              <a:rPr lang="en-US" sz="1400" b="0" i="0">
                <a:solidFill>
                  <a:srgbClr val="000000"/>
                </a:solidFill>
                <a:effectLst/>
                <a:latin typeface="Aptos" panose="020B0004020202020204" pitchFamily="34" charset="0"/>
              </a:rPr>
              <a:t>, which is currently 100% sold out for open market units</a:t>
            </a:r>
            <a:endParaRPr lang="en-US" sz="1400"/>
          </a:p>
        </p:txBody>
      </p:sp>
      <p:sp>
        <p:nvSpPr>
          <p:cNvPr id="2" name="Slide Number Placeholder 2">
            <a:extLst>
              <a:ext uri="{FF2B5EF4-FFF2-40B4-BE49-F238E27FC236}">
                <a16:creationId xmlns:a16="http://schemas.microsoft.com/office/drawing/2014/main" id="{D142954D-5F50-D7EE-2FF0-776EE8928750}"/>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29</a:t>
            </a:fld>
            <a:endParaRPr lang="en-US" sz="1200">
              <a:solidFill>
                <a:schemeClr val="tx2">
                  <a:lumMod val="95000"/>
                  <a:lumOff val="5000"/>
                </a:schemeClr>
              </a:solidFill>
              <a:latin typeface="Aptos" panose="020B0004020202020204" pitchFamily="34" charset="0"/>
            </a:endParaRPr>
          </a:p>
        </p:txBody>
      </p:sp>
      <p:graphicFrame>
        <p:nvGraphicFramePr>
          <p:cNvPr id="9" name="Chart 8">
            <a:extLst>
              <a:ext uri="{FF2B5EF4-FFF2-40B4-BE49-F238E27FC236}">
                <a16:creationId xmlns:a16="http://schemas.microsoft.com/office/drawing/2014/main" id="{EFE6FEC7-B3CC-5007-ED80-254A55CEB6CA}"/>
              </a:ext>
            </a:extLst>
          </p:cNvPr>
          <p:cNvGraphicFramePr>
            <a:graphicFrameLocks/>
          </p:cNvGraphicFramePr>
          <p:nvPr>
            <p:extLst>
              <p:ext uri="{D42A27DB-BD31-4B8C-83A1-F6EECF244321}">
                <p14:modId xmlns:p14="http://schemas.microsoft.com/office/powerpoint/2010/main" val="664649495"/>
              </p:ext>
            </p:extLst>
          </p:nvPr>
        </p:nvGraphicFramePr>
        <p:xfrm>
          <a:off x="3338285" y="349924"/>
          <a:ext cx="4269015" cy="27518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609BFDB4-085D-E801-77A2-0589E5E905D9}"/>
              </a:ext>
            </a:extLst>
          </p:cNvPr>
          <p:cNvGraphicFramePr>
            <a:graphicFrameLocks/>
          </p:cNvGraphicFramePr>
          <p:nvPr>
            <p:extLst>
              <p:ext uri="{D42A27DB-BD31-4B8C-83A1-F6EECF244321}">
                <p14:modId xmlns:p14="http://schemas.microsoft.com/office/powerpoint/2010/main" val="3202848365"/>
              </p:ext>
            </p:extLst>
          </p:nvPr>
        </p:nvGraphicFramePr>
        <p:xfrm>
          <a:off x="7507514" y="310339"/>
          <a:ext cx="4272094" cy="2751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29F6FA85-253D-4ABA-4890-77C7A15455BF}"/>
              </a:ext>
            </a:extLst>
          </p:cNvPr>
          <p:cNvGraphicFramePr>
            <a:graphicFrameLocks/>
          </p:cNvGraphicFramePr>
          <p:nvPr>
            <p:extLst>
              <p:ext uri="{D42A27DB-BD31-4B8C-83A1-F6EECF244321}">
                <p14:modId xmlns:p14="http://schemas.microsoft.com/office/powerpoint/2010/main" val="1811023118"/>
              </p:ext>
            </p:extLst>
          </p:nvPr>
        </p:nvGraphicFramePr>
        <p:xfrm>
          <a:off x="3238499" y="3214845"/>
          <a:ext cx="4269015" cy="27485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FAE2EACA-C1BC-7F0C-BD7B-5DA522950B3C}"/>
              </a:ext>
            </a:extLst>
          </p:cNvPr>
          <p:cNvGraphicFramePr>
            <a:graphicFrameLocks/>
          </p:cNvGraphicFramePr>
          <p:nvPr>
            <p:extLst>
              <p:ext uri="{D42A27DB-BD31-4B8C-83A1-F6EECF244321}">
                <p14:modId xmlns:p14="http://schemas.microsoft.com/office/powerpoint/2010/main" val="4002884430"/>
              </p:ext>
            </p:extLst>
          </p:nvPr>
        </p:nvGraphicFramePr>
        <p:xfrm>
          <a:off x="7507514" y="3211546"/>
          <a:ext cx="4272094" cy="2751860"/>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C648E949-8D83-E4FD-8E7B-D0F6702E9087}"/>
              </a:ext>
            </a:extLst>
          </p:cNvPr>
          <p:cNvSpPr txBox="1"/>
          <p:nvPr/>
        </p:nvSpPr>
        <p:spPr>
          <a:xfrm>
            <a:off x="274319" y="783639"/>
            <a:ext cx="3024553" cy="584775"/>
          </a:xfrm>
          <a:prstGeom prst="rect">
            <a:avLst/>
          </a:prstGeom>
          <a:noFill/>
        </p:spPr>
        <p:txBody>
          <a:bodyPr wrap="square">
            <a:spAutoFit/>
          </a:bodyPr>
          <a:lstStyle/>
          <a:p>
            <a:pPr marL="342900" indent="-342900">
              <a:spcBef>
                <a:spcPts val="300"/>
              </a:spcBef>
              <a:spcAft>
                <a:spcPts val="300"/>
              </a:spcAft>
              <a:buFont typeface="+mj-lt"/>
              <a:buAutoNum type="arabicPeriod" startAt="5"/>
            </a:pPr>
            <a:r>
              <a:rPr lang="en-US" sz="1600" b="1"/>
              <a:t>Financial Performance &amp; Position</a:t>
            </a:r>
          </a:p>
        </p:txBody>
      </p:sp>
    </p:spTree>
    <p:extLst>
      <p:ext uri="{BB962C8B-B14F-4D97-AF65-F5344CB8AC3E}">
        <p14:creationId xmlns:p14="http://schemas.microsoft.com/office/powerpoint/2010/main" val="3400780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838B7-6674-571D-EBFD-D5D9F97EFC1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A4CE17C-23A9-628A-76F8-5AC7EF23A572}"/>
              </a:ext>
            </a:extLst>
          </p:cNvPr>
          <p:cNvSpPr txBox="1"/>
          <p:nvPr/>
        </p:nvSpPr>
        <p:spPr>
          <a:xfrm>
            <a:off x="390526" y="938196"/>
            <a:ext cx="5638522" cy="2939266"/>
          </a:xfrm>
          <a:prstGeom prst="rect">
            <a:avLst/>
          </a:prstGeom>
          <a:noFill/>
        </p:spPr>
        <p:txBody>
          <a:bodyPr wrap="square">
            <a:spAutoFit/>
          </a:bodyPr>
          <a:lstStyle/>
          <a:p>
            <a:pPr marL="342900" indent="-342900" algn="just">
              <a:spcBef>
                <a:spcPts val="300"/>
              </a:spcBef>
              <a:spcAft>
                <a:spcPts val="300"/>
              </a:spcAft>
              <a:buFont typeface="+mj-lt"/>
              <a:buAutoNum type="arabicPeriod" startAt="6"/>
            </a:pPr>
            <a:r>
              <a:rPr lang="en-US" sz="1600" b="1"/>
              <a:t>Strategic Business Diversification</a:t>
            </a:r>
          </a:p>
          <a:p>
            <a:pPr marL="635000" indent="-285750" algn="just">
              <a:spcBef>
                <a:spcPts val="300"/>
              </a:spcBef>
              <a:spcAft>
                <a:spcPts val="300"/>
              </a:spcAft>
              <a:buSzPct val="60000"/>
              <a:buFont typeface="Wingdings" panose="05000000000000000000" pitchFamily="2" charset="2"/>
              <a:buChar char="q"/>
            </a:pPr>
            <a:r>
              <a:rPr lang="en-US" sz="1400" b="1"/>
              <a:t>Property Development Expansion: </a:t>
            </a:r>
            <a:r>
              <a:rPr lang="en-US" sz="1400"/>
              <a:t>Inta Bina is diversifying from its core construction business into property development to capture higher margins. They aim for development to contribute 30% of revenue within the next five years. </a:t>
            </a:r>
          </a:p>
          <a:p>
            <a:pPr marL="635000" indent="-285750" algn="just">
              <a:spcBef>
                <a:spcPts val="300"/>
              </a:spcBef>
              <a:spcAft>
                <a:spcPts val="300"/>
              </a:spcAft>
              <a:buSzPct val="60000"/>
              <a:buFont typeface="Wingdings" panose="05000000000000000000" pitchFamily="2" charset="2"/>
              <a:buChar char="q"/>
            </a:pPr>
            <a:r>
              <a:rPr lang="en-US" sz="1400" b="1"/>
              <a:t>Niche Specialist Works (IBH): </a:t>
            </a:r>
            <a:r>
              <a:rPr lang="en-US" sz="1400"/>
              <a:t>Their 55%-owned subsidiary, IBH, specializes in the supply, installation, and maintenance of lifts (Canny Lift brand). Management revealed plans to list this subsidiary in the near future. </a:t>
            </a:r>
          </a:p>
          <a:p>
            <a:pPr marL="635000" indent="-285750" algn="just">
              <a:spcBef>
                <a:spcPts val="300"/>
              </a:spcBef>
              <a:spcAft>
                <a:spcPts val="300"/>
              </a:spcAft>
              <a:buSzPct val="60000"/>
              <a:buFont typeface="Wingdings" panose="05000000000000000000" pitchFamily="2" charset="2"/>
              <a:buChar char="q"/>
            </a:pPr>
            <a:r>
              <a:rPr lang="en-US" sz="1400" b="1"/>
              <a:t>Design &amp; Build Model: </a:t>
            </a:r>
            <a:r>
              <a:rPr lang="en-US" sz="1400"/>
              <a:t>The company is increasingly securing "Design &amp; Build" contracts, which allow them to optimize costs through value engineering and better buildability.</a:t>
            </a:r>
          </a:p>
        </p:txBody>
      </p:sp>
      <p:sp>
        <p:nvSpPr>
          <p:cNvPr id="4" name="TextBox 3">
            <a:extLst>
              <a:ext uri="{FF2B5EF4-FFF2-40B4-BE49-F238E27FC236}">
                <a16:creationId xmlns:a16="http://schemas.microsoft.com/office/drawing/2014/main" id="{CC7BABFE-ED34-2434-79B8-117D9DD9AB72}"/>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grpSp>
        <p:nvGrpSpPr>
          <p:cNvPr id="7" name="Group 6">
            <a:extLst>
              <a:ext uri="{FF2B5EF4-FFF2-40B4-BE49-F238E27FC236}">
                <a16:creationId xmlns:a16="http://schemas.microsoft.com/office/drawing/2014/main" id="{C13A8E3B-3224-7141-BC28-FD5091AB9546}"/>
              </a:ext>
            </a:extLst>
          </p:cNvPr>
          <p:cNvGrpSpPr/>
          <p:nvPr/>
        </p:nvGrpSpPr>
        <p:grpSpPr>
          <a:xfrm>
            <a:off x="6284489" y="1243691"/>
            <a:ext cx="2696239" cy="1416579"/>
            <a:chOff x="8602408" y="3171824"/>
            <a:chExt cx="2696239" cy="1421849"/>
          </a:xfrm>
        </p:grpSpPr>
        <p:sp>
          <p:nvSpPr>
            <p:cNvPr id="2" name="TextBox 1">
              <a:extLst>
                <a:ext uri="{FF2B5EF4-FFF2-40B4-BE49-F238E27FC236}">
                  <a16:creationId xmlns:a16="http://schemas.microsoft.com/office/drawing/2014/main" id="{63B55A39-241D-938A-6159-F50942F04AB0}"/>
                </a:ext>
              </a:extLst>
            </p:cNvPr>
            <p:cNvSpPr txBox="1"/>
            <p:nvPr/>
          </p:nvSpPr>
          <p:spPr>
            <a:xfrm>
              <a:off x="8602408" y="3171825"/>
              <a:ext cx="1416798" cy="892552"/>
            </a:xfrm>
            <a:prstGeom prst="rect">
              <a:avLst/>
            </a:prstGeom>
            <a:noFill/>
          </p:spPr>
          <p:txBody>
            <a:bodyPr wrap="none" rtlCol="0">
              <a:spAutoFit/>
            </a:bodyPr>
            <a:lstStyle/>
            <a:p>
              <a:pPr algn="ctr"/>
              <a:r>
                <a:rPr lang="en-US" sz="2000" b="1"/>
                <a:t>One</a:t>
              </a:r>
            </a:p>
            <a:p>
              <a:pPr algn="ctr"/>
              <a:r>
                <a:rPr lang="en-US" sz="1600"/>
                <a:t>Development </a:t>
              </a:r>
            </a:p>
            <a:p>
              <a:pPr algn="ctr"/>
              <a:r>
                <a:rPr lang="en-US" sz="1600"/>
                <a:t>Project</a:t>
              </a:r>
            </a:p>
          </p:txBody>
        </p:sp>
        <p:sp>
          <p:nvSpPr>
            <p:cNvPr id="5" name="TextBox 4">
              <a:extLst>
                <a:ext uri="{FF2B5EF4-FFF2-40B4-BE49-F238E27FC236}">
                  <a16:creationId xmlns:a16="http://schemas.microsoft.com/office/drawing/2014/main" id="{0C0EC3FF-F9B1-9CC8-A511-7B1B00FFF053}"/>
                </a:ext>
              </a:extLst>
            </p:cNvPr>
            <p:cNvSpPr txBox="1"/>
            <p:nvPr/>
          </p:nvSpPr>
          <p:spPr>
            <a:xfrm>
              <a:off x="11113917" y="3171824"/>
              <a:ext cx="184730" cy="339813"/>
            </a:xfrm>
            <a:prstGeom prst="rect">
              <a:avLst/>
            </a:prstGeom>
            <a:noFill/>
          </p:spPr>
          <p:txBody>
            <a:bodyPr wrap="none" rtlCol="0">
              <a:spAutoFit/>
            </a:bodyPr>
            <a:lstStyle/>
            <a:p>
              <a:pPr algn="ctr"/>
              <a:endParaRPr lang="en-US" sz="1600"/>
            </a:p>
          </p:txBody>
        </p:sp>
        <p:sp>
          <p:nvSpPr>
            <p:cNvPr id="6" name="Equals 5">
              <a:extLst>
                <a:ext uri="{FF2B5EF4-FFF2-40B4-BE49-F238E27FC236}">
                  <a16:creationId xmlns:a16="http://schemas.microsoft.com/office/drawing/2014/main" id="{9ED1D0D9-4486-C788-2B68-8AC6AD80A6F1}"/>
                </a:ext>
              </a:extLst>
            </p:cNvPr>
            <p:cNvSpPr/>
            <p:nvPr/>
          </p:nvSpPr>
          <p:spPr>
            <a:xfrm>
              <a:off x="9121286" y="4178174"/>
              <a:ext cx="438150" cy="415499"/>
            </a:xfrm>
            <a:prstGeom prst="mathEqual">
              <a:avLst/>
            </a:prstGeom>
            <a:solidFill>
              <a:srgbClr val="B0844C"/>
            </a:solidFill>
            <a:ln>
              <a:solidFill>
                <a:srgbClr val="B084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0" name="Rectangle 9">
            <a:extLst>
              <a:ext uri="{FF2B5EF4-FFF2-40B4-BE49-F238E27FC236}">
                <a16:creationId xmlns:a16="http://schemas.microsoft.com/office/drawing/2014/main" id="{00BC38F4-77DD-91EF-9592-9D0F689676F3}"/>
              </a:ext>
            </a:extLst>
          </p:cNvPr>
          <p:cNvSpPr/>
          <p:nvPr/>
        </p:nvSpPr>
        <p:spPr>
          <a:xfrm>
            <a:off x="6198159" y="973354"/>
            <a:ext cx="1589457" cy="26714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086D8DA-5839-B03E-9223-4E64DB2BD4BE}"/>
              </a:ext>
            </a:extLst>
          </p:cNvPr>
          <p:cNvSpPr txBox="1"/>
          <p:nvPr/>
        </p:nvSpPr>
        <p:spPr>
          <a:xfrm>
            <a:off x="486799" y="3990837"/>
            <a:ext cx="7402788" cy="2846933"/>
          </a:xfrm>
          <a:prstGeom prst="rect">
            <a:avLst/>
          </a:prstGeom>
          <a:noFill/>
        </p:spPr>
        <p:txBody>
          <a:bodyPr wrap="square">
            <a:spAutoFit/>
          </a:bodyPr>
          <a:lstStyle/>
          <a:p>
            <a:pPr marL="342900" indent="-342900" algn="just">
              <a:spcBef>
                <a:spcPts val="300"/>
              </a:spcBef>
              <a:spcAft>
                <a:spcPts val="300"/>
              </a:spcAft>
              <a:buFont typeface="+mj-lt"/>
              <a:buAutoNum type="arabicPeriod" startAt="7"/>
            </a:pPr>
            <a:r>
              <a:rPr lang="en-US" sz="1600" b="1"/>
              <a:t>Operational Excellence &amp; Quality</a:t>
            </a:r>
          </a:p>
          <a:p>
            <a:pPr marL="635000" indent="-285750" algn="just">
              <a:spcBef>
                <a:spcPts val="300"/>
              </a:spcBef>
              <a:spcAft>
                <a:spcPts val="300"/>
              </a:spcAft>
              <a:buSzPct val="60000"/>
              <a:buFont typeface="Wingdings" panose="05000000000000000000" pitchFamily="2" charset="2"/>
              <a:buChar char="q"/>
            </a:pPr>
            <a:r>
              <a:rPr lang="en-US" sz="1400" b="1"/>
              <a:t>Award-Winning Standards: </a:t>
            </a:r>
            <a:r>
              <a:rPr lang="en-US" sz="1400"/>
              <a:t>Inta Bina achieved :</a:t>
            </a:r>
          </a:p>
          <a:p>
            <a:pPr marL="977900" indent="-285750" algn="just">
              <a:spcBef>
                <a:spcPts val="300"/>
              </a:spcBef>
              <a:spcAft>
                <a:spcPts val="300"/>
              </a:spcAft>
              <a:buSzPct val="100000"/>
              <a:buFont typeface="+mj-lt"/>
              <a:buAutoNum type="arabicPeriod"/>
            </a:pPr>
            <a:r>
              <a:rPr lang="en-US" sz="1400" b="1" i="1"/>
              <a:t>Safety :  </a:t>
            </a:r>
            <a:r>
              <a:rPr lang="en-US" sz="1400" err="1"/>
              <a:t>Shassic</a:t>
            </a:r>
            <a:r>
              <a:rPr lang="en-US" sz="1400"/>
              <a:t> score of 99.17% for Sunway </a:t>
            </a:r>
            <a:r>
              <a:rPr lang="en-US" sz="1400" err="1"/>
              <a:t>Artessa</a:t>
            </a:r>
            <a:r>
              <a:rPr lang="en-US" sz="1400"/>
              <a:t> (Highest in Malaysia’s record.</a:t>
            </a:r>
          </a:p>
          <a:p>
            <a:pPr marL="977900" indent="-285750" algn="just">
              <a:spcBef>
                <a:spcPts val="300"/>
              </a:spcBef>
              <a:spcAft>
                <a:spcPts val="300"/>
              </a:spcAft>
              <a:buSzPct val="100000"/>
              <a:buFont typeface="+mj-lt"/>
              <a:buAutoNum type="arabicPeriod"/>
            </a:pPr>
            <a:r>
              <a:rPr lang="en-US" sz="1400" b="1" i="1"/>
              <a:t>Quality : </a:t>
            </a:r>
            <a:r>
              <a:rPr lang="en-US" sz="1400"/>
              <a:t>QLASSIC score of 85% for </a:t>
            </a:r>
            <a:r>
              <a:rPr lang="en-US" sz="1400" err="1"/>
              <a:t>highrise</a:t>
            </a:r>
            <a:r>
              <a:rPr lang="en-US" sz="1400"/>
              <a:t> in Tropicana  and 90% for Sunway </a:t>
            </a:r>
            <a:r>
              <a:rPr lang="en-US" sz="1400" err="1"/>
              <a:t>Lenang</a:t>
            </a:r>
            <a:endParaRPr lang="en-US" sz="1400"/>
          </a:p>
          <a:p>
            <a:pPr marL="342900" indent="-342900" algn="just">
              <a:spcBef>
                <a:spcPts val="300"/>
              </a:spcBef>
              <a:spcAft>
                <a:spcPts val="300"/>
              </a:spcAft>
              <a:buFont typeface="+mj-lt"/>
              <a:buAutoNum type="arabicPeriod" startAt="8"/>
            </a:pPr>
            <a:r>
              <a:rPr lang="en-US" sz="1600" b="1"/>
              <a:t>Shareholder Returns</a:t>
            </a:r>
          </a:p>
          <a:p>
            <a:pPr marL="749300" indent="-285750" algn="just">
              <a:spcBef>
                <a:spcPts val="300"/>
              </a:spcBef>
              <a:spcAft>
                <a:spcPts val="300"/>
              </a:spcAft>
              <a:buSzPct val="60000"/>
              <a:buFont typeface="Wingdings" panose="05000000000000000000" pitchFamily="2" charset="2"/>
              <a:buChar char="q"/>
            </a:pPr>
            <a:r>
              <a:rPr lang="en-US" sz="1400"/>
              <a:t>Dividend Consistency: Dividend yields ranging from 2.7% to 5.8%.</a:t>
            </a:r>
          </a:p>
          <a:p>
            <a:pPr marL="692150" algn="just">
              <a:spcBef>
                <a:spcPts val="300"/>
              </a:spcBef>
              <a:spcAft>
                <a:spcPts val="300"/>
              </a:spcAft>
              <a:buSzPct val="100000"/>
            </a:pPr>
            <a:endParaRPr lang="en-US" sz="1400"/>
          </a:p>
          <a:p>
            <a:pPr marL="977900" indent="-285750" algn="just">
              <a:spcBef>
                <a:spcPts val="300"/>
              </a:spcBef>
              <a:spcAft>
                <a:spcPts val="300"/>
              </a:spcAft>
              <a:buSzPct val="100000"/>
              <a:buFont typeface="+mj-lt"/>
              <a:buAutoNum type="arabicPeriod"/>
            </a:pPr>
            <a:endParaRPr lang="en-US" sz="1400"/>
          </a:p>
        </p:txBody>
      </p:sp>
      <p:sp>
        <p:nvSpPr>
          <p:cNvPr id="34" name="TextBox 33">
            <a:extLst>
              <a:ext uri="{FF2B5EF4-FFF2-40B4-BE49-F238E27FC236}">
                <a16:creationId xmlns:a16="http://schemas.microsoft.com/office/drawing/2014/main" id="{16B5BEC3-E7DE-D4A4-0A64-CAB5AD0A66FF}"/>
              </a:ext>
            </a:extLst>
          </p:cNvPr>
          <p:cNvSpPr txBox="1"/>
          <p:nvPr/>
        </p:nvSpPr>
        <p:spPr>
          <a:xfrm>
            <a:off x="8202846" y="488734"/>
            <a:ext cx="3708399" cy="5847755"/>
          </a:xfrm>
          <a:prstGeom prst="rect">
            <a:avLst/>
          </a:prstGeom>
          <a:solidFill>
            <a:schemeClr val="accent2">
              <a:lumMod val="20000"/>
              <a:lumOff val="80000"/>
            </a:schemeClr>
          </a:solidFill>
        </p:spPr>
        <p:txBody>
          <a:bodyPr wrap="square" lIns="182880" tIns="91440" rIns="182880" bIns="91440" rtlCol="0">
            <a:spAutoFit/>
          </a:bodyPr>
          <a:lstStyle/>
          <a:p>
            <a:pPr algn="just"/>
            <a:r>
              <a:rPr lang="en-US" sz="1600" b="1" u="sng"/>
              <a:t>Inta Growth Strategies</a:t>
            </a:r>
          </a:p>
          <a:p>
            <a:pPr marL="285750" indent="-285750" algn="just">
              <a:buFont typeface="Wingdings" panose="05000000000000000000" pitchFamily="2" charset="2"/>
              <a:buChar char="§"/>
            </a:pPr>
            <a:endParaRPr lang="en-US" sz="1600"/>
          </a:p>
          <a:p>
            <a:pPr marL="285750" indent="-285750" algn="just">
              <a:buFont typeface="Wingdings" panose="05000000000000000000" pitchFamily="2" charset="2"/>
              <a:buChar char="§"/>
            </a:pPr>
            <a:r>
              <a:rPr lang="en-US" sz="1400"/>
              <a:t>Effective execution of unbilled order book through efficient project management</a:t>
            </a:r>
          </a:p>
          <a:p>
            <a:pPr marL="285750" indent="-285750" algn="just">
              <a:buFont typeface="Wingdings" panose="05000000000000000000" pitchFamily="2" charset="2"/>
              <a:buChar char="§"/>
            </a:pPr>
            <a:r>
              <a:rPr lang="en-US" sz="1400"/>
              <a:t>Continuing to pursue construction projects, particularly in affordable housing to replenish and expand our order book</a:t>
            </a:r>
          </a:p>
          <a:p>
            <a:pPr marL="285750" indent="-285750" algn="just">
              <a:buFont typeface="Wingdings" panose="05000000000000000000" pitchFamily="2" charset="2"/>
              <a:buChar char="§"/>
            </a:pPr>
            <a:r>
              <a:rPr lang="en-US" sz="1400"/>
              <a:t>To secure Design and Build contract via creating value to our client</a:t>
            </a:r>
          </a:p>
          <a:p>
            <a:pPr marL="285750" indent="-285750" algn="just">
              <a:buFont typeface="Wingdings" panose="05000000000000000000" pitchFamily="2" charset="2"/>
              <a:buChar char="§"/>
            </a:pPr>
            <a:r>
              <a:rPr lang="en-US" sz="1400"/>
              <a:t>To further source for land for future development and to crease in-house job</a:t>
            </a:r>
          </a:p>
          <a:p>
            <a:pPr marL="285750" indent="-285750" algn="just">
              <a:buFont typeface="Wingdings" panose="05000000000000000000" pitchFamily="2" charset="2"/>
              <a:buChar char="§"/>
            </a:pPr>
            <a:r>
              <a:rPr lang="en-US" sz="1400"/>
              <a:t>To expand facility management project such as Lifts and Escalator maintenance services to build recurring income</a:t>
            </a:r>
          </a:p>
          <a:p>
            <a:pPr marL="285750" indent="-285750" algn="just">
              <a:buFont typeface="Wingdings" panose="05000000000000000000" pitchFamily="2" charset="2"/>
              <a:buChar char="§"/>
            </a:pPr>
            <a:r>
              <a:rPr lang="en-US" sz="1400"/>
              <a:t>To continue expanding new businesses which provide synergistic benefits</a:t>
            </a:r>
          </a:p>
          <a:p>
            <a:pPr marL="285750" indent="-285750" algn="just">
              <a:buFont typeface="Wingdings" panose="05000000000000000000" pitchFamily="2" charset="2"/>
              <a:buChar char="§"/>
            </a:pPr>
            <a:r>
              <a:rPr lang="en-US" sz="1400">
                <a:latin typeface="Aptos" panose="020B0004020202020204" pitchFamily="34" charset="0"/>
              </a:rPr>
              <a:t>The management will remain focused on the </a:t>
            </a:r>
            <a:r>
              <a:rPr lang="en-US" sz="1400" b="1">
                <a:latin typeface="Aptos" panose="020B0004020202020204" pitchFamily="34" charset="0"/>
              </a:rPr>
              <a:t>private residential sector</a:t>
            </a:r>
            <a:r>
              <a:rPr lang="en-US" sz="1400">
                <a:latin typeface="Aptos" panose="020B0004020202020204" pitchFamily="34" charset="0"/>
              </a:rPr>
              <a:t>, particularly affordable housing, and does not currently plan to bid for large government infrastructure projects like the MRT</a:t>
            </a:r>
            <a:endParaRPr lang="en-US" sz="1400"/>
          </a:p>
        </p:txBody>
      </p:sp>
      <p:sp>
        <p:nvSpPr>
          <p:cNvPr id="38" name="TextBox 37">
            <a:extLst>
              <a:ext uri="{FF2B5EF4-FFF2-40B4-BE49-F238E27FC236}">
                <a16:creationId xmlns:a16="http://schemas.microsoft.com/office/drawing/2014/main" id="{3F624334-6B87-7841-B932-ECE4889AF521}"/>
              </a:ext>
            </a:extLst>
          </p:cNvPr>
          <p:cNvSpPr txBox="1"/>
          <p:nvPr/>
        </p:nvSpPr>
        <p:spPr>
          <a:xfrm>
            <a:off x="2816087" y="2657663"/>
            <a:ext cx="8489950" cy="830997"/>
          </a:xfrm>
          <a:prstGeom prst="rect">
            <a:avLst/>
          </a:prstGeom>
          <a:noFill/>
        </p:spPr>
        <p:txBody>
          <a:bodyPr wrap="square">
            <a:spAutoFit/>
          </a:bodyPr>
          <a:lstStyle/>
          <a:p>
            <a:pPr algn="ctr"/>
            <a:r>
              <a:rPr lang="en-US" sz="1600" b="1"/>
              <a:t>Six</a:t>
            </a:r>
          </a:p>
          <a:p>
            <a:pPr algn="ctr"/>
            <a:r>
              <a:rPr lang="en-US" sz="1600"/>
              <a:t>Construction </a:t>
            </a:r>
          </a:p>
          <a:p>
            <a:pPr algn="ctr"/>
            <a:r>
              <a:rPr lang="en-US" sz="1600"/>
              <a:t>Projects</a:t>
            </a:r>
          </a:p>
        </p:txBody>
      </p:sp>
      <p:sp>
        <p:nvSpPr>
          <p:cNvPr id="11" name="Rectangle 10">
            <a:extLst>
              <a:ext uri="{FF2B5EF4-FFF2-40B4-BE49-F238E27FC236}">
                <a16:creationId xmlns:a16="http://schemas.microsoft.com/office/drawing/2014/main" id="{1E0E3AA4-74C5-6A65-7205-C4741C607779}"/>
              </a:ext>
            </a:extLst>
          </p:cNvPr>
          <p:cNvSpPr/>
          <p:nvPr/>
        </p:nvSpPr>
        <p:spPr>
          <a:xfrm>
            <a:off x="8272231" y="4895850"/>
            <a:ext cx="3595920" cy="1333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8C594B59-D670-58F6-B292-9C4555DCBA51}"/>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30</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2344346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2DA9F-9B0F-BFA0-7363-A3E7D2A441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B71F88-B7EB-07FE-0A8A-E7EDA22CAAA8}"/>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sp>
        <p:nvSpPr>
          <p:cNvPr id="9" name="TextBox 8">
            <a:extLst>
              <a:ext uri="{FF2B5EF4-FFF2-40B4-BE49-F238E27FC236}">
                <a16:creationId xmlns:a16="http://schemas.microsoft.com/office/drawing/2014/main" id="{7B66B906-3D67-721D-B749-FA606EFB96DA}"/>
              </a:ext>
            </a:extLst>
          </p:cNvPr>
          <p:cNvSpPr txBox="1"/>
          <p:nvPr/>
        </p:nvSpPr>
        <p:spPr>
          <a:xfrm>
            <a:off x="7317740" y="6467123"/>
            <a:ext cx="1157689" cy="261610"/>
          </a:xfrm>
          <a:prstGeom prst="rect">
            <a:avLst/>
          </a:prstGeom>
          <a:noFill/>
        </p:spPr>
        <p:txBody>
          <a:bodyPr wrap="none" rtlCol="0">
            <a:spAutoFit/>
          </a:bodyPr>
          <a:lstStyle/>
          <a:p>
            <a:r>
              <a:rPr lang="en-US" sz="1100" i="1"/>
              <a:t>Source: AR2024</a:t>
            </a:r>
            <a:endParaRPr lang="en-MY" sz="1100" i="1"/>
          </a:p>
        </p:txBody>
      </p:sp>
      <p:graphicFrame>
        <p:nvGraphicFramePr>
          <p:cNvPr id="14" name="Table 13">
            <a:extLst>
              <a:ext uri="{FF2B5EF4-FFF2-40B4-BE49-F238E27FC236}">
                <a16:creationId xmlns:a16="http://schemas.microsoft.com/office/drawing/2014/main" id="{A22A255B-F204-C051-F4C9-B6626C9DE9D0}"/>
              </a:ext>
            </a:extLst>
          </p:cNvPr>
          <p:cNvGraphicFramePr>
            <a:graphicFrameLocks noGrp="1"/>
          </p:cNvGraphicFramePr>
          <p:nvPr>
            <p:extLst>
              <p:ext uri="{D42A27DB-BD31-4B8C-83A1-F6EECF244321}">
                <p14:modId xmlns:p14="http://schemas.microsoft.com/office/powerpoint/2010/main" val="1660730729"/>
              </p:ext>
            </p:extLst>
          </p:nvPr>
        </p:nvGraphicFramePr>
        <p:xfrm>
          <a:off x="428208" y="1222950"/>
          <a:ext cx="6679359" cy="5516880"/>
        </p:xfrm>
        <a:graphic>
          <a:graphicData uri="http://schemas.openxmlformats.org/drawingml/2006/table">
            <a:tbl>
              <a:tblPr/>
              <a:tblGrid>
                <a:gridCol w="365760">
                  <a:extLst>
                    <a:ext uri="{9D8B030D-6E8A-4147-A177-3AD203B41FA5}">
                      <a16:colId xmlns:a16="http://schemas.microsoft.com/office/drawing/2014/main" val="4145796532"/>
                    </a:ext>
                  </a:extLst>
                </a:gridCol>
                <a:gridCol w="1143317">
                  <a:extLst>
                    <a:ext uri="{9D8B030D-6E8A-4147-A177-3AD203B41FA5}">
                      <a16:colId xmlns:a16="http://schemas.microsoft.com/office/drawing/2014/main" val="719013060"/>
                    </a:ext>
                  </a:extLst>
                </a:gridCol>
                <a:gridCol w="506842">
                  <a:extLst>
                    <a:ext uri="{9D8B030D-6E8A-4147-A177-3AD203B41FA5}">
                      <a16:colId xmlns:a16="http://schemas.microsoft.com/office/drawing/2014/main" val="4013251557"/>
                    </a:ext>
                  </a:extLst>
                </a:gridCol>
                <a:gridCol w="1005840">
                  <a:extLst>
                    <a:ext uri="{9D8B030D-6E8A-4147-A177-3AD203B41FA5}">
                      <a16:colId xmlns:a16="http://schemas.microsoft.com/office/drawing/2014/main" val="3404532552"/>
                    </a:ext>
                  </a:extLst>
                </a:gridCol>
                <a:gridCol w="1188720">
                  <a:extLst>
                    <a:ext uri="{9D8B030D-6E8A-4147-A177-3AD203B41FA5}">
                      <a16:colId xmlns:a16="http://schemas.microsoft.com/office/drawing/2014/main" val="1565155549"/>
                    </a:ext>
                  </a:extLst>
                </a:gridCol>
                <a:gridCol w="2468880">
                  <a:extLst>
                    <a:ext uri="{9D8B030D-6E8A-4147-A177-3AD203B41FA5}">
                      <a16:colId xmlns:a16="http://schemas.microsoft.com/office/drawing/2014/main" val="2155681977"/>
                    </a:ext>
                  </a:extLst>
                </a:gridCol>
              </a:tblGrid>
              <a:tr h="235436">
                <a:tc>
                  <a:txBody>
                    <a:bodyPr/>
                    <a:lstStyle/>
                    <a:p>
                      <a:pPr algn="ctr" rtl="0" fontAlgn="ctr">
                        <a:buNone/>
                      </a:pPr>
                      <a:r>
                        <a:rPr lang="en-MY" sz="1100" b="1" i="0" u="none" strike="noStrike">
                          <a:solidFill>
                            <a:schemeClr val="bg1"/>
                          </a:solidFill>
                          <a:effectLst/>
                          <a:latin typeface="+mn-lt"/>
                        </a:rPr>
                        <a:t>No.</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l" rtl="0" fontAlgn="ctr">
                        <a:buNone/>
                      </a:pPr>
                      <a:r>
                        <a:rPr lang="en-MY" sz="1100" b="1" i="0" u="none" strike="noStrike">
                          <a:solidFill>
                            <a:schemeClr val="bg1"/>
                          </a:solidFill>
                          <a:effectLst/>
                          <a:latin typeface="+mn-lt"/>
                        </a:rPr>
                        <a:t>Name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ctr" rtl="0" fontAlgn="ctr">
                        <a:buNone/>
                      </a:pPr>
                      <a:r>
                        <a:rPr lang="en-MY" sz="1100" b="1" i="0" u="none" strike="noStrike">
                          <a:solidFill>
                            <a:schemeClr val="bg1"/>
                          </a:solidFill>
                          <a:effectLst/>
                          <a:latin typeface="+mn-lt"/>
                        </a:rPr>
                        <a:t>Age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l" rtl="0" fontAlgn="ctr">
                        <a:buNone/>
                      </a:pPr>
                      <a:r>
                        <a:rPr lang="en-US" sz="1100" b="1" i="0" u="none" strike="noStrike">
                          <a:solidFill>
                            <a:schemeClr val="bg1"/>
                          </a:solidFill>
                          <a:effectLst/>
                          <a:latin typeface="+mn-lt"/>
                        </a:rPr>
                        <a:t>P</a:t>
                      </a:r>
                      <a:r>
                        <a:rPr lang="en-MY" sz="1100" b="1" i="0" u="none" strike="noStrike">
                          <a:solidFill>
                            <a:schemeClr val="bg1"/>
                          </a:solidFill>
                          <a:effectLst/>
                          <a:latin typeface="+mn-lt"/>
                        </a:rPr>
                        <a:t>osition</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l" rtl="0" fontAlgn="ctr">
                        <a:buNone/>
                      </a:pPr>
                      <a:r>
                        <a:rPr lang="en-MY" sz="1100" b="1" i="0" u="none" strike="noStrike">
                          <a:solidFill>
                            <a:schemeClr val="bg1"/>
                          </a:solidFill>
                          <a:effectLst/>
                          <a:latin typeface="+mn-lt"/>
                        </a:rPr>
                        <a:t>Key Qualifications</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l" rtl="0" fontAlgn="ctr">
                        <a:buNone/>
                      </a:pPr>
                      <a:r>
                        <a:rPr lang="en-MY" sz="1100" b="1" i="0" u="none" strike="noStrike">
                          <a:solidFill>
                            <a:schemeClr val="bg1"/>
                          </a:solidFill>
                          <a:effectLst/>
                          <a:latin typeface="+mn-lt"/>
                        </a:rPr>
                        <a:t>Background &amp; Expertise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2547884139"/>
                  </a:ext>
                </a:extLst>
              </a:tr>
              <a:tr h="235436">
                <a:tc>
                  <a:txBody>
                    <a:bodyPr/>
                    <a:lstStyle/>
                    <a:p>
                      <a:pPr algn="ctr" fontAlgn="b">
                        <a:buNone/>
                      </a:pPr>
                      <a:r>
                        <a:rPr lang="en-MY" sz="1100" b="0" i="0" u="none" strike="noStrike">
                          <a:solidFill>
                            <a:srgbClr val="000000"/>
                          </a:solidFill>
                          <a:effectLst/>
                          <a:latin typeface="+mn-lt"/>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Dr. Lim Pang Kiam (Paul)</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62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Independent Non-Executive Chairman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mn-lt"/>
                        </a:rPr>
                        <a:t>PhD Business Admin, Fellow CIMA, MIA, CFP</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Banking &amp; Corporate Governance.</a:t>
                      </a:r>
                      <a:r>
                        <a:rPr lang="en-US" sz="1100" b="0" i="0" u="none" strike="noStrike">
                          <a:solidFill>
                            <a:srgbClr val="1F1F1F"/>
                          </a:solidFill>
                          <a:effectLst/>
                          <a:latin typeface="+mn-lt"/>
                        </a:rPr>
                        <a:t> Former Head of Corporate Banking for major banks. Holds multiple chairmanships (Engtex, SDS Group).</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7067755"/>
                  </a:ext>
                </a:extLst>
              </a:tr>
              <a:tr h="235436">
                <a:tc>
                  <a:txBody>
                    <a:bodyPr/>
                    <a:lstStyle/>
                    <a:p>
                      <a:pPr algn="ctr" fontAlgn="b">
                        <a:buNone/>
                      </a:pPr>
                      <a:r>
                        <a:rPr lang="en-MY" sz="1100" b="0" i="0" u="none" strike="noStrike">
                          <a:solidFill>
                            <a:srgbClr val="000000"/>
                          </a:solidFill>
                          <a:effectLst/>
                          <a:latin typeface="+mn-lt"/>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Lim Ooi Joo (Paul)</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72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MD &amp; Executive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0" i="0" u="none" strike="noStrike">
                          <a:solidFill>
                            <a:srgbClr val="1F1F1F"/>
                          </a:solidFill>
                          <a:effectLst/>
                          <a:latin typeface="+mn-lt"/>
                        </a:rPr>
                        <a:t>B.Sc. Civil Engineering (Canada)</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Construction Operations.</a:t>
                      </a:r>
                      <a:r>
                        <a:rPr lang="en-US" sz="1100" b="0" i="0" u="none" strike="noStrike">
                          <a:solidFill>
                            <a:srgbClr val="1F1F1F"/>
                          </a:solidFill>
                          <a:effectLst/>
                          <a:latin typeface="+mn-lt"/>
                        </a:rPr>
                        <a:t> 40+ years experience. Founded Inta Bina; former PWD engineer.</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6553421"/>
                  </a:ext>
                </a:extLst>
              </a:tr>
              <a:tr h="235436">
                <a:tc>
                  <a:txBody>
                    <a:bodyPr/>
                    <a:lstStyle/>
                    <a:p>
                      <a:pPr algn="ctr" fontAlgn="b">
                        <a:buNone/>
                      </a:pPr>
                      <a:r>
                        <a:rPr lang="en-MY" sz="1100" b="0" i="0" u="none" strike="noStrike">
                          <a:solidFill>
                            <a:srgbClr val="000000"/>
                          </a:solidFill>
                          <a:effectLst/>
                          <a:latin typeface="+mn-lt"/>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Teo Hock Choon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67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Deputy MD &amp; Executive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Dip. Tech (Building)</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Project Coordination.</a:t>
                      </a:r>
                      <a:r>
                        <a:rPr lang="en-US" sz="1100" b="0" i="0" u="none" strike="noStrike">
                          <a:solidFill>
                            <a:srgbClr val="1F1F1F"/>
                          </a:solidFill>
                          <a:effectLst/>
                          <a:latin typeface="+mn-lt"/>
                        </a:rPr>
                        <a:t> Veteran in construction; with Inta Bina since 1995.</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1450503"/>
                  </a:ext>
                </a:extLst>
              </a:tr>
              <a:tr h="235436">
                <a:tc>
                  <a:txBody>
                    <a:bodyPr/>
                    <a:lstStyle/>
                    <a:p>
                      <a:pPr algn="ctr" fontAlgn="b">
                        <a:buNone/>
                      </a:pPr>
                      <a:r>
                        <a:rPr lang="en-MY" sz="1100" b="0" i="0" u="none" strike="noStrike">
                          <a:solidFill>
                            <a:srgbClr val="000000"/>
                          </a:solidFill>
                          <a:effectLst/>
                          <a:latin typeface="+mn-lt"/>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Ahmad Bin Awi</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55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Executive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OHSAS Safety Certification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Safety &amp; Field Operations.</a:t>
                      </a:r>
                      <a:r>
                        <a:rPr lang="en-US" sz="1100" b="0" i="0" u="none" strike="noStrike">
                          <a:solidFill>
                            <a:srgbClr val="1F1F1F"/>
                          </a:solidFill>
                          <a:effectLst/>
                          <a:latin typeface="+mn-lt"/>
                        </a:rPr>
                        <a:t> Rose from Tower Crane Operator to Director; safety specialist.</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2109723"/>
                  </a:ext>
                </a:extLst>
              </a:tr>
              <a:tr h="235436">
                <a:tc>
                  <a:txBody>
                    <a:bodyPr/>
                    <a:lstStyle/>
                    <a:p>
                      <a:pPr algn="ctr" fontAlgn="b">
                        <a:buNone/>
                      </a:pPr>
                      <a:r>
                        <a:rPr lang="en-MY" sz="1100" b="0" i="0" u="none" strike="noStrike">
                          <a:solidFill>
                            <a:srgbClr val="000000"/>
                          </a:solidFill>
                          <a:effectLst/>
                          <a:latin typeface="+mn-lt"/>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Chau Yik Mun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52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Executive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B.Eng (Civil)</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Civil Engineering.</a:t>
                      </a:r>
                      <a:r>
                        <a:rPr lang="en-US" sz="1100" b="0" i="0" u="none" strike="noStrike">
                          <a:solidFill>
                            <a:srgbClr val="1F1F1F"/>
                          </a:solidFill>
                          <a:effectLst/>
                          <a:latin typeface="+mn-lt"/>
                        </a:rPr>
                        <a:t> Career growth from Site Supervisor to Project Director over 25 years.</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780695"/>
                  </a:ext>
                </a:extLst>
              </a:tr>
              <a:tr h="235436">
                <a:tc>
                  <a:txBody>
                    <a:bodyPr/>
                    <a:lstStyle/>
                    <a:p>
                      <a:pPr algn="ctr" fontAlgn="b">
                        <a:buNone/>
                      </a:pPr>
                      <a:r>
                        <a:rPr lang="en-MY" sz="1100" b="0" i="0" u="none" strike="noStrike">
                          <a:solidFill>
                            <a:srgbClr val="000000"/>
                          </a:solidFill>
                          <a:effectLst/>
                          <a:latin typeface="+mn-lt"/>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Yap Yoon Kong</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68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Senior Independent Non-Exec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B.Acc (UM), MBA (UK), MIA</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Finance &amp; Banking.</a:t>
                      </a:r>
                      <a:r>
                        <a:rPr lang="en-US" sz="1100" b="0" i="0" u="none" strike="noStrike">
                          <a:solidFill>
                            <a:srgbClr val="1F1F1F"/>
                          </a:solidFill>
                          <a:effectLst/>
                          <a:latin typeface="+mn-lt"/>
                        </a:rPr>
                        <a:t> Former Finance Director of PJ Development Holdings; banking veteran.</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6945454"/>
                  </a:ext>
                </a:extLst>
              </a:tr>
              <a:tr h="235436">
                <a:tc>
                  <a:txBody>
                    <a:bodyPr/>
                    <a:lstStyle/>
                    <a:p>
                      <a:pPr algn="ctr" fontAlgn="b">
                        <a:buNone/>
                      </a:pPr>
                      <a:r>
                        <a:rPr lang="en-MY" sz="1100" b="0" i="0" u="none" strike="noStrike">
                          <a:solidFill>
                            <a:srgbClr val="000000"/>
                          </a:solidFill>
                          <a:effectLst/>
                          <a:latin typeface="+mn-lt"/>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it-IT" sz="1100" b="0" i="0" u="none" strike="noStrike">
                          <a:solidFill>
                            <a:srgbClr val="1F1F1F"/>
                          </a:solidFill>
                          <a:effectLst/>
                          <a:latin typeface="+mn-lt"/>
                        </a:rPr>
                        <a:t>Dato' Leanne Koh Li Ann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52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Independent Non-Executive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B.Com &amp; LLB (Australia)</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Tax &amp; Legal.</a:t>
                      </a:r>
                      <a:r>
                        <a:rPr lang="en-US" sz="1100" b="0" i="0" u="none" strike="noStrike">
                          <a:solidFill>
                            <a:srgbClr val="1F1F1F"/>
                          </a:solidFill>
                          <a:effectLst/>
                          <a:latin typeface="+mn-lt"/>
                        </a:rPr>
                        <a:t> Former Tax Partner at KPMG; specialist in M&amp;A, corporate tax, and restructuring.</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1306206"/>
                  </a:ext>
                </a:extLst>
              </a:tr>
              <a:tr h="235436">
                <a:tc>
                  <a:txBody>
                    <a:bodyPr/>
                    <a:lstStyle/>
                    <a:p>
                      <a:pPr algn="ctr" fontAlgn="b">
                        <a:buNone/>
                      </a:pPr>
                      <a:r>
                        <a:rPr lang="en-MY" sz="1100" b="0" i="0" u="none" strike="noStrike">
                          <a:solidFill>
                            <a:srgbClr val="000000"/>
                          </a:solidFill>
                          <a:effectLst/>
                          <a:latin typeface="+mn-lt"/>
                        </a:rPr>
                        <a:t>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Au Foong Yee</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68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Independent Non-Executive Director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Editor Emeritus (The Edge)</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100" b="1" i="0" u="none" strike="noStrike">
                          <a:solidFill>
                            <a:srgbClr val="1F1F1F"/>
                          </a:solidFill>
                          <a:effectLst/>
                          <a:latin typeface="+mn-lt"/>
                        </a:rPr>
                        <a:t>Real Estate &amp; Media.</a:t>
                      </a:r>
                      <a:r>
                        <a:rPr lang="en-US" sz="1100" b="0" i="0" u="none" strike="noStrike">
                          <a:solidFill>
                            <a:srgbClr val="1F1F1F"/>
                          </a:solidFill>
                          <a:effectLst/>
                          <a:latin typeface="+mn-lt"/>
                        </a:rPr>
                        <a:t> Former MD of The Edge Property; property market expert and industry judge.</a:t>
                      </a:r>
                      <a:endParaRPr lang="en-US" sz="1100" b="1" i="0" u="none" strike="noStrike">
                        <a:solidFill>
                          <a:srgbClr val="1F1F1F"/>
                        </a:solidFill>
                        <a:effectLst/>
                        <a:latin typeface="+mn-lt"/>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9854717"/>
                  </a:ext>
                </a:extLst>
              </a:tr>
            </a:tbl>
          </a:graphicData>
        </a:graphic>
      </p:graphicFrame>
      <p:graphicFrame>
        <p:nvGraphicFramePr>
          <p:cNvPr id="16" name="Table 15">
            <a:extLst>
              <a:ext uri="{FF2B5EF4-FFF2-40B4-BE49-F238E27FC236}">
                <a16:creationId xmlns:a16="http://schemas.microsoft.com/office/drawing/2014/main" id="{7970A99B-838C-8567-46B6-CEF2AF54C2E6}"/>
              </a:ext>
            </a:extLst>
          </p:cNvPr>
          <p:cNvGraphicFramePr>
            <a:graphicFrameLocks noGrp="1"/>
          </p:cNvGraphicFramePr>
          <p:nvPr>
            <p:extLst>
              <p:ext uri="{D42A27DB-BD31-4B8C-83A1-F6EECF244321}">
                <p14:modId xmlns:p14="http://schemas.microsoft.com/office/powerpoint/2010/main" val="2905572982"/>
              </p:ext>
            </p:extLst>
          </p:nvPr>
        </p:nvGraphicFramePr>
        <p:xfrm>
          <a:off x="7317740" y="1222950"/>
          <a:ext cx="4678680" cy="3474720"/>
        </p:xfrm>
        <a:graphic>
          <a:graphicData uri="http://schemas.openxmlformats.org/drawingml/2006/table">
            <a:tbl>
              <a:tblPr/>
              <a:tblGrid>
                <a:gridCol w="406400">
                  <a:extLst>
                    <a:ext uri="{9D8B030D-6E8A-4147-A177-3AD203B41FA5}">
                      <a16:colId xmlns:a16="http://schemas.microsoft.com/office/drawing/2014/main" val="3075410356"/>
                    </a:ext>
                  </a:extLst>
                </a:gridCol>
                <a:gridCol w="1554480">
                  <a:extLst>
                    <a:ext uri="{9D8B030D-6E8A-4147-A177-3AD203B41FA5}">
                      <a16:colId xmlns:a16="http://schemas.microsoft.com/office/drawing/2014/main" val="532704335"/>
                    </a:ext>
                  </a:extLst>
                </a:gridCol>
                <a:gridCol w="431800">
                  <a:extLst>
                    <a:ext uri="{9D8B030D-6E8A-4147-A177-3AD203B41FA5}">
                      <a16:colId xmlns:a16="http://schemas.microsoft.com/office/drawing/2014/main" val="1549381129"/>
                    </a:ext>
                  </a:extLst>
                </a:gridCol>
                <a:gridCol w="2286000">
                  <a:extLst>
                    <a:ext uri="{9D8B030D-6E8A-4147-A177-3AD203B41FA5}">
                      <a16:colId xmlns:a16="http://schemas.microsoft.com/office/drawing/2014/main" val="3109957173"/>
                    </a:ext>
                  </a:extLst>
                </a:gridCol>
              </a:tblGrid>
              <a:tr h="457200">
                <a:tc>
                  <a:txBody>
                    <a:bodyPr/>
                    <a:lstStyle/>
                    <a:p>
                      <a:pPr algn="ctr" rtl="0" fontAlgn="ctr">
                        <a:buNone/>
                      </a:pPr>
                      <a:r>
                        <a:rPr lang="en-MY" sz="1100" b="1" i="0" u="none" strike="noStrike">
                          <a:solidFill>
                            <a:schemeClr val="bg1"/>
                          </a:solidFill>
                          <a:effectLst/>
                          <a:latin typeface="+mn-lt"/>
                        </a:rPr>
                        <a:t>No.</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l" rtl="0" fontAlgn="ctr">
                        <a:buNone/>
                      </a:pPr>
                      <a:r>
                        <a:rPr lang="en-MY" sz="1100" b="1" i="0" u="none" strike="noStrike">
                          <a:solidFill>
                            <a:schemeClr val="bg1"/>
                          </a:solidFill>
                          <a:effectLst/>
                          <a:latin typeface="+mn-lt"/>
                        </a:rPr>
                        <a:t>Name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ctr" rtl="0" fontAlgn="ctr">
                        <a:buNone/>
                      </a:pPr>
                      <a:r>
                        <a:rPr lang="en-MY" sz="1100" b="1" i="0" u="none" strike="noStrike">
                          <a:solidFill>
                            <a:schemeClr val="bg1"/>
                          </a:solidFill>
                          <a:effectLst/>
                          <a:latin typeface="+mn-lt"/>
                        </a:rPr>
                        <a:t>Age</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tc>
                  <a:txBody>
                    <a:bodyPr/>
                    <a:lstStyle/>
                    <a:p>
                      <a:pPr algn="l" rtl="0" fontAlgn="ctr">
                        <a:buNone/>
                      </a:pPr>
                      <a:r>
                        <a:rPr lang="en-MY" sz="1100" b="1" i="0" u="none" strike="noStrike">
                          <a:solidFill>
                            <a:schemeClr val="bg1"/>
                          </a:solidFill>
                          <a:effectLst/>
                          <a:latin typeface="+mn-lt"/>
                        </a:rPr>
                        <a:t>Position</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90000"/>
                        <a:lumOff val="10000"/>
                      </a:schemeClr>
                    </a:solidFill>
                  </a:tcPr>
                </a:tc>
                <a:extLst>
                  <a:ext uri="{0D108BD9-81ED-4DB2-BD59-A6C34878D82A}">
                    <a16:rowId xmlns:a16="http://schemas.microsoft.com/office/drawing/2014/main" val="2297107462"/>
                  </a:ext>
                </a:extLst>
              </a:tr>
              <a:tr h="274320">
                <a:tc>
                  <a:txBody>
                    <a:bodyPr/>
                    <a:lstStyle/>
                    <a:p>
                      <a:pPr algn="ctr" fontAlgn="b">
                        <a:buNone/>
                      </a:pPr>
                      <a:r>
                        <a:rPr lang="en-MY" sz="1100" b="0" i="0" u="none" strike="noStrike">
                          <a:solidFill>
                            <a:srgbClr val="000000"/>
                          </a:solidFill>
                          <a:effectLst/>
                          <a:latin typeface="+mn-lt"/>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Ong Tiau Siang</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47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General Manager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7224213"/>
                  </a:ext>
                </a:extLst>
              </a:tr>
              <a:tr h="274320">
                <a:tc>
                  <a:txBody>
                    <a:bodyPr/>
                    <a:lstStyle/>
                    <a:p>
                      <a:pPr algn="ctr" fontAlgn="b">
                        <a:buNone/>
                      </a:pPr>
                      <a:r>
                        <a:rPr lang="en-MY" sz="1100" b="0" i="0" u="none" strike="noStrike">
                          <a:solidFill>
                            <a:srgbClr val="000000"/>
                          </a:solidFill>
                          <a:effectLst/>
                          <a:latin typeface="+mn-lt"/>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Sim Yin Joon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51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General Manager, Special Project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7575955"/>
                  </a:ext>
                </a:extLst>
              </a:tr>
              <a:tr h="274320">
                <a:tc>
                  <a:txBody>
                    <a:bodyPr/>
                    <a:lstStyle/>
                    <a:p>
                      <a:pPr algn="ctr" fontAlgn="b">
                        <a:buNone/>
                      </a:pPr>
                      <a:r>
                        <a:rPr lang="en-MY" sz="1100" b="0" i="0" u="none" strike="noStrike">
                          <a:solidFill>
                            <a:srgbClr val="000000"/>
                          </a:solidFill>
                          <a:effectLst/>
                          <a:latin typeface="+mn-lt"/>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Lee Yih</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49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General Manager, Contract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0956843"/>
                  </a:ext>
                </a:extLst>
              </a:tr>
              <a:tr h="274320">
                <a:tc>
                  <a:txBody>
                    <a:bodyPr/>
                    <a:lstStyle/>
                    <a:p>
                      <a:pPr algn="ctr" fontAlgn="b">
                        <a:buNone/>
                      </a:pPr>
                      <a:r>
                        <a:rPr lang="en-MY" sz="1100" b="0" i="0" u="none" strike="noStrike">
                          <a:solidFill>
                            <a:srgbClr val="000000"/>
                          </a:solidFill>
                          <a:effectLst/>
                          <a:latin typeface="+mn-lt"/>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Chin Shiau Yin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42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Financial Controller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6804839"/>
                  </a:ext>
                </a:extLst>
              </a:tr>
              <a:tr h="274320">
                <a:tc>
                  <a:txBody>
                    <a:bodyPr/>
                    <a:lstStyle/>
                    <a:p>
                      <a:pPr algn="ctr" fontAlgn="b">
                        <a:buNone/>
                      </a:pPr>
                      <a:r>
                        <a:rPr lang="en-MY" sz="1100" b="0" i="0" u="none" strike="noStrike">
                          <a:solidFill>
                            <a:srgbClr val="000000"/>
                          </a:solidFill>
                          <a:effectLst/>
                          <a:latin typeface="+mn-lt"/>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Foong Jyi Chyuan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43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Deputy General Manager, Contract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3417154"/>
                  </a:ext>
                </a:extLst>
              </a:tr>
              <a:tr h="274320">
                <a:tc>
                  <a:txBody>
                    <a:bodyPr/>
                    <a:lstStyle/>
                    <a:p>
                      <a:pPr algn="ctr" fontAlgn="b">
                        <a:buNone/>
                      </a:pPr>
                      <a:r>
                        <a:rPr lang="en-MY" sz="1100" b="0" i="0" u="none" strike="noStrike">
                          <a:solidFill>
                            <a:srgbClr val="000000"/>
                          </a:solidFill>
                          <a:effectLst/>
                          <a:latin typeface="+mn-lt"/>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Ling Tong Hook</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62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General Manager, Project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0000573"/>
                  </a:ext>
                </a:extLst>
              </a:tr>
              <a:tr h="274320">
                <a:tc>
                  <a:txBody>
                    <a:bodyPr/>
                    <a:lstStyle/>
                    <a:p>
                      <a:pPr algn="ctr" fontAlgn="b">
                        <a:buNone/>
                      </a:pPr>
                      <a:r>
                        <a:rPr lang="en-MY" sz="1100" b="0" i="0" u="none" strike="noStrike">
                          <a:solidFill>
                            <a:srgbClr val="000000"/>
                          </a:solidFill>
                          <a:effectLst/>
                          <a:latin typeface="+mn-lt"/>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Lau Kwai Ban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43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Deputy General Manager, Project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68685360"/>
                  </a:ext>
                </a:extLst>
              </a:tr>
              <a:tr h="274320">
                <a:tc>
                  <a:txBody>
                    <a:bodyPr/>
                    <a:lstStyle/>
                    <a:p>
                      <a:pPr algn="ctr" fontAlgn="b">
                        <a:buNone/>
                      </a:pPr>
                      <a:r>
                        <a:rPr lang="en-MY" sz="1100" b="0" i="0" u="none" strike="noStrike">
                          <a:solidFill>
                            <a:srgbClr val="000000"/>
                          </a:solidFill>
                          <a:effectLst/>
                          <a:latin typeface="+mn-lt"/>
                        </a:rPr>
                        <a:t>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Kua Ka Cun</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40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Senior Purchasing Manager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321265"/>
                  </a:ext>
                </a:extLst>
              </a:tr>
              <a:tr h="274320">
                <a:tc>
                  <a:txBody>
                    <a:bodyPr/>
                    <a:lstStyle/>
                    <a:p>
                      <a:pPr algn="ctr" fontAlgn="b">
                        <a:buNone/>
                      </a:pPr>
                      <a:r>
                        <a:rPr lang="en-MY" sz="1100" b="0" i="0" u="none" strike="noStrike">
                          <a:solidFill>
                            <a:srgbClr val="000000"/>
                          </a:solidFill>
                          <a:effectLst/>
                          <a:latin typeface="+mn-lt"/>
                        </a:rPr>
                        <a:t>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Norazharudin Bin Omar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MY" sz="1100" b="0" i="0" u="none" strike="noStrike">
                          <a:solidFill>
                            <a:srgbClr val="000000"/>
                          </a:solidFill>
                          <a:effectLst/>
                          <a:latin typeface="+mn-lt"/>
                        </a:rPr>
                        <a:t>41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MY" sz="1100" b="0" i="0" u="none" strike="noStrike">
                          <a:solidFill>
                            <a:srgbClr val="000000"/>
                          </a:solidFill>
                          <a:effectLst/>
                          <a:latin typeface="+mn-lt"/>
                        </a:rPr>
                        <a:t>Deputy General Manager, Project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5018305"/>
                  </a:ext>
                </a:extLst>
              </a:tr>
              <a:tr h="274320">
                <a:tc>
                  <a:txBody>
                    <a:bodyPr/>
                    <a:lstStyle/>
                    <a:p>
                      <a:pPr algn="ctr" fontAlgn="b">
                        <a:buNone/>
                      </a:pPr>
                      <a:r>
                        <a:rPr lang="en-MY" sz="1100" b="0" i="0" u="none" strike="noStrike">
                          <a:solidFill>
                            <a:srgbClr val="000000"/>
                          </a:solidFill>
                          <a:effectLst/>
                          <a:latin typeface="+mn-lt"/>
                        </a:rPr>
                        <a:t>10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Cheng Lay Ngo</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50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Human Resource Manager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5932869"/>
                  </a:ext>
                </a:extLst>
              </a:tr>
              <a:tr h="274320">
                <a:tc>
                  <a:txBody>
                    <a:bodyPr/>
                    <a:lstStyle/>
                    <a:p>
                      <a:pPr algn="ctr" fontAlgn="b">
                        <a:buNone/>
                      </a:pPr>
                      <a:r>
                        <a:rPr lang="en-MY" sz="1100" b="0" i="0" u="none" strike="noStrike">
                          <a:solidFill>
                            <a:srgbClr val="000000"/>
                          </a:solidFill>
                          <a:effectLst/>
                          <a:latin typeface="+mn-lt"/>
                        </a:rPr>
                        <a:t>11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Lee Kam Weng</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MY" sz="1100" b="0" i="0" u="none" strike="noStrike">
                          <a:solidFill>
                            <a:srgbClr val="1F1F1F"/>
                          </a:solidFill>
                          <a:effectLst/>
                          <a:latin typeface="+mn-lt"/>
                        </a:rPr>
                        <a:t>44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MY" sz="1100" b="0" i="0" u="none" strike="noStrike">
                          <a:solidFill>
                            <a:srgbClr val="1F1F1F"/>
                          </a:solidFill>
                          <a:effectLst/>
                          <a:latin typeface="+mn-lt"/>
                        </a:rPr>
                        <a:t>Assistant Finance Manager</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4094810"/>
                  </a:ext>
                </a:extLst>
              </a:tr>
            </a:tbl>
          </a:graphicData>
        </a:graphic>
      </p:graphicFrame>
      <p:sp>
        <p:nvSpPr>
          <p:cNvPr id="5" name="TextBox 4">
            <a:extLst>
              <a:ext uri="{FF2B5EF4-FFF2-40B4-BE49-F238E27FC236}">
                <a16:creationId xmlns:a16="http://schemas.microsoft.com/office/drawing/2014/main" id="{71B4EE8A-34B8-2F85-7050-0D36C05704BB}"/>
              </a:ext>
            </a:extLst>
          </p:cNvPr>
          <p:cNvSpPr txBox="1"/>
          <p:nvPr/>
        </p:nvSpPr>
        <p:spPr>
          <a:xfrm>
            <a:off x="428208" y="773454"/>
            <a:ext cx="6096000" cy="338554"/>
          </a:xfrm>
          <a:prstGeom prst="rect">
            <a:avLst/>
          </a:prstGeom>
          <a:noFill/>
        </p:spPr>
        <p:txBody>
          <a:bodyPr wrap="square">
            <a:spAutoFit/>
          </a:bodyPr>
          <a:lstStyle/>
          <a:p>
            <a:pPr marL="342900" indent="-342900" algn="just">
              <a:spcBef>
                <a:spcPts val="300"/>
              </a:spcBef>
              <a:spcAft>
                <a:spcPts val="300"/>
              </a:spcAft>
              <a:buFont typeface="+mj-lt"/>
              <a:buAutoNum type="arabicPeriod" startAt="9"/>
            </a:pPr>
            <a:r>
              <a:rPr lang="en-US" sz="1600" b="1"/>
              <a:t>Leadership and Management Team</a:t>
            </a:r>
          </a:p>
        </p:txBody>
      </p:sp>
      <p:sp>
        <p:nvSpPr>
          <p:cNvPr id="2" name="Slide Number Placeholder 2">
            <a:extLst>
              <a:ext uri="{FF2B5EF4-FFF2-40B4-BE49-F238E27FC236}">
                <a16:creationId xmlns:a16="http://schemas.microsoft.com/office/drawing/2014/main" id="{2CACC99F-24AF-F0DC-5014-7F8030D71387}"/>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31</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2440789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A3A06-F019-71EA-A426-199688DB4F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C2C92F-0F6A-76BF-8380-1E17CF2CA260}"/>
              </a:ext>
            </a:extLst>
          </p:cNvPr>
          <p:cNvSpPr txBox="1"/>
          <p:nvPr/>
        </p:nvSpPr>
        <p:spPr>
          <a:xfrm>
            <a:off x="274320" y="219456"/>
            <a:ext cx="2580386" cy="553998"/>
          </a:xfrm>
          <a:prstGeom prst="rect">
            <a:avLst/>
          </a:prstGeom>
          <a:noFill/>
        </p:spPr>
        <p:txBody>
          <a:bodyPr wrap="none" rtlCol="0">
            <a:spAutoFit/>
          </a:bodyPr>
          <a:lstStyle/>
          <a:p>
            <a:r>
              <a:rPr lang="en-US" sz="3000" b="1"/>
              <a:t>Key Takeaway</a:t>
            </a:r>
            <a:endParaRPr lang="en-MY" sz="3000" b="1"/>
          </a:p>
        </p:txBody>
      </p:sp>
      <p:sp>
        <p:nvSpPr>
          <p:cNvPr id="3" name="TextBox 2">
            <a:extLst>
              <a:ext uri="{FF2B5EF4-FFF2-40B4-BE49-F238E27FC236}">
                <a16:creationId xmlns:a16="http://schemas.microsoft.com/office/drawing/2014/main" id="{0DB253C3-C0C5-19CB-9A97-CCB6301B9A14}"/>
              </a:ext>
            </a:extLst>
          </p:cNvPr>
          <p:cNvSpPr txBox="1"/>
          <p:nvPr/>
        </p:nvSpPr>
        <p:spPr>
          <a:xfrm>
            <a:off x="388620" y="1014892"/>
            <a:ext cx="8031480" cy="5207708"/>
          </a:xfrm>
          <a:prstGeom prst="rect">
            <a:avLst/>
          </a:prstGeom>
          <a:noFill/>
        </p:spPr>
        <p:txBody>
          <a:bodyPr wrap="square">
            <a:spAutoFit/>
          </a:bodyPr>
          <a:lstStyle/>
          <a:p>
            <a:pPr marL="342900" marR="0" indent="-342900" algn="just">
              <a:lnSpc>
                <a:spcPct val="115000"/>
              </a:lnSpc>
              <a:spcBef>
                <a:spcPts val="300"/>
              </a:spcBef>
              <a:spcAft>
                <a:spcPts val="300"/>
              </a:spcAft>
              <a:buFont typeface="+mj-lt"/>
              <a:buAutoNum type="arabicPeriod" startAt="10"/>
            </a:pPr>
            <a:r>
              <a:rPr lang="en-US" sz="1600" b="1"/>
              <a:t>Key Risks</a:t>
            </a:r>
          </a:p>
          <a:p>
            <a:pPr marL="285750" marR="0" indent="-285750" algn="just">
              <a:lnSpc>
                <a:spcPct val="115000"/>
              </a:lnSpc>
              <a:spcBef>
                <a:spcPts val="300"/>
              </a:spcBef>
              <a:spcAft>
                <a:spcPts val="3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Subject to regulatory requirements. </a:t>
            </a:r>
            <a:r>
              <a:rPr lang="en-US" sz="1400" kern="100">
                <a:effectLst/>
                <a:ea typeface="Calibri" panose="020F0502020204030204" pitchFamily="34" charset="0"/>
                <a:cs typeface="Times New Roman" panose="02020603050405020304" pitchFamily="18" charset="0"/>
              </a:rPr>
              <a:t>As a registered G7 contractor, INTA’s operations are subject to various laws and regulations, including construction licensing, safety, environmental, and industrial compliance. Non-adherence to regulatory standards may result in penalties, suspension of licenses, or disqualification from future tenders, impacting operational continuity and financial performance.</a:t>
            </a:r>
          </a:p>
          <a:p>
            <a:pPr marL="285750" marR="0" indent="-285750" algn="just">
              <a:lnSpc>
                <a:spcPct val="115000"/>
              </a:lnSpc>
              <a:spcBef>
                <a:spcPts val="300"/>
              </a:spcBef>
              <a:spcAft>
                <a:spcPts val="3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Dependent on Executive Directors and key senior management. </a:t>
            </a:r>
            <a:r>
              <a:rPr lang="en-US" sz="1400" kern="100">
                <a:effectLst/>
                <a:ea typeface="Calibri" panose="020F0502020204030204" pitchFamily="34" charset="0"/>
                <a:cs typeface="Times New Roman" panose="02020603050405020304" pitchFamily="18" charset="0"/>
              </a:rPr>
              <a:t>The group relies significantly on the experience and leadership of its Executive Directors and senior management team. Loss of any key personnel without timely and effective succession planning could disrupt project execution and strategic direction, adversely affecting business stability. </a:t>
            </a:r>
          </a:p>
          <a:p>
            <a:pPr marL="285750" marR="0" indent="-285750" algn="just">
              <a:lnSpc>
                <a:spcPct val="115000"/>
              </a:lnSpc>
              <a:spcBef>
                <a:spcPts val="300"/>
              </a:spcBef>
              <a:spcAft>
                <a:spcPts val="3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Dependent on ability to replenish orderbook. </a:t>
            </a:r>
            <a:r>
              <a:rPr lang="en-US" sz="1400" kern="100">
                <a:effectLst/>
                <a:ea typeface="Calibri" panose="020F0502020204030204" pitchFamily="34" charset="0"/>
                <a:cs typeface="Times New Roman" panose="02020603050405020304" pitchFamily="18" charset="0"/>
              </a:rPr>
              <a:t>INTA’s profitability depends on its ability to clinch new contracts and therefore, any delay in launches of its clients may potentially lead to a sluggish job replenishment trend.</a:t>
            </a:r>
          </a:p>
          <a:p>
            <a:pPr marL="285750" marR="0" indent="-285750" algn="just">
              <a:lnSpc>
                <a:spcPct val="115000"/>
              </a:lnSpc>
              <a:spcBef>
                <a:spcPts val="300"/>
              </a:spcBef>
              <a:spcAft>
                <a:spcPts val="3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Escalation of construction costs and material prices. </a:t>
            </a:r>
            <a:r>
              <a:rPr lang="en-US" sz="1400" kern="100">
                <a:effectLst/>
                <a:ea typeface="Calibri" panose="020F0502020204030204" pitchFamily="34" charset="0"/>
                <a:cs typeface="Times New Roman" panose="02020603050405020304" pitchFamily="18" charset="0"/>
              </a:rPr>
              <a:t>The group is also exposed to fluctuations in raw material prices. The key raw materials used include cement and steel, and manufacturers of such raw materials may pass on the cost to customers such as INTA. </a:t>
            </a:r>
          </a:p>
          <a:p>
            <a:pPr marL="285750" marR="0" indent="-285750" algn="just">
              <a:lnSpc>
                <a:spcPct val="115000"/>
              </a:lnSpc>
              <a:spcBef>
                <a:spcPts val="300"/>
              </a:spcBef>
              <a:spcAft>
                <a:spcPts val="300"/>
              </a:spcAft>
              <a:buSzPct val="60000"/>
              <a:buFont typeface="Wingdings" panose="05000000000000000000" pitchFamily="2" charset="2"/>
              <a:buChar char="q"/>
            </a:pPr>
            <a:r>
              <a:rPr lang="en-US" sz="1400" b="1" kern="100">
                <a:effectLst/>
                <a:ea typeface="Calibri" panose="020F0502020204030204" pitchFamily="34" charset="0"/>
                <a:cs typeface="Times New Roman" panose="02020603050405020304" pitchFamily="18" charset="0"/>
              </a:rPr>
              <a:t>Reliance on foreign workers. </a:t>
            </a:r>
            <a:r>
              <a:rPr lang="en-US" sz="1400" kern="100">
                <a:effectLst/>
                <a:ea typeface="Calibri" panose="020F0502020204030204" pitchFamily="34" charset="0"/>
                <a:cs typeface="Times New Roman" panose="02020603050405020304" pitchFamily="18" charset="0"/>
              </a:rPr>
              <a:t>As INTA depends on foreign </a:t>
            </a:r>
            <a:r>
              <a:rPr lang="en-US" sz="1400" kern="100" err="1">
                <a:effectLst/>
                <a:ea typeface="Calibri" panose="020F0502020204030204" pitchFamily="34" charset="0"/>
                <a:cs typeface="Times New Roman" panose="02020603050405020304" pitchFamily="18" charset="0"/>
              </a:rPr>
              <a:t>labour</a:t>
            </a:r>
            <a:r>
              <a:rPr lang="en-US" sz="1400" kern="100">
                <a:effectLst/>
                <a:ea typeface="Calibri" panose="020F0502020204030204" pitchFamily="34" charset="0"/>
                <a:cs typeface="Times New Roman" panose="02020603050405020304" pitchFamily="18" charset="0"/>
              </a:rPr>
              <a:t> to execute its jobs, any sudden shortages may pose a risk in the form of delays and cost overrun. This would dampen the group’s profitability.</a:t>
            </a:r>
          </a:p>
        </p:txBody>
      </p:sp>
      <p:pic>
        <p:nvPicPr>
          <p:cNvPr id="8" name="Picture 7">
            <a:extLst>
              <a:ext uri="{FF2B5EF4-FFF2-40B4-BE49-F238E27FC236}">
                <a16:creationId xmlns:a16="http://schemas.microsoft.com/office/drawing/2014/main" id="{A089172D-A392-1240-107B-DC36E64F07D2}"/>
              </a:ext>
            </a:extLst>
          </p:cNvPr>
          <p:cNvPicPr>
            <a:picLocks noChangeAspect="1"/>
          </p:cNvPicPr>
          <p:nvPr/>
        </p:nvPicPr>
        <p:blipFill rotWithShape="1">
          <a:blip r:embed="rId2"/>
          <a:srcRect l="32167" t="7354" r="40765" b="13979"/>
          <a:stretch/>
        </p:blipFill>
        <p:spPr>
          <a:xfrm>
            <a:off x="9017000" y="0"/>
            <a:ext cx="3174999" cy="6858000"/>
          </a:xfrm>
          <a:prstGeom prst="rect">
            <a:avLst/>
          </a:prstGeom>
        </p:spPr>
      </p:pic>
      <p:sp>
        <p:nvSpPr>
          <p:cNvPr id="2" name="Slide Number Placeholder 2">
            <a:extLst>
              <a:ext uri="{FF2B5EF4-FFF2-40B4-BE49-F238E27FC236}">
                <a16:creationId xmlns:a16="http://schemas.microsoft.com/office/drawing/2014/main" id="{024C70A9-95F2-B24A-5320-E220BB984779}"/>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32</a:t>
            </a:fld>
            <a:endParaRPr lang="en-US" sz="1200">
              <a:solidFill>
                <a:schemeClr val="tx2">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1327863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D0A3-BD4F-9B51-59DE-027B124176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0E2020-0885-7B99-B05A-CC7D986797CA}"/>
              </a:ext>
            </a:extLst>
          </p:cNvPr>
          <p:cNvSpPr txBox="1"/>
          <p:nvPr/>
        </p:nvSpPr>
        <p:spPr>
          <a:xfrm>
            <a:off x="274320" y="219456"/>
            <a:ext cx="7421519" cy="553998"/>
          </a:xfrm>
          <a:prstGeom prst="rect">
            <a:avLst/>
          </a:prstGeom>
          <a:noFill/>
        </p:spPr>
        <p:txBody>
          <a:bodyPr wrap="none" rtlCol="0">
            <a:spAutoFit/>
          </a:bodyPr>
          <a:lstStyle/>
          <a:p>
            <a:r>
              <a:rPr lang="en-US" sz="3000" b="1"/>
              <a:t>Market Capitalisation &amp; Valuation Metrics</a:t>
            </a:r>
            <a:endParaRPr lang="en-MY" sz="3000" b="1"/>
          </a:p>
        </p:txBody>
      </p:sp>
      <p:pic>
        <p:nvPicPr>
          <p:cNvPr id="7" name="Picture 6">
            <a:extLst>
              <a:ext uri="{FF2B5EF4-FFF2-40B4-BE49-F238E27FC236}">
                <a16:creationId xmlns:a16="http://schemas.microsoft.com/office/drawing/2014/main" id="{D9B48078-8B03-F007-AB5A-67F5329BF836}"/>
              </a:ext>
            </a:extLst>
          </p:cNvPr>
          <p:cNvPicPr>
            <a:picLocks noChangeAspect="1"/>
          </p:cNvPicPr>
          <p:nvPr/>
        </p:nvPicPr>
        <p:blipFill>
          <a:blip r:embed="rId2"/>
          <a:stretch>
            <a:fillRect/>
          </a:stretch>
        </p:blipFill>
        <p:spPr>
          <a:xfrm>
            <a:off x="417196" y="1655477"/>
            <a:ext cx="5529580" cy="4410493"/>
          </a:xfrm>
          <a:prstGeom prst="rect">
            <a:avLst/>
          </a:prstGeom>
          <a:ln w="19050">
            <a:solidFill>
              <a:schemeClr val="tx1"/>
            </a:solidFill>
          </a:ln>
        </p:spPr>
      </p:pic>
      <p:graphicFrame>
        <p:nvGraphicFramePr>
          <p:cNvPr id="10" name="Table 9">
            <a:extLst>
              <a:ext uri="{FF2B5EF4-FFF2-40B4-BE49-F238E27FC236}">
                <a16:creationId xmlns:a16="http://schemas.microsoft.com/office/drawing/2014/main" id="{B9BF22A6-8B65-985F-EAA9-FADCADF392A6}"/>
              </a:ext>
            </a:extLst>
          </p:cNvPr>
          <p:cNvGraphicFramePr>
            <a:graphicFrameLocks noGrp="1"/>
          </p:cNvGraphicFramePr>
          <p:nvPr>
            <p:extLst>
              <p:ext uri="{D42A27DB-BD31-4B8C-83A1-F6EECF244321}">
                <p14:modId xmlns:p14="http://schemas.microsoft.com/office/powerpoint/2010/main" val="1124945798"/>
              </p:ext>
            </p:extLst>
          </p:nvPr>
        </p:nvGraphicFramePr>
        <p:xfrm>
          <a:off x="6096000" y="4251779"/>
          <a:ext cx="4241800" cy="243840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4089821962"/>
                    </a:ext>
                  </a:extLst>
                </a:gridCol>
                <a:gridCol w="1206500">
                  <a:extLst>
                    <a:ext uri="{9D8B030D-6E8A-4147-A177-3AD203B41FA5}">
                      <a16:colId xmlns:a16="http://schemas.microsoft.com/office/drawing/2014/main" val="2420049883"/>
                    </a:ext>
                  </a:extLst>
                </a:gridCol>
                <a:gridCol w="1206500">
                  <a:extLst>
                    <a:ext uri="{9D8B030D-6E8A-4147-A177-3AD203B41FA5}">
                      <a16:colId xmlns:a16="http://schemas.microsoft.com/office/drawing/2014/main" val="133567135"/>
                    </a:ext>
                  </a:extLst>
                </a:gridCol>
              </a:tblGrid>
              <a:tr h="266700">
                <a:tc>
                  <a:txBody>
                    <a:bodyPr/>
                    <a:lstStyle/>
                    <a:p>
                      <a:pPr algn="ctr" fontAlgn="b">
                        <a:buNone/>
                      </a:pPr>
                      <a:r>
                        <a:rPr lang="en-US" sz="1400" b="1" u="none" strike="noStrike">
                          <a:solidFill>
                            <a:schemeClr val="tx1"/>
                          </a:solidFill>
                          <a:effectLst/>
                        </a:rPr>
                        <a:t> </a:t>
                      </a:r>
                      <a:endParaRPr lang="en-US" sz="1400" b="1" i="0" u="none" strike="noStrike">
                        <a:solidFill>
                          <a:schemeClr val="tx1"/>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lumMod val="50000"/>
                      </a:schemeClr>
                    </a:solidFill>
                  </a:tcPr>
                </a:tc>
                <a:tc>
                  <a:txBody>
                    <a:bodyPr/>
                    <a:lstStyle/>
                    <a:p>
                      <a:pPr algn="ctr" fontAlgn="b">
                        <a:buNone/>
                      </a:pPr>
                      <a:r>
                        <a:rPr lang="en-US" sz="1400" u="none" strike="noStrike">
                          <a:solidFill>
                            <a:schemeClr val="bg1"/>
                          </a:solidFill>
                          <a:effectLst/>
                        </a:rPr>
                        <a:t>Binastra</a:t>
                      </a:r>
                      <a:endParaRPr lang="en-US" sz="1400" b="1" i="0" u="none" strike="noStrike">
                        <a:solidFill>
                          <a:schemeClr val="bg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accent1">
                        <a:lumMod val="50000"/>
                      </a:schemeClr>
                    </a:solidFill>
                  </a:tcPr>
                </a:tc>
                <a:tc>
                  <a:txBody>
                    <a:bodyPr/>
                    <a:lstStyle/>
                    <a:p>
                      <a:pPr algn="ctr" fontAlgn="b">
                        <a:buNone/>
                      </a:pPr>
                      <a:r>
                        <a:rPr lang="en-US" sz="1400" b="1" u="none" strike="noStrike">
                          <a:solidFill>
                            <a:schemeClr val="bg1"/>
                          </a:solidFill>
                          <a:effectLst/>
                        </a:rPr>
                        <a:t>Kerjaya</a:t>
                      </a:r>
                      <a:endParaRPr lang="en-US" sz="1400" b="1" i="0" u="none" strike="noStrike">
                        <a:solidFill>
                          <a:schemeClr val="bg1"/>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50000"/>
                      </a:schemeClr>
                    </a:solidFill>
                  </a:tcPr>
                </a:tc>
                <a:extLst>
                  <a:ext uri="{0D108BD9-81ED-4DB2-BD59-A6C34878D82A}">
                    <a16:rowId xmlns:a16="http://schemas.microsoft.com/office/drawing/2014/main" val="2699706153"/>
                  </a:ext>
                </a:extLst>
              </a:tr>
              <a:tr h="266700">
                <a:tc>
                  <a:txBody>
                    <a:bodyPr/>
                    <a:lstStyle/>
                    <a:p>
                      <a:pPr algn="l" fontAlgn="t">
                        <a:buNone/>
                      </a:pPr>
                      <a:r>
                        <a:rPr lang="en-US" sz="1400" u="none" strike="noStrike">
                          <a:effectLst/>
                        </a:rPr>
                        <a:t>52w</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1.600 - 2.500</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1.800 - 2.920</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133060891"/>
                  </a:ext>
                </a:extLst>
              </a:tr>
              <a:tr h="266700">
                <a:tc>
                  <a:txBody>
                    <a:bodyPr/>
                    <a:lstStyle/>
                    <a:p>
                      <a:pPr algn="l" fontAlgn="t">
                        <a:buNone/>
                      </a:pP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993034064"/>
                  </a:ext>
                </a:extLst>
              </a:tr>
              <a:tr h="266700">
                <a:tc>
                  <a:txBody>
                    <a:bodyPr/>
                    <a:lstStyle/>
                    <a:p>
                      <a:pPr algn="l" fontAlgn="t">
                        <a:buNone/>
                      </a:pPr>
                      <a:r>
                        <a:rPr lang="en-US" sz="1400" u="none" strike="noStrike">
                          <a:effectLst/>
                        </a:rPr>
                        <a:t>P/E</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20.95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16.99</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393149504"/>
                  </a:ext>
                </a:extLst>
              </a:tr>
              <a:tr h="266700">
                <a:tc>
                  <a:txBody>
                    <a:bodyPr/>
                    <a:lstStyle/>
                    <a:p>
                      <a:pPr algn="l" fontAlgn="t">
                        <a:buNone/>
                      </a:pPr>
                      <a:r>
                        <a:rPr lang="en-US" sz="1400" u="none" strike="noStrike">
                          <a:effectLst/>
                        </a:rPr>
                        <a:t>P/B</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7.86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2.90</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833021084"/>
                  </a:ext>
                </a:extLst>
              </a:tr>
              <a:tr h="266700">
                <a:tc>
                  <a:txBody>
                    <a:bodyPr/>
                    <a:lstStyle/>
                    <a:p>
                      <a:pPr algn="l" fontAlgn="t">
                        <a:buNone/>
                      </a:pPr>
                      <a:r>
                        <a:rPr lang="en-US" sz="1400" u="none" strike="noStrike">
                          <a:effectLst/>
                        </a:rPr>
                        <a:t>EV/EBITDA</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b="0" i="0" u="none" strike="noStrike">
                          <a:solidFill>
                            <a:srgbClr val="212529"/>
                          </a:solidFill>
                          <a:effectLst/>
                          <a:latin typeface="Aptos" panose="020B0004020202020204" pitchFamily="34" charset="0"/>
                        </a:rPr>
                        <a:t>13.77</a:t>
                      </a:r>
                    </a:p>
                  </a:txBody>
                  <a:tcPr marL="45720" marR="45720">
                    <a:noFill/>
                  </a:tcPr>
                </a:tc>
                <a:tc>
                  <a:txBody>
                    <a:bodyPr/>
                    <a:lstStyle/>
                    <a:p>
                      <a:pPr algn="ctr" fontAlgn="t">
                        <a:buNone/>
                      </a:pPr>
                      <a:r>
                        <a:rPr lang="en-US" sz="1400" b="0" i="0" u="none" strike="noStrike">
                          <a:solidFill>
                            <a:srgbClr val="212529"/>
                          </a:solidFill>
                          <a:effectLst/>
                          <a:latin typeface="Aptos" panose="020B0004020202020204" pitchFamily="34" charset="0"/>
                        </a:rPr>
                        <a:t>10.57</a:t>
                      </a: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80221447"/>
                  </a:ext>
                </a:extLst>
              </a:tr>
              <a:tr h="266700">
                <a:tc>
                  <a:txBody>
                    <a:bodyPr/>
                    <a:lstStyle/>
                    <a:p>
                      <a:pPr algn="l" fontAlgn="t">
                        <a:buNone/>
                      </a:pPr>
                      <a:r>
                        <a:rPr lang="en-US" sz="1400" u="none" strike="noStrike">
                          <a:effectLst/>
                        </a:rPr>
                        <a:t>Market Cap (RM’ mil) </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 2,433.7</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 3,434.5</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49879124"/>
                  </a:ext>
                </a:extLst>
              </a:tr>
              <a:tr h="266700">
                <a:tc>
                  <a:txBody>
                    <a:bodyPr/>
                    <a:lstStyle/>
                    <a:p>
                      <a:pPr algn="l" fontAlgn="t">
                        <a:buNone/>
                      </a:pPr>
                      <a:r>
                        <a:rPr lang="en-US" sz="1400" u="none" strike="noStrike">
                          <a:effectLst/>
                        </a:rPr>
                        <a:t>Shares (mil)</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1,091.35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1,267.21 </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878468"/>
                  </a:ext>
                </a:extLst>
              </a:tr>
            </a:tbl>
          </a:graphicData>
        </a:graphic>
      </p:graphicFrame>
      <p:graphicFrame>
        <p:nvGraphicFramePr>
          <p:cNvPr id="11" name="Table 10">
            <a:extLst>
              <a:ext uri="{FF2B5EF4-FFF2-40B4-BE49-F238E27FC236}">
                <a16:creationId xmlns:a16="http://schemas.microsoft.com/office/drawing/2014/main" id="{74E6FD02-4456-9368-7836-A88E9F64ADE6}"/>
              </a:ext>
            </a:extLst>
          </p:cNvPr>
          <p:cNvGraphicFramePr>
            <a:graphicFrameLocks noGrp="1"/>
          </p:cNvGraphicFramePr>
          <p:nvPr>
            <p:extLst>
              <p:ext uri="{D42A27DB-BD31-4B8C-83A1-F6EECF244321}">
                <p14:modId xmlns:p14="http://schemas.microsoft.com/office/powerpoint/2010/main" val="3844440439"/>
              </p:ext>
            </p:extLst>
          </p:nvPr>
        </p:nvGraphicFramePr>
        <p:xfrm>
          <a:off x="6096000" y="1636427"/>
          <a:ext cx="5356860" cy="243840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4089821962"/>
                    </a:ext>
                  </a:extLst>
                </a:gridCol>
                <a:gridCol w="1206500">
                  <a:extLst>
                    <a:ext uri="{9D8B030D-6E8A-4147-A177-3AD203B41FA5}">
                      <a16:colId xmlns:a16="http://schemas.microsoft.com/office/drawing/2014/main" val="3501740069"/>
                    </a:ext>
                  </a:extLst>
                </a:gridCol>
                <a:gridCol w="1206500">
                  <a:extLst>
                    <a:ext uri="{9D8B030D-6E8A-4147-A177-3AD203B41FA5}">
                      <a16:colId xmlns:a16="http://schemas.microsoft.com/office/drawing/2014/main" val="858187920"/>
                    </a:ext>
                  </a:extLst>
                </a:gridCol>
                <a:gridCol w="1206500">
                  <a:extLst>
                    <a:ext uri="{9D8B030D-6E8A-4147-A177-3AD203B41FA5}">
                      <a16:colId xmlns:a16="http://schemas.microsoft.com/office/drawing/2014/main" val="874365871"/>
                    </a:ext>
                  </a:extLst>
                </a:gridCol>
              </a:tblGrid>
              <a:tr h="203200">
                <a:tc>
                  <a:txBody>
                    <a:bodyPr/>
                    <a:lstStyle/>
                    <a:p>
                      <a:pPr algn="ctr" fontAlgn="b">
                        <a:buNone/>
                      </a:pPr>
                      <a:r>
                        <a:rPr lang="en-US" sz="1400" u="none" strike="noStrike">
                          <a:solidFill>
                            <a:schemeClr val="bg1"/>
                          </a:solidFill>
                          <a:effectLst/>
                        </a:rPr>
                        <a:t> </a:t>
                      </a:r>
                      <a:endParaRPr lang="en-US" sz="1400" b="0" i="0" u="none" strike="noStrike">
                        <a:solidFill>
                          <a:schemeClr val="bg1"/>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solidFill>
                  </a:tcPr>
                </a:tc>
                <a:tc>
                  <a:txBody>
                    <a:bodyPr/>
                    <a:lstStyle/>
                    <a:p>
                      <a:pPr algn="ctr" fontAlgn="b">
                        <a:buNone/>
                      </a:pPr>
                      <a:r>
                        <a:rPr lang="en-US" sz="1400" b="1" u="none" strike="noStrike">
                          <a:solidFill>
                            <a:schemeClr val="tx1"/>
                          </a:solidFill>
                          <a:effectLst/>
                        </a:rPr>
                        <a:t>Inta</a:t>
                      </a:r>
                      <a:endParaRPr lang="en-US" sz="1400" b="1" i="0" u="none" strike="noStrike">
                        <a:solidFill>
                          <a:schemeClr val="tx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tx2">
                        <a:lumMod val="10000"/>
                        <a:lumOff val="90000"/>
                      </a:schemeClr>
                    </a:solidFill>
                  </a:tcPr>
                </a:tc>
                <a:tc>
                  <a:txBody>
                    <a:bodyPr/>
                    <a:lstStyle/>
                    <a:p>
                      <a:pPr algn="ctr" fontAlgn="b">
                        <a:buNone/>
                      </a:pPr>
                      <a:r>
                        <a:rPr lang="en-US" sz="1400" u="none" strike="noStrike">
                          <a:solidFill>
                            <a:schemeClr val="bg1"/>
                          </a:solidFill>
                          <a:effectLst/>
                        </a:rPr>
                        <a:t>Kitacon</a:t>
                      </a:r>
                      <a:endParaRPr lang="en-US" sz="1400" b="1" i="0" u="none" strike="noStrike">
                        <a:solidFill>
                          <a:schemeClr val="bg1"/>
                        </a:solidFill>
                        <a:effectLst/>
                        <a:latin typeface="Aptos" panose="020B0004020202020204" pitchFamily="34" charset="0"/>
                      </a:endParaRPr>
                    </a:p>
                  </a:txBody>
                  <a:tcPr marL="45720" marR="45720">
                    <a:lnT w="12700" cap="flat" cmpd="sng" algn="ctr">
                      <a:solidFill>
                        <a:schemeClr val="tx1"/>
                      </a:solidFill>
                      <a:prstDash val="solid"/>
                      <a:round/>
                      <a:headEnd type="none" w="med" len="med"/>
                      <a:tailEnd type="none" w="med" len="med"/>
                    </a:lnT>
                    <a:solidFill>
                      <a:schemeClr val="tx2"/>
                    </a:solidFill>
                  </a:tcPr>
                </a:tc>
                <a:tc>
                  <a:txBody>
                    <a:bodyPr/>
                    <a:lstStyle/>
                    <a:p>
                      <a:pPr algn="ctr" fontAlgn="b">
                        <a:buNone/>
                      </a:pPr>
                      <a:r>
                        <a:rPr lang="en-US" sz="1400" u="none" strike="noStrike">
                          <a:solidFill>
                            <a:schemeClr val="bg1"/>
                          </a:solidFill>
                          <a:effectLst/>
                        </a:rPr>
                        <a:t>MGB</a:t>
                      </a:r>
                      <a:endParaRPr lang="en-US" sz="1400" b="1" i="0" u="none" strike="noStrike">
                        <a:solidFill>
                          <a:schemeClr val="bg1"/>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tx2"/>
                    </a:solidFill>
                  </a:tcPr>
                </a:tc>
                <a:extLst>
                  <a:ext uri="{0D108BD9-81ED-4DB2-BD59-A6C34878D82A}">
                    <a16:rowId xmlns:a16="http://schemas.microsoft.com/office/drawing/2014/main" val="2699706153"/>
                  </a:ext>
                </a:extLst>
              </a:tr>
              <a:tr h="203200">
                <a:tc>
                  <a:txBody>
                    <a:bodyPr/>
                    <a:lstStyle/>
                    <a:p>
                      <a:pPr algn="l" fontAlgn="t">
                        <a:buNone/>
                      </a:pPr>
                      <a:r>
                        <a:rPr lang="en-US" sz="1400" u="none" strike="noStrike">
                          <a:effectLst/>
                        </a:rPr>
                        <a:t>52w</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0.345 - 0.520</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0.665 - 0.795</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0.405 - 0.740</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3133060891"/>
                  </a:ext>
                </a:extLst>
              </a:tr>
              <a:tr h="203200">
                <a:tc>
                  <a:txBody>
                    <a:bodyPr/>
                    <a:lstStyle/>
                    <a:p>
                      <a:pPr algn="l" fontAlgn="t">
                        <a:buNone/>
                      </a:pP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993034064"/>
                  </a:ext>
                </a:extLst>
              </a:tr>
              <a:tr h="203200">
                <a:tc>
                  <a:txBody>
                    <a:bodyPr/>
                    <a:lstStyle/>
                    <a:p>
                      <a:pPr algn="l" fontAlgn="t">
                        <a:buNone/>
                      </a:pPr>
                      <a:r>
                        <a:rPr lang="en-US" sz="1400" u="none" strike="noStrike">
                          <a:effectLst/>
                        </a:rPr>
                        <a:t>P/E</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6.91 </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6.87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5.03 </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393149504"/>
                  </a:ext>
                </a:extLst>
              </a:tr>
              <a:tr h="152400">
                <a:tc>
                  <a:txBody>
                    <a:bodyPr/>
                    <a:lstStyle/>
                    <a:p>
                      <a:pPr algn="l" fontAlgn="t">
                        <a:buNone/>
                      </a:pPr>
                      <a:r>
                        <a:rPr lang="en-US" sz="1400" u="none" strike="noStrike">
                          <a:effectLst/>
                        </a:rPr>
                        <a:t>P/B</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1.09 </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0.99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0.41 </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2833021084"/>
                  </a:ext>
                </a:extLst>
              </a:tr>
              <a:tr h="152400">
                <a:tc>
                  <a:txBody>
                    <a:bodyPr/>
                    <a:lstStyle/>
                    <a:p>
                      <a:pPr algn="l" fontAlgn="t">
                        <a:buNone/>
                      </a:pPr>
                      <a:r>
                        <a:rPr lang="en-US" sz="1400" u="none" strike="noStrike">
                          <a:effectLst/>
                        </a:rPr>
                        <a:t>EV/EBITDA</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b="0" i="0" u="none" strike="noStrike">
                          <a:solidFill>
                            <a:srgbClr val="212529"/>
                          </a:solidFill>
                          <a:effectLst/>
                          <a:latin typeface="Aptos" panose="020B0004020202020204" pitchFamily="34" charset="0"/>
                        </a:rPr>
                        <a:t>4.61</a:t>
                      </a:r>
                    </a:p>
                  </a:txBody>
                  <a:tcPr marL="45720" marR="45720">
                    <a:solidFill>
                      <a:schemeClr val="tx2">
                        <a:lumMod val="10000"/>
                        <a:lumOff val="90000"/>
                      </a:schemeClr>
                    </a:solidFill>
                  </a:tcPr>
                </a:tc>
                <a:tc>
                  <a:txBody>
                    <a:bodyPr/>
                    <a:lstStyle/>
                    <a:p>
                      <a:pPr algn="ctr" fontAlgn="t">
                        <a:buNone/>
                      </a:pPr>
                      <a:r>
                        <a:rPr lang="en-US" sz="1400" b="0" i="0" u="none" strike="noStrike">
                          <a:solidFill>
                            <a:srgbClr val="212529"/>
                          </a:solidFill>
                          <a:effectLst/>
                          <a:latin typeface="Aptos" panose="020B0004020202020204" pitchFamily="34" charset="0"/>
                        </a:rPr>
                        <a:t>1.87</a:t>
                      </a:r>
                    </a:p>
                  </a:txBody>
                  <a:tcPr marL="45720" marR="45720">
                    <a:noFill/>
                  </a:tcPr>
                </a:tc>
                <a:tc>
                  <a:txBody>
                    <a:bodyPr/>
                    <a:lstStyle/>
                    <a:p>
                      <a:pPr algn="ctr" fontAlgn="t">
                        <a:buNone/>
                      </a:pPr>
                      <a:r>
                        <a:rPr lang="en-US" sz="1400" b="0" i="0" u="none" strike="noStrike">
                          <a:solidFill>
                            <a:srgbClr val="212529"/>
                          </a:solidFill>
                          <a:effectLst/>
                          <a:latin typeface="Aptos" panose="020B0004020202020204" pitchFamily="34" charset="0"/>
                        </a:rPr>
                        <a:t>2.70</a:t>
                      </a: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995697560"/>
                  </a:ext>
                </a:extLst>
              </a:tr>
              <a:tr h="152400">
                <a:tc>
                  <a:txBody>
                    <a:bodyPr/>
                    <a:lstStyle/>
                    <a:p>
                      <a:pPr algn="l" fontAlgn="t">
                        <a:buNone/>
                      </a:pPr>
                      <a:r>
                        <a:rPr lang="en-US" sz="1400" u="none" strike="noStrike">
                          <a:effectLst/>
                        </a:rPr>
                        <a:t>Market Cap (RM’ mil) </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noFill/>
                  </a:tcPr>
                </a:tc>
                <a:tc>
                  <a:txBody>
                    <a:bodyPr/>
                    <a:lstStyle/>
                    <a:p>
                      <a:pPr algn="ctr" fontAlgn="t">
                        <a:buNone/>
                      </a:pPr>
                      <a:r>
                        <a:rPr lang="en-US" sz="1400" u="none" strike="noStrike">
                          <a:effectLst/>
                        </a:rPr>
                        <a:t> 267.4</a:t>
                      </a:r>
                      <a:endParaRPr lang="en-US" sz="1400" b="0" i="0" u="none" strike="noStrike">
                        <a:solidFill>
                          <a:srgbClr val="212529"/>
                        </a:solidFill>
                        <a:effectLst/>
                        <a:latin typeface="Aptos" panose="020B0004020202020204" pitchFamily="34" charset="0"/>
                      </a:endParaRPr>
                    </a:p>
                  </a:txBody>
                  <a:tcPr marL="45720" marR="45720">
                    <a:solidFill>
                      <a:schemeClr val="tx2">
                        <a:lumMod val="10000"/>
                        <a:lumOff val="90000"/>
                      </a:schemeClr>
                    </a:solidFill>
                  </a:tcPr>
                </a:tc>
                <a:tc>
                  <a:txBody>
                    <a:bodyPr/>
                    <a:lstStyle/>
                    <a:p>
                      <a:pPr algn="ctr" fontAlgn="t">
                        <a:buNone/>
                      </a:pPr>
                      <a:r>
                        <a:rPr lang="en-US" sz="1400" u="none" strike="noStrike">
                          <a:effectLst/>
                        </a:rPr>
                        <a:t> 362.7 </a:t>
                      </a:r>
                      <a:endParaRPr lang="en-US" sz="1400" b="0" i="0" u="none" strike="noStrike">
                        <a:solidFill>
                          <a:srgbClr val="212529"/>
                        </a:solidFill>
                        <a:effectLst/>
                        <a:latin typeface="Aptos" panose="020B0004020202020204" pitchFamily="34" charset="0"/>
                      </a:endParaRPr>
                    </a:p>
                  </a:txBody>
                  <a:tcPr marL="45720" marR="45720">
                    <a:noFill/>
                  </a:tcPr>
                </a:tc>
                <a:tc>
                  <a:txBody>
                    <a:bodyPr/>
                    <a:lstStyle/>
                    <a:p>
                      <a:pPr algn="ctr" fontAlgn="t">
                        <a:buNone/>
                      </a:pPr>
                      <a:r>
                        <a:rPr lang="en-US" sz="1400" u="none" strike="noStrike">
                          <a:effectLst/>
                        </a:rPr>
                        <a:t> 254.4 </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4149879124"/>
                  </a:ext>
                </a:extLst>
              </a:tr>
              <a:tr h="152400">
                <a:tc>
                  <a:txBody>
                    <a:bodyPr/>
                    <a:lstStyle/>
                    <a:p>
                      <a:pPr algn="l" fontAlgn="t">
                        <a:buNone/>
                      </a:pPr>
                      <a:r>
                        <a:rPr lang="en-US" sz="1400" u="none" strike="noStrike">
                          <a:effectLst/>
                        </a:rPr>
                        <a:t>Shares (mil)</a:t>
                      </a:r>
                      <a:endParaRPr lang="en-US" sz="1400" b="0" i="0" u="none" strike="noStrike">
                        <a:solidFill>
                          <a:srgbClr val="212529"/>
                        </a:solidFill>
                        <a:effectLst/>
                        <a:latin typeface="Aptos" panose="020B0004020202020204" pitchFamily="34" charset="0"/>
                      </a:endParaRPr>
                    </a:p>
                  </a:txBody>
                  <a:tcPr marL="45720" marR="4572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614.63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fontAlgn="t">
                        <a:buNone/>
                      </a:pPr>
                      <a:r>
                        <a:rPr lang="en-US" sz="1400" u="none" strike="noStrike">
                          <a:effectLst/>
                        </a:rPr>
                        <a:t>500.34 </a:t>
                      </a:r>
                      <a:endParaRPr lang="en-US" sz="1400" b="0" i="0" u="none" strike="noStrike">
                        <a:solidFill>
                          <a:srgbClr val="212529"/>
                        </a:solidFill>
                        <a:effectLst/>
                        <a:latin typeface="Aptos" panose="020B0004020202020204" pitchFamily="34" charset="0"/>
                      </a:endParaRPr>
                    </a:p>
                  </a:txBody>
                  <a:tcPr marL="45720" marR="45720">
                    <a:lnB w="12700" cap="flat" cmpd="sng" algn="ctr">
                      <a:solidFill>
                        <a:schemeClr val="tx1"/>
                      </a:solidFill>
                      <a:prstDash val="solid"/>
                      <a:round/>
                      <a:headEnd type="none" w="med" len="med"/>
                      <a:tailEnd type="none" w="med" len="med"/>
                    </a:lnB>
                    <a:noFill/>
                  </a:tcPr>
                </a:tc>
                <a:tc>
                  <a:txBody>
                    <a:bodyPr/>
                    <a:lstStyle/>
                    <a:p>
                      <a:pPr algn="ctr" fontAlgn="t">
                        <a:buNone/>
                      </a:pPr>
                      <a:r>
                        <a:rPr lang="en-US" sz="1400" u="none" strike="noStrike">
                          <a:effectLst/>
                        </a:rPr>
                        <a:t>591.65 </a:t>
                      </a:r>
                      <a:endParaRPr lang="en-US" sz="1400" b="0" i="0" u="none" strike="noStrike">
                        <a:solidFill>
                          <a:srgbClr val="212529"/>
                        </a:solidFill>
                        <a:effectLst/>
                        <a:latin typeface="Aptos" panose="020B0004020202020204" pitchFamily="34" charset="0"/>
                      </a:endParaRPr>
                    </a:p>
                  </a:txBody>
                  <a:tcPr marL="45720" marR="4572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5484356"/>
                  </a:ext>
                </a:extLst>
              </a:tr>
            </a:tbl>
          </a:graphicData>
        </a:graphic>
      </p:graphicFrame>
      <p:sp>
        <p:nvSpPr>
          <p:cNvPr id="13" name="TextBox 12">
            <a:extLst>
              <a:ext uri="{FF2B5EF4-FFF2-40B4-BE49-F238E27FC236}">
                <a16:creationId xmlns:a16="http://schemas.microsoft.com/office/drawing/2014/main" id="{902872C8-35C4-184A-376C-CF91958E4DAE}"/>
              </a:ext>
            </a:extLst>
          </p:cNvPr>
          <p:cNvSpPr txBox="1"/>
          <p:nvPr/>
        </p:nvSpPr>
        <p:spPr>
          <a:xfrm>
            <a:off x="417196" y="6252640"/>
            <a:ext cx="2154554" cy="430887"/>
          </a:xfrm>
          <a:prstGeom prst="rect">
            <a:avLst/>
          </a:prstGeom>
          <a:noFill/>
        </p:spPr>
        <p:txBody>
          <a:bodyPr wrap="square" rtlCol="0">
            <a:spAutoFit/>
          </a:bodyPr>
          <a:lstStyle/>
          <a:p>
            <a:r>
              <a:rPr lang="en-US" sz="1100" i="1"/>
              <a:t>Source : </a:t>
            </a:r>
          </a:p>
          <a:p>
            <a:r>
              <a:rPr lang="en-US" sz="1100" i="1" err="1"/>
              <a:t>Klsescreener</a:t>
            </a:r>
            <a:r>
              <a:rPr lang="en-US" sz="1100" i="1"/>
              <a:t>, Yahoo Finance</a:t>
            </a:r>
          </a:p>
        </p:txBody>
      </p:sp>
      <p:sp>
        <p:nvSpPr>
          <p:cNvPr id="2" name="Slide Number Placeholder 2">
            <a:extLst>
              <a:ext uri="{FF2B5EF4-FFF2-40B4-BE49-F238E27FC236}">
                <a16:creationId xmlns:a16="http://schemas.microsoft.com/office/drawing/2014/main" id="{A8F17171-388D-55F5-2CBF-6CCC89A5A961}"/>
              </a:ext>
            </a:extLst>
          </p:cNvPr>
          <p:cNvSpPr>
            <a:spLocks noGrp="1"/>
          </p:cNvSpPr>
          <p:nvPr>
            <p:ph type="sldNum" sz="quarter" idx="12"/>
          </p:nvPr>
        </p:nvSpPr>
        <p:spPr>
          <a:xfrm>
            <a:off x="9360546" y="6385379"/>
            <a:ext cx="2743200" cy="365125"/>
          </a:xfrm>
        </p:spPr>
        <p:txBody>
          <a:bodyPr anchor="ctr"/>
          <a:lstStyle/>
          <a:p>
            <a:fld id="{4C52F89C-230B-40F8-B5DC-B76BA2C55BBC}" type="slidenum">
              <a:rPr lang="en-US" sz="1200" smtClean="0">
                <a:solidFill>
                  <a:schemeClr val="tx2">
                    <a:lumMod val="95000"/>
                    <a:lumOff val="5000"/>
                  </a:schemeClr>
                </a:solidFill>
                <a:latin typeface="Aptos" panose="020B0004020202020204" pitchFamily="34" charset="0"/>
              </a:rPr>
              <a:pPr/>
              <a:t>33</a:t>
            </a:fld>
            <a:endParaRPr lang="en-US" sz="1200">
              <a:solidFill>
                <a:schemeClr val="tx2">
                  <a:lumMod val="95000"/>
                  <a:lumOff val="5000"/>
                </a:schemeClr>
              </a:solidFill>
              <a:latin typeface="Aptos" panose="020B0004020202020204" pitchFamily="34" charset="0"/>
            </a:endParaRPr>
          </a:p>
        </p:txBody>
      </p:sp>
      <p:sp>
        <p:nvSpPr>
          <p:cNvPr id="5" name="TextBox 4">
            <a:extLst>
              <a:ext uri="{FF2B5EF4-FFF2-40B4-BE49-F238E27FC236}">
                <a16:creationId xmlns:a16="http://schemas.microsoft.com/office/drawing/2014/main" id="{C78FF5C3-B35C-2524-41BD-897215D422A8}"/>
              </a:ext>
            </a:extLst>
          </p:cNvPr>
          <p:cNvSpPr txBox="1"/>
          <p:nvPr/>
        </p:nvSpPr>
        <p:spPr>
          <a:xfrm>
            <a:off x="352425" y="884032"/>
            <a:ext cx="11422379" cy="584775"/>
          </a:xfrm>
          <a:prstGeom prst="rect">
            <a:avLst/>
          </a:prstGeom>
          <a:noFill/>
        </p:spPr>
        <p:txBody>
          <a:bodyPr wrap="square">
            <a:spAutoFit/>
          </a:bodyPr>
          <a:lstStyle/>
          <a:p>
            <a:r>
              <a:rPr lang="en-US" sz="1600"/>
              <a:t>MGB and </a:t>
            </a:r>
            <a:r>
              <a:rPr lang="en-US" sz="1600" err="1"/>
              <a:t>Kitacon</a:t>
            </a:r>
            <a:r>
              <a:rPr lang="en-US" sz="1600"/>
              <a:t> are valued at single-digit P/E multiples broadly in line with </a:t>
            </a:r>
            <a:r>
              <a:rPr lang="en-US" sz="1600" err="1"/>
              <a:t>Inta</a:t>
            </a:r>
            <a:r>
              <a:rPr lang="en-US" sz="1600"/>
              <a:t>, compared to premium valuations for </a:t>
            </a:r>
            <a:r>
              <a:rPr lang="en-US" sz="1600" err="1"/>
              <a:t>Kerjaya</a:t>
            </a:r>
            <a:r>
              <a:rPr lang="en-US" sz="1600"/>
              <a:t> and Binastra, which also have significantly larger market </a:t>
            </a:r>
            <a:r>
              <a:rPr lang="en-US" sz="1600" err="1"/>
              <a:t>capitalisations</a:t>
            </a:r>
            <a:r>
              <a:rPr lang="en-US" sz="1600"/>
              <a:t>.</a:t>
            </a:r>
          </a:p>
        </p:txBody>
      </p:sp>
    </p:spTree>
    <p:extLst>
      <p:ext uri="{BB962C8B-B14F-4D97-AF65-F5344CB8AC3E}">
        <p14:creationId xmlns:p14="http://schemas.microsoft.com/office/powerpoint/2010/main" val="1604050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3532F-4A25-8058-84C3-86775801EDB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A77F469-BE97-C927-C4E9-1320CCDCAC2D}"/>
              </a:ext>
            </a:extLst>
          </p:cNvPr>
          <p:cNvGraphicFramePr>
            <a:graphicFrameLocks noGrp="1"/>
          </p:cNvGraphicFramePr>
          <p:nvPr>
            <p:extLst>
              <p:ext uri="{D42A27DB-BD31-4B8C-83A1-F6EECF244321}">
                <p14:modId xmlns:p14="http://schemas.microsoft.com/office/powerpoint/2010/main" val="4011846479"/>
              </p:ext>
            </p:extLst>
          </p:nvPr>
        </p:nvGraphicFramePr>
        <p:xfrm>
          <a:off x="575128" y="968480"/>
          <a:ext cx="5355772" cy="1134580"/>
        </p:xfrm>
        <a:graphic>
          <a:graphicData uri="http://schemas.openxmlformats.org/drawingml/2006/table">
            <a:tbl>
              <a:tblPr/>
              <a:tblGrid>
                <a:gridCol w="2042347">
                  <a:extLst>
                    <a:ext uri="{9D8B030D-6E8A-4147-A177-3AD203B41FA5}">
                      <a16:colId xmlns:a16="http://schemas.microsoft.com/office/drawing/2014/main" val="2875276600"/>
                    </a:ext>
                  </a:extLst>
                </a:gridCol>
                <a:gridCol w="3313425">
                  <a:extLst>
                    <a:ext uri="{9D8B030D-6E8A-4147-A177-3AD203B41FA5}">
                      <a16:colId xmlns:a16="http://schemas.microsoft.com/office/drawing/2014/main" val="1127972999"/>
                    </a:ext>
                  </a:extLst>
                </a:gridCol>
              </a:tblGrid>
              <a:tr h="283645">
                <a:tc>
                  <a:txBody>
                    <a:bodyPr/>
                    <a:lstStyle/>
                    <a:p>
                      <a:pPr>
                        <a:buNone/>
                      </a:pPr>
                      <a:r>
                        <a:rPr lang="en-MY" sz="1100">
                          <a:effectLst/>
                        </a:rPr>
                        <a:t>Company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buNone/>
                      </a:pPr>
                      <a:r>
                        <a:rPr lang="en-MY" sz="1100">
                          <a:effectLst/>
                        </a:rPr>
                        <a:t>INTA BINA GROUP BERHAD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8585887"/>
                  </a:ext>
                </a:extLst>
              </a:tr>
              <a:tr h="283645">
                <a:tc>
                  <a:txBody>
                    <a:bodyPr/>
                    <a:lstStyle/>
                    <a:p>
                      <a:pPr>
                        <a:buNone/>
                      </a:pPr>
                      <a:r>
                        <a:rPr lang="en-MY" sz="1100">
                          <a:effectLst/>
                        </a:rPr>
                        <a:t>Date Announced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buNone/>
                      </a:pPr>
                      <a:r>
                        <a:rPr lang="en-MY" sz="1100">
                          <a:effectLst/>
                        </a:rPr>
                        <a:t>28 May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53360253"/>
                  </a:ext>
                </a:extLst>
              </a:tr>
              <a:tr h="283645">
                <a:tc>
                  <a:txBody>
                    <a:bodyPr/>
                    <a:lstStyle/>
                    <a:p>
                      <a:pPr>
                        <a:buNone/>
                      </a:pPr>
                      <a:r>
                        <a:rPr lang="en-MY" sz="1100">
                          <a:effectLst/>
                        </a:rPr>
                        <a:t>Placement Shares Issued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buNone/>
                      </a:pPr>
                      <a:r>
                        <a:rPr lang="en-MY" sz="1100">
                          <a:effectLst/>
                        </a:rPr>
                        <a:t>55,320,000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91957256"/>
                  </a:ext>
                </a:extLst>
              </a:tr>
              <a:tr h="283645">
                <a:tc>
                  <a:txBody>
                    <a:bodyPr/>
                    <a:lstStyle/>
                    <a:p>
                      <a:pPr>
                        <a:buNone/>
                      </a:pPr>
                      <a:r>
                        <a:rPr lang="en-US" sz="1100">
                          <a:effectLst/>
                        </a:rPr>
                        <a:t>Issue Price</a:t>
                      </a:r>
                      <a:endParaRPr lang="en-MY" sz="110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buNone/>
                      </a:pPr>
                      <a:r>
                        <a:rPr lang="en-MY" sz="1100">
                          <a:effectLst/>
                        </a:rPr>
                        <a:t> RM0.4550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58250346"/>
                  </a:ext>
                </a:extLst>
              </a:tr>
            </a:tbl>
          </a:graphicData>
        </a:graphic>
      </p:graphicFrame>
      <p:graphicFrame>
        <p:nvGraphicFramePr>
          <p:cNvPr id="6" name="Table 5">
            <a:extLst>
              <a:ext uri="{FF2B5EF4-FFF2-40B4-BE49-F238E27FC236}">
                <a16:creationId xmlns:a16="http://schemas.microsoft.com/office/drawing/2014/main" id="{57DA787E-DB10-9AF6-291A-170ED9F08FD0}"/>
              </a:ext>
            </a:extLst>
          </p:cNvPr>
          <p:cNvGraphicFramePr>
            <a:graphicFrameLocks noGrp="1"/>
          </p:cNvGraphicFramePr>
          <p:nvPr>
            <p:extLst>
              <p:ext uri="{D42A27DB-BD31-4B8C-83A1-F6EECF244321}">
                <p14:modId xmlns:p14="http://schemas.microsoft.com/office/powerpoint/2010/main" val="2251688318"/>
              </p:ext>
            </p:extLst>
          </p:nvPr>
        </p:nvGraphicFramePr>
        <p:xfrm>
          <a:off x="575128" y="2629665"/>
          <a:ext cx="10515600" cy="1545880"/>
        </p:xfrm>
        <a:graphic>
          <a:graphicData uri="http://schemas.openxmlformats.org/drawingml/2006/table">
            <a:tbl>
              <a:tblPr/>
              <a:tblGrid>
                <a:gridCol w="2628900">
                  <a:extLst>
                    <a:ext uri="{9D8B030D-6E8A-4147-A177-3AD203B41FA5}">
                      <a16:colId xmlns:a16="http://schemas.microsoft.com/office/drawing/2014/main" val="2239118450"/>
                    </a:ext>
                  </a:extLst>
                </a:gridCol>
                <a:gridCol w="2628900">
                  <a:extLst>
                    <a:ext uri="{9D8B030D-6E8A-4147-A177-3AD203B41FA5}">
                      <a16:colId xmlns:a16="http://schemas.microsoft.com/office/drawing/2014/main" val="3061680738"/>
                    </a:ext>
                  </a:extLst>
                </a:gridCol>
                <a:gridCol w="2628900">
                  <a:extLst>
                    <a:ext uri="{9D8B030D-6E8A-4147-A177-3AD203B41FA5}">
                      <a16:colId xmlns:a16="http://schemas.microsoft.com/office/drawing/2014/main" val="3704749570"/>
                    </a:ext>
                  </a:extLst>
                </a:gridCol>
                <a:gridCol w="2628900">
                  <a:extLst>
                    <a:ext uri="{9D8B030D-6E8A-4147-A177-3AD203B41FA5}">
                      <a16:colId xmlns:a16="http://schemas.microsoft.com/office/drawing/2014/main" val="2927683637"/>
                    </a:ext>
                  </a:extLst>
                </a:gridCol>
              </a:tblGrid>
              <a:tr h="309176">
                <a:tc>
                  <a:txBody>
                    <a:bodyPr/>
                    <a:lstStyle/>
                    <a:p>
                      <a:pPr algn="ctr">
                        <a:buNone/>
                      </a:pPr>
                      <a:r>
                        <a:rPr lang="en-MY" sz="1100" b="1">
                          <a:solidFill>
                            <a:schemeClr val="bg1"/>
                          </a:solidFill>
                          <a:effectLst/>
                        </a:rPr>
                        <a:t>Details of Utilization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100" b="1">
                          <a:solidFill>
                            <a:schemeClr val="bg1"/>
                          </a:solidFill>
                          <a:effectLst/>
                        </a:rPr>
                        <a:t>Minimum Scenario (RM'000)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100" b="1">
                          <a:solidFill>
                            <a:schemeClr val="bg1"/>
                          </a:solidFill>
                          <a:effectLst/>
                        </a:rPr>
                        <a:t>Maximum Scenario (RM'000)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buNone/>
                      </a:pPr>
                      <a:r>
                        <a:rPr lang="en-MY" sz="1100" b="1">
                          <a:solidFill>
                            <a:schemeClr val="bg1"/>
                          </a:solidFill>
                          <a:effectLst/>
                        </a:rPr>
                        <a:t>Timeframe for Utilization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762582654"/>
                  </a:ext>
                </a:extLst>
              </a:tr>
              <a:tr h="309176">
                <a:tc>
                  <a:txBody>
                    <a:bodyPr/>
                    <a:lstStyle/>
                    <a:p>
                      <a:pPr>
                        <a:buNone/>
                      </a:pPr>
                      <a:r>
                        <a:rPr lang="en-MY" sz="1100" b="0">
                          <a:effectLst/>
                        </a:rPr>
                        <a:t>Capital Expenditure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Within 12 months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6532030"/>
                  </a:ext>
                </a:extLst>
              </a:tr>
              <a:tr h="309176">
                <a:tc>
                  <a:txBody>
                    <a:bodyPr/>
                    <a:lstStyle/>
                    <a:p>
                      <a:pPr>
                        <a:buNone/>
                      </a:pPr>
                      <a:r>
                        <a:rPr lang="en-MY" sz="1100" b="0">
                          <a:effectLst/>
                        </a:rPr>
                        <a:t>Working Capital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13,079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20,177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Within 24 months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555119"/>
                  </a:ext>
                </a:extLst>
              </a:tr>
              <a:tr h="309176">
                <a:tc>
                  <a:txBody>
                    <a:bodyPr/>
                    <a:lstStyle/>
                    <a:p>
                      <a:pPr>
                        <a:buNone/>
                      </a:pPr>
                      <a:r>
                        <a:rPr lang="en-MY" sz="1100" b="0">
                          <a:effectLst/>
                        </a:rPr>
                        <a:t>Estimated Expenses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a:effectLst/>
                        </a:rPr>
                        <a:t>Upon completion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7798864"/>
                  </a:ext>
                </a:extLst>
              </a:tr>
              <a:tr h="309176">
                <a:tc>
                  <a:txBody>
                    <a:bodyPr/>
                    <a:lstStyle/>
                    <a:p>
                      <a:pPr>
                        <a:buNone/>
                      </a:pPr>
                      <a:r>
                        <a:rPr lang="en-MY" sz="1100" b="1">
                          <a:effectLst/>
                        </a:rPr>
                        <a:t>Total Gross Proceeds</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b="1">
                          <a:effectLst/>
                        </a:rPr>
                        <a:t>25,169</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MY" sz="1100" b="1">
                          <a:effectLst/>
                        </a:rPr>
                        <a:t>32,267</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4706066"/>
                  </a:ext>
                </a:extLst>
              </a:tr>
            </a:tbl>
          </a:graphicData>
        </a:graphic>
      </p:graphicFrame>
      <p:sp>
        <p:nvSpPr>
          <p:cNvPr id="7" name="Rectangle 1">
            <a:extLst>
              <a:ext uri="{FF2B5EF4-FFF2-40B4-BE49-F238E27FC236}">
                <a16:creationId xmlns:a16="http://schemas.microsoft.com/office/drawing/2014/main" id="{88B70CB8-84BF-9DEC-EF5B-A4AD81567DCE}"/>
              </a:ext>
            </a:extLst>
          </p:cNvPr>
          <p:cNvSpPr>
            <a:spLocks noChangeArrowheads="1"/>
          </p:cNvSpPr>
          <p:nvPr/>
        </p:nvSpPr>
        <p:spPr bwMode="auto">
          <a:xfrm>
            <a:off x="444498" y="2355102"/>
            <a:ext cx="26426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rPr>
              <a:t>Summary of Utilization of Proceeds</a:t>
            </a:r>
            <a:endParaRPr kumimoji="0" lang="en-US" altLang="en-US" sz="1200" b="0" i="0" u="none" strike="noStrike" cap="none" normalizeH="0" baseline="0">
              <a:ln>
                <a:noFill/>
              </a:ln>
              <a:solidFill>
                <a:schemeClr val="tx1"/>
              </a:solidFill>
              <a:effectLst/>
            </a:endParaRPr>
          </a:p>
        </p:txBody>
      </p:sp>
      <p:graphicFrame>
        <p:nvGraphicFramePr>
          <p:cNvPr id="12" name="Table 11">
            <a:extLst>
              <a:ext uri="{FF2B5EF4-FFF2-40B4-BE49-F238E27FC236}">
                <a16:creationId xmlns:a16="http://schemas.microsoft.com/office/drawing/2014/main" id="{F7289A99-D6E1-6172-A1A1-426C544E6113}"/>
              </a:ext>
            </a:extLst>
          </p:cNvPr>
          <p:cNvGraphicFramePr>
            <a:graphicFrameLocks noGrp="1"/>
          </p:cNvGraphicFramePr>
          <p:nvPr>
            <p:extLst>
              <p:ext uri="{D42A27DB-BD31-4B8C-83A1-F6EECF244321}">
                <p14:modId xmlns:p14="http://schemas.microsoft.com/office/powerpoint/2010/main" val="2836913428"/>
              </p:ext>
            </p:extLst>
          </p:nvPr>
        </p:nvGraphicFramePr>
        <p:xfrm>
          <a:off x="576686" y="4702150"/>
          <a:ext cx="3640738" cy="850061"/>
        </p:xfrm>
        <a:graphic>
          <a:graphicData uri="http://schemas.openxmlformats.org/drawingml/2006/table">
            <a:tbl>
              <a:tblPr/>
              <a:tblGrid>
                <a:gridCol w="2745588">
                  <a:extLst>
                    <a:ext uri="{9D8B030D-6E8A-4147-A177-3AD203B41FA5}">
                      <a16:colId xmlns:a16="http://schemas.microsoft.com/office/drawing/2014/main" val="622636128"/>
                    </a:ext>
                  </a:extLst>
                </a:gridCol>
                <a:gridCol w="895150">
                  <a:extLst>
                    <a:ext uri="{9D8B030D-6E8A-4147-A177-3AD203B41FA5}">
                      <a16:colId xmlns:a16="http://schemas.microsoft.com/office/drawing/2014/main" val="4289758944"/>
                    </a:ext>
                  </a:extLst>
                </a:gridCol>
              </a:tblGrid>
              <a:tr h="442258">
                <a:tc>
                  <a:txBody>
                    <a:bodyPr/>
                    <a:lstStyle/>
                    <a:p>
                      <a:pPr algn="l">
                        <a:buNone/>
                      </a:pPr>
                      <a:r>
                        <a:rPr lang="en-MY" sz="1100" b="1">
                          <a:effectLst/>
                        </a:rPr>
                        <a:t>New Scaffolding &amp; Formwork Systems</a:t>
                      </a:r>
                      <a:endParaRPr lang="en-MY" sz="1100">
                        <a:effectLst/>
                      </a:endParaRP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MY" sz="1100" b="0">
                          <a:effectLst/>
                        </a:rPr>
                        <a:t>80%</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8083575"/>
                  </a:ext>
                </a:extLst>
              </a:tr>
              <a:tr h="407803">
                <a:tc>
                  <a:txBody>
                    <a:bodyPr/>
                    <a:lstStyle/>
                    <a:p>
                      <a:pPr algn="l">
                        <a:buNone/>
                      </a:pPr>
                      <a:r>
                        <a:rPr lang="en-MY" sz="1100" b="1">
                          <a:effectLst/>
                        </a:rPr>
                        <a:t>Machinery &amp; Equipment</a:t>
                      </a:r>
                      <a:endParaRPr lang="en-MY" sz="1100">
                        <a:effectLst/>
                      </a:endParaRP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MY" sz="1100" b="0">
                          <a:effectLst/>
                        </a:rPr>
                        <a:t>20%</a:t>
                      </a:r>
                    </a:p>
                  </a:txBody>
                  <a:tcPr marL="48348" marR="48348" marT="24174" marB="241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3661115"/>
                  </a:ext>
                </a:extLst>
              </a:tr>
            </a:tbl>
          </a:graphicData>
        </a:graphic>
      </p:graphicFrame>
      <p:graphicFrame>
        <p:nvGraphicFramePr>
          <p:cNvPr id="13" name="Table 12">
            <a:extLst>
              <a:ext uri="{FF2B5EF4-FFF2-40B4-BE49-F238E27FC236}">
                <a16:creationId xmlns:a16="http://schemas.microsoft.com/office/drawing/2014/main" id="{2AD4638D-E22B-ACE4-D6BD-221EF9C9BF08}"/>
              </a:ext>
            </a:extLst>
          </p:cNvPr>
          <p:cNvGraphicFramePr>
            <a:graphicFrameLocks noGrp="1"/>
          </p:cNvGraphicFramePr>
          <p:nvPr>
            <p:extLst>
              <p:ext uri="{D42A27DB-BD31-4B8C-83A1-F6EECF244321}">
                <p14:modId xmlns:p14="http://schemas.microsoft.com/office/powerpoint/2010/main" val="3919649021"/>
              </p:ext>
            </p:extLst>
          </p:nvPr>
        </p:nvGraphicFramePr>
        <p:xfrm>
          <a:off x="5183898" y="4682877"/>
          <a:ext cx="3640738" cy="1097280"/>
        </p:xfrm>
        <a:graphic>
          <a:graphicData uri="http://schemas.openxmlformats.org/drawingml/2006/table">
            <a:tbl>
              <a:tblPr/>
              <a:tblGrid>
                <a:gridCol w="2360483">
                  <a:extLst>
                    <a:ext uri="{9D8B030D-6E8A-4147-A177-3AD203B41FA5}">
                      <a16:colId xmlns:a16="http://schemas.microsoft.com/office/drawing/2014/main" val="2059139181"/>
                    </a:ext>
                  </a:extLst>
                </a:gridCol>
                <a:gridCol w="1280255">
                  <a:extLst>
                    <a:ext uri="{9D8B030D-6E8A-4147-A177-3AD203B41FA5}">
                      <a16:colId xmlns:a16="http://schemas.microsoft.com/office/drawing/2014/main" val="1562031010"/>
                    </a:ext>
                  </a:extLst>
                </a:gridCol>
              </a:tblGrid>
              <a:tr h="365760">
                <a:tc>
                  <a:txBody>
                    <a:bodyPr/>
                    <a:lstStyle/>
                    <a:p>
                      <a:pPr algn="l">
                        <a:buNone/>
                      </a:pPr>
                      <a:r>
                        <a:rPr lang="en-MY" sz="1100" b="1">
                          <a:effectLst/>
                        </a:rPr>
                        <a:t>Payment to Subcontractors</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MY" sz="1100" b="0">
                          <a:effectLst/>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74875828"/>
                  </a:ext>
                </a:extLst>
              </a:tr>
              <a:tr h="365760">
                <a:tc>
                  <a:txBody>
                    <a:bodyPr/>
                    <a:lstStyle/>
                    <a:p>
                      <a:pPr algn="l">
                        <a:buNone/>
                      </a:pPr>
                      <a:r>
                        <a:rPr lang="en-MY" sz="1100" b="1">
                          <a:effectLst/>
                        </a:rPr>
                        <a:t>Procurement of Raw Materials</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MY" sz="1100" b="0">
                          <a:effectLst/>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39414590"/>
                  </a:ext>
                </a:extLst>
              </a:tr>
              <a:tr h="365760">
                <a:tc>
                  <a:txBody>
                    <a:bodyPr/>
                    <a:lstStyle/>
                    <a:p>
                      <a:pPr algn="l">
                        <a:buNone/>
                      </a:pPr>
                      <a:r>
                        <a:rPr lang="en-MY" sz="1100" b="1">
                          <a:effectLst/>
                        </a:rPr>
                        <a:t>Operational Overheads</a:t>
                      </a:r>
                      <a:endParaRPr lang="en-MY" sz="11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MY" sz="1100" b="0">
                          <a:effectLst/>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60127989"/>
                  </a:ext>
                </a:extLst>
              </a:tr>
            </a:tbl>
          </a:graphicData>
        </a:graphic>
      </p:graphicFrame>
      <p:sp>
        <p:nvSpPr>
          <p:cNvPr id="15" name="TextBox 14">
            <a:extLst>
              <a:ext uri="{FF2B5EF4-FFF2-40B4-BE49-F238E27FC236}">
                <a16:creationId xmlns:a16="http://schemas.microsoft.com/office/drawing/2014/main" id="{C6F74F60-2365-6B73-7410-97D9417AB41C}"/>
              </a:ext>
            </a:extLst>
          </p:cNvPr>
          <p:cNvSpPr txBox="1"/>
          <p:nvPr/>
        </p:nvSpPr>
        <p:spPr>
          <a:xfrm>
            <a:off x="488040" y="4384488"/>
            <a:ext cx="3187702" cy="276999"/>
          </a:xfrm>
          <a:prstGeom prst="rect">
            <a:avLst/>
          </a:prstGeom>
          <a:noFill/>
        </p:spPr>
        <p:txBody>
          <a:bodyPr wrap="square">
            <a:spAutoFit/>
          </a:bodyPr>
          <a:lstStyle/>
          <a:p>
            <a:r>
              <a:rPr lang="en-MY" sz="1200" b="1"/>
              <a:t>Capital expenditure requirements </a:t>
            </a:r>
          </a:p>
        </p:txBody>
      </p:sp>
      <p:sp>
        <p:nvSpPr>
          <p:cNvPr id="17" name="TextBox 16">
            <a:extLst>
              <a:ext uri="{FF2B5EF4-FFF2-40B4-BE49-F238E27FC236}">
                <a16:creationId xmlns:a16="http://schemas.microsoft.com/office/drawing/2014/main" id="{AF0CF3FE-5E2A-83F3-6401-F57CA2FC0907}"/>
              </a:ext>
            </a:extLst>
          </p:cNvPr>
          <p:cNvSpPr txBox="1"/>
          <p:nvPr/>
        </p:nvSpPr>
        <p:spPr>
          <a:xfrm>
            <a:off x="5092584" y="4374794"/>
            <a:ext cx="6097604" cy="276999"/>
          </a:xfrm>
          <a:prstGeom prst="rect">
            <a:avLst/>
          </a:prstGeom>
          <a:noFill/>
        </p:spPr>
        <p:txBody>
          <a:bodyPr wrap="square">
            <a:spAutoFit/>
          </a:bodyPr>
          <a:lstStyle/>
          <a:p>
            <a:r>
              <a:rPr lang="en-MY" sz="1200" b="1"/>
              <a:t>Working capital requirements </a:t>
            </a:r>
          </a:p>
        </p:txBody>
      </p:sp>
      <p:sp>
        <p:nvSpPr>
          <p:cNvPr id="18" name="TextBox 17">
            <a:extLst>
              <a:ext uri="{FF2B5EF4-FFF2-40B4-BE49-F238E27FC236}">
                <a16:creationId xmlns:a16="http://schemas.microsoft.com/office/drawing/2014/main" id="{E06413AD-7805-F54A-C936-AA7E4965A2F8}"/>
              </a:ext>
            </a:extLst>
          </p:cNvPr>
          <p:cNvSpPr txBox="1"/>
          <p:nvPr/>
        </p:nvSpPr>
        <p:spPr>
          <a:xfrm>
            <a:off x="174171" y="6233441"/>
            <a:ext cx="6096000" cy="261610"/>
          </a:xfrm>
          <a:prstGeom prst="rect">
            <a:avLst/>
          </a:prstGeom>
          <a:noFill/>
        </p:spPr>
        <p:txBody>
          <a:bodyPr wrap="square">
            <a:spAutoFit/>
          </a:bodyPr>
          <a:lstStyle/>
          <a:p>
            <a:r>
              <a:rPr lang="en-MY" sz="1100"/>
              <a:t>Source : </a:t>
            </a:r>
            <a:r>
              <a:rPr lang="en-MY" sz="1100">
                <a:hlinkClick r:id="rId2"/>
              </a:rPr>
              <a:t>Bursa</a:t>
            </a:r>
            <a:r>
              <a:rPr lang="en-MY" sz="1100"/>
              <a:t> </a:t>
            </a:r>
            <a:r>
              <a:rPr lang="en-MY" sz="1100">
                <a:hlinkClick r:id="rId3"/>
              </a:rPr>
              <a:t>Announcement</a:t>
            </a:r>
            <a:endParaRPr lang="en-MY" sz="1100"/>
          </a:p>
        </p:txBody>
      </p:sp>
      <p:sp>
        <p:nvSpPr>
          <p:cNvPr id="3" name="TextBox 2">
            <a:extLst>
              <a:ext uri="{FF2B5EF4-FFF2-40B4-BE49-F238E27FC236}">
                <a16:creationId xmlns:a16="http://schemas.microsoft.com/office/drawing/2014/main" id="{BE693B79-C61C-D452-B58E-590B9C12803D}"/>
              </a:ext>
            </a:extLst>
          </p:cNvPr>
          <p:cNvSpPr txBox="1"/>
          <p:nvPr/>
        </p:nvSpPr>
        <p:spPr>
          <a:xfrm>
            <a:off x="274320" y="219456"/>
            <a:ext cx="9709774" cy="553998"/>
          </a:xfrm>
          <a:prstGeom prst="rect">
            <a:avLst/>
          </a:prstGeom>
          <a:noFill/>
        </p:spPr>
        <p:txBody>
          <a:bodyPr wrap="none" rtlCol="0">
            <a:spAutoFit/>
          </a:bodyPr>
          <a:lstStyle/>
          <a:p>
            <a:r>
              <a:rPr lang="en-US" sz="3000" b="1"/>
              <a:t>Inta Bina Completes Private Placement on 28 May 2025</a:t>
            </a:r>
          </a:p>
        </p:txBody>
      </p:sp>
    </p:spTree>
    <p:extLst>
      <p:ext uri="{BB962C8B-B14F-4D97-AF65-F5344CB8AC3E}">
        <p14:creationId xmlns:p14="http://schemas.microsoft.com/office/powerpoint/2010/main" val="1416659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BB87-885A-41F5-4E05-C8A4C0890E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9705E2-7118-4D2E-58C1-99222A012C88}"/>
              </a:ext>
            </a:extLst>
          </p:cNvPr>
          <p:cNvSpPr txBox="1"/>
          <p:nvPr/>
        </p:nvSpPr>
        <p:spPr>
          <a:xfrm>
            <a:off x="274320" y="219456"/>
            <a:ext cx="9503243" cy="553998"/>
          </a:xfrm>
          <a:prstGeom prst="rect">
            <a:avLst/>
          </a:prstGeom>
          <a:noFill/>
        </p:spPr>
        <p:txBody>
          <a:bodyPr wrap="none" rtlCol="0">
            <a:spAutoFit/>
          </a:bodyPr>
          <a:lstStyle/>
          <a:p>
            <a:r>
              <a:rPr lang="en-US" sz="3000" b="1"/>
              <a:t>Inta Bina Group Berhad Completes Private Placement</a:t>
            </a:r>
          </a:p>
        </p:txBody>
      </p:sp>
      <p:sp>
        <p:nvSpPr>
          <p:cNvPr id="7" name="TextBox 6">
            <a:extLst>
              <a:ext uri="{FF2B5EF4-FFF2-40B4-BE49-F238E27FC236}">
                <a16:creationId xmlns:a16="http://schemas.microsoft.com/office/drawing/2014/main" id="{D9459E3C-C3B5-D901-5DFF-B811043A9C1D}"/>
              </a:ext>
            </a:extLst>
          </p:cNvPr>
          <p:cNvSpPr txBox="1"/>
          <p:nvPr/>
        </p:nvSpPr>
        <p:spPr>
          <a:xfrm>
            <a:off x="328749" y="805940"/>
            <a:ext cx="10763794" cy="646331"/>
          </a:xfrm>
          <a:prstGeom prst="rect">
            <a:avLst/>
          </a:prstGeom>
          <a:noFill/>
        </p:spPr>
        <p:txBody>
          <a:bodyPr wrap="square">
            <a:spAutoFit/>
          </a:bodyPr>
          <a:lstStyle/>
          <a:p>
            <a:r>
              <a:rPr lang="en-US"/>
              <a:t>The proceeds earmarked for working capital will be </a:t>
            </a:r>
            <a:r>
              <a:rPr lang="en-US" err="1"/>
              <a:t>utilised</a:t>
            </a:r>
            <a:r>
              <a:rPr lang="en-US"/>
              <a:t> for the construction projects as well as property development projects</a:t>
            </a:r>
            <a:endParaRPr lang="en-MY"/>
          </a:p>
        </p:txBody>
      </p:sp>
      <p:pic>
        <p:nvPicPr>
          <p:cNvPr id="5" name="Picture 4">
            <a:extLst>
              <a:ext uri="{FF2B5EF4-FFF2-40B4-BE49-F238E27FC236}">
                <a16:creationId xmlns:a16="http://schemas.microsoft.com/office/drawing/2014/main" id="{720F1E70-3E8B-C125-34AD-FC07D1096B0D}"/>
              </a:ext>
            </a:extLst>
          </p:cNvPr>
          <p:cNvPicPr>
            <a:picLocks noChangeAspect="1"/>
          </p:cNvPicPr>
          <p:nvPr/>
        </p:nvPicPr>
        <p:blipFill>
          <a:blip r:embed="rId2"/>
          <a:stretch>
            <a:fillRect/>
          </a:stretch>
        </p:blipFill>
        <p:spPr>
          <a:xfrm>
            <a:off x="398189" y="1452271"/>
            <a:ext cx="8822637" cy="3609942"/>
          </a:xfrm>
          <a:prstGeom prst="rect">
            <a:avLst/>
          </a:prstGeom>
        </p:spPr>
      </p:pic>
      <p:pic>
        <p:nvPicPr>
          <p:cNvPr id="8" name="Picture 7">
            <a:extLst>
              <a:ext uri="{FF2B5EF4-FFF2-40B4-BE49-F238E27FC236}">
                <a16:creationId xmlns:a16="http://schemas.microsoft.com/office/drawing/2014/main" id="{810805D5-C3A4-ADD2-DBEC-489ADF2ABEBD}"/>
              </a:ext>
            </a:extLst>
          </p:cNvPr>
          <p:cNvPicPr>
            <a:picLocks noChangeAspect="1"/>
          </p:cNvPicPr>
          <p:nvPr/>
        </p:nvPicPr>
        <p:blipFill>
          <a:blip r:embed="rId3"/>
          <a:stretch>
            <a:fillRect/>
          </a:stretch>
        </p:blipFill>
        <p:spPr>
          <a:xfrm>
            <a:off x="259308" y="5281192"/>
            <a:ext cx="8961518" cy="1357352"/>
          </a:xfrm>
          <a:prstGeom prst="rect">
            <a:avLst/>
          </a:prstGeom>
        </p:spPr>
      </p:pic>
      <p:sp>
        <p:nvSpPr>
          <p:cNvPr id="10" name="TextBox 9">
            <a:extLst>
              <a:ext uri="{FF2B5EF4-FFF2-40B4-BE49-F238E27FC236}">
                <a16:creationId xmlns:a16="http://schemas.microsoft.com/office/drawing/2014/main" id="{2457EF50-A063-84A6-76D3-3DC0D873E9DE}"/>
              </a:ext>
            </a:extLst>
          </p:cNvPr>
          <p:cNvSpPr txBox="1"/>
          <p:nvPr/>
        </p:nvSpPr>
        <p:spPr>
          <a:xfrm>
            <a:off x="9292002" y="5754967"/>
            <a:ext cx="2268628" cy="523220"/>
          </a:xfrm>
          <a:prstGeom prst="rect">
            <a:avLst/>
          </a:prstGeom>
          <a:noFill/>
        </p:spPr>
        <p:txBody>
          <a:bodyPr wrap="square">
            <a:spAutoFit/>
          </a:bodyPr>
          <a:lstStyle/>
          <a:p>
            <a:r>
              <a:rPr lang="en-MY" sz="1400" b="1"/>
              <a:t>Property development projects</a:t>
            </a:r>
          </a:p>
        </p:txBody>
      </p:sp>
      <p:sp>
        <p:nvSpPr>
          <p:cNvPr id="11" name="TextBox 10">
            <a:extLst>
              <a:ext uri="{FF2B5EF4-FFF2-40B4-BE49-F238E27FC236}">
                <a16:creationId xmlns:a16="http://schemas.microsoft.com/office/drawing/2014/main" id="{8C0D84A5-7B96-1F1C-F7CB-9465923FA970}"/>
              </a:ext>
            </a:extLst>
          </p:cNvPr>
          <p:cNvSpPr txBox="1"/>
          <p:nvPr/>
        </p:nvSpPr>
        <p:spPr>
          <a:xfrm>
            <a:off x="9292002" y="3035444"/>
            <a:ext cx="2720053" cy="307777"/>
          </a:xfrm>
          <a:prstGeom prst="rect">
            <a:avLst/>
          </a:prstGeom>
          <a:noFill/>
        </p:spPr>
        <p:txBody>
          <a:bodyPr wrap="square">
            <a:spAutoFit/>
          </a:bodyPr>
          <a:lstStyle/>
          <a:p>
            <a:r>
              <a:rPr lang="en-MY" sz="1400" b="1"/>
              <a:t>Construction projects</a:t>
            </a:r>
          </a:p>
        </p:txBody>
      </p:sp>
    </p:spTree>
    <p:extLst>
      <p:ext uri="{BB962C8B-B14F-4D97-AF65-F5344CB8AC3E}">
        <p14:creationId xmlns:p14="http://schemas.microsoft.com/office/powerpoint/2010/main" val="1261937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059C6-C944-4674-7ACD-70C001F3865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EDB598-1E7D-0571-1336-E51499512CE5}"/>
              </a:ext>
            </a:extLst>
          </p:cNvPr>
          <p:cNvSpPr txBox="1"/>
          <p:nvPr/>
        </p:nvSpPr>
        <p:spPr>
          <a:xfrm>
            <a:off x="274320" y="6538516"/>
            <a:ext cx="6096000" cy="261610"/>
          </a:xfrm>
          <a:prstGeom prst="rect">
            <a:avLst/>
          </a:prstGeom>
          <a:noFill/>
        </p:spPr>
        <p:txBody>
          <a:bodyPr wrap="square">
            <a:spAutoFit/>
          </a:bodyPr>
          <a:lstStyle/>
          <a:p>
            <a:r>
              <a:rPr lang="en-MY" sz="1100"/>
              <a:t>Source : </a:t>
            </a:r>
            <a:r>
              <a:rPr lang="en-MY" sz="1100">
                <a:hlinkClick r:id="rId2"/>
              </a:rPr>
              <a:t>Bursa</a:t>
            </a:r>
            <a:r>
              <a:rPr lang="en-MY" sz="1100"/>
              <a:t>, </a:t>
            </a:r>
            <a:r>
              <a:rPr lang="en-MY" sz="1100">
                <a:hlinkClick r:id="rId3"/>
              </a:rPr>
              <a:t>AR2024</a:t>
            </a:r>
            <a:endParaRPr lang="en-MY" sz="1100"/>
          </a:p>
        </p:txBody>
      </p:sp>
      <p:sp>
        <p:nvSpPr>
          <p:cNvPr id="2" name="TextBox 1">
            <a:extLst>
              <a:ext uri="{FF2B5EF4-FFF2-40B4-BE49-F238E27FC236}">
                <a16:creationId xmlns:a16="http://schemas.microsoft.com/office/drawing/2014/main" id="{B858EA8D-BEE5-9E22-C21A-BCD4A779D2DC}"/>
              </a:ext>
            </a:extLst>
          </p:cNvPr>
          <p:cNvSpPr txBox="1"/>
          <p:nvPr/>
        </p:nvSpPr>
        <p:spPr>
          <a:xfrm>
            <a:off x="274320" y="188679"/>
            <a:ext cx="10735056" cy="553998"/>
          </a:xfrm>
          <a:prstGeom prst="rect">
            <a:avLst/>
          </a:prstGeom>
          <a:noFill/>
        </p:spPr>
        <p:txBody>
          <a:bodyPr wrap="square" rtlCol="0">
            <a:spAutoFit/>
          </a:bodyPr>
          <a:lstStyle/>
          <a:p>
            <a:r>
              <a:rPr lang="en-US" sz="3000" b="1"/>
              <a:t>Employees Share Option Scheme ("ESOS") – Summary</a:t>
            </a:r>
          </a:p>
        </p:txBody>
      </p:sp>
      <p:graphicFrame>
        <p:nvGraphicFramePr>
          <p:cNvPr id="6" name="Table 5">
            <a:extLst>
              <a:ext uri="{FF2B5EF4-FFF2-40B4-BE49-F238E27FC236}">
                <a16:creationId xmlns:a16="http://schemas.microsoft.com/office/drawing/2014/main" id="{D3DF10C5-3D09-668B-A911-642C647729C2}"/>
              </a:ext>
            </a:extLst>
          </p:cNvPr>
          <p:cNvGraphicFramePr>
            <a:graphicFrameLocks noGrp="1"/>
          </p:cNvGraphicFramePr>
          <p:nvPr>
            <p:extLst>
              <p:ext uri="{D42A27DB-BD31-4B8C-83A1-F6EECF244321}">
                <p14:modId xmlns:p14="http://schemas.microsoft.com/office/powerpoint/2010/main" val="2572140765"/>
              </p:ext>
            </p:extLst>
          </p:nvPr>
        </p:nvGraphicFramePr>
        <p:xfrm>
          <a:off x="493776" y="1881450"/>
          <a:ext cx="10515600" cy="1862528"/>
        </p:xfrm>
        <a:graphic>
          <a:graphicData uri="http://schemas.openxmlformats.org/drawingml/2006/table">
            <a:tbl>
              <a:tblPr/>
              <a:tblGrid>
                <a:gridCol w="2628900">
                  <a:extLst>
                    <a:ext uri="{9D8B030D-6E8A-4147-A177-3AD203B41FA5}">
                      <a16:colId xmlns:a16="http://schemas.microsoft.com/office/drawing/2014/main" val="1703384086"/>
                    </a:ext>
                  </a:extLst>
                </a:gridCol>
                <a:gridCol w="2628900">
                  <a:extLst>
                    <a:ext uri="{9D8B030D-6E8A-4147-A177-3AD203B41FA5}">
                      <a16:colId xmlns:a16="http://schemas.microsoft.com/office/drawing/2014/main" val="3296299439"/>
                    </a:ext>
                  </a:extLst>
                </a:gridCol>
                <a:gridCol w="2628900">
                  <a:extLst>
                    <a:ext uri="{9D8B030D-6E8A-4147-A177-3AD203B41FA5}">
                      <a16:colId xmlns:a16="http://schemas.microsoft.com/office/drawing/2014/main" val="1612052660"/>
                    </a:ext>
                  </a:extLst>
                </a:gridCol>
                <a:gridCol w="2628900">
                  <a:extLst>
                    <a:ext uri="{9D8B030D-6E8A-4147-A177-3AD203B41FA5}">
                      <a16:colId xmlns:a16="http://schemas.microsoft.com/office/drawing/2014/main" val="1267255450"/>
                    </a:ext>
                  </a:extLst>
                </a:gridCol>
              </a:tblGrid>
              <a:tr h="488032">
                <a:tc>
                  <a:txBody>
                    <a:bodyPr/>
                    <a:lstStyle/>
                    <a:p>
                      <a:pPr algn="ctr">
                        <a:buNone/>
                      </a:pPr>
                      <a:r>
                        <a:rPr lang="en-MY" sz="1400">
                          <a:solidFill>
                            <a:schemeClr val="bg1"/>
                          </a:solidFill>
                          <a:effectLst/>
                          <a:latin typeface="+mn-lt"/>
                        </a:rPr>
                        <a:t>Tranche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002060"/>
                    </a:solidFill>
                  </a:tcPr>
                </a:tc>
                <a:tc>
                  <a:txBody>
                    <a:bodyPr/>
                    <a:lstStyle/>
                    <a:p>
                      <a:pPr algn="ctr">
                        <a:buNone/>
                      </a:pPr>
                      <a:r>
                        <a:rPr lang="en-MY" sz="1400">
                          <a:solidFill>
                            <a:schemeClr val="bg1"/>
                          </a:solidFill>
                          <a:effectLst/>
                          <a:latin typeface="+mn-lt"/>
                        </a:rPr>
                        <a:t>Date of Offer/Grant</a:t>
                      </a:r>
                    </a:p>
                  </a:txBody>
                  <a:tcPr anchor="ctr">
                    <a:lnL>
                      <a:noFill/>
                    </a:lnL>
                    <a:lnR>
                      <a:noFill/>
                    </a:lnR>
                    <a:lnT w="12700" cap="flat" cmpd="sng" algn="ctr">
                      <a:solidFill>
                        <a:schemeClr val="tx1"/>
                      </a:solidFill>
                      <a:prstDash val="solid"/>
                      <a:round/>
                      <a:headEnd type="none" w="med" len="med"/>
                      <a:tailEnd type="none" w="med" len="med"/>
                    </a:lnT>
                    <a:lnB>
                      <a:noFill/>
                    </a:lnB>
                    <a:solidFill>
                      <a:srgbClr val="002060"/>
                    </a:solidFill>
                  </a:tcPr>
                </a:tc>
                <a:tc>
                  <a:txBody>
                    <a:bodyPr/>
                    <a:lstStyle/>
                    <a:p>
                      <a:pPr algn="ctr">
                        <a:buNone/>
                      </a:pPr>
                      <a:r>
                        <a:rPr lang="en-MY" sz="1400">
                          <a:solidFill>
                            <a:schemeClr val="bg1"/>
                          </a:solidFill>
                          <a:effectLst/>
                          <a:latin typeface="+mn-lt"/>
                        </a:rPr>
                        <a:t>Exercise Price</a:t>
                      </a:r>
                    </a:p>
                  </a:txBody>
                  <a:tcPr anchor="ctr">
                    <a:lnL>
                      <a:noFill/>
                    </a:lnL>
                    <a:lnR>
                      <a:noFill/>
                    </a:lnR>
                    <a:lnT w="12700" cap="flat" cmpd="sng" algn="ctr">
                      <a:solidFill>
                        <a:schemeClr val="tx1"/>
                      </a:solidFill>
                      <a:prstDash val="solid"/>
                      <a:round/>
                      <a:headEnd type="none" w="med" len="med"/>
                      <a:tailEnd type="none" w="med" len="med"/>
                    </a:lnT>
                    <a:lnB>
                      <a:noFill/>
                    </a:lnB>
                    <a:solidFill>
                      <a:srgbClr val="002060"/>
                    </a:solidFill>
                  </a:tcPr>
                </a:tc>
                <a:tc>
                  <a:txBody>
                    <a:bodyPr/>
                    <a:lstStyle/>
                    <a:p>
                      <a:pPr algn="ctr">
                        <a:buNone/>
                      </a:pPr>
                      <a:r>
                        <a:rPr lang="en-MY" sz="1400">
                          <a:solidFill>
                            <a:schemeClr val="bg1"/>
                          </a:solidFill>
                          <a:effectLst/>
                          <a:latin typeface="+mn-lt"/>
                        </a:rPr>
                        <a:t>Number of Options Offered</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2060"/>
                    </a:solidFill>
                  </a:tcPr>
                </a:tc>
                <a:extLst>
                  <a:ext uri="{0D108BD9-81ED-4DB2-BD59-A6C34878D82A}">
                    <a16:rowId xmlns:a16="http://schemas.microsoft.com/office/drawing/2014/main" val="2455664286"/>
                  </a:ext>
                </a:extLst>
              </a:tr>
              <a:tr h="343624">
                <a:tc>
                  <a:txBody>
                    <a:bodyPr/>
                    <a:lstStyle/>
                    <a:p>
                      <a:pPr algn="ctr">
                        <a:buNone/>
                      </a:pPr>
                      <a:r>
                        <a:rPr lang="en-MY" sz="1400" b="0">
                          <a:effectLst/>
                          <a:latin typeface="+mn-lt"/>
                        </a:rPr>
                        <a:t>1st Offer</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MY" sz="1400" b="0">
                          <a:effectLst/>
                          <a:latin typeface="+mn-lt"/>
                        </a:rPr>
                        <a:t>12 September 2022</a:t>
                      </a:r>
                    </a:p>
                  </a:txBody>
                  <a:tcPr anchor="ctr">
                    <a:lnL>
                      <a:noFill/>
                    </a:lnL>
                    <a:lnR>
                      <a:noFill/>
                    </a:lnR>
                    <a:lnT>
                      <a:noFill/>
                    </a:lnT>
                    <a:lnB>
                      <a:noFill/>
                    </a:lnB>
                    <a:noFill/>
                  </a:tcPr>
                </a:tc>
                <a:tc>
                  <a:txBody>
                    <a:bodyPr/>
                    <a:lstStyle/>
                    <a:p>
                      <a:pPr algn="ctr">
                        <a:buNone/>
                      </a:pPr>
                      <a:r>
                        <a:rPr lang="en-MY" sz="1400">
                          <a:effectLst/>
                          <a:latin typeface="+mn-lt"/>
                        </a:rPr>
                        <a:t>RM0.21</a:t>
                      </a:r>
                    </a:p>
                  </a:txBody>
                  <a:tcPr anchor="ctr">
                    <a:lnL>
                      <a:noFill/>
                    </a:lnL>
                    <a:lnR>
                      <a:noFill/>
                    </a:lnR>
                    <a:lnT>
                      <a:noFill/>
                    </a:lnT>
                    <a:lnB>
                      <a:noFill/>
                    </a:lnB>
                    <a:noFill/>
                  </a:tcPr>
                </a:tc>
                <a:tc>
                  <a:txBody>
                    <a:bodyPr/>
                    <a:lstStyle/>
                    <a:p>
                      <a:pPr algn="ctr">
                        <a:buNone/>
                      </a:pPr>
                      <a:r>
                        <a:rPr lang="en-MY" sz="1400">
                          <a:effectLst/>
                          <a:latin typeface="+mn-lt"/>
                        </a:rPr>
                        <a:t>20,760,000</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290457323"/>
                  </a:ext>
                </a:extLst>
              </a:tr>
              <a:tr h="343624">
                <a:tc>
                  <a:txBody>
                    <a:bodyPr/>
                    <a:lstStyle/>
                    <a:p>
                      <a:pPr algn="ctr">
                        <a:buNone/>
                      </a:pPr>
                      <a:r>
                        <a:rPr lang="en-MY" sz="1400" b="0">
                          <a:effectLst/>
                          <a:latin typeface="+mn-lt"/>
                        </a:rPr>
                        <a:t>2nd Offer</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MY" sz="1400" b="0">
                          <a:effectLst/>
                          <a:latin typeface="+mn-lt"/>
                        </a:rPr>
                        <a:t>12 September 2023</a:t>
                      </a:r>
                    </a:p>
                  </a:txBody>
                  <a:tcPr anchor="ctr">
                    <a:lnL>
                      <a:noFill/>
                    </a:lnL>
                    <a:lnR>
                      <a:noFill/>
                    </a:lnR>
                    <a:lnT>
                      <a:noFill/>
                    </a:lnT>
                    <a:lnB>
                      <a:noFill/>
                    </a:lnB>
                    <a:noFill/>
                  </a:tcPr>
                </a:tc>
                <a:tc>
                  <a:txBody>
                    <a:bodyPr/>
                    <a:lstStyle/>
                    <a:p>
                      <a:pPr algn="ctr">
                        <a:buNone/>
                      </a:pPr>
                      <a:r>
                        <a:rPr lang="en-MY" sz="1400">
                          <a:effectLst/>
                          <a:latin typeface="+mn-lt"/>
                        </a:rPr>
                        <a:t>RM0.24</a:t>
                      </a:r>
                    </a:p>
                  </a:txBody>
                  <a:tcPr anchor="ctr">
                    <a:lnL>
                      <a:noFill/>
                    </a:lnL>
                    <a:lnR>
                      <a:noFill/>
                    </a:lnR>
                    <a:lnT>
                      <a:noFill/>
                    </a:lnT>
                    <a:lnB>
                      <a:noFill/>
                    </a:lnB>
                    <a:noFill/>
                  </a:tcPr>
                </a:tc>
                <a:tc>
                  <a:txBody>
                    <a:bodyPr/>
                    <a:lstStyle/>
                    <a:p>
                      <a:pPr algn="ctr">
                        <a:buNone/>
                      </a:pPr>
                      <a:r>
                        <a:rPr lang="en-MY" sz="1400">
                          <a:effectLst/>
                          <a:latin typeface="+mn-lt"/>
                        </a:rPr>
                        <a:t>13,380,000</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118204443"/>
                  </a:ext>
                </a:extLst>
              </a:tr>
              <a:tr h="343624">
                <a:tc>
                  <a:txBody>
                    <a:bodyPr/>
                    <a:lstStyle/>
                    <a:p>
                      <a:pPr algn="ctr">
                        <a:buNone/>
                      </a:pPr>
                      <a:r>
                        <a:rPr lang="en-MY" sz="1400" b="0">
                          <a:effectLst/>
                          <a:latin typeface="+mn-lt"/>
                        </a:rPr>
                        <a:t>3rd Offer</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MY" sz="1400" b="0">
                          <a:effectLst/>
                          <a:latin typeface="+mn-lt"/>
                        </a:rPr>
                        <a:t>26 September 2024</a:t>
                      </a:r>
                    </a:p>
                  </a:txBody>
                  <a:tcPr anchor="ctr">
                    <a:lnL>
                      <a:noFill/>
                    </a:lnL>
                    <a:lnR>
                      <a:noFill/>
                    </a:lnR>
                    <a:lnT>
                      <a:noFill/>
                    </a:lnT>
                    <a:lnB>
                      <a:noFill/>
                    </a:lnB>
                    <a:noFill/>
                  </a:tcPr>
                </a:tc>
                <a:tc>
                  <a:txBody>
                    <a:bodyPr/>
                    <a:lstStyle/>
                    <a:p>
                      <a:pPr algn="ctr">
                        <a:buNone/>
                      </a:pPr>
                      <a:r>
                        <a:rPr lang="en-MY" sz="1400">
                          <a:effectLst/>
                          <a:latin typeface="+mn-lt"/>
                        </a:rPr>
                        <a:t>RM0.45</a:t>
                      </a:r>
                    </a:p>
                  </a:txBody>
                  <a:tcPr anchor="ctr">
                    <a:lnL>
                      <a:noFill/>
                    </a:lnL>
                    <a:lnR>
                      <a:noFill/>
                    </a:lnR>
                    <a:lnT>
                      <a:noFill/>
                    </a:lnT>
                    <a:lnB>
                      <a:noFill/>
                    </a:lnB>
                    <a:noFill/>
                  </a:tcPr>
                </a:tc>
                <a:tc>
                  <a:txBody>
                    <a:bodyPr/>
                    <a:lstStyle/>
                    <a:p>
                      <a:pPr algn="ctr">
                        <a:buNone/>
                      </a:pPr>
                      <a:r>
                        <a:rPr lang="en-MY" sz="1400">
                          <a:effectLst/>
                          <a:latin typeface="+mn-lt"/>
                        </a:rPr>
                        <a:t>14,010,000</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605369011"/>
                  </a:ext>
                </a:extLst>
              </a:tr>
              <a:tr h="343624">
                <a:tc>
                  <a:txBody>
                    <a:bodyPr/>
                    <a:lstStyle/>
                    <a:p>
                      <a:pPr algn="ctr">
                        <a:buNone/>
                      </a:pPr>
                      <a:r>
                        <a:rPr lang="en-MY" sz="1400" b="0">
                          <a:effectLst/>
                          <a:latin typeface="+mn-lt"/>
                        </a:rPr>
                        <a:t>4th Offer</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MY" sz="1400" b="0">
                          <a:effectLst/>
                          <a:latin typeface="+mn-lt"/>
                        </a:rPr>
                        <a:t>4 September 2025</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MY" sz="1400">
                          <a:effectLst/>
                          <a:latin typeface="+mn-lt"/>
                        </a:rPr>
                        <a:t>RM0.38</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MY" sz="1400">
                          <a:effectLst/>
                          <a:latin typeface="+mn-lt"/>
                        </a:rPr>
                        <a:t>16,300,000</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0002065"/>
                  </a:ext>
                </a:extLst>
              </a:tr>
            </a:tbl>
          </a:graphicData>
        </a:graphic>
      </p:graphicFrame>
      <p:sp>
        <p:nvSpPr>
          <p:cNvPr id="8" name="Rectangle 1">
            <a:extLst>
              <a:ext uri="{FF2B5EF4-FFF2-40B4-BE49-F238E27FC236}">
                <a16:creationId xmlns:a16="http://schemas.microsoft.com/office/drawing/2014/main" id="{7BCE5594-EB71-3E6A-BC8C-6CAED3312E72}"/>
              </a:ext>
            </a:extLst>
          </p:cNvPr>
          <p:cNvSpPr>
            <a:spLocks noChangeArrowheads="1"/>
          </p:cNvSpPr>
          <p:nvPr/>
        </p:nvSpPr>
        <p:spPr bwMode="auto">
          <a:xfrm>
            <a:off x="493776" y="1445973"/>
            <a:ext cx="23088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chemeClr val="tx1"/>
                </a:solidFill>
                <a:effectLst/>
              </a:rPr>
              <a:t>List of ESOS Option Offers</a:t>
            </a:r>
            <a:endParaRPr kumimoji="0" lang="en-US" altLang="en-US" sz="1400" b="0" i="0" u="none" strike="noStrike" cap="none" normalizeH="0" baseline="0">
              <a:ln>
                <a:noFill/>
              </a:ln>
              <a:solidFill>
                <a:schemeClr val="tx1"/>
              </a:solidFill>
              <a:effectLst/>
            </a:endParaRPr>
          </a:p>
        </p:txBody>
      </p:sp>
      <p:sp>
        <p:nvSpPr>
          <p:cNvPr id="10" name="TextBox 9">
            <a:extLst>
              <a:ext uri="{FF2B5EF4-FFF2-40B4-BE49-F238E27FC236}">
                <a16:creationId xmlns:a16="http://schemas.microsoft.com/office/drawing/2014/main" id="{BD5F8219-86CF-FBB4-39CC-9274825F1D19}"/>
              </a:ext>
            </a:extLst>
          </p:cNvPr>
          <p:cNvSpPr txBox="1"/>
          <p:nvPr/>
        </p:nvSpPr>
        <p:spPr>
          <a:xfrm>
            <a:off x="493776" y="742677"/>
            <a:ext cx="11095040" cy="584775"/>
          </a:xfrm>
          <a:prstGeom prst="rect">
            <a:avLst/>
          </a:prstGeom>
          <a:noFill/>
        </p:spPr>
        <p:txBody>
          <a:bodyPr wrap="square">
            <a:spAutoFit/>
          </a:bodyPr>
          <a:lstStyle/>
          <a:p>
            <a:r>
              <a:rPr lang="en-US" sz="1600"/>
              <a:t>Inta Bina's ESOS was approved by shareholders at the EGM on 25 June 2021 and implemented on 25 November 2021. The scheme remains in force for 5 years, expiring on </a:t>
            </a:r>
            <a:r>
              <a:rPr lang="en-US" sz="1600" b="1"/>
              <a:t>24 November 2026.</a:t>
            </a:r>
            <a:endParaRPr lang="en-MY" sz="1600" b="1"/>
          </a:p>
        </p:txBody>
      </p:sp>
      <p:graphicFrame>
        <p:nvGraphicFramePr>
          <p:cNvPr id="3" name="Table 2">
            <a:extLst>
              <a:ext uri="{FF2B5EF4-FFF2-40B4-BE49-F238E27FC236}">
                <a16:creationId xmlns:a16="http://schemas.microsoft.com/office/drawing/2014/main" id="{65D0EFE4-9BCD-5277-7B86-0FB09A7028D7}"/>
              </a:ext>
            </a:extLst>
          </p:cNvPr>
          <p:cNvGraphicFramePr>
            <a:graphicFrameLocks noGrp="1"/>
          </p:cNvGraphicFramePr>
          <p:nvPr>
            <p:extLst>
              <p:ext uri="{D42A27DB-BD31-4B8C-83A1-F6EECF244321}">
                <p14:modId xmlns:p14="http://schemas.microsoft.com/office/powerpoint/2010/main" val="1345165177"/>
              </p:ext>
            </p:extLst>
          </p:nvPr>
        </p:nvGraphicFramePr>
        <p:xfrm>
          <a:off x="493776" y="3924328"/>
          <a:ext cx="10515600" cy="2463770"/>
        </p:xfrm>
        <a:graphic>
          <a:graphicData uri="http://schemas.openxmlformats.org/drawingml/2006/table">
            <a:tbl>
              <a:tblPr firstRow="1">
                <a:tableStyleId>{7E9639D4-E3E2-4D34-9284-5A2195B3D0D7}</a:tableStyleId>
              </a:tblPr>
              <a:tblGrid>
                <a:gridCol w="2782824">
                  <a:extLst>
                    <a:ext uri="{9D8B030D-6E8A-4147-A177-3AD203B41FA5}">
                      <a16:colId xmlns:a16="http://schemas.microsoft.com/office/drawing/2014/main" val="3758703446"/>
                    </a:ext>
                  </a:extLst>
                </a:gridCol>
                <a:gridCol w="1933194">
                  <a:extLst>
                    <a:ext uri="{9D8B030D-6E8A-4147-A177-3AD203B41FA5}">
                      <a16:colId xmlns:a16="http://schemas.microsoft.com/office/drawing/2014/main" val="3560468332"/>
                    </a:ext>
                  </a:extLst>
                </a:gridCol>
                <a:gridCol w="1933194">
                  <a:extLst>
                    <a:ext uri="{9D8B030D-6E8A-4147-A177-3AD203B41FA5}">
                      <a16:colId xmlns:a16="http://schemas.microsoft.com/office/drawing/2014/main" val="1545238991"/>
                    </a:ext>
                  </a:extLst>
                </a:gridCol>
                <a:gridCol w="1933194">
                  <a:extLst>
                    <a:ext uri="{9D8B030D-6E8A-4147-A177-3AD203B41FA5}">
                      <a16:colId xmlns:a16="http://schemas.microsoft.com/office/drawing/2014/main" val="2862039463"/>
                    </a:ext>
                  </a:extLst>
                </a:gridCol>
                <a:gridCol w="1933194">
                  <a:extLst>
                    <a:ext uri="{9D8B030D-6E8A-4147-A177-3AD203B41FA5}">
                      <a16:colId xmlns:a16="http://schemas.microsoft.com/office/drawing/2014/main" val="1080127783"/>
                    </a:ext>
                  </a:extLst>
                </a:gridCol>
              </a:tblGrid>
              <a:tr h="246377">
                <a:tc>
                  <a:txBody>
                    <a:bodyPr/>
                    <a:lstStyle/>
                    <a:p>
                      <a:pPr algn="l" rtl="0" fontAlgn="ctr">
                        <a:buNone/>
                      </a:pPr>
                      <a:r>
                        <a:rPr lang="en-MY" sz="1100" u="none" strike="noStrike">
                          <a:effectLst/>
                        </a:rPr>
                        <a:t>Name</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4/9/2025</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26/9/2024</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12/9/2023</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12/9/2022</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2857078346"/>
                  </a:ext>
                </a:extLst>
              </a:tr>
              <a:tr h="246377">
                <a:tc>
                  <a:txBody>
                    <a:bodyPr/>
                    <a:lstStyle/>
                    <a:p>
                      <a:pPr algn="l" rtl="0" fontAlgn="ctr">
                        <a:buNone/>
                      </a:pPr>
                      <a:r>
                        <a:rPr lang="en-MY" sz="1100" u="none" strike="noStrike">
                          <a:effectLst/>
                        </a:rPr>
                        <a:t>Dr Lim Pang Kiam</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120,000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90,000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80,000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120,000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1082280090"/>
                  </a:ext>
                </a:extLst>
              </a:tr>
              <a:tr h="246377">
                <a:tc>
                  <a:txBody>
                    <a:bodyPr/>
                    <a:lstStyle/>
                    <a:p>
                      <a:pPr algn="l" rtl="0" fontAlgn="ctr">
                        <a:buNone/>
                      </a:pPr>
                      <a:r>
                        <a:rPr lang="en-MY" sz="1100" u="none" strike="noStrike">
                          <a:effectLst/>
                        </a:rPr>
                        <a:t>Lim Ooi Joo</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900,000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800,000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800,000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1,120,000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1508105734"/>
                  </a:ext>
                </a:extLst>
              </a:tr>
              <a:tr h="246377">
                <a:tc>
                  <a:txBody>
                    <a:bodyPr/>
                    <a:lstStyle/>
                    <a:p>
                      <a:pPr algn="l" rtl="0" fontAlgn="ctr">
                        <a:buNone/>
                      </a:pPr>
                      <a:r>
                        <a:rPr lang="en-MY" sz="1100" u="none" strike="noStrike">
                          <a:effectLst/>
                        </a:rPr>
                        <a:t>Teo Hock Choon</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800,000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700,000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700,000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880,000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671450974"/>
                  </a:ext>
                </a:extLst>
              </a:tr>
              <a:tr h="246377">
                <a:tc>
                  <a:txBody>
                    <a:bodyPr/>
                    <a:lstStyle/>
                    <a:p>
                      <a:pPr algn="l" rtl="0" fontAlgn="ctr">
                        <a:buNone/>
                      </a:pPr>
                      <a:r>
                        <a:rPr lang="en-MY" sz="1100" u="none" strike="noStrike">
                          <a:effectLst/>
                        </a:rPr>
                        <a:t>Ahmad Bin Awi</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260,000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250,000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270,000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580,000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2025686442"/>
                  </a:ext>
                </a:extLst>
              </a:tr>
              <a:tr h="246377">
                <a:tc>
                  <a:txBody>
                    <a:bodyPr/>
                    <a:lstStyle/>
                    <a:p>
                      <a:pPr algn="l" rtl="0" fontAlgn="ctr">
                        <a:buNone/>
                      </a:pPr>
                      <a:r>
                        <a:rPr lang="en-MY" sz="1100" u="none" strike="noStrike">
                          <a:effectLst/>
                        </a:rPr>
                        <a:t>Chau Yik Mun</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280,000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250,000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370,000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580,000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72221962"/>
                  </a:ext>
                </a:extLst>
              </a:tr>
              <a:tr h="246377">
                <a:tc>
                  <a:txBody>
                    <a:bodyPr/>
                    <a:lstStyle/>
                    <a:p>
                      <a:pPr algn="l" rtl="0" fontAlgn="ctr">
                        <a:buNone/>
                      </a:pPr>
                      <a:r>
                        <a:rPr lang="en-MY" sz="1100" u="none" strike="noStrike">
                          <a:effectLst/>
                        </a:rPr>
                        <a:t>Yap Yoon Kong</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120,000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90,000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80,000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120,000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3650695029"/>
                  </a:ext>
                </a:extLst>
              </a:tr>
              <a:tr h="246377">
                <a:tc>
                  <a:txBody>
                    <a:bodyPr/>
                    <a:lstStyle/>
                    <a:p>
                      <a:pPr algn="l" rtl="0" fontAlgn="ctr">
                        <a:buNone/>
                      </a:pPr>
                      <a:r>
                        <a:rPr lang="it-IT" sz="1100" u="none" strike="noStrike">
                          <a:effectLst/>
                        </a:rPr>
                        <a:t>Dato’ Leanne Koh Li Ann</a:t>
                      </a:r>
                      <a:endParaRPr lang="it-IT"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50,000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30,000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40,000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2400936738"/>
                  </a:ext>
                </a:extLst>
              </a:tr>
              <a:tr h="246377">
                <a:tc>
                  <a:txBody>
                    <a:bodyPr/>
                    <a:lstStyle/>
                    <a:p>
                      <a:pPr algn="l" rtl="0" fontAlgn="ctr">
                        <a:buNone/>
                      </a:pPr>
                      <a:r>
                        <a:rPr lang="en-MY" sz="1100" u="none" strike="noStrike">
                          <a:effectLst/>
                        </a:rPr>
                        <a:t>Au Foong Yee</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100,000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50,000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30,000</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rtl="0" fontAlgn="ctr">
                        <a:buNone/>
                      </a:pPr>
                      <a:r>
                        <a:rPr lang="en-MY" sz="1100" u="none" strike="noStrike">
                          <a:effectLst/>
                        </a:rPr>
                        <a:t>40,000</a:t>
                      </a:r>
                      <a:endParaRPr lang="en-MY" sz="1100" b="0" i="0" u="none" strike="noStrike">
                        <a:solidFill>
                          <a:srgbClr val="000000"/>
                        </a:solidFill>
                        <a:effectLst/>
                        <a:latin typeface="Aptos" panose="020B0004020202020204" pitchFamily="34" charset="0"/>
                      </a:endParaRPr>
                    </a:p>
                  </a:txBody>
                  <a:tcPr marL="72000" marR="72000" marT="6350" marB="0" anchor="ctr"/>
                </a:tc>
                <a:extLst>
                  <a:ext uri="{0D108BD9-81ED-4DB2-BD59-A6C34878D82A}">
                    <a16:rowId xmlns:a16="http://schemas.microsoft.com/office/drawing/2014/main" val="1039336344"/>
                  </a:ext>
                </a:extLst>
              </a:tr>
              <a:tr h="246377">
                <a:tc>
                  <a:txBody>
                    <a:bodyPr/>
                    <a:lstStyle/>
                    <a:p>
                      <a:pPr algn="l" rtl="0" fontAlgn="ctr">
                        <a:buNone/>
                      </a:pPr>
                      <a:r>
                        <a:rPr lang="en-MY" sz="1100" u="none" strike="noStrike">
                          <a:effectLst/>
                        </a:rPr>
                        <a:t>Total</a:t>
                      </a:r>
                      <a:endParaRPr lang="en-MY" sz="1100" b="0" i="0" u="none" strike="noStrike">
                        <a:solidFill>
                          <a:srgbClr val="000000"/>
                        </a:solidFill>
                        <a:effectLst/>
                        <a:latin typeface="Aptos" panose="020B0004020202020204" pitchFamily="34" charset="0"/>
                      </a:endParaRPr>
                    </a:p>
                  </a:txBody>
                  <a:tcPr marL="72000" marR="72000" marT="6350" marB="0" anchor="ctr"/>
                </a:tc>
                <a:tc>
                  <a:txBody>
                    <a:bodyPr/>
                    <a:lstStyle/>
                    <a:p>
                      <a:pPr algn="ctr" fontAlgn="b">
                        <a:buNone/>
                      </a:pPr>
                      <a:r>
                        <a:rPr lang="en-MY" sz="1100" u="none" strike="noStrike">
                          <a:effectLst/>
                        </a:rPr>
                        <a:t>2,680,000</a:t>
                      </a:r>
                      <a:endParaRPr lang="en-MY" sz="1100" b="0" i="0" u="none" strike="noStrike">
                        <a:solidFill>
                          <a:srgbClr val="000000"/>
                        </a:solidFill>
                        <a:effectLst/>
                        <a:latin typeface="Calibri" panose="020F0502020204030204" pitchFamily="34" charset="0"/>
                      </a:endParaRPr>
                    </a:p>
                  </a:txBody>
                  <a:tcPr marL="72000" marR="72000" marT="6350" marB="0" anchor="ctr"/>
                </a:tc>
                <a:tc>
                  <a:txBody>
                    <a:bodyPr/>
                    <a:lstStyle/>
                    <a:p>
                      <a:pPr algn="ctr" fontAlgn="b">
                        <a:buNone/>
                      </a:pPr>
                      <a:r>
                        <a:rPr lang="en-MY" sz="1100" u="none" strike="noStrike">
                          <a:effectLst/>
                        </a:rPr>
                        <a:t>2,280,000</a:t>
                      </a:r>
                      <a:endParaRPr lang="en-MY" sz="1100" b="0" i="0" u="none" strike="noStrike">
                        <a:solidFill>
                          <a:srgbClr val="000000"/>
                        </a:solidFill>
                        <a:effectLst/>
                        <a:latin typeface="Calibri" panose="020F0502020204030204" pitchFamily="34" charset="0"/>
                      </a:endParaRPr>
                    </a:p>
                  </a:txBody>
                  <a:tcPr marL="72000" marR="72000" marT="6350" marB="0" anchor="ctr"/>
                </a:tc>
                <a:tc>
                  <a:txBody>
                    <a:bodyPr/>
                    <a:lstStyle/>
                    <a:p>
                      <a:pPr algn="ctr" fontAlgn="b">
                        <a:buNone/>
                      </a:pPr>
                      <a:r>
                        <a:rPr lang="en-MY" sz="1100" u="none" strike="noStrike">
                          <a:effectLst/>
                        </a:rPr>
                        <a:t>2,360,000</a:t>
                      </a:r>
                      <a:endParaRPr lang="en-MY" sz="1100" b="0" i="0" u="none" strike="noStrike">
                        <a:solidFill>
                          <a:srgbClr val="000000"/>
                        </a:solidFill>
                        <a:effectLst/>
                        <a:latin typeface="Calibri" panose="020F0502020204030204" pitchFamily="34" charset="0"/>
                      </a:endParaRPr>
                    </a:p>
                  </a:txBody>
                  <a:tcPr marL="72000" marR="72000" marT="6350" marB="0" anchor="ctr"/>
                </a:tc>
                <a:tc>
                  <a:txBody>
                    <a:bodyPr/>
                    <a:lstStyle/>
                    <a:p>
                      <a:pPr algn="ctr" fontAlgn="b">
                        <a:buNone/>
                      </a:pPr>
                      <a:r>
                        <a:rPr lang="en-MY" sz="1100" u="none" strike="noStrike">
                          <a:effectLst/>
                        </a:rPr>
                        <a:t>3,480,000</a:t>
                      </a:r>
                      <a:endParaRPr lang="en-MY" sz="1100" b="0" i="0" u="none" strike="noStrike">
                        <a:solidFill>
                          <a:srgbClr val="000000"/>
                        </a:solidFill>
                        <a:effectLst/>
                        <a:latin typeface="Calibri" panose="020F0502020204030204" pitchFamily="34" charset="0"/>
                      </a:endParaRPr>
                    </a:p>
                  </a:txBody>
                  <a:tcPr marL="72000" marR="72000" marT="6350" marB="0" anchor="ctr"/>
                </a:tc>
                <a:extLst>
                  <a:ext uri="{0D108BD9-81ED-4DB2-BD59-A6C34878D82A}">
                    <a16:rowId xmlns:a16="http://schemas.microsoft.com/office/drawing/2014/main" val="1395029987"/>
                  </a:ext>
                </a:extLst>
              </a:tr>
            </a:tbl>
          </a:graphicData>
        </a:graphic>
      </p:graphicFrame>
    </p:spTree>
    <p:extLst>
      <p:ext uri="{BB962C8B-B14F-4D97-AF65-F5344CB8AC3E}">
        <p14:creationId xmlns:p14="http://schemas.microsoft.com/office/powerpoint/2010/main" val="3149389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7CBBC-6017-F889-3A8C-169C75081A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8A06E52-39B5-3E10-7A56-FFB87D85D46A}"/>
              </a:ext>
            </a:extLst>
          </p:cNvPr>
          <p:cNvSpPr>
            <a:spLocks noGrp="1"/>
          </p:cNvSpPr>
          <p:nvPr>
            <p:ph type="title"/>
          </p:nvPr>
        </p:nvSpPr>
        <p:spPr>
          <a:xfrm>
            <a:off x="362712" y="90805"/>
            <a:ext cx="10515600" cy="777600"/>
          </a:xfrm>
        </p:spPr>
        <p:txBody>
          <a:bodyPr>
            <a:normAutofit/>
          </a:bodyPr>
          <a:lstStyle/>
          <a:p>
            <a:r>
              <a:rPr lang="en-MY" sz="3600"/>
              <a:t>Competitor Benchmarking (1 of 2)</a:t>
            </a:r>
          </a:p>
        </p:txBody>
      </p:sp>
      <p:sp>
        <p:nvSpPr>
          <p:cNvPr id="4" name="Slide Number Placeholder 4">
            <a:extLst>
              <a:ext uri="{FF2B5EF4-FFF2-40B4-BE49-F238E27FC236}">
                <a16:creationId xmlns:a16="http://schemas.microsoft.com/office/drawing/2014/main" id="{77883BFD-5D8A-FEE5-2ABD-EB0CA080A28F}"/>
              </a:ext>
            </a:extLst>
          </p:cNvPr>
          <p:cNvSpPr>
            <a:spLocks noGrp="1"/>
          </p:cNvSpPr>
          <p:nvPr>
            <p:ph type="sldNum" sz="quarter" idx="12"/>
          </p:nvPr>
        </p:nvSpPr>
        <p:spPr>
          <a:xfrm>
            <a:off x="9375060" y="6356349"/>
            <a:ext cx="2743200" cy="365125"/>
          </a:xfrm>
          <a:prstGeom prst="rect">
            <a:avLst/>
          </a:prstGeom>
        </p:spPr>
        <p:txBody>
          <a:bodyPr/>
          <a:lstStyle/>
          <a:p>
            <a:fld id="{4C52F89C-230B-40F8-B5DC-B76BA2C55BBC}" type="slidenum">
              <a:rPr lang="en-US" smtClean="0"/>
              <a:t>37</a:t>
            </a:fld>
            <a:endParaRPr lang="en-US"/>
          </a:p>
        </p:txBody>
      </p:sp>
      <p:sp>
        <p:nvSpPr>
          <p:cNvPr id="3" name="TextBox 2">
            <a:extLst>
              <a:ext uri="{FF2B5EF4-FFF2-40B4-BE49-F238E27FC236}">
                <a16:creationId xmlns:a16="http://schemas.microsoft.com/office/drawing/2014/main" id="{BE35C5BC-2103-3DD2-646C-89D8559173D3}"/>
              </a:ext>
            </a:extLst>
          </p:cNvPr>
          <p:cNvSpPr txBox="1"/>
          <p:nvPr/>
        </p:nvSpPr>
        <p:spPr>
          <a:xfrm>
            <a:off x="362712" y="780961"/>
            <a:ext cx="5733288" cy="307777"/>
          </a:xfrm>
          <a:prstGeom prst="rect">
            <a:avLst/>
          </a:prstGeom>
          <a:noFill/>
        </p:spPr>
        <p:txBody>
          <a:bodyPr wrap="square">
            <a:spAutoFit/>
          </a:bodyPr>
          <a:lstStyle/>
          <a:p>
            <a:pPr marL="285750" indent="-285750">
              <a:buFont typeface="Wingdings" panose="05000000000000000000" pitchFamily="2" charset="2"/>
              <a:buChar char="§"/>
            </a:pPr>
            <a:r>
              <a:rPr lang="en-US" sz="1400" err="1"/>
              <a:t>Inta</a:t>
            </a:r>
            <a:r>
              <a:rPr lang="en-US" sz="1400"/>
              <a:t> Bina ranks among the top peers in both revenue and profit.</a:t>
            </a:r>
          </a:p>
        </p:txBody>
      </p:sp>
      <p:graphicFrame>
        <p:nvGraphicFramePr>
          <p:cNvPr id="6" name="Table 5">
            <a:extLst>
              <a:ext uri="{FF2B5EF4-FFF2-40B4-BE49-F238E27FC236}">
                <a16:creationId xmlns:a16="http://schemas.microsoft.com/office/drawing/2014/main" id="{EAA20C84-076E-AC36-093E-72A180FCDAF4}"/>
              </a:ext>
            </a:extLst>
          </p:cNvPr>
          <p:cNvGraphicFramePr>
            <a:graphicFrameLocks noGrp="1"/>
          </p:cNvGraphicFramePr>
          <p:nvPr>
            <p:extLst>
              <p:ext uri="{D42A27DB-BD31-4B8C-83A1-F6EECF244321}">
                <p14:modId xmlns:p14="http://schemas.microsoft.com/office/powerpoint/2010/main" val="2020590019"/>
              </p:ext>
            </p:extLst>
          </p:nvPr>
        </p:nvGraphicFramePr>
        <p:xfrm>
          <a:off x="596900" y="1295400"/>
          <a:ext cx="11050811" cy="4781636"/>
        </p:xfrm>
        <a:graphic>
          <a:graphicData uri="http://schemas.openxmlformats.org/drawingml/2006/table">
            <a:tbl>
              <a:tblPr/>
              <a:tblGrid>
                <a:gridCol w="947213">
                  <a:extLst>
                    <a:ext uri="{9D8B030D-6E8A-4147-A177-3AD203B41FA5}">
                      <a16:colId xmlns:a16="http://schemas.microsoft.com/office/drawing/2014/main" val="1481423548"/>
                    </a:ext>
                  </a:extLst>
                </a:gridCol>
                <a:gridCol w="640761">
                  <a:extLst>
                    <a:ext uri="{9D8B030D-6E8A-4147-A177-3AD203B41FA5}">
                      <a16:colId xmlns:a16="http://schemas.microsoft.com/office/drawing/2014/main" val="357121835"/>
                    </a:ext>
                  </a:extLst>
                </a:gridCol>
                <a:gridCol w="640761">
                  <a:extLst>
                    <a:ext uri="{9D8B030D-6E8A-4147-A177-3AD203B41FA5}">
                      <a16:colId xmlns:a16="http://schemas.microsoft.com/office/drawing/2014/main" val="3196484665"/>
                    </a:ext>
                  </a:extLst>
                </a:gridCol>
                <a:gridCol w="640761">
                  <a:extLst>
                    <a:ext uri="{9D8B030D-6E8A-4147-A177-3AD203B41FA5}">
                      <a16:colId xmlns:a16="http://schemas.microsoft.com/office/drawing/2014/main" val="1947192256"/>
                    </a:ext>
                  </a:extLst>
                </a:gridCol>
                <a:gridCol w="640761">
                  <a:extLst>
                    <a:ext uri="{9D8B030D-6E8A-4147-A177-3AD203B41FA5}">
                      <a16:colId xmlns:a16="http://schemas.microsoft.com/office/drawing/2014/main" val="1922109107"/>
                    </a:ext>
                  </a:extLst>
                </a:gridCol>
                <a:gridCol w="260020">
                  <a:extLst>
                    <a:ext uri="{9D8B030D-6E8A-4147-A177-3AD203B41FA5}">
                      <a16:colId xmlns:a16="http://schemas.microsoft.com/office/drawing/2014/main" val="3644377055"/>
                    </a:ext>
                  </a:extLst>
                </a:gridCol>
                <a:gridCol w="947213">
                  <a:extLst>
                    <a:ext uri="{9D8B030D-6E8A-4147-A177-3AD203B41FA5}">
                      <a16:colId xmlns:a16="http://schemas.microsoft.com/office/drawing/2014/main" val="73317314"/>
                    </a:ext>
                  </a:extLst>
                </a:gridCol>
                <a:gridCol w="640761">
                  <a:extLst>
                    <a:ext uri="{9D8B030D-6E8A-4147-A177-3AD203B41FA5}">
                      <a16:colId xmlns:a16="http://schemas.microsoft.com/office/drawing/2014/main" val="3744016071"/>
                    </a:ext>
                  </a:extLst>
                </a:gridCol>
                <a:gridCol w="640761">
                  <a:extLst>
                    <a:ext uri="{9D8B030D-6E8A-4147-A177-3AD203B41FA5}">
                      <a16:colId xmlns:a16="http://schemas.microsoft.com/office/drawing/2014/main" val="2028324886"/>
                    </a:ext>
                  </a:extLst>
                </a:gridCol>
                <a:gridCol w="640761">
                  <a:extLst>
                    <a:ext uri="{9D8B030D-6E8A-4147-A177-3AD203B41FA5}">
                      <a16:colId xmlns:a16="http://schemas.microsoft.com/office/drawing/2014/main" val="3769132478"/>
                    </a:ext>
                  </a:extLst>
                </a:gridCol>
                <a:gridCol w="640761">
                  <a:extLst>
                    <a:ext uri="{9D8B030D-6E8A-4147-A177-3AD203B41FA5}">
                      <a16:colId xmlns:a16="http://schemas.microsoft.com/office/drawing/2014/main" val="46052725"/>
                    </a:ext>
                  </a:extLst>
                </a:gridCol>
                <a:gridCol w="260020">
                  <a:extLst>
                    <a:ext uri="{9D8B030D-6E8A-4147-A177-3AD203B41FA5}">
                      <a16:colId xmlns:a16="http://schemas.microsoft.com/office/drawing/2014/main" val="596436688"/>
                    </a:ext>
                  </a:extLst>
                </a:gridCol>
                <a:gridCol w="947213">
                  <a:extLst>
                    <a:ext uri="{9D8B030D-6E8A-4147-A177-3AD203B41FA5}">
                      <a16:colId xmlns:a16="http://schemas.microsoft.com/office/drawing/2014/main" val="1243027305"/>
                    </a:ext>
                  </a:extLst>
                </a:gridCol>
                <a:gridCol w="640761">
                  <a:extLst>
                    <a:ext uri="{9D8B030D-6E8A-4147-A177-3AD203B41FA5}">
                      <a16:colId xmlns:a16="http://schemas.microsoft.com/office/drawing/2014/main" val="2216686638"/>
                    </a:ext>
                  </a:extLst>
                </a:gridCol>
                <a:gridCol w="640761">
                  <a:extLst>
                    <a:ext uri="{9D8B030D-6E8A-4147-A177-3AD203B41FA5}">
                      <a16:colId xmlns:a16="http://schemas.microsoft.com/office/drawing/2014/main" val="4209275621"/>
                    </a:ext>
                  </a:extLst>
                </a:gridCol>
                <a:gridCol w="640761">
                  <a:extLst>
                    <a:ext uri="{9D8B030D-6E8A-4147-A177-3AD203B41FA5}">
                      <a16:colId xmlns:a16="http://schemas.microsoft.com/office/drawing/2014/main" val="2445451981"/>
                    </a:ext>
                  </a:extLst>
                </a:gridCol>
                <a:gridCol w="640761">
                  <a:extLst>
                    <a:ext uri="{9D8B030D-6E8A-4147-A177-3AD203B41FA5}">
                      <a16:colId xmlns:a16="http://schemas.microsoft.com/office/drawing/2014/main" val="2761782353"/>
                    </a:ext>
                  </a:extLst>
                </a:gridCol>
              </a:tblGrid>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8" marR="4418" marT="4418" marB="0" anchor="b">
                    <a:lnL>
                      <a:noFill/>
                    </a:lnL>
                    <a:lnR>
                      <a:noFill/>
                    </a:lnR>
                    <a:lnT>
                      <a:noFill/>
                    </a:lnT>
                    <a:lnB>
                      <a:noFill/>
                    </a:lnB>
                    <a:solidFill>
                      <a:srgbClr val="0070C0"/>
                    </a:solidFill>
                  </a:tcPr>
                </a:tc>
                <a:extLst>
                  <a:ext uri="{0D108BD9-81ED-4DB2-BD59-A6C34878D82A}">
                    <a16:rowId xmlns:a16="http://schemas.microsoft.com/office/drawing/2014/main" val="2968037153"/>
                  </a:ext>
                </a:extLst>
              </a:tr>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RM'000</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RM'000</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RM'000</a:t>
                      </a:r>
                    </a:p>
                  </a:txBody>
                  <a:tcPr marL="4418" marR="4418" marT="4418" marB="0" anchor="b">
                    <a:lnL>
                      <a:noFill/>
                    </a:lnL>
                    <a:lnR>
                      <a:noFill/>
                    </a:lnR>
                    <a:lnT>
                      <a:noFill/>
                    </a:lnT>
                    <a:lnB>
                      <a:noFill/>
                    </a:lnB>
                    <a:solidFill>
                      <a:srgbClr val="0070C0"/>
                    </a:solidFill>
                  </a:tcPr>
                </a:tc>
                <a:extLst>
                  <a:ext uri="{0D108BD9-81ED-4DB2-BD59-A6C34878D82A}">
                    <a16:rowId xmlns:a16="http://schemas.microsoft.com/office/drawing/2014/main" val="1060969339"/>
                  </a:ext>
                </a:extLst>
              </a:tr>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extLst>
                  <a:ext uri="{0D108BD9-81ED-4DB2-BD59-A6C34878D82A}">
                    <a16:rowId xmlns:a16="http://schemas.microsoft.com/office/drawing/2014/main" val="3372430428"/>
                  </a:ext>
                </a:extLst>
              </a:tr>
              <a:tr h="164884">
                <a:tc>
                  <a:txBody>
                    <a:bodyPr/>
                    <a:lstStyle/>
                    <a:p>
                      <a:pPr algn="l" fontAlgn="b">
                        <a:buNone/>
                      </a:pPr>
                      <a:r>
                        <a:rPr lang="en-MY" sz="900" b="0" i="0" u="none" strike="noStrike">
                          <a:solidFill>
                            <a:srgbClr val="FFFFFF"/>
                          </a:solidFill>
                          <a:effectLst/>
                          <a:latin typeface="Aptos" panose="020B0004020202020204" pitchFamily="34" charset="0"/>
                        </a:rPr>
                        <a:t>Revenue</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Gross Profit</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PBT</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extLst>
                  <a:ext uri="{0D108BD9-81ED-4DB2-BD59-A6C34878D82A}">
                    <a16:rowId xmlns:a16="http://schemas.microsoft.com/office/drawing/2014/main" val="1409035806"/>
                  </a:ext>
                </a:extLst>
              </a:tr>
              <a:tr h="164884">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245,773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393,302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585,967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585,562</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17,701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-23,164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-1,213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11,400</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11,144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-45,895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-10,150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6,045</a:t>
                      </a:r>
                    </a:p>
                  </a:txBody>
                  <a:tcPr marL="4418" marR="4418" marT="4418" marB="0" anchor="b">
                    <a:lnL>
                      <a:noFill/>
                    </a:lnL>
                    <a:lnR>
                      <a:noFill/>
                    </a:lnR>
                    <a:lnT>
                      <a:noFill/>
                    </a:lnT>
                    <a:lnB>
                      <a:noFill/>
                    </a:lnB>
                    <a:noFill/>
                  </a:tcPr>
                </a:tc>
                <a:extLst>
                  <a:ext uri="{0D108BD9-81ED-4DB2-BD59-A6C34878D82A}">
                    <a16:rowId xmlns:a16="http://schemas.microsoft.com/office/drawing/2014/main" val="2512845416"/>
                  </a:ext>
                </a:extLst>
              </a:tr>
              <a:tr h="164884">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255,412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346,085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488,335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574,569</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5,064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39,658</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40,714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71,491</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-48,828</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-12,895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-41,138</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10,828</a:t>
                      </a:r>
                    </a:p>
                  </a:txBody>
                  <a:tcPr marL="4418" marR="4418" marT="4418" marB="0" anchor="b">
                    <a:lnL>
                      <a:noFill/>
                    </a:lnL>
                    <a:lnR>
                      <a:noFill/>
                    </a:lnR>
                    <a:lnT>
                      <a:noFill/>
                    </a:lnT>
                    <a:lnB>
                      <a:noFill/>
                    </a:lnB>
                    <a:noFill/>
                  </a:tcPr>
                </a:tc>
                <a:extLst>
                  <a:ext uri="{0D108BD9-81ED-4DB2-BD59-A6C34878D82A}">
                    <a16:rowId xmlns:a16="http://schemas.microsoft.com/office/drawing/2014/main" val="1649424765"/>
                  </a:ext>
                </a:extLst>
              </a:tr>
              <a:tr h="164884">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622,514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368,265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515,414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511,833</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36,286</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32,418</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53,150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68,565</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-1,907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-3,552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14,358</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25,228</a:t>
                      </a:r>
                    </a:p>
                  </a:txBody>
                  <a:tcPr marL="4418" marR="4418" marT="4418" marB="0" anchor="b">
                    <a:lnL>
                      <a:noFill/>
                    </a:lnL>
                    <a:lnR>
                      <a:noFill/>
                    </a:lnR>
                    <a:lnT>
                      <a:noFill/>
                    </a:lnT>
                    <a:lnB>
                      <a:noFill/>
                    </a:lnB>
                    <a:noFill/>
                  </a:tcPr>
                </a:tc>
                <a:extLst>
                  <a:ext uri="{0D108BD9-81ED-4DB2-BD59-A6C34878D82A}">
                    <a16:rowId xmlns:a16="http://schemas.microsoft.com/office/drawing/2014/main" val="1563009125"/>
                  </a:ext>
                </a:extLst>
              </a:tr>
              <a:tr h="164884">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101,524</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132,790</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215,137</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322,990</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6,348</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6,827</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8,393</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15,008</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71</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1,016</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1,291</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5,256</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335071"/>
                  </a:ext>
                </a:extLst>
              </a:tr>
              <a:tr h="164884">
                <a:tc>
                  <a:txBody>
                    <a:bodyPr/>
                    <a:lstStyle/>
                    <a:p>
                      <a:pPr algn="l" fontAlgn="b">
                        <a:buNone/>
                      </a:pPr>
                      <a:r>
                        <a:rPr lang="en-MY" sz="900" b="0" i="0" u="none" strike="noStrike" err="1">
                          <a:solidFill>
                            <a:srgbClr val="000000"/>
                          </a:solidFill>
                          <a:effectLst/>
                          <a:latin typeface="Aptos" panose="020B0004020202020204" pitchFamily="34" charset="0"/>
                        </a:rPr>
                        <a:t>Binastra</a:t>
                      </a: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38,547</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184,846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425,202</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946,596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9,458</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26,154</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60,576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134,138</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4,920</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23,545</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55,142</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124,486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solidFill>
                      <a:srgbClr val="FFFFCC"/>
                    </a:solidFill>
                  </a:tcPr>
                </a:tc>
                <a:extLst>
                  <a:ext uri="{0D108BD9-81ED-4DB2-BD59-A6C34878D82A}">
                    <a16:rowId xmlns:a16="http://schemas.microsoft.com/office/drawing/2014/main" val="152234782"/>
                  </a:ext>
                </a:extLst>
              </a:tr>
              <a:tr h="164884">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358,261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461,518</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775,146</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838,132</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28,522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-407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28,314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38,841</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12,803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-18,674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5,367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9,780</a:t>
                      </a:r>
                    </a:p>
                  </a:txBody>
                  <a:tcPr marL="4418" marR="4418" marT="4418" marB="0" anchor="b">
                    <a:lnL>
                      <a:noFill/>
                    </a:lnL>
                    <a:lnR>
                      <a:noFill/>
                    </a:lnR>
                    <a:lnT>
                      <a:noFill/>
                    </a:lnT>
                    <a:lnB>
                      <a:noFill/>
                    </a:lnB>
                    <a:noFill/>
                  </a:tcPr>
                </a:tc>
                <a:extLst>
                  <a:ext uri="{0D108BD9-81ED-4DB2-BD59-A6C34878D82A}">
                    <a16:rowId xmlns:a16="http://schemas.microsoft.com/office/drawing/2014/main" val="1850548554"/>
                  </a:ext>
                </a:extLst>
              </a:tr>
              <a:tr h="164884">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335,979</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466,273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650,107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690,760</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31,541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31,643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52,723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68,645</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17,851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13,671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31,813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43,474</a:t>
                      </a:r>
                    </a:p>
                  </a:txBody>
                  <a:tcPr marL="4418" marR="4418" marT="4418" marB="0" anchor="b">
                    <a:lnL>
                      <a:noFill/>
                    </a:lnL>
                    <a:lnR>
                      <a:noFill/>
                    </a:lnR>
                    <a:lnT>
                      <a:noFill/>
                    </a:lnT>
                    <a:lnB>
                      <a:noFill/>
                    </a:lnB>
                    <a:noFill/>
                  </a:tcPr>
                </a:tc>
                <a:extLst>
                  <a:ext uri="{0D108BD9-81ED-4DB2-BD59-A6C34878D82A}">
                    <a16:rowId xmlns:a16="http://schemas.microsoft.com/office/drawing/2014/main" val="89969005"/>
                  </a:ext>
                </a:extLst>
              </a:tr>
              <a:tr h="164884">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204,047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261,591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374,481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392,874</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19,705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10,862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-17,184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13,763</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7,351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-2,067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-31,745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1,493</a:t>
                      </a:r>
                    </a:p>
                  </a:txBody>
                  <a:tcPr marL="4418" marR="4418" marT="4418" marB="0" anchor="b">
                    <a:lnL>
                      <a:noFill/>
                    </a:lnL>
                    <a:lnR>
                      <a:noFill/>
                    </a:lnR>
                    <a:lnT>
                      <a:noFill/>
                    </a:lnT>
                    <a:lnB>
                      <a:noFill/>
                    </a:lnB>
                    <a:noFill/>
                  </a:tcPr>
                </a:tc>
                <a:extLst>
                  <a:ext uri="{0D108BD9-81ED-4DB2-BD59-A6C34878D82A}">
                    <a16:rowId xmlns:a16="http://schemas.microsoft.com/office/drawing/2014/main" val="803638521"/>
                  </a:ext>
                </a:extLst>
              </a:tr>
              <a:tr h="164884">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424,924</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510,055</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319,649</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258,229</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47,375</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29,880</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13,423</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55,787</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37,312</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21,796</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10,930</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40,013</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1895720"/>
                  </a:ext>
                </a:extLst>
              </a:tr>
              <a:tr h="164884">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455,502</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487,761</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780,875</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949,623</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80,862</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91,349</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93,952</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121,116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52,336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53,298</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48,074</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70,194</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171163"/>
                  </a:ext>
                </a:extLst>
              </a:tr>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extLst>
                  <a:ext uri="{0D108BD9-81ED-4DB2-BD59-A6C34878D82A}">
                    <a16:rowId xmlns:a16="http://schemas.microsoft.com/office/drawing/2014/main" val="4101940075"/>
                  </a:ext>
                </a:extLst>
              </a:tr>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8" marR="4418" marT="4418" marB="0" anchor="b">
                    <a:lnL>
                      <a:noFill/>
                    </a:lnL>
                    <a:lnR>
                      <a:noFill/>
                    </a:lnR>
                    <a:lnT>
                      <a:noFill/>
                    </a:lnT>
                    <a:lnB>
                      <a:noFill/>
                    </a:lnB>
                    <a:solidFill>
                      <a:srgbClr val="0070C0"/>
                    </a:solidFill>
                  </a:tcPr>
                </a:tc>
                <a:extLst>
                  <a:ext uri="{0D108BD9-81ED-4DB2-BD59-A6C34878D82A}">
                    <a16:rowId xmlns:a16="http://schemas.microsoft.com/office/drawing/2014/main" val="344573263"/>
                  </a:ext>
                </a:extLst>
              </a:tr>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RM'000</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RM'000</a:t>
                      </a:r>
                    </a:p>
                  </a:txBody>
                  <a:tcPr marL="4418" marR="4418" marT="4418"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RM'000</a:t>
                      </a:r>
                    </a:p>
                  </a:txBody>
                  <a:tcPr marL="4418" marR="4418" marT="4418"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RM'000</a:t>
                      </a:r>
                    </a:p>
                  </a:txBody>
                  <a:tcPr marL="4418" marR="4418" marT="4418" marB="0" anchor="b">
                    <a:lnL>
                      <a:noFill/>
                    </a:lnL>
                    <a:lnR>
                      <a:noFill/>
                    </a:lnR>
                    <a:lnT>
                      <a:noFill/>
                    </a:lnT>
                    <a:lnB>
                      <a:noFill/>
                    </a:lnB>
                    <a:solidFill>
                      <a:srgbClr val="0070C0"/>
                    </a:solidFill>
                  </a:tcPr>
                </a:tc>
                <a:extLst>
                  <a:ext uri="{0D108BD9-81ED-4DB2-BD59-A6C34878D82A}">
                    <a16:rowId xmlns:a16="http://schemas.microsoft.com/office/drawing/2014/main" val="220855110"/>
                  </a:ext>
                </a:extLst>
              </a:tr>
              <a:tr h="164884">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extLst>
                  <a:ext uri="{0D108BD9-81ED-4DB2-BD59-A6C34878D82A}">
                    <a16:rowId xmlns:a16="http://schemas.microsoft.com/office/drawing/2014/main" val="2584779255"/>
                  </a:ext>
                </a:extLst>
              </a:tr>
              <a:tr h="164884">
                <a:tc>
                  <a:txBody>
                    <a:bodyPr/>
                    <a:lstStyle/>
                    <a:p>
                      <a:pPr algn="l" fontAlgn="b">
                        <a:buNone/>
                      </a:pPr>
                      <a:r>
                        <a:rPr lang="en-MY" sz="900" b="0" i="0" u="none" strike="noStrike">
                          <a:solidFill>
                            <a:srgbClr val="FFFFFF"/>
                          </a:solidFill>
                          <a:effectLst/>
                          <a:latin typeface="Aptos" panose="020B0004020202020204" pitchFamily="34" charset="0"/>
                        </a:rPr>
                        <a:t>Borrowings</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Equity</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PAT</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8" marR="4418" marT="4418" marB="0" anchor="b">
                    <a:lnL>
                      <a:noFill/>
                    </a:lnL>
                    <a:lnR>
                      <a:noFill/>
                    </a:lnR>
                    <a:lnT>
                      <a:noFill/>
                    </a:lnT>
                    <a:lnB>
                      <a:noFill/>
                    </a:lnB>
                    <a:solidFill>
                      <a:srgbClr val="002060"/>
                    </a:solidFill>
                  </a:tcPr>
                </a:tc>
                <a:extLst>
                  <a:ext uri="{0D108BD9-81ED-4DB2-BD59-A6C34878D82A}">
                    <a16:rowId xmlns:a16="http://schemas.microsoft.com/office/drawing/2014/main" val="3260938402"/>
                  </a:ext>
                </a:extLst>
              </a:tr>
              <a:tr h="164884">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37,009</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60,792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98,875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98,196</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106,620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71,500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62,006</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73,267</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8,277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-33,535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-9,494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4,363</a:t>
                      </a:r>
                    </a:p>
                  </a:txBody>
                  <a:tcPr marL="4418" marR="4418" marT="4418" marB="0" anchor="b">
                    <a:lnL>
                      <a:noFill/>
                    </a:lnL>
                    <a:lnR>
                      <a:noFill/>
                    </a:lnR>
                    <a:lnT>
                      <a:noFill/>
                    </a:lnT>
                    <a:lnB>
                      <a:noFill/>
                    </a:lnB>
                    <a:noFill/>
                  </a:tcPr>
                </a:tc>
                <a:extLst>
                  <a:ext uri="{0D108BD9-81ED-4DB2-BD59-A6C34878D82A}">
                    <a16:rowId xmlns:a16="http://schemas.microsoft.com/office/drawing/2014/main" val="2706131412"/>
                  </a:ext>
                </a:extLst>
              </a:tr>
              <a:tr h="164884">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532,082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557,027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570,662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571,977</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383,027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370,722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287,645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293,284</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-43,555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-12,305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-38,977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5,639</a:t>
                      </a:r>
                    </a:p>
                  </a:txBody>
                  <a:tcPr marL="4418" marR="4418" marT="4418" marB="0" anchor="b">
                    <a:lnL>
                      <a:noFill/>
                    </a:lnL>
                    <a:lnR>
                      <a:noFill/>
                    </a:lnR>
                    <a:lnT>
                      <a:noFill/>
                    </a:lnT>
                    <a:lnB>
                      <a:noFill/>
                    </a:lnB>
                    <a:noFill/>
                  </a:tcPr>
                </a:tc>
                <a:extLst>
                  <a:ext uri="{0D108BD9-81ED-4DB2-BD59-A6C34878D82A}">
                    <a16:rowId xmlns:a16="http://schemas.microsoft.com/office/drawing/2014/main" val="840396359"/>
                  </a:ext>
                </a:extLst>
              </a:tr>
              <a:tr h="164884">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45,507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38,043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55,793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50,067</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171,803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168,823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181,212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201,990</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-2,090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-2,980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12,389</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22,311</a:t>
                      </a:r>
                    </a:p>
                  </a:txBody>
                  <a:tcPr marL="4418" marR="4418" marT="4418" marB="0" anchor="b">
                    <a:lnL>
                      <a:noFill/>
                    </a:lnL>
                    <a:lnR>
                      <a:noFill/>
                    </a:lnR>
                    <a:lnT>
                      <a:noFill/>
                    </a:lnT>
                    <a:lnB>
                      <a:noFill/>
                    </a:lnB>
                    <a:noFill/>
                  </a:tcPr>
                </a:tc>
                <a:extLst>
                  <a:ext uri="{0D108BD9-81ED-4DB2-BD59-A6C34878D82A}">
                    <a16:rowId xmlns:a16="http://schemas.microsoft.com/office/drawing/2014/main" val="1572758276"/>
                  </a:ext>
                </a:extLst>
              </a:tr>
              <a:tr h="164884">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22,391</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22,405</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17,504</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20,419</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56</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1,014</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1,099</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3,916</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9030935"/>
                  </a:ext>
                </a:extLst>
              </a:tr>
              <a:tr h="164884">
                <a:tc>
                  <a:txBody>
                    <a:bodyPr/>
                    <a:lstStyle/>
                    <a:p>
                      <a:pPr algn="l" fontAlgn="b">
                        <a:buNone/>
                      </a:pPr>
                      <a:r>
                        <a:rPr lang="en-MY" sz="900" b="0" i="0" u="none" strike="noStrike" err="1">
                          <a:solidFill>
                            <a:srgbClr val="000000"/>
                          </a:solidFill>
                          <a:effectLst/>
                          <a:latin typeface="Aptos" panose="020B0004020202020204" pitchFamily="34" charset="0"/>
                        </a:rPr>
                        <a:t>Binastra</a:t>
                      </a: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4,229</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3,865</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24,894</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23,895</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err="1">
                          <a:solidFill>
                            <a:srgbClr val="000000"/>
                          </a:solidFill>
                          <a:effectLst/>
                          <a:latin typeface="Aptos" panose="020B0004020202020204" pitchFamily="34" charset="0"/>
                        </a:rPr>
                        <a:t>Binastra</a:t>
                      </a: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1,851</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42,438</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83,211</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282,446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-8,665</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16,523</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40,773</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90,255</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91653974"/>
                  </a:ext>
                </a:extLst>
              </a:tr>
              <a:tr h="164884">
                <a:tc>
                  <a:txBody>
                    <a:bodyPr/>
                    <a:lstStyle/>
                    <a:p>
                      <a:pPr algn="l" fontAlgn="b">
                        <a:buNone/>
                      </a:pPr>
                      <a:r>
                        <a:rPr lang="en-MY" sz="900" b="0" i="0" u="none" strike="noStrike" err="1">
                          <a:solidFill>
                            <a:srgbClr val="000000"/>
                          </a:solidFill>
                          <a:effectLst/>
                          <a:latin typeface="Aptos" panose="020B0004020202020204" pitchFamily="34" charset="0"/>
                        </a:rPr>
                        <a:t>Nestcon</a:t>
                      </a: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64,940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149,666</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201,354</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203,330</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127,541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122,023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132,989</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150,346</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12,211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-15,560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3,901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6,467</a:t>
                      </a:r>
                    </a:p>
                  </a:txBody>
                  <a:tcPr marL="4418" marR="4418" marT="4418" marB="0" anchor="b">
                    <a:lnL>
                      <a:noFill/>
                    </a:lnL>
                    <a:lnR>
                      <a:noFill/>
                    </a:lnR>
                    <a:lnT>
                      <a:noFill/>
                    </a:lnT>
                    <a:lnB>
                      <a:noFill/>
                    </a:lnB>
                    <a:noFill/>
                  </a:tcPr>
                </a:tc>
                <a:extLst>
                  <a:ext uri="{0D108BD9-81ED-4DB2-BD59-A6C34878D82A}">
                    <a16:rowId xmlns:a16="http://schemas.microsoft.com/office/drawing/2014/main" val="3532301328"/>
                  </a:ext>
                </a:extLst>
              </a:tr>
              <a:tr h="164884">
                <a:tc>
                  <a:txBody>
                    <a:bodyPr/>
                    <a:lstStyle/>
                    <a:p>
                      <a:pPr algn="l" fontAlgn="b">
                        <a:buNone/>
                      </a:pPr>
                      <a:r>
                        <a:rPr lang="en-MY" sz="900" b="0" i="0" u="none" strike="noStrike" err="1">
                          <a:solidFill>
                            <a:srgbClr val="000000"/>
                          </a:solidFill>
                          <a:effectLst/>
                          <a:latin typeface="Aptos" panose="020B0004020202020204" pitchFamily="34" charset="0"/>
                        </a:rPr>
                        <a:t>Inta</a:t>
                      </a:r>
                      <a:r>
                        <a:rPr lang="en-MY" sz="900" b="0" i="0" u="none" strike="noStrike">
                          <a:solidFill>
                            <a:srgbClr val="000000"/>
                          </a:solidFill>
                          <a:effectLst/>
                          <a:latin typeface="Aptos" panose="020B0004020202020204" pitchFamily="34" charset="0"/>
                        </a:rPr>
                        <a:t> Bina</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48,745</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86,774</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66,471</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112,651</a:t>
                      </a:r>
                    </a:p>
                  </a:txBody>
                  <a:tcPr marL="4418" marR="4418" marT="4418"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146,932</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152,322</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169,547</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193,567</a:t>
                      </a:r>
                    </a:p>
                  </a:txBody>
                  <a:tcPr marL="4418" marR="4418" marT="4418"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11,688</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9,558</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22,886</a:t>
                      </a:r>
                    </a:p>
                  </a:txBody>
                  <a:tcPr marL="4418" marR="4418" marT="4418"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33,137</a:t>
                      </a:r>
                    </a:p>
                  </a:txBody>
                  <a:tcPr marL="4418" marR="4418" marT="4418" marB="0" anchor="b">
                    <a:lnL>
                      <a:noFill/>
                    </a:lnL>
                    <a:lnR>
                      <a:noFill/>
                    </a:lnR>
                    <a:lnT>
                      <a:noFill/>
                    </a:lnT>
                    <a:lnB>
                      <a:noFill/>
                    </a:lnB>
                    <a:solidFill>
                      <a:srgbClr val="FFF2CC"/>
                    </a:solidFill>
                  </a:tcPr>
                </a:tc>
                <a:extLst>
                  <a:ext uri="{0D108BD9-81ED-4DB2-BD59-A6C34878D82A}">
                    <a16:rowId xmlns:a16="http://schemas.microsoft.com/office/drawing/2014/main" val="2918492651"/>
                  </a:ext>
                </a:extLst>
              </a:tr>
              <a:tr h="164884">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10,899</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33,557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37,395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24,231</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86,222</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83,301</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57,650</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80,327</a:t>
                      </a:r>
                    </a:p>
                  </a:txBody>
                  <a:tcPr marL="4418" marR="4418" marT="4418"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2,473</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-3,397</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-32,885</a:t>
                      </a:r>
                    </a:p>
                  </a:txBody>
                  <a:tcPr marL="4418" marR="4418" marT="4418"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1,484</a:t>
                      </a:r>
                    </a:p>
                  </a:txBody>
                  <a:tcPr marL="4418" marR="4418" marT="4418" marB="0" anchor="b">
                    <a:lnL>
                      <a:noFill/>
                    </a:lnL>
                    <a:lnR>
                      <a:noFill/>
                    </a:lnR>
                    <a:lnT>
                      <a:noFill/>
                    </a:lnT>
                    <a:lnB>
                      <a:noFill/>
                    </a:lnB>
                    <a:noFill/>
                  </a:tcPr>
                </a:tc>
                <a:extLst>
                  <a:ext uri="{0D108BD9-81ED-4DB2-BD59-A6C34878D82A}">
                    <a16:rowId xmlns:a16="http://schemas.microsoft.com/office/drawing/2014/main" val="4121312973"/>
                  </a:ext>
                </a:extLst>
              </a:tr>
              <a:tr h="164884">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151,242</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160,919</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169,253</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195,986</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28,622</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17,198</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8,033</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26,755</a:t>
                      </a:r>
                    </a:p>
                  </a:txBody>
                  <a:tcPr marL="4418" marR="4418" marT="4418"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3315382"/>
                  </a:ext>
                </a:extLst>
              </a:tr>
              <a:tr h="164884">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184,401</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214,707</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297,050</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334,827</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8" marR="4418" marT="4418"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41,833</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40,306</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36,369</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52,777</a:t>
                      </a:r>
                    </a:p>
                  </a:txBody>
                  <a:tcPr marL="4418" marR="4418" marT="4418"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91436400"/>
                  </a:ext>
                </a:extLst>
              </a:tr>
            </a:tbl>
          </a:graphicData>
        </a:graphic>
      </p:graphicFrame>
      <p:sp>
        <p:nvSpPr>
          <p:cNvPr id="7" name="Rectangle 6">
            <a:extLst>
              <a:ext uri="{FF2B5EF4-FFF2-40B4-BE49-F238E27FC236}">
                <a16:creationId xmlns:a16="http://schemas.microsoft.com/office/drawing/2014/main" id="{B7FA2136-E021-A1CD-BEF5-F9CABFB0E979}"/>
              </a:ext>
            </a:extLst>
          </p:cNvPr>
          <p:cNvSpPr/>
          <p:nvPr/>
        </p:nvSpPr>
        <p:spPr>
          <a:xfrm>
            <a:off x="10069286" y="283029"/>
            <a:ext cx="1689534" cy="5853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a:t>New</a:t>
            </a:r>
          </a:p>
        </p:txBody>
      </p:sp>
    </p:spTree>
    <p:extLst>
      <p:ext uri="{BB962C8B-B14F-4D97-AF65-F5344CB8AC3E}">
        <p14:creationId xmlns:p14="http://schemas.microsoft.com/office/powerpoint/2010/main" val="35638654"/>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0182F-993B-6C6D-E7D7-0701AC07AF2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2D434A-C2E0-EC55-82E3-FA5187664BE7}"/>
              </a:ext>
            </a:extLst>
          </p:cNvPr>
          <p:cNvSpPr>
            <a:spLocks noGrp="1"/>
          </p:cNvSpPr>
          <p:nvPr>
            <p:ph type="title"/>
          </p:nvPr>
        </p:nvSpPr>
        <p:spPr>
          <a:xfrm>
            <a:off x="362712" y="90805"/>
            <a:ext cx="10515600" cy="777600"/>
          </a:xfrm>
        </p:spPr>
        <p:txBody>
          <a:bodyPr>
            <a:normAutofit/>
          </a:bodyPr>
          <a:lstStyle/>
          <a:p>
            <a:r>
              <a:rPr lang="en-MY" sz="3600"/>
              <a:t>Competitor Benchmarking (2 of 2)</a:t>
            </a:r>
          </a:p>
        </p:txBody>
      </p:sp>
      <p:sp>
        <p:nvSpPr>
          <p:cNvPr id="4" name="Slide Number Placeholder 4">
            <a:extLst>
              <a:ext uri="{FF2B5EF4-FFF2-40B4-BE49-F238E27FC236}">
                <a16:creationId xmlns:a16="http://schemas.microsoft.com/office/drawing/2014/main" id="{44E738DC-C009-4406-CDFF-2D93DA079F8D}"/>
              </a:ext>
            </a:extLst>
          </p:cNvPr>
          <p:cNvSpPr>
            <a:spLocks noGrp="1"/>
          </p:cNvSpPr>
          <p:nvPr>
            <p:ph type="sldNum" sz="quarter" idx="12"/>
          </p:nvPr>
        </p:nvSpPr>
        <p:spPr>
          <a:xfrm>
            <a:off x="9375060" y="6356349"/>
            <a:ext cx="2743200" cy="365125"/>
          </a:xfrm>
          <a:prstGeom prst="rect">
            <a:avLst/>
          </a:prstGeom>
        </p:spPr>
        <p:txBody>
          <a:bodyPr/>
          <a:lstStyle/>
          <a:p>
            <a:fld id="{4C52F89C-230B-40F8-B5DC-B76BA2C55BBC}" type="slidenum">
              <a:rPr lang="en-US" smtClean="0"/>
              <a:t>38</a:t>
            </a:fld>
            <a:endParaRPr lang="en-US"/>
          </a:p>
        </p:txBody>
      </p:sp>
      <p:sp>
        <p:nvSpPr>
          <p:cNvPr id="3" name="TextBox 2">
            <a:extLst>
              <a:ext uri="{FF2B5EF4-FFF2-40B4-BE49-F238E27FC236}">
                <a16:creationId xmlns:a16="http://schemas.microsoft.com/office/drawing/2014/main" id="{EDE31471-AAF5-7246-95F3-D618D9BFEFD5}"/>
              </a:ext>
            </a:extLst>
          </p:cNvPr>
          <p:cNvSpPr txBox="1"/>
          <p:nvPr/>
        </p:nvSpPr>
        <p:spPr>
          <a:xfrm>
            <a:off x="362712" y="780961"/>
            <a:ext cx="10762488" cy="307777"/>
          </a:xfrm>
          <a:prstGeom prst="rect">
            <a:avLst/>
          </a:prstGeom>
          <a:noFill/>
        </p:spPr>
        <p:txBody>
          <a:bodyPr wrap="square">
            <a:spAutoFit/>
          </a:bodyPr>
          <a:lstStyle/>
          <a:p>
            <a:pPr marL="285750" indent="-285750">
              <a:buFont typeface="Wingdings" panose="05000000000000000000" pitchFamily="2" charset="2"/>
              <a:buChar char="§"/>
            </a:pPr>
            <a:r>
              <a:rPr lang="en-US" sz="1400" err="1"/>
              <a:t>Inta</a:t>
            </a:r>
            <a:r>
              <a:rPr lang="en-US" sz="1400"/>
              <a:t> Bina exceeds peer averages in margin, gearing strength, and revenue-to-staff‑cost efficiency.</a:t>
            </a:r>
          </a:p>
        </p:txBody>
      </p:sp>
      <p:graphicFrame>
        <p:nvGraphicFramePr>
          <p:cNvPr id="2" name="Table 1">
            <a:extLst>
              <a:ext uri="{FF2B5EF4-FFF2-40B4-BE49-F238E27FC236}">
                <a16:creationId xmlns:a16="http://schemas.microsoft.com/office/drawing/2014/main" id="{85C33CB7-2D4B-0CC4-2EB2-BE68957B8E56}"/>
              </a:ext>
            </a:extLst>
          </p:cNvPr>
          <p:cNvGraphicFramePr>
            <a:graphicFrameLocks noGrp="1"/>
          </p:cNvGraphicFramePr>
          <p:nvPr>
            <p:extLst>
              <p:ext uri="{D42A27DB-BD31-4B8C-83A1-F6EECF244321}">
                <p14:modId xmlns:p14="http://schemas.microsoft.com/office/powerpoint/2010/main" val="3659707851"/>
              </p:ext>
            </p:extLst>
          </p:nvPr>
        </p:nvGraphicFramePr>
        <p:xfrm>
          <a:off x="621967" y="1326532"/>
          <a:ext cx="10873343" cy="4962648"/>
        </p:xfrm>
        <a:graphic>
          <a:graphicData uri="http://schemas.openxmlformats.org/drawingml/2006/table">
            <a:tbl>
              <a:tblPr/>
              <a:tblGrid>
                <a:gridCol w="932001">
                  <a:extLst>
                    <a:ext uri="{9D8B030D-6E8A-4147-A177-3AD203B41FA5}">
                      <a16:colId xmlns:a16="http://schemas.microsoft.com/office/drawing/2014/main" val="3858240870"/>
                    </a:ext>
                  </a:extLst>
                </a:gridCol>
                <a:gridCol w="630471">
                  <a:extLst>
                    <a:ext uri="{9D8B030D-6E8A-4147-A177-3AD203B41FA5}">
                      <a16:colId xmlns:a16="http://schemas.microsoft.com/office/drawing/2014/main" val="4285454762"/>
                    </a:ext>
                  </a:extLst>
                </a:gridCol>
                <a:gridCol w="630471">
                  <a:extLst>
                    <a:ext uri="{9D8B030D-6E8A-4147-A177-3AD203B41FA5}">
                      <a16:colId xmlns:a16="http://schemas.microsoft.com/office/drawing/2014/main" val="3534135237"/>
                    </a:ext>
                  </a:extLst>
                </a:gridCol>
                <a:gridCol w="630471">
                  <a:extLst>
                    <a:ext uri="{9D8B030D-6E8A-4147-A177-3AD203B41FA5}">
                      <a16:colId xmlns:a16="http://schemas.microsoft.com/office/drawing/2014/main" val="4078535645"/>
                    </a:ext>
                  </a:extLst>
                </a:gridCol>
                <a:gridCol w="630471">
                  <a:extLst>
                    <a:ext uri="{9D8B030D-6E8A-4147-A177-3AD203B41FA5}">
                      <a16:colId xmlns:a16="http://schemas.microsoft.com/office/drawing/2014/main" val="3281041792"/>
                    </a:ext>
                  </a:extLst>
                </a:gridCol>
                <a:gridCol w="255844">
                  <a:extLst>
                    <a:ext uri="{9D8B030D-6E8A-4147-A177-3AD203B41FA5}">
                      <a16:colId xmlns:a16="http://schemas.microsoft.com/office/drawing/2014/main" val="3711180809"/>
                    </a:ext>
                  </a:extLst>
                </a:gridCol>
                <a:gridCol w="932001">
                  <a:extLst>
                    <a:ext uri="{9D8B030D-6E8A-4147-A177-3AD203B41FA5}">
                      <a16:colId xmlns:a16="http://schemas.microsoft.com/office/drawing/2014/main" val="2179123330"/>
                    </a:ext>
                  </a:extLst>
                </a:gridCol>
                <a:gridCol w="630471">
                  <a:extLst>
                    <a:ext uri="{9D8B030D-6E8A-4147-A177-3AD203B41FA5}">
                      <a16:colId xmlns:a16="http://schemas.microsoft.com/office/drawing/2014/main" val="3010338012"/>
                    </a:ext>
                  </a:extLst>
                </a:gridCol>
                <a:gridCol w="630471">
                  <a:extLst>
                    <a:ext uri="{9D8B030D-6E8A-4147-A177-3AD203B41FA5}">
                      <a16:colId xmlns:a16="http://schemas.microsoft.com/office/drawing/2014/main" val="237732919"/>
                    </a:ext>
                  </a:extLst>
                </a:gridCol>
                <a:gridCol w="630471">
                  <a:extLst>
                    <a:ext uri="{9D8B030D-6E8A-4147-A177-3AD203B41FA5}">
                      <a16:colId xmlns:a16="http://schemas.microsoft.com/office/drawing/2014/main" val="599306651"/>
                    </a:ext>
                  </a:extLst>
                </a:gridCol>
                <a:gridCol w="630471">
                  <a:extLst>
                    <a:ext uri="{9D8B030D-6E8A-4147-A177-3AD203B41FA5}">
                      <a16:colId xmlns:a16="http://schemas.microsoft.com/office/drawing/2014/main" val="4051162098"/>
                    </a:ext>
                  </a:extLst>
                </a:gridCol>
                <a:gridCol w="255844">
                  <a:extLst>
                    <a:ext uri="{9D8B030D-6E8A-4147-A177-3AD203B41FA5}">
                      <a16:colId xmlns:a16="http://schemas.microsoft.com/office/drawing/2014/main" val="3798188193"/>
                    </a:ext>
                  </a:extLst>
                </a:gridCol>
                <a:gridCol w="932001">
                  <a:extLst>
                    <a:ext uri="{9D8B030D-6E8A-4147-A177-3AD203B41FA5}">
                      <a16:colId xmlns:a16="http://schemas.microsoft.com/office/drawing/2014/main" val="3278595104"/>
                    </a:ext>
                  </a:extLst>
                </a:gridCol>
                <a:gridCol w="630471">
                  <a:extLst>
                    <a:ext uri="{9D8B030D-6E8A-4147-A177-3AD203B41FA5}">
                      <a16:colId xmlns:a16="http://schemas.microsoft.com/office/drawing/2014/main" val="919674006"/>
                    </a:ext>
                  </a:extLst>
                </a:gridCol>
                <a:gridCol w="630471">
                  <a:extLst>
                    <a:ext uri="{9D8B030D-6E8A-4147-A177-3AD203B41FA5}">
                      <a16:colId xmlns:a16="http://schemas.microsoft.com/office/drawing/2014/main" val="2808710685"/>
                    </a:ext>
                  </a:extLst>
                </a:gridCol>
                <a:gridCol w="630471">
                  <a:extLst>
                    <a:ext uri="{9D8B030D-6E8A-4147-A177-3AD203B41FA5}">
                      <a16:colId xmlns:a16="http://schemas.microsoft.com/office/drawing/2014/main" val="1425462064"/>
                    </a:ext>
                  </a:extLst>
                </a:gridCol>
                <a:gridCol w="630471">
                  <a:extLst>
                    <a:ext uri="{9D8B030D-6E8A-4147-A177-3AD203B41FA5}">
                      <a16:colId xmlns:a16="http://schemas.microsoft.com/office/drawing/2014/main" val="2632798819"/>
                    </a:ext>
                  </a:extLst>
                </a:gridCol>
              </a:tblGrid>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3" marR="4413" marT="4413" marB="0" anchor="b">
                    <a:lnL>
                      <a:noFill/>
                    </a:lnL>
                    <a:lnR>
                      <a:noFill/>
                    </a:lnR>
                    <a:lnT>
                      <a:noFill/>
                    </a:lnT>
                    <a:lnB>
                      <a:noFill/>
                    </a:lnB>
                    <a:solidFill>
                      <a:srgbClr val="0070C0"/>
                    </a:solidFill>
                  </a:tcPr>
                </a:tc>
                <a:extLst>
                  <a:ext uri="{0D108BD9-81ED-4DB2-BD59-A6C34878D82A}">
                    <a16:rowId xmlns:a16="http://schemas.microsoft.com/office/drawing/2014/main" val="1606790780"/>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a:t>
                      </a:r>
                    </a:p>
                  </a:txBody>
                  <a:tcPr marL="4413" marR="4413" marT="4413" marB="0" anchor="b">
                    <a:lnL>
                      <a:noFill/>
                    </a:lnL>
                    <a:lnR>
                      <a:noFill/>
                    </a:lnR>
                    <a:lnT>
                      <a:noFill/>
                    </a:lnT>
                    <a:lnB>
                      <a:noFill/>
                    </a:lnB>
                    <a:solidFill>
                      <a:srgbClr val="0070C0"/>
                    </a:solidFill>
                  </a:tcPr>
                </a:tc>
                <a:extLst>
                  <a:ext uri="{0D108BD9-81ED-4DB2-BD59-A6C34878D82A}">
                    <a16:rowId xmlns:a16="http://schemas.microsoft.com/office/drawing/2014/main" val="67031955"/>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extLst>
                  <a:ext uri="{0D108BD9-81ED-4DB2-BD59-A6C34878D82A}">
                    <a16:rowId xmlns:a16="http://schemas.microsoft.com/office/drawing/2014/main" val="343210138"/>
                  </a:ext>
                </a:extLst>
              </a:tr>
              <a:tr h="174975">
                <a:tc>
                  <a:txBody>
                    <a:bodyPr/>
                    <a:lstStyle/>
                    <a:p>
                      <a:pPr algn="l" fontAlgn="b">
                        <a:buNone/>
                      </a:pPr>
                      <a:r>
                        <a:rPr lang="en-MY" sz="900" b="0" i="0" u="none" strike="noStrike">
                          <a:solidFill>
                            <a:srgbClr val="FFFFFF"/>
                          </a:solidFill>
                          <a:effectLst/>
                          <a:latin typeface="Aptos" panose="020B0004020202020204" pitchFamily="34" charset="0"/>
                        </a:rPr>
                        <a:t>GP Margin</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Gearing</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gridSpan="3">
                  <a:txBody>
                    <a:bodyPr/>
                    <a:lstStyle/>
                    <a:p>
                      <a:pPr algn="l" fontAlgn="b">
                        <a:buNone/>
                      </a:pPr>
                      <a:r>
                        <a:rPr lang="en-MY" sz="900" b="0" i="0" u="none" strike="noStrike">
                          <a:solidFill>
                            <a:srgbClr val="FFFFFF"/>
                          </a:solidFill>
                          <a:effectLst/>
                          <a:latin typeface="Aptos" panose="020B0004020202020204" pitchFamily="34" charset="0"/>
                        </a:rPr>
                        <a:t>Debtors T/O (Days) </a:t>
                      </a:r>
                    </a:p>
                  </a:txBody>
                  <a:tcPr marL="4413" marR="4413" marT="4413" marB="0" anchor="b">
                    <a:lnL>
                      <a:noFill/>
                    </a:lnL>
                    <a:lnR>
                      <a:noFill/>
                    </a:lnR>
                    <a:lnT>
                      <a:noFill/>
                    </a:lnT>
                    <a:lnB>
                      <a:noFill/>
                    </a:lnB>
                    <a:solidFill>
                      <a:srgbClr val="002060"/>
                    </a:solidFill>
                  </a:tcPr>
                </a:tc>
                <a:tc hMerge="1">
                  <a:txBody>
                    <a:bodyPr/>
                    <a:lstStyle/>
                    <a:p>
                      <a:endParaRPr/>
                    </a:p>
                  </a:txBody>
                  <a:tcPr marL="4413" marR="4413" marT="4413" marB="0" anchor="b">
                    <a:lnL>
                      <a:noFill/>
                    </a:lnL>
                    <a:lnR>
                      <a:noFill/>
                    </a:lnR>
                    <a:lnT>
                      <a:noFill/>
                    </a:lnT>
                    <a:lnB>
                      <a:noFill/>
                    </a:lnB>
                    <a:solidFill>
                      <a:srgbClr val="002060"/>
                    </a:solidFill>
                  </a:tcPr>
                </a:tc>
                <a:tc hMerge="1">
                  <a:txBody>
                    <a:bodyPr/>
                    <a:lstStyle/>
                    <a:p>
                      <a:endParaRP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extLst>
                  <a:ext uri="{0D108BD9-81ED-4DB2-BD59-A6C34878D82A}">
                    <a16:rowId xmlns:a16="http://schemas.microsoft.com/office/drawing/2014/main" val="2685970329"/>
                  </a:ext>
                </a:extLst>
              </a:tr>
              <a:tr h="145081">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7.20%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-5.89%</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-0.21%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1.95%</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0.85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1.59</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1.34</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135.97</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98.10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107.56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106.75</a:t>
                      </a:r>
                    </a:p>
                  </a:txBody>
                  <a:tcPr marL="4413" marR="4413" marT="4413" marB="0" anchor="b">
                    <a:lnL>
                      <a:noFill/>
                    </a:lnL>
                    <a:lnR>
                      <a:noFill/>
                    </a:lnR>
                    <a:lnT>
                      <a:noFill/>
                    </a:lnT>
                    <a:lnB>
                      <a:noFill/>
                    </a:lnB>
                    <a:noFill/>
                  </a:tcPr>
                </a:tc>
                <a:extLst>
                  <a:ext uri="{0D108BD9-81ED-4DB2-BD59-A6C34878D82A}">
                    <a16:rowId xmlns:a16="http://schemas.microsoft.com/office/drawing/2014/main" val="1843393873"/>
                  </a:ext>
                </a:extLst>
              </a:tr>
              <a:tr h="145081">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11.46%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8.34%</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12.44%</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1.39</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1.50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1.95</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244.56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209.87</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128.58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119.64</a:t>
                      </a:r>
                    </a:p>
                  </a:txBody>
                  <a:tcPr marL="4413" marR="4413" marT="4413" marB="0" anchor="b">
                    <a:lnL>
                      <a:noFill/>
                    </a:lnL>
                    <a:lnR>
                      <a:noFill/>
                    </a:lnR>
                    <a:lnT>
                      <a:noFill/>
                    </a:lnT>
                    <a:lnB>
                      <a:noFill/>
                    </a:lnB>
                    <a:noFill/>
                  </a:tcPr>
                </a:tc>
                <a:extLst>
                  <a:ext uri="{0D108BD9-81ED-4DB2-BD59-A6C34878D82A}">
                    <a16:rowId xmlns:a16="http://schemas.microsoft.com/office/drawing/2014/main" val="924695858"/>
                  </a:ext>
                </a:extLst>
              </a:tr>
              <a:tr h="145081">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5.83%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8.80%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10.31%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13.40%</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0.26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0.23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0.25</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174.55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199.31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223.44</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164.23</a:t>
                      </a:r>
                    </a:p>
                  </a:txBody>
                  <a:tcPr marL="4413" marR="4413" marT="4413" marB="0" anchor="b">
                    <a:lnL>
                      <a:noFill/>
                    </a:lnL>
                    <a:lnR>
                      <a:noFill/>
                    </a:lnR>
                    <a:lnT>
                      <a:noFill/>
                    </a:lnT>
                    <a:lnB>
                      <a:noFill/>
                    </a:lnB>
                    <a:noFill/>
                  </a:tcPr>
                </a:tc>
                <a:extLst>
                  <a:ext uri="{0D108BD9-81ED-4DB2-BD59-A6C34878D82A}">
                    <a16:rowId xmlns:a16="http://schemas.microsoft.com/office/drawing/2014/main" val="1795006138"/>
                  </a:ext>
                </a:extLst>
              </a:tr>
              <a:tr h="145081">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6.25%</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5.14%</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3.90%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4.65%</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N/A</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N/A</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63.46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57.82</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3170566683"/>
                  </a:ext>
                </a:extLst>
              </a:tr>
              <a:tr h="145081">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24.54%</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14.15%</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14.25%</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14.17%</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2.28</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0.09</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0.30</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0.08</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206.07</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221.03</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195.11</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175.41</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939534770"/>
                  </a:ext>
                </a:extLst>
              </a:tr>
              <a:tr h="145081">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7.96%</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-0.09%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3.65%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4.63%</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0.51</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1.23</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1.51</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1.35</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127.97</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153.44</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127.55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124.23</a:t>
                      </a:r>
                    </a:p>
                  </a:txBody>
                  <a:tcPr marL="4413" marR="4413" marT="4413" marB="0" anchor="b">
                    <a:lnL>
                      <a:noFill/>
                    </a:lnL>
                    <a:lnR>
                      <a:noFill/>
                    </a:lnR>
                    <a:lnT>
                      <a:noFill/>
                    </a:lnT>
                    <a:lnB>
                      <a:noFill/>
                    </a:lnB>
                    <a:solidFill>
                      <a:srgbClr val="FFF2CC"/>
                    </a:solidFill>
                  </a:tcPr>
                </a:tc>
                <a:extLst>
                  <a:ext uri="{0D108BD9-81ED-4DB2-BD59-A6C34878D82A}">
                    <a16:rowId xmlns:a16="http://schemas.microsoft.com/office/drawing/2014/main" val="3411735708"/>
                  </a:ext>
                </a:extLst>
              </a:tr>
              <a:tr h="145081">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9.39%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6.79%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8.11%</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9.94%</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0.33</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0.57</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0.39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0.58</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192.12</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165.43</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144.56</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155.11</a:t>
                      </a:r>
                    </a:p>
                  </a:txBody>
                  <a:tcPr marL="4413" marR="4413" marT="4413" marB="0" anchor="b">
                    <a:lnL>
                      <a:noFill/>
                    </a:lnL>
                    <a:lnR>
                      <a:noFill/>
                    </a:lnR>
                    <a:lnT>
                      <a:noFill/>
                    </a:lnT>
                    <a:lnB>
                      <a:noFill/>
                    </a:lnB>
                    <a:solidFill>
                      <a:srgbClr val="FFF2CC"/>
                    </a:solidFill>
                  </a:tcPr>
                </a:tc>
                <a:extLst>
                  <a:ext uri="{0D108BD9-81ED-4DB2-BD59-A6C34878D82A}">
                    <a16:rowId xmlns:a16="http://schemas.microsoft.com/office/drawing/2014/main" val="3336728370"/>
                  </a:ext>
                </a:extLst>
              </a:tr>
              <a:tr h="145081">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9.66%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4.15%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-4.59%</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3.50%</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0.13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0.40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0.65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0.30</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154.42</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179.17</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123.40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120.73</a:t>
                      </a:r>
                    </a:p>
                  </a:txBody>
                  <a:tcPr marL="4413" marR="4413" marT="4413" marB="0" anchor="b">
                    <a:lnL>
                      <a:noFill/>
                    </a:lnL>
                    <a:lnR>
                      <a:noFill/>
                    </a:lnR>
                    <a:lnT>
                      <a:noFill/>
                    </a:lnT>
                    <a:lnB>
                      <a:noFill/>
                    </a:lnB>
                    <a:noFill/>
                  </a:tcPr>
                </a:tc>
                <a:extLst>
                  <a:ext uri="{0D108BD9-81ED-4DB2-BD59-A6C34878D82A}">
                    <a16:rowId xmlns:a16="http://schemas.microsoft.com/office/drawing/2014/main" val="3839731148"/>
                  </a:ext>
                </a:extLst>
              </a:tr>
              <a:tr h="145081">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11.15%</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5.86%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4.20%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21.60%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69.48</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131.83</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173.27</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216.90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685310"/>
                  </a:ext>
                </a:extLst>
              </a:tr>
              <a:tr h="145081">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17.75%</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18.73%</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12.03%</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12.75%</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84.00</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84.59</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77.76</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73.49</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7958817"/>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1173832"/>
                  </a:ext>
                </a:extLst>
              </a:tr>
              <a:tr h="145081">
                <a:tc>
                  <a:txBody>
                    <a:bodyPr/>
                    <a:lstStyle/>
                    <a:p>
                      <a:pPr algn="l" fontAlgn="b">
                        <a:buNone/>
                      </a:pPr>
                      <a:r>
                        <a:rPr lang="en-MY" sz="900" b="0" i="0" u="none" strike="noStrike">
                          <a:solidFill>
                            <a:srgbClr val="000000"/>
                          </a:solidFill>
                          <a:effectLst/>
                          <a:latin typeface="Aptos" panose="020B0004020202020204" pitchFamily="34" charset="0"/>
                        </a:rPr>
                        <a:t>Average Total</a:t>
                      </a:r>
                    </a:p>
                  </a:txBody>
                  <a:tcPr marL="4413" marR="4413" marT="44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10.17%</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6.91%</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6.00%</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9.90%</a:t>
                      </a:r>
                    </a:p>
                  </a:txBody>
                  <a:tcPr marL="4413" marR="4413" marT="441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Average Total</a:t>
                      </a:r>
                    </a:p>
                  </a:txBody>
                  <a:tcPr marL="4413" marR="4413" marT="44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0.75</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0.70</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0.96</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0.84</a:t>
                      </a:r>
                    </a:p>
                  </a:txBody>
                  <a:tcPr marL="4413" marR="4413" marT="441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Average Total</a:t>
                      </a:r>
                    </a:p>
                  </a:txBody>
                  <a:tcPr marL="4413" marR="4413" marT="44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154.35</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160.31</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136.47</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131.43</a:t>
                      </a:r>
                    </a:p>
                  </a:txBody>
                  <a:tcPr marL="4413" marR="4413" marT="441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0445724"/>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25332796"/>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extLst>
                  <a:ext uri="{0D108BD9-81ED-4DB2-BD59-A6C34878D82A}">
                    <a16:rowId xmlns:a16="http://schemas.microsoft.com/office/drawing/2014/main" val="2072898186"/>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1" i="0" u="none" strike="noStrike">
                          <a:solidFill>
                            <a:srgbClr val="000000"/>
                          </a:solidFill>
                          <a:effectLst/>
                          <a:latin typeface="Aptos" panose="020B0004020202020204" pitchFamily="34" charset="0"/>
                        </a:rPr>
                        <a:t>FY2021</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FY2022</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000000"/>
                          </a:solidFill>
                          <a:effectLst/>
                          <a:latin typeface="Aptos" panose="020B0004020202020204" pitchFamily="34" charset="0"/>
                        </a:rPr>
                        <a:t>FY2023</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FY2024</a:t>
                      </a:r>
                    </a:p>
                  </a:txBody>
                  <a:tcPr marL="4413" marR="4413" marT="4413" marB="0" anchor="b">
                    <a:lnL>
                      <a:noFill/>
                    </a:lnL>
                    <a:lnR>
                      <a:noFill/>
                    </a:lnR>
                    <a:lnT>
                      <a:noFill/>
                    </a:lnT>
                    <a:lnB>
                      <a:noFill/>
                    </a:lnB>
                    <a:solidFill>
                      <a:srgbClr val="0070C0"/>
                    </a:solidFill>
                  </a:tcPr>
                </a:tc>
                <a:extLst>
                  <a:ext uri="{0D108BD9-81ED-4DB2-BD59-A6C34878D82A}">
                    <a16:rowId xmlns:a16="http://schemas.microsoft.com/office/drawing/2014/main" val="2191847113"/>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a:t>
                      </a:r>
                    </a:p>
                  </a:txBody>
                  <a:tcPr marL="4413" marR="4413" marT="4413" marB="0" anchor="b">
                    <a:lnL>
                      <a:noFill/>
                    </a:lnL>
                    <a:lnR>
                      <a:noFill/>
                    </a:lnR>
                    <a:lnT>
                      <a:noFill/>
                    </a:lnT>
                    <a:lnB>
                      <a:noFill/>
                    </a:lnB>
                    <a:solidFill>
                      <a:srgbClr val="0070C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0" i="0" u="none" strike="noStrike">
                          <a:solidFill>
                            <a:srgbClr val="000000"/>
                          </a:solidFill>
                          <a:effectLst/>
                          <a:latin typeface="Aptos" panose="020B0004020202020204" pitchFamily="34" charset="0"/>
                        </a:rPr>
                        <a:t>%</a:t>
                      </a:r>
                    </a:p>
                  </a:txBody>
                  <a:tcPr marL="4413" marR="4413" marT="4413" marB="0" anchor="b">
                    <a:lnL>
                      <a:noFill/>
                    </a:lnL>
                    <a:lnR>
                      <a:noFill/>
                    </a:lnR>
                    <a:lnT>
                      <a:noFill/>
                    </a:lnT>
                    <a:lnB>
                      <a:noFill/>
                    </a:lnB>
                    <a:solidFill>
                      <a:srgbClr val="D9D9D9"/>
                    </a:solidFill>
                  </a:tcPr>
                </a:tc>
                <a:tc>
                  <a:txBody>
                    <a:bodyPr/>
                    <a:lstStyle/>
                    <a:p>
                      <a:pPr algn="ctr" rtl="0" fontAlgn="b">
                        <a:buNone/>
                      </a:pPr>
                      <a:r>
                        <a:rPr lang="en-MY" sz="900" b="1" i="0" u="none" strike="noStrike">
                          <a:solidFill>
                            <a:srgbClr val="FFFFFF"/>
                          </a:solidFill>
                          <a:effectLst/>
                          <a:latin typeface="Aptos" panose="020B0004020202020204" pitchFamily="34" charset="0"/>
                        </a:rPr>
                        <a:t>%</a:t>
                      </a:r>
                    </a:p>
                  </a:txBody>
                  <a:tcPr marL="4413" marR="4413" marT="4413" marB="0" anchor="b">
                    <a:lnL>
                      <a:noFill/>
                    </a:lnL>
                    <a:lnR>
                      <a:noFill/>
                    </a:lnR>
                    <a:lnT>
                      <a:noFill/>
                    </a:lnT>
                    <a:lnB>
                      <a:noFill/>
                    </a:lnB>
                    <a:solidFill>
                      <a:srgbClr val="0070C0"/>
                    </a:solidFill>
                  </a:tcPr>
                </a:tc>
                <a:extLst>
                  <a:ext uri="{0D108BD9-81ED-4DB2-BD59-A6C34878D82A}">
                    <a16:rowId xmlns:a16="http://schemas.microsoft.com/office/drawing/2014/main" val="2312685714"/>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extLst>
                  <a:ext uri="{0D108BD9-81ED-4DB2-BD59-A6C34878D82A}">
                    <a16:rowId xmlns:a16="http://schemas.microsoft.com/office/drawing/2014/main" val="681387250"/>
                  </a:ext>
                </a:extLst>
              </a:tr>
              <a:tr h="145081">
                <a:tc>
                  <a:txBody>
                    <a:bodyPr/>
                    <a:lstStyle/>
                    <a:p>
                      <a:pPr algn="l" fontAlgn="b">
                        <a:buNone/>
                      </a:pPr>
                      <a:r>
                        <a:rPr lang="en-MY" sz="900" b="0" i="0" u="none" strike="noStrike">
                          <a:solidFill>
                            <a:srgbClr val="FFFFFF"/>
                          </a:solidFill>
                          <a:effectLst/>
                          <a:latin typeface="Aptos" panose="020B0004020202020204" pitchFamily="34" charset="0"/>
                        </a:rPr>
                        <a:t>PBT Margin</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PAT Margin</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FFFFFF"/>
                          </a:solidFill>
                          <a:effectLst/>
                          <a:latin typeface="Aptos" panose="020B0004020202020204" pitchFamily="34" charset="0"/>
                        </a:rPr>
                        <a:t>Rev/ Staff Cost</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tc>
                  <a:txBody>
                    <a:bodyPr/>
                    <a:lstStyle/>
                    <a:p>
                      <a:pPr algn="ctr" fontAlgn="b">
                        <a:buNone/>
                      </a:pPr>
                      <a:r>
                        <a:rPr lang="en-MY" sz="900" b="0" i="0" u="none" strike="noStrike">
                          <a:solidFill>
                            <a:srgbClr val="FFFFFF"/>
                          </a:solidFill>
                          <a:effectLst/>
                          <a:latin typeface="Aptos" panose="020B0004020202020204" pitchFamily="34" charset="0"/>
                        </a:rPr>
                        <a:t> </a:t>
                      </a:r>
                    </a:p>
                  </a:txBody>
                  <a:tcPr marL="4413" marR="4413" marT="4413" marB="0" anchor="b">
                    <a:lnL>
                      <a:noFill/>
                    </a:lnL>
                    <a:lnR>
                      <a:noFill/>
                    </a:lnR>
                    <a:lnT>
                      <a:noFill/>
                    </a:lnT>
                    <a:lnB>
                      <a:noFill/>
                    </a:lnB>
                    <a:solidFill>
                      <a:srgbClr val="002060"/>
                    </a:solidFill>
                  </a:tcPr>
                </a:tc>
                <a:extLst>
                  <a:ext uri="{0D108BD9-81ED-4DB2-BD59-A6C34878D82A}">
                    <a16:rowId xmlns:a16="http://schemas.microsoft.com/office/drawing/2014/main" val="3459844612"/>
                  </a:ext>
                </a:extLst>
              </a:tr>
              <a:tr h="145081">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4.53%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-11.67%</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1.03%</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3.37%</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-8.53%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-1.62%</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0.75%</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Tuju Setia</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17.34</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22.08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24.44</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19.73</a:t>
                      </a:r>
                    </a:p>
                  </a:txBody>
                  <a:tcPr marL="4413" marR="4413" marT="4413" marB="0" anchor="b">
                    <a:lnL>
                      <a:noFill/>
                    </a:lnL>
                    <a:lnR>
                      <a:noFill/>
                    </a:lnR>
                    <a:lnT>
                      <a:noFill/>
                    </a:lnT>
                    <a:lnB>
                      <a:noFill/>
                    </a:lnB>
                    <a:noFill/>
                  </a:tcPr>
                </a:tc>
                <a:extLst>
                  <a:ext uri="{0D108BD9-81ED-4DB2-BD59-A6C34878D82A}">
                    <a16:rowId xmlns:a16="http://schemas.microsoft.com/office/drawing/2014/main" val="3917260989"/>
                  </a:ext>
                </a:extLst>
              </a:tr>
              <a:tr h="145081">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-19.12%</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-3.73%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-8.42%</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1.88%</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-17.05%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-3.56%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-7.98%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0.98%</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Crest Builder</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18.20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24.93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18.18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18.50</a:t>
                      </a:r>
                    </a:p>
                  </a:txBody>
                  <a:tcPr marL="4413" marR="4413" marT="4413" marB="0" anchor="b">
                    <a:lnL>
                      <a:noFill/>
                    </a:lnL>
                    <a:lnR>
                      <a:noFill/>
                    </a:lnR>
                    <a:lnT>
                      <a:noFill/>
                    </a:lnT>
                    <a:lnB>
                      <a:noFill/>
                    </a:lnB>
                    <a:noFill/>
                  </a:tcPr>
                </a:tc>
                <a:extLst>
                  <a:ext uri="{0D108BD9-81ED-4DB2-BD59-A6C34878D82A}">
                    <a16:rowId xmlns:a16="http://schemas.microsoft.com/office/drawing/2014/main" val="642132727"/>
                  </a:ext>
                </a:extLst>
              </a:tr>
              <a:tr h="145081">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-0.96%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2.79%</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4.93%</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-0.34%</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-0.81%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2.40%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4.36%</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Pesona Metro</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16.36</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9.81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12.00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10.94</a:t>
                      </a:r>
                    </a:p>
                  </a:txBody>
                  <a:tcPr marL="4413" marR="4413" marT="4413" marB="0" anchor="b">
                    <a:lnL>
                      <a:noFill/>
                    </a:lnL>
                    <a:lnR>
                      <a:noFill/>
                    </a:lnR>
                    <a:lnT>
                      <a:noFill/>
                    </a:lnT>
                    <a:lnB>
                      <a:noFill/>
                    </a:lnB>
                    <a:noFill/>
                  </a:tcPr>
                </a:tc>
                <a:extLst>
                  <a:ext uri="{0D108BD9-81ED-4DB2-BD59-A6C34878D82A}">
                    <a16:rowId xmlns:a16="http://schemas.microsoft.com/office/drawing/2014/main" val="395780219"/>
                  </a:ext>
                </a:extLst>
              </a:tr>
              <a:tr h="145081">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0.07%</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0.76%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0.60%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1.63%</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0.06%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0.76%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0.51%</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1.21%</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OSK Construction</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N/A</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N/A</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18.27</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tc>
                  <a:txBody>
                    <a:bodyPr/>
                    <a:lstStyle/>
                    <a:p>
                      <a:pPr algn="ctr" fontAlgn="b">
                        <a:buNone/>
                      </a:pPr>
                      <a:r>
                        <a:rPr lang="en-MY" sz="900" b="0" i="0" u="none" strike="noStrike">
                          <a:solidFill>
                            <a:srgbClr val="000000"/>
                          </a:solidFill>
                          <a:effectLst/>
                          <a:latin typeface="Aptos" panose="020B0004020202020204" pitchFamily="34" charset="0"/>
                        </a:rPr>
                        <a:t>19.77</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2611269592"/>
                  </a:ext>
                </a:extLst>
              </a:tr>
              <a:tr h="145081">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12.76%</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12.74%</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12.97%</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13.15%</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-22.48%</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8.94%</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9.59%</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9.53%</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Binastra</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15.42</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35.62</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41.20</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51.08</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solidFill>
                      <a:srgbClr val="FFF2CC"/>
                    </a:solidFill>
                  </a:tcPr>
                </a:tc>
                <a:extLst>
                  <a:ext uri="{0D108BD9-81ED-4DB2-BD59-A6C34878D82A}">
                    <a16:rowId xmlns:a16="http://schemas.microsoft.com/office/drawing/2014/main" val="1738892852"/>
                  </a:ext>
                </a:extLst>
              </a:tr>
              <a:tr h="145081">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3.57%</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-4.05%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0.69%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1.17%</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3.41%</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-3.37%</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0.50%</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0.77%</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Nestcon</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16.69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16.55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17.07</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16.27</a:t>
                      </a:r>
                    </a:p>
                  </a:txBody>
                  <a:tcPr marL="4413" marR="4413" marT="4413" marB="0" anchor="b">
                    <a:lnL>
                      <a:noFill/>
                    </a:lnL>
                    <a:lnR>
                      <a:noFill/>
                    </a:lnR>
                    <a:lnT>
                      <a:noFill/>
                    </a:lnT>
                    <a:lnB>
                      <a:noFill/>
                    </a:lnB>
                    <a:solidFill>
                      <a:srgbClr val="FFF2CC"/>
                    </a:solidFill>
                  </a:tcPr>
                </a:tc>
                <a:extLst>
                  <a:ext uri="{0D108BD9-81ED-4DB2-BD59-A6C34878D82A}">
                    <a16:rowId xmlns:a16="http://schemas.microsoft.com/office/drawing/2014/main" val="2481271747"/>
                  </a:ext>
                </a:extLst>
              </a:tr>
              <a:tr h="145081">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5.31%</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2.93%</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4.89%</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6.29%</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3.48%</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2.05%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3.52%</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4.80%</a:t>
                      </a:r>
                    </a:p>
                  </a:txBody>
                  <a:tcPr marL="4413" marR="4413" marT="4413" marB="0" anchor="b">
                    <a:lnL>
                      <a:noFill/>
                    </a:lnL>
                    <a:lnR>
                      <a:noFill/>
                    </a:lnR>
                    <a:lnT>
                      <a:noFill/>
                    </a:lnT>
                    <a:lnB>
                      <a:noFill/>
                    </a:lnB>
                    <a:solidFill>
                      <a:srgbClr val="FFF2CC"/>
                    </a:solid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Inta Bina</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16.25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19.15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23.95</a:t>
                      </a:r>
                    </a:p>
                  </a:txBody>
                  <a:tcPr marL="4413" marR="4413" marT="4413" marB="0" anchor="b">
                    <a:lnL>
                      <a:noFill/>
                    </a:lnL>
                    <a:lnR>
                      <a:noFill/>
                    </a:lnR>
                    <a:lnT>
                      <a:noFill/>
                    </a:lnT>
                    <a:lnB>
                      <a:noFill/>
                    </a:lnB>
                    <a:solidFill>
                      <a:srgbClr val="FFF2CC"/>
                    </a:solidFill>
                  </a:tcPr>
                </a:tc>
                <a:tc>
                  <a:txBody>
                    <a:bodyPr/>
                    <a:lstStyle/>
                    <a:p>
                      <a:pPr algn="ctr" fontAlgn="b">
                        <a:buNone/>
                      </a:pPr>
                      <a:r>
                        <a:rPr lang="en-MY" sz="900" b="0" i="0" u="none" strike="noStrike">
                          <a:solidFill>
                            <a:srgbClr val="000000"/>
                          </a:solidFill>
                          <a:effectLst/>
                          <a:latin typeface="Aptos" panose="020B0004020202020204" pitchFamily="34" charset="0"/>
                        </a:rPr>
                        <a:t>23.17</a:t>
                      </a:r>
                    </a:p>
                  </a:txBody>
                  <a:tcPr marL="4413" marR="4413" marT="4413" marB="0" anchor="b">
                    <a:lnL>
                      <a:noFill/>
                    </a:lnL>
                    <a:lnR>
                      <a:noFill/>
                    </a:lnR>
                    <a:lnT>
                      <a:noFill/>
                    </a:lnT>
                    <a:lnB>
                      <a:noFill/>
                    </a:lnB>
                    <a:solidFill>
                      <a:srgbClr val="FFF2CC"/>
                    </a:solidFill>
                  </a:tcPr>
                </a:tc>
                <a:extLst>
                  <a:ext uri="{0D108BD9-81ED-4DB2-BD59-A6C34878D82A}">
                    <a16:rowId xmlns:a16="http://schemas.microsoft.com/office/drawing/2014/main" val="1332124108"/>
                  </a:ext>
                </a:extLst>
              </a:tr>
              <a:tr h="145081">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3.60%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-0.79%</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-8.48%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0.38%</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1.21%</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-1.30%</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-8.78%</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0.38%</a:t>
                      </a: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TCS</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14.23</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18.02</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28.85</a:t>
                      </a:r>
                    </a:p>
                  </a:txBody>
                  <a:tcPr marL="4413" marR="4413" marT="4413" marB="0" anchor="b">
                    <a:lnL>
                      <a:noFill/>
                    </a:lnL>
                    <a:lnR>
                      <a:noFill/>
                    </a:lnR>
                    <a:lnT>
                      <a:noFill/>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32.60</a:t>
                      </a:r>
                    </a:p>
                  </a:txBody>
                  <a:tcPr marL="4413" marR="4413" marT="4413" marB="0" anchor="b">
                    <a:lnL>
                      <a:noFill/>
                    </a:lnL>
                    <a:lnR>
                      <a:noFill/>
                    </a:lnR>
                    <a:lnT>
                      <a:noFill/>
                    </a:lnT>
                    <a:lnB>
                      <a:noFill/>
                    </a:lnB>
                    <a:noFill/>
                  </a:tcPr>
                </a:tc>
                <a:extLst>
                  <a:ext uri="{0D108BD9-81ED-4DB2-BD59-A6C34878D82A}">
                    <a16:rowId xmlns:a16="http://schemas.microsoft.com/office/drawing/2014/main" val="3306831395"/>
                  </a:ext>
                </a:extLst>
              </a:tr>
              <a:tr h="145081">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8.78%</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4.27%</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3.42%</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15.50%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6.74%</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3.37%</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2.51%</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10.36%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GDB</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16.56</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19.92</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15.20</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14.23</a:t>
                      </a: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6703728"/>
                  </a:ext>
                </a:extLst>
              </a:tr>
              <a:tr h="145081">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11.49%</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10.93%</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6.16%</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7.39%</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9.18%</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8.26%</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4.66%</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MY" sz="900" b="0" i="0" u="none" strike="noStrike">
                          <a:solidFill>
                            <a:srgbClr val="000000"/>
                          </a:solidFill>
                          <a:effectLst/>
                          <a:latin typeface="Aptos" panose="020B0004020202020204" pitchFamily="34" charset="0"/>
                        </a:rPr>
                        <a:t>5.56%</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Kitacon</a:t>
                      </a:r>
                    </a:p>
                  </a:txBody>
                  <a:tcPr marL="4413" marR="4413" marT="4413"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MY" sz="900" b="0" i="0" u="none" strike="noStrike">
                          <a:solidFill>
                            <a:srgbClr val="000000"/>
                          </a:solidFill>
                          <a:effectLst/>
                          <a:latin typeface="Aptos" panose="020B0004020202020204" pitchFamily="34" charset="0"/>
                        </a:rPr>
                        <a:t>15.53</a:t>
                      </a:r>
                    </a:p>
                  </a:txBody>
                  <a:tcPr marL="4413" marR="4413" marT="441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MY" sz="900" b="0" i="0" u="none" strike="noStrike">
                          <a:solidFill>
                            <a:srgbClr val="000000"/>
                          </a:solidFill>
                          <a:effectLst/>
                          <a:latin typeface="Aptos" panose="020B0004020202020204" pitchFamily="34" charset="0"/>
                        </a:rPr>
                        <a:t>15.38</a:t>
                      </a:r>
                    </a:p>
                  </a:txBody>
                  <a:tcPr marL="4413" marR="4413" marT="441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MY" sz="900" b="0" i="0" u="none" strike="noStrike">
                          <a:solidFill>
                            <a:srgbClr val="000000"/>
                          </a:solidFill>
                          <a:effectLst/>
                          <a:latin typeface="Aptos" panose="020B0004020202020204" pitchFamily="34" charset="0"/>
                        </a:rPr>
                        <a:t>22.00</a:t>
                      </a:r>
                    </a:p>
                  </a:txBody>
                  <a:tcPr marL="4413" marR="4413" marT="4413"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MY" sz="900" b="0" i="0" u="none" strike="noStrike">
                          <a:solidFill>
                            <a:srgbClr val="000000"/>
                          </a:solidFill>
                          <a:effectLst/>
                          <a:latin typeface="Aptos" panose="020B0004020202020204" pitchFamily="34" charset="0"/>
                        </a:rPr>
                        <a:t>24.09</a:t>
                      </a:r>
                    </a:p>
                  </a:txBody>
                  <a:tcPr marL="4413" marR="4413" marT="4413"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933096197"/>
                  </a:ext>
                </a:extLst>
              </a:tr>
              <a:tr h="145081">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a:noFill/>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7193184"/>
                  </a:ext>
                </a:extLst>
              </a:tr>
              <a:tr h="145081">
                <a:tc>
                  <a:txBody>
                    <a:bodyPr/>
                    <a:lstStyle/>
                    <a:p>
                      <a:pPr algn="l" fontAlgn="b">
                        <a:buNone/>
                      </a:pPr>
                      <a:r>
                        <a:rPr lang="en-MY" sz="900" b="0" i="0" u="none" strike="noStrike">
                          <a:solidFill>
                            <a:srgbClr val="000000"/>
                          </a:solidFill>
                          <a:effectLst/>
                          <a:latin typeface="Aptos" panose="020B0004020202020204" pitchFamily="34" charset="0"/>
                        </a:rPr>
                        <a:t>Average Total</a:t>
                      </a:r>
                    </a:p>
                  </a:txBody>
                  <a:tcPr marL="4413" marR="4413" marT="44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3.07%</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1.04%</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1.29%</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5.34%</a:t>
                      </a:r>
                    </a:p>
                  </a:txBody>
                  <a:tcPr marL="4413" marR="4413" marT="441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Average Total</a:t>
                      </a:r>
                    </a:p>
                  </a:txBody>
                  <a:tcPr marL="4413" marR="4413" marT="44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-1.24%</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0.58%</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0.53%</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3.87%</a:t>
                      </a:r>
                    </a:p>
                  </a:txBody>
                  <a:tcPr marL="4413" marR="4413" marT="441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MY" sz="900" b="0" i="0" u="none" strike="noStrike">
                        <a:solidFill>
                          <a:srgbClr val="000000"/>
                        </a:solidFill>
                        <a:effectLst/>
                        <a:latin typeface="Aptos" panose="020B0004020202020204" pitchFamily="34" charset="0"/>
                      </a:endParaRP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MY" sz="900" b="0" i="0" u="none" strike="noStrike">
                          <a:solidFill>
                            <a:srgbClr val="000000"/>
                          </a:solidFill>
                          <a:effectLst/>
                          <a:latin typeface="Aptos" panose="020B0004020202020204" pitchFamily="34" charset="0"/>
                        </a:rPr>
                        <a:t>Average Total</a:t>
                      </a:r>
                    </a:p>
                  </a:txBody>
                  <a:tcPr marL="4413" marR="4413" marT="441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16.29</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20.16</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22.12</a:t>
                      </a:r>
                    </a:p>
                  </a:txBody>
                  <a:tcPr marL="4413" marR="4413" marT="4413"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MY" sz="900" b="0" i="0" u="none" strike="noStrike">
                          <a:solidFill>
                            <a:srgbClr val="000000"/>
                          </a:solidFill>
                          <a:effectLst/>
                          <a:latin typeface="Aptos" panose="020B0004020202020204" pitchFamily="34" charset="0"/>
                        </a:rPr>
                        <a:t>23.04</a:t>
                      </a:r>
                    </a:p>
                  </a:txBody>
                  <a:tcPr marL="4413" marR="4413" marT="4413"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8922273"/>
                  </a:ext>
                </a:extLst>
              </a:tr>
            </a:tbl>
          </a:graphicData>
        </a:graphic>
      </p:graphicFrame>
      <p:sp>
        <p:nvSpPr>
          <p:cNvPr id="7" name="Rectangle 6">
            <a:extLst>
              <a:ext uri="{FF2B5EF4-FFF2-40B4-BE49-F238E27FC236}">
                <a16:creationId xmlns:a16="http://schemas.microsoft.com/office/drawing/2014/main" id="{C5EDD9E8-2EF4-AC86-D11D-21CC4AA257EF}"/>
              </a:ext>
            </a:extLst>
          </p:cNvPr>
          <p:cNvSpPr/>
          <p:nvPr/>
        </p:nvSpPr>
        <p:spPr>
          <a:xfrm>
            <a:off x="10069286" y="283029"/>
            <a:ext cx="1689534" cy="5853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a:t>New</a:t>
            </a:r>
          </a:p>
        </p:txBody>
      </p:sp>
    </p:spTree>
    <p:extLst>
      <p:ext uri="{BB962C8B-B14F-4D97-AF65-F5344CB8AC3E}">
        <p14:creationId xmlns:p14="http://schemas.microsoft.com/office/powerpoint/2010/main" val="1041155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35BD-F574-ABDD-E75F-457744157E1B}"/>
            </a:ext>
          </a:extLst>
        </p:cNvPr>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2BC6F75D-0593-3DAE-75E5-43F91A4A35B6}"/>
              </a:ext>
            </a:extLst>
          </p:cNvPr>
          <p:cNvCxnSpPr/>
          <p:nvPr/>
        </p:nvCxnSpPr>
        <p:spPr>
          <a:xfrm>
            <a:off x="10125075" y="5527520"/>
            <a:ext cx="457200" cy="0"/>
          </a:xfrm>
          <a:prstGeom prst="straightConnector1">
            <a:avLst/>
          </a:prstGeom>
          <a:ln>
            <a:solidFill>
              <a:schemeClr val="tx2"/>
            </a:solidFill>
            <a:headEnd type="triangle"/>
            <a:tailEnd type="triangle"/>
          </a:ln>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53AE50BF-15B3-758A-2D51-9C7A039E6229}"/>
              </a:ext>
            </a:extLst>
          </p:cNvPr>
          <p:cNvSpPr txBox="1"/>
          <p:nvPr/>
        </p:nvSpPr>
        <p:spPr>
          <a:xfrm>
            <a:off x="274320" y="219456"/>
            <a:ext cx="10735056" cy="553998"/>
          </a:xfrm>
          <a:prstGeom prst="rect">
            <a:avLst/>
          </a:prstGeom>
          <a:noFill/>
        </p:spPr>
        <p:txBody>
          <a:bodyPr wrap="square" rtlCol="0">
            <a:spAutoFit/>
          </a:bodyPr>
          <a:lstStyle/>
          <a:p>
            <a:r>
              <a:rPr lang="en-US" sz="3000" b="1"/>
              <a:t>Financial Analysis</a:t>
            </a:r>
          </a:p>
        </p:txBody>
      </p:sp>
      <p:graphicFrame>
        <p:nvGraphicFramePr>
          <p:cNvPr id="3" name="Chart 2">
            <a:extLst>
              <a:ext uri="{FF2B5EF4-FFF2-40B4-BE49-F238E27FC236}">
                <a16:creationId xmlns:a16="http://schemas.microsoft.com/office/drawing/2014/main" id="{40016DEC-9CDF-1996-87E1-3B34EB7D6D9F}"/>
              </a:ext>
            </a:extLst>
          </p:cNvPr>
          <p:cNvGraphicFramePr>
            <a:graphicFrameLocks/>
          </p:cNvGraphicFramePr>
          <p:nvPr>
            <p:extLst>
              <p:ext uri="{D42A27DB-BD31-4B8C-83A1-F6EECF244321}">
                <p14:modId xmlns:p14="http://schemas.microsoft.com/office/powerpoint/2010/main" val="202893615"/>
              </p:ext>
            </p:extLst>
          </p:nvPr>
        </p:nvGraphicFramePr>
        <p:xfrm>
          <a:off x="633480" y="1879281"/>
          <a:ext cx="10970623" cy="3044029"/>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a:extLst>
              <a:ext uri="{FF2B5EF4-FFF2-40B4-BE49-F238E27FC236}">
                <a16:creationId xmlns:a16="http://schemas.microsoft.com/office/drawing/2014/main" id="{735B7612-CCDF-EBDF-3254-D90EEF191E4C}"/>
              </a:ext>
            </a:extLst>
          </p:cNvPr>
          <p:cNvSpPr txBox="1"/>
          <p:nvPr/>
        </p:nvSpPr>
        <p:spPr>
          <a:xfrm>
            <a:off x="8404249" y="1356060"/>
            <a:ext cx="2796041" cy="307777"/>
          </a:xfrm>
          <a:prstGeom prst="rect">
            <a:avLst/>
          </a:prstGeom>
          <a:noFill/>
        </p:spPr>
        <p:txBody>
          <a:bodyPr wrap="square">
            <a:spAutoFit/>
          </a:bodyPr>
          <a:lstStyle/>
          <a:p>
            <a:pPr algn="r" rtl="0">
              <a:defRPr sz="1400" b="0" i="0" u="none" strike="noStrike" kern="1200" spc="0" baseline="0">
                <a:solidFill>
                  <a:prstClr val="black"/>
                </a:solidFill>
                <a:latin typeface="Aptos" panose="020B0004020202020204" pitchFamily="34" charset="0"/>
                <a:ea typeface="+mn-ea"/>
                <a:cs typeface="+mn-cs"/>
              </a:defRPr>
            </a:pPr>
            <a:r>
              <a:rPr lang="en-MY" b="1"/>
              <a:t>Key Balance Sheet Metrics</a:t>
            </a:r>
          </a:p>
        </p:txBody>
      </p:sp>
      <p:grpSp>
        <p:nvGrpSpPr>
          <p:cNvPr id="26" name="Group 25">
            <a:extLst>
              <a:ext uri="{FF2B5EF4-FFF2-40B4-BE49-F238E27FC236}">
                <a16:creationId xmlns:a16="http://schemas.microsoft.com/office/drawing/2014/main" id="{46891DD2-C6C5-0FCA-F9D4-F247BA81F765}"/>
              </a:ext>
            </a:extLst>
          </p:cNvPr>
          <p:cNvGrpSpPr/>
          <p:nvPr/>
        </p:nvGrpSpPr>
        <p:grpSpPr>
          <a:xfrm>
            <a:off x="1405094" y="1608429"/>
            <a:ext cx="9795196" cy="430887"/>
            <a:chOff x="1040939" y="1315872"/>
            <a:chExt cx="9795196" cy="430887"/>
          </a:xfrm>
        </p:grpSpPr>
        <p:sp>
          <p:nvSpPr>
            <p:cNvPr id="14" name="TextBox 13">
              <a:extLst>
                <a:ext uri="{FF2B5EF4-FFF2-40B4-BE49-F238E27FC236}">
                  <a16:creationId xmlns:a16="http://schemas.microsoft.com/office/drawing/2014/main" id="{136C318E-7B2A-FAA8-F6AD-C49416E6CA72}"/>
                </a:ext>
              </a:extLst>
            </p:cNvPr>
            <p:cNvSpPr txBox="1"/>
            <p:nvPr/>
          </p:nvSpPr>
          <p:spPr>
            <a:xfrm>
              <a:off x="1040939"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0.40</a:t>
              </a:r>
              <a:endParaRPr lang="en-MY" sz="1050" b="0" i="0" u="none" strike="noStrike">
                <a:solidFill>
                  <a:srgbClr val="000000"/>
                </a:solidFill>
                <a:effectLst/>
                <a:latin typeface="+mn-lt"/>
              </a:endParaRPr>
            </a:p>
          </p:txBody>
        </p:sp>
        <p:sp>
          <p:nvSpPr>
            <p:cNvPr id="15" name="TextBox 14">
              <a:extLst>
                <a:ext uri="{FF2B5EF4-FFF2-40B4-BE49-F238E27FC236}">
                  <a16:creationId xmlns:a16="http://schemas.microsoft.com/office/drawing/2014/main" id="{7F76B4AA-09BA-6639-EEC7-7706860A04B2}"/>
                </a:ext>
              </a:extLst>
            </p:cNvPr>
            <p:cNvSpPr txBox="1"/>
            <p:nvPr/>
          </p:nvSpPr>
          <p:spPr>
            <a:xfrm>
              <a:off x="2546186"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0.33</a:t>
              </a:r>
              <a:endParaRPr lang="en-MY" sz="1050" b="0" i="0" u="none" strike="noStrike">
                <a:solidFill>
                  <a:srgbClr val="000000"/>
                </a:solidFill>
                <a:effectLst/>
                <a:latin typeface="+mn-lt"/>
              </a:endParaRPr>
            </a:p>
          </p:txBody>
        </p:sp>
        <p:sp>
          <p:nvSpPr>
            <p:cNvPr id="16" name="TextBox 15">
              <a:extLst>
                <a:ext uri="{FF2B5EF4-FFF2-40B4-BE49-F238E27FC236}">
                  <a16:creationId xmlns:a16="http://schemas.microsoft.com/office/drawing/2014/main" id="{029444D7-17F8-0D80-6967-72724F72A4E1}"/>
                </a:ext>
              </a:extLst>
            </p:cNvPr>
            <p:cNvSpPr txBox="1"/>
            <p:nvPr/>
          </p:nvSpPr>
          <p:spPr>
            <a:xfrm>
              <a:off x="4014766"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0.59</a:t>
              </a:r>
              <a:endParaRPr lang="en-MY" sz="1050" b="0" i="0" u="none" strike="noStrike">
                <a:solidFill>
                  <a:srgbClr val="000000"/>
                </a:solidFill>
                <a:effectLst/>
                <a:latin typeface="+mn-lt"/>
              </a:endParaRPr>
            </a:p>
          </p:txBody>
        </p:sp>
        <p:sp>
          <p:nvSpPr>
            <p:cNvPr id="21" name="TextBox 20">
              <a:extLst>
                <a:ext uri="{FF2B5EF4-FFF2-40B4-BE49-F238E27FC236}">
                  <a16:creationId xmlns:a16="http://schemas.microsoft.com/office/drawing/2014/main" id="{6BE0D45C-B461-301C-A7F6-B588717D35A2}"/>
                </a:ext>
              </a:extLst>
            </p:cNvPr>
            <p:cNvSpPr txBox="1"/>
            <p:nvPr/>
          </p:nvSpPr>
          <p:spPr>
            <a:xfrm>
              <a:off x="5474115"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0.58</a:t>
              </a:r>
              <a:endParaRPr lang="en-MY" sz="1050" b="0" i="0" u="none" strike="noStrike">
                <a:solidFill>
                  <a:srgbClr val="000000"/>
                </a:solidFill>
                <a:effectLst/>
                <a:latin typeface="+mn-lt"/>
              </a:endParaRPr>
            </a:p>
          </p:txBody>
        </p:sp>
        <p:sp>
          <p:nvSpPr>
            <p:cNvPr id="22" name="TextBox 21">
              <a:extLst>
                <a:ext uri="{FF2B5EF4-FFF2-40B4-BE49-F238E27FC236}">
                  <a16:creationId xmlns:a16="http://schemas.microsoft.com/office/drawing/2014/main" id="{0A68EB17-44D0-5F29-380D-90AC1766A031}"/>
                </a:ext>
              </a:extLst>
            </p:cNvPr>
            <p:cNvSpPr txBox="1"/>
            <p:nvPr/>
          </p:nvSpPr>
          <p:spPr>
            <a:xfrm>
              <a:off x="6988317"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0.77</a:t>
              </a:r>
              <a:endParaRPr lang="en-MY" sz="1050" b="0" i="0" u="none" strike="noStrike">
                <a:solidFill>
                  <a:srgbClr val="000000"/>
                </a:solidFill>
                <a:effectLst/>
                <a:latin typeface="+mn-lt"/>
              </a:endParaRPr>
            </a:p>
          </p:txBody>
        </p:sp>
        <p:sp>
          <p:nvSpPr>
            <p:cNvPr id="23" name="TextBox 22">
              <a:extLst>
                <a:ext uri="{FF2B5EF4-FFF2-40B4-BE49-F238E27FC236}">
                  <a16:creationId xmlns:a16="http://schemas.microsoft.com/office/drawing/2014/main" id="{4A0C92D8-48BC-7559-6D00-C73EDBDC8DE1}"/>
                </a:ext>
              </a:extLst>
            </p:cNvPr>
            <p:cNvSpPr txBox="1"/>
            <p:nvPr/>
          </p:nvSpPr>
          <p:spPr>
            <a:xfrm>
              <a:off x="8538153"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0.73</a:t>
              </a:r>
              <a:endParaRPr lang="en-MY" sz="1050" b="0" i="0" u="none" strike="noStrike">
                <a:solidFill>
                  <a:srgbClr val="000000"/>
                </a:solidFill>
                <a:effectLst/>
                <a:latin typeface="+mn-lt"/>
              </a:endParaRPr>
            </a:p>
          </p:txBody>
        </p:sp>
        <p:sp>
          <p:nvSpPr>
            <p:cNvPr id="24" name="TextBox 23">
              <a:extLst>
                <a:ext uri="{FF2B5EF4-FFF2-40B4-BE49-F238E27FC236}">
                  <a16:creationId xmlns:a16="http://schemas.microsoft.com/office/drawing/2014/main" id="{ACB16F88-F1A9-44B3-86AC-20DDDF734AD4}"/>
                </a:ext>
              </a:extLst>
            </p:cNvPr>
            <p:cNvSpPr txBox="1"/>
            <p:nvPr/>
          </p:nvSpPr>
          <p:spPr>
            <a:xfrm>
              <a:off x="10087989" y="1315872"/>
              <a:ext cx="748146" cy="430887"/>
            </a:xfrm>
            <a:prstGeom prst="rect">
              <a:avLst/>
            </a:prstGeom>
            <a:noFill/>
          </p:spPr>
          <p:txBody>
            <a:bodyPr wrap="square">
              <a:spAutoFit/>
            </a:bodyPr>
            <a:lstStyle/>
            <a:p>
              <a:pPr algn="ctr" fontAlgn="b"/>
              <a:r>
                <a:rPr lang="en-MY" sz="1050">
                  <a:solidFill>
                    <a:srgbClr val="000000"/>
                  </a:solidFill>
                </a:rPr>
                <a:t>Gearing:</a:t>
              </a:r>
            </a:p>
            <a:p>
              <a:pPr algn="ctr" fontAlgn="b">
                <a:buNone/>
              </a:pPr>
              <a:r>
                <a:rPr lang="en-MY" sz="1050" b="0" u="none" strike="noStrike">
                  <a:solidFill>
                    <a:srgbClr val="000000"/>
                  </a:solidFill>
                  <a:effectLst/>
                  <a:latin typeface="+mn-lt"/>
                </a:rPr>
                <a:t>0.59</a:t>
              </a:r>
              <a:endParaRPr lang="en-MY" sz="1050" b="0" i="0" u="none" strike="noStrike">
                <a:solidFill>
                  <a:srgbClr val="000000"/>
                </a:solidFill>
                <a:effectLst/>
                <a:latin typeface="+mn-lt"/>
              </a:endParaRPr>
            </a:p>
          </p:txBody>
        </p:sp>
      </p:grpSp>
      <p:sp>
        <p:nvSpPr>
          <p:cNvPr id="27" name="TextBox 26">
            <a:extLst>
              <a:ext uri="{FF2B5EF4-FFF2-40B4-BE49-F238E27FC236}">
                <a16:creationId xmlns:a16="http://schemas.microsoft.com/office/drawing/2014/main" id="{84496012-3210-2634-D188-F1466B1FDAAB}"/>
              </a:ext>
            </a:extLst>
          </p:cNvPr>
          <p:cNvSpPr txBox="1"/>
          <p:nvPr/>
        </p:nvSpPr>
        <p:spPr>
          <a:xfrm rot="16200000">
            <a:off x="128601" y="3142405"/>
            <a:ext cx="748146" cy="261610"/>
          </a:xfrm>
          <a:prstGeom prst="rect">
            <a:avLst/>
          </a:prstGeom>
          <a:noFill/>
        </p:spPr>
        <p:txBody>
          <a:bodyPr wrap="square">
            <a:spAutoFit/>
          </a:bodyPr>
          <a:lstStyle/>
          <a:p>
            <a:pPr algn="ctr" fontAlgn="b"/>
            <a:r>
              <a:rPr lang="en-MY" sz="1050" err="1">
                <a:solidFill>
                  <a:srgbClr val="000000"/>
                </a:solidFill>
              </a:rPr>
              <a:t>RM’mil</a:t>
            </a:r>
            <a:endParaRPr lang="en-MY" sz="1050" b="0" i="0" u="none" strike="noStrike">
              <a:solidFill>
                <a:srgbClr val="000000"/>
              </a:solidFill>
              <a:effectLst/>
              <a:latin typeface="+mn-lt"/>
            </a:endParaRPr>
          </a:p>
        </p:txBody>
      </p:sp>
      <p:sp>
        <p:nvSpPr>
          <p:cNvPr id="5" name="TextBox 4">
            <a:extLst>
              <a:ext uri="{FF2B5EF4-FFF2-40B4-BE49-F238E27FC236}">
                <a16:creationId xmlns:a16="http://schemas.microsoft.com/office/drawing/2014/main" id="{6EA91F60-0660-781F-E631-4CC4FBC38556}"/>
              </a:ext>
            </a:extLst>
          </p:cNvPr>
          <p:cNvSpPr txBox="1"/>
          <p:nvPr/>
        </p:nvSpPr>
        <p:spPr>
          <a:xfrm>
            <a:off x="8020050" y="4463121"/>
            <a:ext cx="3584053" cy="430887"/>
          </a:xfrm>
          <a:prstGeom prst="rect">
            <a:avLst/>
          </a:prstGeom>
          <a:solidFill>
            <a:schemeClr val="accent2">
              <a:lumMod val="20000"/>
              <a:lumOff val="80000"/>
            </a:schemeClr>
          </a:solidFill>
        </p:spPr>
        <p:txBody>
          <a:bodyPr wrap="square">
            <a:spAutoFit/>
          </a:bodyPr>
          <a:lstStyle/>
          <a:p>
            <a:pPr algn="ctr"/>
            <a:r>
              <a:rPr lang="en-US" sz="1100"/>
              <a:t>Gearing in Q3 decreased due to proceeds from the private placement being used to repay borrowings</a:t>
            </a:r>
          </a:p>
        </p:txBody>
      </p:sp>
      <p:graphicFrame>
        <p:nvGraphicFramePr>
          <p:cNvPr id="8" name="Table 7">
            <a:extLst>
              <a:ext uri="{FF2B5EF4-FFF2-40B4-BE49-F238E27FC236}">
                <a16:creationId xmlns:a16="http://schemas.microsoft.com/office/drawing/2014/main" id="{4907E01E-FF18-D085-3369-577B476DA04E}"/>
              </a:ext>
            </a:extLst>
          </p:cNvPr>
          <p:cNvGraphicFramePr>
            <a:graphicFrameLocks noGrp="1"/>
          </p:cNvGraphicFramePr>
          <p:nvPr>
            <p:extLst>
              <p:ext uri="{D42A27DB-BD31-4B8C-83A1-F6EECF244321}">
                <p14:modId xmlns:p14="http://schemas.microsoft.com/office/powerpoint/2010/main" val="524686964"/>
              </p:ext>
            </p:extLst>
          </p:nvPr>
        </p:nvGraphicFramePr>
        <p:xfrm>
          <a:off x="633479" y="4978718"/>
          <a:ext cx="10680412" cy="1811528"/>
        </p:xfrm>
        <a:graphic>
          <a:graphicData uri="http://schemas.openxmlformats.org/drawingml/2006/table">
            <a:tbl>
              <a:tblPr/>
              <a:tblGrid>
                <a:gridCol w="2946322">
                  <a:extLst>
                    <a:ext uri="{9D8B030D-6E8A-4147-A177-3AD203B41FA5}">
                      <a16:colId xmlns:a16="http://schemas.microsoft.com/office/drawing/2014/main" val="4029344237"/>
                    </a:ext>
                  </a:extLst>
                </a:gridCol>
                <a:gridCol w="1104870">
                  <a:extLst>
                    <a:ext uri="{9D8B030D-6E8A-4147-A177-3AD203B41FA5}">
                      <a16:colId xmlns:a16="http://schemas.microsoft.com/office/drawing/2014/main" val="1022115272"/>
                    </a:ext>
                  </a:extLst>
                </a:gridCol>
                <a:gridCol w="1104870">
                  <a:extLst>
                    <a:ext uri="{9D8B030D-6E8A-4147-A177-3AD203B41FA5}">
                      <a16:colId xmlns:a16="http://schemas.microsoft.com/office/drawing/2014/main" val="790759679"/>
                    </a:ext>
                  </a:extLst>
                </a:gridCol>
                <a:gridCol w="1104870">
                  <a:extLst>
                    <a:ext uri="{9D8B030D-6E8A-4147-A177-3AD203B41FA5}">
                      <a16:colId xmlns:a16="http://schemas.microsoft.com/office/drawing/2014/main" val="1015588944"/>
                    </a:ext>
                  </a:extLst>
                </a:gridCol>
                <a:gridCol w="1104870">
                  <a:extLst>
                    <a:ext uri="{9D8B030D-6E8A-4147-A177-3AD203B41FA5}">
                      <a16:colId xmlns:a16="http://schemas.microsoft.com/office/drawing/2014/main" val="1767172654"/>
                    </a:ext>
                  </a:extLst>
                </a:gridCol>
                <a:gridCol w="1104870">
                  <a:extLst>
                    <a:ext uri="{9D8B030D-6E8A-4147-A177-3AD203B41FA5}">
                      <a16:colId xmlns:a16="http://schemas.microsoft.com/office/drawing/2014/main" val="1500123234"/>
                    </a:ext>
                  </a:extLst>
                </a:gridCol>
                <a:gridCol w="1104870">
                  <a:extLst>
                    <a:ext uri="{9D8B030D-6E8A-4147-A177-3AD203B41FA5}">
                      <a16:colId xmlns:a16="http://schemas.microsoft.com/office/drawing/2014/main" val="3922063709"/>
                    </a:ext>
                  </a:extLst>
                </a:gridCol>
                <a:gridCol w="1104870">
                  <a:extLst>
                    <a:ext uri="{9D8B030D-6E8A-4147-A177-3AD203B41FA5}">
                      <a16:colId xmlns:a16="http://schemas.microsoft.com/office/drawing/2014/main" val="4016734258"/>
                    </a:ext>
                  </a:extLst>
                </a:gridCol>
              </a:tblGrid>
              <a:tr h="228600">
                <a:tc>
                  <a:txBody>
                    <a:bodyPr/>
                    <a:lstStyle/>
                    <a:p>
                      <a:pPr algn="ctr" rtl="0" fontAlgn="b">
                        <a:buNone/>
                      </a:pPr>
                      <a:r>
                        <a:rPr lang="en-US" sz="1400" b="1" i="0" u="none" strike="noStrike">
                          <a:solidFill>
                            <a:srgbClr val="FFFFFF"/>
                          </a:solidFill>
                          <a:effectLst/>
                          <a:latin typeface="+mn-lt"/>
                        </a:rPr>
                        <a:t>RM’Mil</a:t>
                      </a:r>
                    </a:p>
                  </a:txBody>
                  <a:tcPr marR="6350" marT="18288" marB="18288"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1Q24</a:t>
                      </a:r>
                    </a:p>
                  </a:txBody>
                  <a:tcPr marR="6350"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2Q24</a:t>
                      </a:r>
                    </a:p>
                  </a:txBody>
                  <a:tcPr marR="6350"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3Q24</a:t>
                      </a:r>
                    </a:p>
                  </a:txBody>
                  <a:tcPr marR="6350"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4Q24</a:t>
                      </a:r>
                    </a:p>
                  </a:txBody>
                  <a:tcPr marR="6350"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1Q25</a:t>
                      </a:r>
                    </a:p>
                  </a:txBody>
                  <a:tcPr marR="6350"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2Q25</a:t>
                      </a:r>
                    </a:p>
                  </a:txBody>
                  <a:tcPr marR="6350" marT="18288" marB="182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tc>
                  <a:txBody>
                    <a:bodyPr/>
                    <a:lstStyle/>
                    <a:p>
                      <a:pPr algn="ctr" rtl="0" fontAlgn="ctr">
                        <a:buNone/>
                      </a:pPr>
                      <a:r>
                        <a:rPr lang="en-US" sz="1400" b="1" i="0" u="none" strike="noStrike">
                          <a:solidFill>
                            <a:srgbClr val="FFFFFF"/>
                          </a:solidFill>
                          <a:effectLst/>
                          <a:latin typeface="+mn-lt"/>
                        </a:rPr>
                        <a:t>3Q25</a:t>
                      </a:r>
                    </a:p>
                  </a:txBody>
                  <a:tcPr marR="6350" marT="18288" marB="1828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3E64"/>
                    </a:solidFill>
                  </a:tcPr>
                </a:tc>
                <a:extLst>
                  <a:ext uri="{0D108BD9-81ED-4DB2-BD59-A6C34878D82A}">
                    <a16:rowId xmlns:a16="http://schemas.microsoft.com/office/drawing/2014/main" val="2892240523"/>
                  </a:ext>
                </a:extLst>
              </a:tr>
              <a:tr h="228600">
                <a:tc>
                  <a:txBody>
                    <a:bodyPr/>
                    <a:lstStyle/>
                    <a:p>
                      <a:pPr algn="l" rtl="0" fontAlgn="b">
                        <a:buNone/>
                      </a:pPr>
                      <a:r>
                        <a:rPr lang="en-US" sz="1400" b="0" i="0" u="none" strike="noStrike">
                          <a:solidFill>
                            <a:srgbClr val="000000"/>
                          </a:solidFill>
                          <a:effectLst/>
                          <a:latin typeface="+mn-lt"/>
                        </a:rPr>
                        <a:t>Cash and short-term deposits</a:t>
                      </a:r>
                    </a:p>
                  </a:txBody>
                  <a:tcPr marR="6350" marT="18288" marB="18288">
                    <a:lnL w="635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103.7 </a:t>
                      </a:r>
                    </a:p>
                  </a:txBody>
                  <a:tcPr marR="6350" marT="18288" marB="18288">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       82.9 </a:t>
                      </a:r>
                    </a:p>
                  </a:txBody>
                  <a:tcPr marR="6350" marT="18288" marB="18288">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       90.1 </a:t>
                      </a:r>
                    </a:p>
                  </a:txBody>
                  <a:tcPr marR="6350" marT="18288" marB="18288">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    115.0 </a:t>
                      </a:r>
                    </a:p>
                  </a:txBody>
                  <a:tcPr marR="6350" marT="18288" marB="18288">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    117.6 </a:t>
                      </a:r>
                    </a:p>
                  </a:txBody>
                  <a:tcPr marR="6350" marT="18288" marB="18288">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    140.6 </a:t>
                      </a:r>
                    </a:p>
                  </a:txBody>
                  <a:tcPr marR="6350" marT="18288" marB="18288">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rtl="0" fontAlgn="b">
                        <a:buNone/>
                      </a:pPr>
                      <a:r>
                        <a:rPr lang="en-US" sz="1400" b="0" i="0" u="none" strike="noStrike">
                          <a:solidFill>
                            <a:srgbClr val="000000"/>
                          </a:solidFill>
                          <a:effectLst/>
                          <a:latin typeface="+mn-lt"/>
                        </a:rPr>
                        <a:t>    129.7 </a:t>
                      </a:r>
                    </a:p>
                  </a:txBody>
                  <a:tcPr marR="6350" marT="18288" marB="18288">
                    <a:lnL>
                      <a:noFill/>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96743656"/>
                  </a:ext>
                </a:extLst>
              </a:tr>
              <a:tr h="228600">
                <a:tc>
                  <a:txBody>
                    <a:bodyPr/>
                    <a:lstStyle/>
                    <a:p>
                      <a:pPr algn="l" rtl="0" fontAlgn="b">
                        <a:buNone/>
                      </a:pPr>
                      <a:r>
                        <a:rPr lang="en-US" sz="1400" b="0" i="0" u="none" strike="noStrike">
                          <a:solidFill>
                            <a:srgbClr val="000000"/>
                          </a:solidFill>
                          <a:effectLst/>
                          <a:latin typeface="+mn-lt"/>
                        </a:rPr>
                        <a:t>Net Debt</a:t>
                      </a:r>
                    </a:p>
                  </a:txBody>
                  <a:tcPr marR="6350" marT="18288" marB="18288"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(34.6)</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(22.2)</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21.9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(2.3)</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39.3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34.5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15.7 </a:t>
                      </a:r>
                    </a:p>
                  </a:txBody>
                  <a:tcPr marR="6350" marT="18288" marB="18288"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59910080"/>
                  </a:ext>
                </a:extLst>
              </a:tr>
              <a:tr h="228600">
                <a:tc>
                  <a:txBody>
                    <a:bodyPr/>
                    <a:lstStyle/>
                    <a:p>
                      <a:pPr algn="l" rtl="0" fontAlgn="b">
                        <a:buNone/>
                      </a:pPr>
                      <a:r>
                        <a:rPr lang="en-US" sz="1400" b="0" i="0" u="none" strike="noStrike">
                          <a:solidFill>
                            <a:srgbClr val="000000"/>
                          </a:solidFill>
                          <a:effectLst/>
                          <a:latin typeface="+mn-lt"/>
                        </a:rPr>
                        <a:t>Total Equity</a:t>
                      </a:r>
                    </a:p>
                  </a:txBody>
                  <a:tcPr marR="6350" marT="18288" marB="18288"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174.2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184.6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190.0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193.6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203.9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240.3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246.6 </a:t>
                      </a:r>
                    </a:p>
                  </a:txBody>
                  <a:tcPr marR="6350" marT="18288" marB="18288"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90624898"/>
                  </a:ext>
                </a:extLst>
              </a:tr>
              <a:tr h="228600">
                <a:tc>
                  <a:txBody>
                    <a:bodyPr/>
                    <a:lstStyle/>
                    <a:p>
                      <a:pPr algn="l" rtl="0" fontAlgn="b">
                        <a:buNone/>
                      </a:pPr>
                      <a:r>
                        <a:rPr lang="en-US" sz="1400" b="0" i="0" u="none" strike="noStrike">
                          <a:solidFill>
                            <a:srgbClr val="000000"/>
                          </a:solidFill>
                          <a:effectLst/>
                          <a:latin typeface="+mn-lt"/>
                        </a:rPr>
                        <a:t>Market Cap</a:t>
                      </a:r>
                    </a:p>
                  </a:txBody>
                  <a:tcPr marR="6350" marT="18288" marB="18288"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236.7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247.7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259.4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268.3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276.8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274.6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242.8 </a:t>
                      </a:r>
                    </a:p>
                  </a:txBody>
                  <a:tcPr marR="6350" marT="18288" marB="18288"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95368688"/>
                  </a:ext>
                </a:extLst>
              </a:tr>
              <a:tr h="0">
                <a:tc>
                  <a:txBody>
                    <a:bodyPr/>
                    <a:lstStyle/>
                    <a:p>
                      <a:pPr algn="l" fontAlgn="ctr">
                        <a:buNone/>
                      </a:pPr>
                      <a:r>
                        <a:rPr lang="en-US" sz="100" b="0" i="0" u="none" strike="noStrike">
                          <a:solidFill>
                            <a:srgbClr val="000000"/>
                          </a:solidFill>
                          <a:effectLst/>
                          <a:latin typeface="+mn-lt"/>
                        </a:rPr>
                        <a:t> </a:t>
                      </a:r>
                    </a:p>
                  </a:txBody>
                  <a:tcPr marR="6350" marT="18288" marB="18288"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buNone/>
                      </a:pPr>
                      <a:endParaRPr lang="en-US" sz="100" b="0" i="0" u="none" strike="noStrike">
                        <a:solidFill>
                          <a:srgbClr val="000000"/>
                        </a:solidFill>
                        <a:effectLst/>
                        <a:latin typeface="+mn-lt"/>
                      </a:endParaRPr>
                    </a:p>
                  </a:txBody>
                  <a:tcPr marR="6350" marT="18288" marB="18288" anchor="ctr">
                    <a:lnL>
                      <a:noFill/>
                    </a:lnL>
                    <a:lnR>
                      <a:noFill/>
                    </a:lnR>
                    <a:lnT>
                      <a:noFill/>
                    </a:lnT>
                    <a:lnB>
                      <a:noFill/>
                    </a:lnB>
                    <a:noFill/>
                  </a:tcPr>
                </a:tc>
                <a:tc>
                  <a:txBody>
                    <a:bodyPr/>
                    <a:lstStyle/>
                    <a:p>
                      <a:pPr algn="ctr" fontAlgn="ctr">
                        <a:buNone/>
                      </a:pPr>
                      <a:endParaRPr lang="en-US" sz="100" b="0" i="0" u="none" strike="noStrike">
                        <a:solidFill>
                          <a:srgbClr val="000000"/>
                        </a:solidFill>
                        <a:effectLst/>
                        <a:latin typeface="+mn-lt"/>
                      </a:endParaRPr>
                    </a:p>
                  </a:txBody>
                  <a:tcPr marR="6350" marT="18288" marB="18288" anchor="ctr">
                    <a:lnL>
                      <a:noFill/>
                    </a:lnL>
                    <a:lnR>
                      <a:noFill/>
                    </a:lnR>
                    <a:lnT>
                      <a:noFill/>
                    </a:lnT>
                    <a:lnB>
                      <a:noFill/>
                    </a:lnB>
                    <a:noFill/>
                  </a:tcPr>
                </a:tc>
                <a:tc>
                  <a:txBody>
                    <a:bodyPr/>
                    <a:lstStyle/>
                    <a:p>
                      <a:pPr algn="ctr" fontAlgn="ctr">
                        <a:buNone/>
                      </a:pPr>
                      <a:endParaRPr lang="en-US" sz="100" b="0" i="0" u="none" strike="noStrike">
                        <a:solidFill>
                          <a:srgbClr val="000000"/>
                        </a:solidFill>
                        <a:effectLst/>
                        <a:latin typeface="+mn-lt"/>
                      </a:endParaRPr>
                    </a:p>
                  </a:txBody>
                  <a:tcPr marR="6350" marT="18288" marB="18288" anchor="ctr">
                    <a:lnL>
                      <a:noFill/>
                    </a:lnL>
                    <a:lnR>
                      <a:noFill/>
                    </a:lnR>
                    <a:lnT>
                      <a:noFill/>
                    </a:lnT>
                    <a:lnB>
                      <a:noFill/>
                    </a:lnB>
                    <a:noFill/>
                  </a:tcPr>
                </a:tc>
                <a:tc>
                  <a:txBody>
                    <a:bodyPr/>
                    <a:lstStyle/>
                    <a:p>
                      <a:pPr algn="ctr" fontAlgn="ctr">
                        <a:buNone/>
                      </a:pPr>
                      <a:endParaRPr lang="en-US" sz="100" b="0" i="0" u="none" strike="noStrike">
                        <a:solidFill>
                          <a:srgbClr val="000000"/>
                        </a:solidFill>
                        <a:effectLst/>
                        <a:latin typeface="+mn-lt"/>
                      </a:endParaRPr>
                    </a:p>
                  </a:txBody>
                  <a:tcPr marR="6350" marT="18288" marB="18288" anchor="ctr">
                    <a:lnL>
                      <a:noFill/>
                    </a:lnL>
                    <a:lnR>
                      <a:noFill/>
                    </a:lnR>
                    <a:lnT>
                      <a:noFill/>
                    </a:lnT>
                    <a:lnB>
                      <a:noFill/>
                    </a:lnB>
                    <a:noFill/>
                  </a:tcPr>
                </a:tc>
                <a:tc>
                  <a:txBody>
                    <a:bodyPr/>
                    <a:lstStyle/>
                    <a:p>
                      <a:pPr algn="ctr" fontAlgn="ctr">
                        <a:buNone/>
                      </a:pPr>
                      <a:endParaRPr lang="en-US" sz="100" b="0" i="0" u="none" strike="noStrike">
                        <a:solidFill>
                          <a:srgbClr val="000000"/>
                        </a:solidFill>
                        <a:effectLst/>
                        <a:latin typeface="+mn-lt"/>
                      </a:endParaRPr>
                    </a:p>
                  </a:txBody>
                  <a:tcPr marR="6350" marT="18288" marB="18288" anchor="ctr">
                    <a:lnL>
                      <a:noFill/>
                    </a:lnL>
                    <a:lnR>
                      <a:noFill/>
                    </a:lnR>
                    <a:lnT>
                      <a:noFill/>
                    </a:lnT>
                    <a:lnB>
                      <a:noFill/>
                    </a:lnB>
                    <a:noFill/>
                  </a:tcPr>
                </a:tc>
                <a:tc>
                  <a:txBody>
                    <a:bodyPr/>
                    <a:lstStyle/>
                    <a:p>
                      <a:pPr algn="ctr" fontAlgn="ctr">
                        <a:buNone/>
                      </a:pPr>
                      <a:endParaRPr lang="en-US" sz="100" b="0" i="0" u="none" strike="noStrike">
                        <a:solidFill>
                          <a:srgbClr val="000000"/>
                        </a:solidFill>
                        <a:effectLst/>
                        <a:latin typeface="+mn-lt"/>
                      </a:endParaRPr>
                    </a:p>
                  </a:txBody>
                  <a:tcPr marR="6350" marT="18288" marB="18288" anchor="ctr">
                    <a:lnL>
                      <a:noFill/>
                    </a:lnL>
                    <a:lnR>
                      <a:noFill/>
                    </a:lnR>
                    <a:lnT>
                      <a:noFill/>
                    </a:lnT>
                    <a:lnB>
                      <a:noFill/>
                    </a:lnB>
                    <a:noFill/>
                  </a:tcPr>
                </a:tc>
                <a:tc>
                  <a:txBody>
                    <a:bodyPr/>
                    <a:lstStyle/>
                    <a:p>
                      <a:pPr algn="ctr" fontAlgn="ctr">
                        <a:buNone/>
                      </a:pPr>
                      <a:r>
                        <a:rPr lang="en-US" sz="100" b="0" i="0" u="none" strike="noStrike">
                          <a:solidFill>
                            <a:srgbClr val="000000"/>
                          </a:solidFill>
                          <a:effectLst/>
                          <a:latin typeface="+mn-lt"/>
                        </a:rPr>
                        <a:t> </a:t>
                      </a:r>
                    </a:p>
                  </a:txBody>
                  <a:tcPr marR="6350" marT="18288" marB="18288"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31094548"/>
                  </a:ext>
                </a:extLst>
              </a:tr>
              <a:tr h="228600">
                <a:tc>
                  <a:txBody>
                    <a:bodyPr/>
                    <a:lstStyle/>
                    <a:p>
                      <a:pPr algn="l" rtl="0" fontAlgn="b">
                        <a:buNone/>
                      </a:pPr>
                      <a:r>
                        <a:rPr lang="en-US" sz="1400" b="0" i="0" u="none" strike="noStrike">
                          <a:solidFill>
                            <a:srgbClr val="000000"/>
                          </a:solidFill>
                          <a:effectLst/>
                          <a:latin typeface="+mn-lt"/>
                        </a:rPr>
                        <a:t>Gearing</a:t>
                      </a:r>
                    </a:p>
                  </a:txBody>
                  <a:tcPr marR="6350" marT="18288" marB="18288"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0.4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0.3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0.6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0.6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0.8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0.7 </a:t>
                      </a:r>
                    </a:p>
                  </a:txBody>
                  <a:tcPr marR="6350" marT="18288" marB="18288" anchor="b">
                    <a:lnL>
                      <a:noFill/>
                    </a:lnL>
                    <a:lnR>
                      <a:noFill/>
                    </a:lnR>
                    <a:lnT>
                      <a:noFill/>
                    </a:lnT>
                    <a:lnB>
                      <a:noFill/>
                    </a:lnB>
                    <a:noFill/>
                  </a:tcPr>
                </a:tc>
                <a:tc>
                  <a:txBody>
                    <a:bodyPr/>
                    <a:lstStyle/>
                    <a:p>
                      <a:pPr algn="ctr" rtl="0" fontAlgn="b">
                        <a:buNone/>
                      </a:pPr>
                      <a:r>
                        <a:rPr lang="en-US" sz="1400" b="0" i="0" u="none" strike="noStrike">
                          <a:solidFill>
                            <a:srgbClr val="000000"/>
                          </a:solidFill>
                          <a:effectLst/>
                          <a:latin typeface="+mn-lt"/>
                        </a:rPr>
                        <a:t>         0.6 </a:t>
                      </a:r>
                    </a:p>
                  </a:txBody>
                  <a:tcPr marR="6350" marT="18288" marB="18288"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476352967"/>
                  </a:ext>
                </a:extLst>
              </a:tr>
              <a:tr h="228600">
                <a:tc>
                  <a:txBody>
                    <a:bodyPr/>
                    <a:lstStyle/>
                    <a:p>
                      <a:pPr algn="l" rtl="0" fontAlgn="b">
                        <a:buNone/>
                      </a:pPr>
                      <a:r>
                        <a:rPr lang="en-US" sz="1400" b="0" i="0" u="none" strike="noStrike">
                          <a:solidFill>
                            <a:srgbClr val="000000"/>
                          </a:solidFill>
                          <a:effectLst/>
                          <a:latin typeface="+mn-lt"/>
                        </a:rPr>
                        <a:t>P/B</a:t>
                      </a:r>
                    </a:p>
                  </a:txBody>
                  <a:tcPr marR="6350" marT="18288" marB="18288"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1.4 </a:t>
                      </a:r>
                    </a:p>
                  </a:txBody>
                  <a:tcPr marR="6350" marT="18288" marB="18288"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1.3 </a:t>
                      </a:r>
                    </a:p>
                  </a:txBody>
                  <a:tcPr marR="6350" marT="18288" marB="18288"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1.4 </a:t>
                      </a:r>
                    </a:p>
                  </a:txBody>
                  <a:tcPr marR="6350" marT="18288" marB="18288"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1.4 </a:t>
                      </a:r>
                    </a:p>
                  </a:txBody>
                  <a:tcPr marR="6350" marT="18288" marB="18288"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1.4 </a:t>
                      </a:r>
                    </a:p>
                  </a:txBody>
                  <a:tcPr marR="6350" marT="18288" marB="18288"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1.1 </a:t>
                      </a:r>
                    </a:p>
                  </a:txBody>
                  <a:tcPr marR="6350" marT="18288" marB="18288"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en-US" sz="1400" b="0" i="0" u="none" strike="noStrike">
                          <a:solidFill>
                            <a:srgbClr val="000000"/>
                          </a:solidFill>
                          <a:effectLst/>
                          <a:latin typeface="+mn-lt"/>
                        </a:rPr>
                        <a:t>         1.0 </a:t>
                      </a:r>
                    </a:p>
                  </a:txBody>
                  <a:tcPr marR="6350" marT="18288" marB="18288"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73984218"/>
                  </a:ext>
                </a:extLst>
              </a:tr>
            </a:tbl>
          </a:graphicData>
        </a:graphic>
      </p:graphicFrame>
      <p:sp>
        <p:nvSpPr>
          <p:cNvPr id="9" name="Oval 8">
            <a:extLst>
              <a:ext uri="{FF2B5EF4-FFF2-40B4-BE49-F238E27FC236}">
                <a16:creationId xmlns:a16="http://schemas.microsoft.com/office/drawing/2014/main" id="{FCC968D0-CFF5-F7A6-1D54-46EA4B93F32E}"/>
              </a:ext>
            </a:extLst>
          </p:cNvPr>
          <p:cNvSpPr/>
          <p:nvPr/>
        </p:nvSpPr>
        <p:spPr>
          <a:xfrm>
            <a:off x="10307955" y="5491488"/>
            <a:ext cx="91440" cy="91440"/>
          </a:xfrm>
          <a:prstGeom prst="ellipse">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E82E84C-2117-3A49-3B4D-7373D2D1B976}"/>
              </a:ext>
            </a:extLst>
          </p:cNvPr>
          <p:cNvCxnSpPr>
            <a:endCxn id="9" idx="1"/>
          </p:cNvCxnSpPr>
          <p:nvPr/>
        </p:nvCxnSpPr>
        <p:spPr>
          <a:xfrm>
            <a:off x="10353675" y="4894008"/>
            <a:ext cx="0" cy="597480"/>
          </a:xfrm>
          <a:prstGeom prst="line">
            <a:avLst/>
          </a:prstGeom>
          <a:ln>
            <a:solidFill>
              <a:schemeClr val="accent1">
                <a:lumMod val="50000"/>
              </a:schemeClr>
            </a:solidFill>
          </a:ln>
        </p:spPr>
        <p:style>
          <a:lnRef idx="2">
            <a:schemeClr val="dk1"/>
          </a:lnRef>
          <a:fillRef idx="0">
            <a:schemeClr val="dk1"/>
          </a:fillRef>
          <a:effectRef idx="1">
            <a:schemeClr val="dk1"/>
          </a:effectRef>
          <a:fontRef idx="minor">
            <a:schemeClr val="tx1"/>
          </a:fontRef>
        </p:style>
      </p:cxnSp>
      <p:sp>
        <p:nvSpPr>
          <p:cNvPr id="4" name="Rectangle 3">
            <a:extLst>
              <a:ext uri="{FF2B5EF4-FFF2-40B4-BE49-F238E27FC236}">
                <a16:creationId xmlns:a16="http://schemas.microsoft.com/office/drawing/2014/main" id="{2D387187-E0F2-3CB7-9305-59596F5C055D}"/>
              </a:ext>
            </a:extLst>
          </p:cNvPr>
          <p:cNvSpPr/>
          <p:nvPr/>
        </p:nvSpPr>
        <p:spPr>
          <a:xfrm>
            <a:off x="10044930" y="82003"/>
            <a:ext cx="1689534" cy="31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a:t>New</a:t>
            </a:r>
          </a:p>
        </p:txBody>
      </p:sp>
      <p:sp>
        <p:nvSpPr>
          <p:cNvPr id="6" name="TextBox 5">
            <a:extLst>
              <a:ext uri="{FF2B5EF4-FFF2-40B4-BE49-F238E27FC236}">
                <a16:creationId xmlns:a16="http://schemas.microsoft.com/office/drawing/2014/main" id="{53097B0C-3D1E-AE11-1E1F-B10084A5D1E4}"/>
              </a:ext>
            </a:extLst>
          </p:cNvPr>
          <p:cNvSpPr txBox="1"/>
          <p:nvPr/>
        </p:nvSpPr>
        <p:spPr>
          <a:xfrm>
            <a:off x="503117" y="843292"/>
            <a:ext cx="11231347" cy="523220"/>
          </a:xfrm>
          <a:prstGeom prst="rect">
            <a:avLst/>
          </a:prstGeom>
          <a:noFill/>
        </p:spPr>
        <p:txBody>
          <a:bodyPr wrap="square">
            <a:spAutoFit/>
          </a:bodyPr>
          <a:lstStyle/>
          <a:p>
            <a:pPr marL="285750" indent="-285750">
              <a:buFont typeface="Wingdings" panose="05000000000000000000" pitchFamily="2" charset="2"/>
              <a:buChar char="§"/>
            </a:pPr>
            <a:r>
              <a:rPr lang="en-US" sz="1400"/>
              <a:t>The recent private placement has strengthened </a:t>
            </a:r>
            <a:r>
              <a:rPr lang="en-US" sz="1400" err="1"/>
              <a:t>Inta</a:t>
            </a:r>
            <a:r>
              <a:rPr lang="en-US" sz="1400"/>
              <a:t> Bina’s balance sheet, supporting healthy cash (peaking at RM140.6 mil), lower gearing below 1x and a  healthy P/B of 1.1–1.4x, reflecting strong liquidity, manageable leverage and fair valuation.</a:t>
            </a:r>
            <a:endParaRPr lang="en-MY" sz="1400"/>
          </a:p>
        </p:txBody>
      </p:sp>
    </p:spTree>
    <p:extLst>
      <p:ext uri="{BB962C8B-B14F-4D97-AF65-F5344CB8AC3E}">
        <p14:creationId xmlns:p14="http://schemas.microsoft.com/office/powerpoint/2010/main" val="400952162"/>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B1F89-AFC0-9804-1559-B9D2476E78F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3F17D60-3B7A-5179-63DC-B7C44C9743DF}"/>
              </a:ext>
            </a:extLst>
          </p:cNvPr>
          <p:cNvSpPr txBox="1"/>
          <p:nvPr/>
        </p:nvSpPr>
        <p:spPr>
          <a:xfrm>
            <a:off x="422277" y="885225"/>
            <a:ext cx="11467683" cy="954107"/>
          </a:xfrm>
          <a:prstGeom prst="rect">
            <a:avLst/>
          </a:prstGeom>
          <a:noFill/>
        </p:spPr>
        <p:txBody>
          <a:bodyPr wrap="square">
            <a:spAutoFit/>
          </a:bodyPr>
          <a:lstStyle/>
          <a:p>
            <a:pPr marL="285750" indent="-285750" algn="just">
              <a:buFont typeface="Wingdings" panose="05000000000000000000" pitchFamily="2" charset="2"/>
              <a:buChar char="§"/>
            </a:pPr>
            <a:r>
              <a:rPr lang="en-US" sz="1400"/>
              <a:t>The company’s fixed assets are </a:t>
            </a:r>
            <a:r>
              <a:rPr lang="en-US" sz="1400" b="1"/>
              <a:t>heavily weighted towards plant and machinery, which comprise 72% of the PPE balance. </a:t>
            </a:r>
            <a:r>
              <a:rPr lang="en-US" sz="1400"/>
              <a:t>Buildings account for 11%, while freehold land and motor vehicles each represent 6%, supporting both operational facilities and site logistics. Office equipment and renovations contribute 2% each, and furniture and fittings make up a minimal 0.1%, indicating that the bulk of the capex is focused on core production and project execution assets rather than administrative or non-operational assets.</a:t>
            </a:r>
            <a:endParaRPr lang="en-MY" sz="1400"/>
          </a:p>
        </p:txBody>
      </p:sp>
      <p:sp>
        <p:nvSpPr>
          <p:cNvPr id="2" name="TextBox 1">
            <a:extLst>
              <a:ext uri="{FF2B5EF4-FFF2-40B4-BE49-F238E27FC236}">
                <a16:creationId xmlns:a16="http://schemas.microsoft.com/office/drawing/2014/main" id="{2525CFA8-F17C-3A8F-94DE-146D228DF606}"/>
              </a:ext>
            </a:extLst>
          </p:cNvPr>
          <p:cNvSpPr txBox="1"/>
          <p:nvPr/>
        </p:nvSpPr>
        <p:spPr>
          <a:xfrm>
            <a:off x="274320" y="219456"/>
            <a:ext cx="10735056" cy="553998"/>
          </a:xfrm>
          <a:prstGeom prst="rect">
            <a:avLst/>
          </a:prstGeom>
          <a:noFill/>
        </p:spPr>
        <p:txBody>
          <a:bodyPr wrap="square" rtlCol="0">
            <a:spAutoFit/>
          </a:bodyPr>
          <a:lstStyle/>
          <a:p>
            <a:r>
              <a:rPr lang="en-US" sz="3000" b="1"/>
              <a:t>Financial Analysis</a:t>
            </a:r>
          </a:p>
        </p:txBody>
      </p:sp>
      <p:graphicFrame>
        <p:nvGraphicFramePr>
          <p:cNvPr id="4" name="Table 3">
            <a:extLst>
              <a:ext uri="{FF2B5EF4-FFF2-40B4-BE49-F238E27FC236}">
                <a16:creationId xmlns:a16="http://schemas.microsoft.com/office/drawing/2014/main" id="{3A4F92F3-C300-290D-C1D5-B60EBF404A93}"/>
              </a:ext>
            </a:extLst>
          </p:cNvPr>
          <p:cNvGraphicFramePr>
            <a:graphicFrameLocks noGrp="1"/>
          </p:cNvGraphicFramePr>
          <p:nvPr>
            <p:extLst>
              <p:ext uri="{D42A27DB-BD31-4B8C-83A1-F6EECF244321}">
                <p14:modId xmlns:p14="http://schemas.microsoft.com/office/powerpoint/2010/main" val="3399084661"/>
              </p:ext>
            </p:extLst>
          </p:nvPr>
        </p:nvGraphicFramePr>
        <p:xfrm>
          <a:off x="567437" y="4620919"/>
          <a:ext cx="8055865" cy="1831469"/>
        </p:xfrm>
        <a:graphic>
          <a:graphicData uri="http://schemas.openxmlformats.org/drawingml/2006/table">
            <a:tbl>
              <a:tblPr firstRow="1">
                <a:tableStyleId>{793D81CF-94F2-401A-BA57-92F5A7B2D0C5}</a:tableStyleId>
              </a:tblPr>
              <a:tblGrid>
                <a:gridCol w="2352706">
                  <a:extLst>
                    <a:ext uri="{9D8B030D-6E8A-4147-A177-3AD203B41FA5}">
                      <a16:colId xmlns:a16="http://schemas.microsoft.com/office/drawing/2014/main" val="2627577065"/>
                    </a:ext>
                  </a:extLst>
                </a:gridCol>
                <a:gridCol w="814737">
                  <a:extLst>
                    <a:ext uri="{9D8B030D-6E8A-4147-A177-3AD203B41FA5}">
                      <a16:colId xmlns:a16="http://schemas.microsoft.com/office/drawing/2014/main" val="3454312970"/>
                    </a:ext>
                  </a:extLst>
                </a:gridCol>
                <a:gridCol w="814737">
                  <a:extLst>
                    <a:ext uri="{9D8B030D-6E8A-4147-A177-3AD203B41FA5}">
                      <a16:colId xmlns:a16="http://schemas.microsoft.com/office/drawing/2014/main" val="3669922953"/>
                    </a:ext>
                  </a:extLst>
                </a:gridCol>
                <a:gridCol w="814737">
                  <a:extLst>
                    <a:ext uri="{9D8B030D-6E8A-4147-A177-3AD203B41FA5}">
                      <a16:colId xmlns:a16="http://schemas.microsoft.com/office/drawing/2014/main" val="1544142134"/>
                    </a:ext>
                  </a:extLst>
                </a:gridCol>
                <a:gridCol w="814737">
                  <a:extLst>
                    <a:ext uri="{9D8B030D-6E8A-4147-A177-3AD203B41FA5}">
                      <a16:colId xmlns:a16="http://schemas.microsoft.com/office/drawing/2014/main" val="1809725862"/>
                    </a:ext>
                  </a:extLst>
                </a:gridCol>
                <a:gridCol w="814737">
                  <a:extLst>
                    <a:ext uri="{9D8B030D-6E8A-4147-A177-3AD203B41FA5}">
                      <a16:colId xmlns:a16="http://schemas.microsoft.com/office/drawing/2014/main" val="2932886730"/>
                    </a:ext>
                  </a:extLst>
                </a:gridCol>
                <a:gridCol w="814737">
                  <a:extLst>
                    <a:ext uri="{9D8B030D-6E8A-4147-A177-3AD203B41FA5}">
                      <a16:colId xmlns:a16="http://schemas.microsoft.com/office/drawing/2014/main" val="2016970558"/>
                    </a:ext>
                  </a:extLst>
                </a:gridCol>
                <a:gridCol w="814737">
                  <a:extLst>
                    <a:ext uri="{9D8B030D-6E8A-4147-A177-3AD203B41FA5}">
                      <a16:colId xmlns:a16="http://schemas.microsoft.com/office/drawing/2014/main" val="56836009"/>
                    </a:ext>
                  </a:extLst>
                </a:gridCol>
              </a:tblGrid>
              <a:tr h="368228">
                <a:tc>
                  <a:txBody>
                    <a:bodyPr/>
                    <a:lstStyle/>
                    <a:p>
                      <a:pPr algn="ctr" fontAlgn="b">
                        <a:buNone/>
                      </a:pPr>
                      <a:r>
                        <a:rPr lang="en-MY" sz="1200" b="1" i="0" u="none" strike="noStrike">
                          <a:solidFill>
                            <a:schemeClr val="bg1"/>
                          </a:solidFill>
                          <a:effectLst/>
                          <a:latin typeface="+mn-lt"/>
                        </a:rPr>
                        <a:t>RM’Mil</a:t>
                      </a:r>
                      <a:endParaRPr lang="en-MY" sz="1200" b="1" i="0" u="none" strike="noStrike">
                        <a:solidFill>
                          <a:srgbClr val="000000"/>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1Q24</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2Q24</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3Q24</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4Q24</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1Q25</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2Q25</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MY" sz="1200" b="1" u="none" strike="noStrike">
                          <a:solidFill>
                            <a:srgbClr val="FFFFFF"/>
                          </a:solidFill>
                          <a:effectLst/>
                        </a:rPr>
                        <a:t>3Q25</a:t>
                      </a:r>
                      <a:endParaRPr lang="en-MY" sz="1200" b="1" i="0" u="none" strike="noStrike">
                        <a:solidFill>
                          <a:srgbClr val="FFFFFF"/>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6579"/>
                  </a:ext>
                </a:extLst>
              </a:tr>
              <a:tr h="363710">
                <a:tc>
                  <a:txBody>
                    <a:bodyPr/>
                    <a:lstStyle/>
                    <a:p>
                      <a:pPr algn="l" fontAlgn="b">
                        <a:buNone/>
                      </a:pPr>
                      <a:r>
                        <a:rPr lang="en-MY" sz="1200" b="0" u="none" strike="noStrike">
                          <a:solidFill>
                            <a:srgbClr val="000000"/>
                          </a:solidFill>
                          <a:effectLst/>
                          <a:latin typeface="+mn-lt"/>
                        </a:rPr>
                        <a:t>PPE</a:t>
                      </a:r>
                      <a:endParaRPr lang="en-MY" sz="1200" b="0" i="0" u="none" strike="noStrike">
                        <a:solidFill>
                          <a:srgbClr val="000000"/>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31.89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32.57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35.75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41.46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51.62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51.21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53.77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276508"/>
                  </a:ext>
                </a:extLst>
              </a:tr>
              <a:tr h="372111">
                <a:tc>
                  <a:txBody>
                    <a:bodyPr/>
                    <a:lstStyle/>
                    <a:p>
                      <a:pPr algn="l" fontAlgn="b">
                        <a:buNone/>
                      </a:pPr>
                      <a:r>
                        <a:rPr lang="en-US" sz="1200" b="0" u="none" strike="noStrike">
                          <a:solidFill>
                            <a:srgbClr val="000000"/>
                          </a:solidFill>
                          <a:effectLst/>
                          <a:latin typeface="+mn-lt"/>
                        </a:rPr>
                        <a:t>Land held for Property Development</a:t>
                      </a:r>
                      <a:endParaRPr lang="en-US" sz="1200" b="0" i="0" u="none" strike="noStrike">
                        <a:solidFill>
                          <a:srgbClr val="000000"/>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24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7020229"/>
                  </a:ext>
                </a:extLst>
              </a:tr>
              <a:tr h="363710">
                <a:tc>
                  <a:txBody>
                    <a:bodyPr/>
                    <a:lstStyle/>
                    <a:p>
                      <a:pPr algn="l" fontAlgn="b">
                        <a:buNone/>
                      </a:pPr>
                      <a:r>
                        <a:rPr lang="en-US" sz="1200" b="0" u="none" strike="noStrike">
                          <a:solidFill>
                            <a:srgbClr val="000000"/>
                          </a:solidFill>
                          <a:effectLst/>
                          <a:latin typeface="+mn-lt"/>
                        </a:rPr>
                        <a:t>% of (PPE + Land) / Total Assets</a:t>
                      </a:r>
                      <a:endParaRPr lang="en-MY" sz="1200" b="0" i="0" u="none" strike="noStrike">
                        <a:solidFill>
                          <a:srgbClr val="000000"/>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8.2%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10.9%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11.5%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6979337"/>
                  </a:ext>
                </a:extLst>
              </a:tr>
              <a:tr h="363710">
                <a:tc>
                  <a:txBody>
                    <a:bodyPr/>
                    <a:lstStyle/>
                    <a:p>
                      <a:pPr algn="l" fontAlgn="b">
                        <a:buNone/>
                      </a:pPr>
                      <a:r>
                        <a:rPr lang="en-MY" sz="1200" b="0" u="none" strike="noStrike">
                          <a:solidFill>
                            <a:srgbClr val="000000"/>
                          </a:solidFill>
                          <a:effectLst/>
                          <a:latin typeface="+mn-lt"/>
                        </a:rPr>
                        <a:t>Total Assets</a:t>
                      </a:r>
                      <a:endParaRPr lang="en-MY" sz="1200" b="0" i="0" u="none" strike="noStrike">
                        <a:solidFill>
                          <a:srgbClr val="000000"/>
                        </a:solidFill>
                        <a:effectLst/>
                        <a:latin typeface="+mn-lt"/>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474.39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481.28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506.78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621.58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628.68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687.22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MY" sz="1200" b="0" i="0" u="none" strike="noStrike">
                          <a:solidFill>
                            <a:srgbClr val="000000"/>
                          </a:solidFill>
                          <a:effectLst/>
                          <a:latin typeface="+mn-lt"/>
                        </a:rPr>
                        <a:t>677.51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7696842"/>
                  </a:ext>
                </a:extLst>
              </a:tr>
            </a:tbl>
          </a:graphicData>
        </a:graphic>
      </p:graphicFrame>
      <p:sp>
        <p:nvSpPr>
          <p:cNvPr id="11" name="TextBox 10">
            <a:extLst>
              <a:ext uri="{FF2B5EF4-FFF2-40B4-BE49-F238E27FC236}">
                <a16:creationId xmlns:a16="http://schemas.microsoft.com/office/drawing/2014/main" id="{2D8DCE14-53AE-68EF-3CC9-E9EF2ED4549D}"/>
              </a:ext>
            </a:extLst>
          </p:cNvPr>
          <p:cNvSpPr txBox="1"/>
          <p:nvPr/>
        </p:nvSpPr>
        <p:spPr>
          <a:xfrm>
            <a:off x="274320" y="1893040"/>
            <a:ext cx="1362075" cy="276999"/>
          </a:xfrm>
          <a:prstGeom prst="rect">
            <a:avLst/>
          </a:prstGeom>
          <a:noFill/>
        </p:spPr>
        <p:txBody>
          <a:bodyPr wrap="square">
            <a:spAutoFit/>
          </a:bodyPr>
          <a:lstStyle/>
          <a:p>
            <a:pPr algn="ctr" fontAlgn="b"/>
            <a:r>
              <a:rPr lang="en-MY" sz="1200" err="1">
                <a:solidFill>
                  <a:srgbClr val="000000"/>
                </a:solidFill>
              </a:rPr>
              <a:t>RM’mil</a:t>
            </a:r>
            <a:endParaRPr lang="en-MY" sz="1200" b="0" i="0" u="none" strike="noStrike">
              <a:solidFill>
                <a:srgbClr val="000000"/>
              </a:solidFill>
              <a:effectLst/>
              <a:latin typeface="+mn-lt"/>
            </a:endParaRPr>
          </a:p>
        </p:txBody>
      </p:sp>
      <p:graphicFrame>
        <p:nvGraphicFramePr>
          <p:cNvPr id="14" name="Chart 13">
            <a:extLst>
              <a:ext uri="{FF2B5EF4-FFF2-40B4-BE49-F238E27FC236}">
                <a16:creationId xmlns:a16="http://schemas.microsoft.com/office/drawing/2014/main" id="{58C0F6E7-6355-8A58-FCF4-348FF6A3BEC7}"/>
              </a:ext>
            </a:extLst>
          </p:cNvPr>
          <p:cNvGraphicFramePr>
            <a:graphicFrameLocks/>
          </p:cNvGraphicFramePr>
          <p:nvPr>
            <p:extLst>
              <p:ext uri="{D42A27DB-BD31-4B8C-83A1-F6EECF244321}">
                <p14:modId xmlns:p14="http://schemas.microsoft.com/office/powerpoint/2010/main" val="3577168365"/>
              </p:ext>
            </p:extLst>
          </p:nvPr>
        </p:nvGraphicFramePr>
        <p:xfrm>
          <a:off x="816429" y="1893040"/>
          <a:ext cx="9847981" cy="2491725"/>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F692856E-3660-87DB-B716-869953BA6ADA}"/>
              </a:ext>
            </a:extLst>
          </p:cNvPr>
          <p:cNvSpPr txBox="1"/>
          <p:nvPr/>
        </p:nvSpPr>
        <p:spPr>
          <a:xfrm>
            <a:off x="8863273" y="6506099"/>
            <a:ext cx="3171061" cy="261610"/>
          </a:xfrm>
          <a:prstGeom prst="rect">
            <a:avLst/>
          </a:prstGeom>
          <a:noFill/>
        </p:spPr>
        <p:txBody>
          <a:bodyPr wrap="none" rtlCol="0">
            <a:spAutoFit/>
          </a:bodyPr>
          <a:lstStyle/>
          <a:p>
            <a:r>
              <a:rPr lang="en-US" sz="1100"/>
              <a:t>*Refer to Appendix for detailed breakdown of PPE</a:t>
            </a:r>
            <a:endParaRPr lang="en-MY" sz="1100"/>
          </a:p>
        </p:txBody>
      </p:sp>
      <p:graphicFrame>
        <p:nvGraphicFramePr>
          <p:cNvPr id="16" name="Table 15">
            <a:extLst>
              <a:ext uri="{FF2B5EF4-FFF2-40B4-BE49-F238E27FC236}">
                <a16:creationId xmlns:a16="http://schemas.microsoft.com/office/drawing/2014/main" id="{4E583D58-6EF5-67AD-A68B-B2B05C1A196A}"/>
              </a:ext>
            </a:extLst>
          </p:cNvPr>
          <p:cNvGraphicFramePr>
            <a:graphicFrameLocks noGrp="1"/>
          </p:cNvGraphicFramePr>
          <p:nvPr>
            <p:extLst>
              <p:ext uri="{D42A27DB-BD31-4B8C-83A1-F6EECF244321}">
                <p14:modId xmlns:p14="http://schemas.microsoft.com/office/powerpoint/2010/main" val="2772350119"/>
              </p:ext>
            </p:extLst>
          </p:nvPr>
        </p:nvGraphicFramePr>
        <p:xfrm>
          <a:off x="8906049" y="4620918"/>
          <a:ext cx="2983911" cy="1831472"/>
        </p:xfrm>
        <a:graphic>
          <a:graphicData uri="http://schemas.openxmlformats.org/drawingml/2006/table">
            <a:tbl>
              <a:tblPr>
                <a:tableStyleId>{5C22544A-7EE6-4342-B048-85BDC9FD1C3A}</a:tableStyleId>
              </a:tblPr>
              <a:tblGrid>
                <a:gridCol w="2040810">
                  <a:extLst>
                    <a:ext uri="{9D8B030D-6E8A-4147-A177-3AD203B41FA5}">
                      <a16:colId xmlns:a16="http://schemas.microsoft.com/office/drawing/2014/main" val="4241010240"/>
                    </a:ext>
                  </a:extLst>
                </a:gridCol>
                <a:gridCol w="943101">
                  <a:extLst>
                    <a:ext uri="{9D8B030D-6E8A-4147-A177-3AD203B41FA5}">
                      <a16:colId xmlns:a16="http://schemas.microsoft.com/office/drawing/2014/main" val="1924620144"/>
                    </a:ext>
                  </a:extLst>
                </a:gridCol>
              </a:tblGrid>
              <a:tr h="228934">
                <a:tc>
                  <a:txBody>
                    <a:bodyPr/>
                    <a:lstStyle/>
                    <a:p>
                      <a:pPr algn="l" fontAlgn="ctr">
                        <a:buNone/>
                      </a:pPr>
                      <a:r>
                        <a:rPr lang="en-MY" sz="1200" u="none" strike="noStrike">
                          <a:effectLst/>
                        </a:rPr>
                        <a:t>Plant and Machineries</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72%</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7366424"/>
                  </a:ext>
                </a:extLst>
              </a:tr>
              <a:tr h="228934">
                <a:tc>
                  <a:txBody>
                    <a:bodyPr/>
                    <a:lstStyle/>
                    <a:p>
                      <a:pPr algn="l" fontAlgn="ctr">
                        <a:buNone/>
                      </a:pPr>
                      <a:r>
                        <a:rPr lang="en-MY" sz="1200" u="none" strike="noStrike">
                          <a:effectLst/>
                        </a:rPr>
                        <a:t>Buildings</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11%</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119377"/>
                  </a:ext>
                </a:extLst>
              </a:tr>
              <a:tr h="228934">
                <a:tc>
                  <a:txBody>
                    <a:bodyPr/>
                    <a:lstStyle/>
                    <a:p>
                      <a:pPr algn="l" fontAlgn="ctr">
                        <a:buNone/>
                      </a:pPr>
                      <a:r>
                        <a:rPr lang="en-MY" sz="1200" u="none" strike="noStrike">
                          <a:effectLst/>
                        </a:rPr>
                        <a:t>Freehold Land</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6%</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7888693"/>
                  </a:ext>
                </a:extLst>
              </a:tr>
              <a:tr h="228934">
                <a:tc>
                  <a:txBody>
                    <a:bodyPr/>
                    <a:lstStyle/>
                    <a:p>
                      <a:pPr algn="l" fontAlgn="ctr">
                        <a:buNone/>
                      </a:pPr>
                      <a:r>
                        <a:rPr lang="en-MY" sz="1200" u="none" strike="noStrike">
                          <a:effectLst/>
                        </a:rPr>
                        <a:t>Motor Vehicles</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6%</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4362594"/>
                  </a:ext>
                </a:extLst>
              </a:tr>
              <a:tr h="228934">
                <a:tc>
                  <a:txBody>
                    <a:bodyPr/>
                    <a:lstStyle/>
                    <a:p>
                      <a:pPr algn="l" fontAlgn="ctr">
                        <a:buNone/>
                      </a:pPr>
                      <a:r>
                        <a:rPr lang="en-MY" sz="1200" u="none" strike="noStrike">
                          <a:effectLst/>
                        </a:rPr>
                        <a:t>Office Equipment</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2%</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861796"/>
                  </a:ext>
                </a:extLst>
              </a:tr>
              <a:tr h="228934">
                <a:tc>
                  <a:txBody>
                    <a:bodyPr/>
                    <a:lstStyle/>
                    <a:p>
                      <a:pPr algn="l" fontAlgn="ctr">
                        <a:buNone/>
                      </a:pPr>
                      <a:r>
                        <a:rPr lang="en-MY" sz="1200" u="none" strike="noStrike">
                          <a:effectLst/>
                        </a:rPr>
                        <a:t>Office Renovation</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2%</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991989"/>
                  </a:ext>
                </a:extLst>
              </a:tr>
              <a:tr h="228934">
                <a:tc>
                  <a:txBody>
                    <a:bodyPr/>
                    <a:lstStyle/>
                    <a:p>
                      <a:pPr algn="l" fontAlgn="ctr">
                        <a:buNone/>
                      </a:pPr>
                      <a:r>
                        <a:rPr lang="en-MY" sz="1200" u="none" strike="noStrike">
                          <a:effectLst/>
                        </a:rPr>
                        <a:t>Furniture and Fittings</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u="none" strike="noStrike">
                          <a:effectLst/>
                        </a:rPr>
                        <a:t>0.1%</a:t>
                      </a:r>
                      <a:endParaRPr lang="en-MY" sz="1200" b="0" i="0" u="none" strike="noStrike">
                        <a:solidFill>
                          <a:srgbClr val="000000"/>
                        </a:solidFill>
                        <a:effectLst/>
                        <a:latin typeface="Aptos" panose="020B0004020202020204" pitchFamily="34" charset="0"/>
                      </a:endParaRP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052860"/>
                  </a:ext>
                </a:extLst>
              </a:tr>
              <a:tr h="228934">
                <a:tc>
                  <a:txBody>
                    <a:bodyPr/>
                    <a:lstStyle/>
                    <a:p>
                      <a:pPr algn="l" fontAlgn="ctr">
                        <a:buNone/>
                      </a:pPr>
                      <a:r>
                        <a:rPr lang="en-MY" sz="1200" b="1" i="0" u="none" strike="noStrike">
                          <a:solidFill>
                            <a:srgbClr val="000000"/>
                          </a:solidFill>
                          <a:effectLst/>
                          <a:latin typeface="Aptos" panose="020B0004020202020204" pitchFamily="34" charset="0"/>
                        </a:rPr>
                        <a:t>Total</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buNone/>
                      </a:pPr>
                      <a:r>
                        <a:rPr lang="en-MY" sz="1200" b="1" i="0" u="none" strike="noStrike">
                          <a:solidFill>
                            <a:srgbClr val="000000"/>
                          </a:solidFill>
                          <a:effectLst/>
                          <a:latin typeface="Aptos" panose="020B0004020202020204" pitchFamily="34" charset="0"/>
                        </a:rPr>
                        <a:t>100%</a:t>
                      </a:r>
                    </a:p>
                  </a:txBody>
                  <a:tcPr marL="72000" marR="7200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320520"/>
                  </a:ext>
                </a:extLst>
              </a:tr>
            </a:tbl>
          </a:graphicData>
        </a:graphic>
      </p:graphicFrame>
      <p:sp>
        <p:nvSpPr>
          <p:cNvPr id="17" name="TextBox 16">
            <a:extLst>
              <a:ext uri="{FF2B5EF4-FFF2-40B4-BE49-F238E27FC236}">
                <a16:creationId xmlns:a16="http://schemas.microsoft.com/office/drawing/2014/main" id="{AB3BF939-A864-ADE8-EEDC-CA7F401EEA02}"/>
              </a:ext>
            </a:extLst>
          </p:cNvPr>
          <p:cNvSpPr txBox="1"/>
          <p:nvPr/>
        </p:nvSpPr>
        <p:spPr>
          <a:xfrm>
            <a:off x="8906049" y="4290206"/>
            <a:ext cx="2708242" cy="307777"/>
          </a:xfrm>
          <a:prstGeom prst="rect">
            <a:avLst/>
          </a:prstGeom>
          <a:noFill/>
        </p:spPr>
        <p:txBody>
          <a:bodyPr wrap="none" rtlCol="0">
            <a:spAutoFit/>
          </a:bodyPr>
          <a:lstStyle/>
          <a:p>
            <a:r>
              <a:rPr lang="en-US" sz="1400" b="1"/>
              <a:t>Breakdown of PPE as of FY2024</a:t>
            </a:r>
            <a:endParaRPr lang="en-MY" sz="1400" b="1"/>
          </a:p>
        </p:txBody>
      </p:sp>
      <p:sp>
        <p:nvSpPr>
          <p:cNvPr id="3" name="Rectangle 2">
            <a:extLst>
              <a:ext uri="{FF2B5EF4-FFF2-40B4-BE49-F238E27FC236}">
                <a16:creationId xmlns:a16="http://schemas.microsoft.com/office/drawing/2014/main" id="{A44BCDAF-44DA-B916-C26A-36B00AB2CB2C}"/>
              </a:ext>
            </a:extLst>
          </p:cNvPr>
          <p:cNvSpPr/>
          <p:nvPr/>
        </p:nvSpPr>
        <p:spPr>
          <a:xfrm>
            <a:off x="10069286" y="200157"/>
            <a:ext cx="1689534" cy="5853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a:t>New</a:t>
            </a:r>
          </a:p>
        </p:txBody>
      </p:sp>
    </p:spTree>
    <p:extLst>
      <p:ext uri="{BB962C8B-B14F-4D97-AF65-F5344CB8AC3E}">
        <p14:creationId xmlns:p14="http://schemas.microsoft.com/office/powerpoint/2010/main" val="319131669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6911</Words>
  <Application>Microsoft Macintosh PowerPoint</Application>
  <PresentationFormat>Widescreen</PresentationFormat>
  <Paragraphs>1890</Paragraphs>
  <Slides>40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Arial</vt:lpstr>
      <vt:lpstr>Calibri</vt:lpstr>
      <vt:lpstr>Wingdings</vt:lpstr>
      <vt:lpstr>Office Theme</vt:lpstr>
      <vt:lpstr>Introduction</vt:lpstr>
      <vt:lpstr>Is Inta Bina a meaningful Target?</vt:lpstr>
      <vt:lpstr>Is Inta Bina a meaningful Target?</vt:lpstr>
      <vt:lpstr>PowerPoint Presentation</vt:lpstr>
      <vt:lpstr>PowerPoint Presentation</vt:lpstr>
      <vt:lpstr>PowerPoint Presentation</vt:lpstr>
      <vt:lpstr>Strategic Alignment with OSK Group</vt:lpstr>
      <vt:lpstr>PowerPoint Presentation</vt:lpstr>
      <vt:lpstr>PowerPoint Presentation</vt:lpstr>
      <vt:lpstr>PowerPoint Presentation</vt:lpstr>
      <vt:lpstr>Thank You</vt:lpstr>
      <vt:lpstr>Appendix 1 : Industry Peers</vt:lpstr>
      <vt:lpstr>PowerPoint Presentation</vt:lpstr>
      <vt:lpstr>PowerPoint Presentation</vt:lpstr>
      <vt:lpstr>PowerPoint Presentation</vt:lpstr>
      <vt:lpstr>PowerPoint Presentation</vt:lpstr>
      <vt:lpstr>PowerPoint Presentation</vt:lpstr>
      <vt:lpstr>PowerPoint Presentation</vt:lpstr>
      <vt:lpstr>Appendix 2 : About Binastra &amp; Nestcon</vt:lpstr>
      <vt:lpstr>PowerPoint Presentation</vt:lpstr>
      <vt:lpstr>PowerPoint Presentation</vt:lpstr>
      <vt:lpstr>PowerPoint Presentation</vt:lpstr>
      <vt:lpstr>PowerPoint Presentation</vt:lpstr>
      <vt:lpstr>Part 1 : About Inta Bina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Competitor Benchmarking (1 of 2)</vt:lpstr>
      <vt:lpstr>Competitor Benchmarking (2 of 2)</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Ng Jie Xin [/CSP/CS/MY]</dc:creator>
  <cp:lastModifiedBy>NG JIA MIN</cp:lastModifiedBy>
  <cp:revision>2</cp:revision>
  <dcterms:created xsi:type="dcterms:W3CDTF">2026-01-20T13:15:52Z</dcterms:created>
  <dcterms:modified xsi:type="dcterms:W3CDTF">2026-05-13T16:40:09Z</dcterms:modified>
</cp:coreProperties>
</file>